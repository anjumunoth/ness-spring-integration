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36" r:id="rId64"/>
    <p:sldId id="318" r:id="rId65"/>
    <p:sldId id="334" r:id="rId66"/>
    <p:sldId id="319" r:id="rId67"/>
    <p:sldId id="335" r:id="rId68"/>
    <p:sldId id="320" r:id="rId69"/>
    <p:sldId id="337" r:id="rId70"/>
    <p:sldId id="321" r:id="rId71"/>
    <p:sldId id="340" r:id="rId72"/>
    <p:sldId id="322" r:id="rId73"/>
    <p:sldId id="324" r:id="rId74"/>
    <p:sldId id="325" r:id="rId75"/>
    <p:sldId id="323" r:id="rId76"/>
    <p:sldId id="338" r:id="rId77"/>
    <p:sldId id="339" r:id="rId78"/>
    <p:sldId id="341" r:id="rId79"/>
    <p:sldId id="342" r:id="rId80"/>
    <p:sldId id="343" r:id="rId81"/>
    <p:sldId id="345" r:id="rId82"/>
    <p:sldId id="346" r:id="rId83"/>
    <p:sldId id="347" r:id="rId84"/>
    <p:sldId id="344" r:id="rId85"/>
    <p:sldId id="326" r:id="rId86"/>
    <p:sldId id="327" r:id="rId87"/>
    <p:sldId id="328" r:id="rId88"/>
    <p:sldId id="329" r:id="rId89"/>
    <p:sldId id="330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31" r:id="rId101"/>
    <p:sldId id="332" r:id="rId102"/>
    <p:sldId id="333" r:id="rId10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>
        <p:scale>
          <a:sx n="82" d="100"/>
          <a:sy n="82" d="100"/>
        </p:scale>
        <p:origin x="29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318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435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0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29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80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58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74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711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6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878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102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694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713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425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304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55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B230408-80B6-403F-9454-F3E6D252DB37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3872946-7B6D-43C6-B0F1-4CA2C805F8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730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4C01-D83A-EDBB-CBFC-961DC11144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MESSAGE BROKERS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796B5-60DC-B6DD-056E-BABA60AFA9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223809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54F6-D7E0-AA57-0824-96F4E72D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Asynchronous messaging with JMS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6009-1953-547C-872A-0E22BD99E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66324" cy="3923263"/>
          </a:xfrm>
        </p:spPr>
        <p:txBody>
          <a:bodyPr/>
          <a:lstStyle/>
          <a:p>
            <a:r>
              <a:rPr lang="en-US" dirty="0"/>
              <a:t>Sending a message to a queue or topic </a:t>
            </a:r>
            <a:r>
              <a:rPr lang="en-US" b="1" dirty="0"/>
              <a:t>without requiring the sender and receiver to interact at the same time</a:t>
            </a:r>
            <a:r>
              <a:rPr lang="en-US" dirty="0"/>
              <a:t>. </a:t>
            </a:r>
          </a:p>
          <a:p>
            <a:r>
              <a:rPr lang="en-US" dirty="0"/>
              <a:t>Sender drops the message into the messaging system, and the receiver processes it later, independently.</a:t>
            </a:r>
          </a:p>
          <a:p>
            <a:r>
              <a:rPr lang="en-US" dirty="0"/>
              <a:t>But the sender does </a:t>
            </a:r>
            <a:r>
              <a:rPr lang="en-US" b="1" dirty="0"/>
              <a:t>not</a:t>
            </a:r>
            <a:r>
              <a:rPr lang="en-US" dirty="0"/>
              <a:t> wait around for the receiver to finish.</a:t>
            </a:r>
          </a:p>
          <a:p>
            <a:endParaRPr lang="en-US" dirty="0"/>
          </a:p>
          <a:p>
            <a:r>
              <a:rPr lang="en-US" dirty="0"/>
              <a:t>Think of it like this: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540E4D-AC25-8170-821D-4AA22A789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323" y="5351672"/>
            <a:ext cx="5332127" cy="60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74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87804-AFFB-2730-3D6D-4486D4D60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JMS?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C3933-883B-6805-8CEA-0753DD3B4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09732" cy="3881276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Jakarta Messaging (historically </a:t>
            </a:r>
            <a:r>
              <a:rPr lang="en-IN" b="1" dirty="0"/>
              <a:t>Java Message Service</a:t>
            </a:r>
            <a:r>
              <a:rPr lang="en-IN" dirty="0"/>
              <a:t>) is a Java API standard for message-oriented middleware.</a:t>
            </a:r>
          </a:p>
          <a:p>
            <a:r>
              <a:rPr lang="en-IN" dirty="0"/>
              <a:t>Provides a standard way for Java applications to:</a:t>
            </a:r>
          </a:p>
          <a:p>
            <a:pPr lvl="1"/>
            <a:r>
              <a:rPr lang="en-IN" dirty="0"/>
              <a:t>send messages </a:t>
            </a:r>
          </a:p>
          <a:p>
            <a:pPr lvl="1"/>
            <a:r>
              <a:rPr lang="en-IN" dirty="0"/>
              <a:t>receive messages </a:t>
            </a:r>
          </a:p>
          <a:p>
            <a:pPr lvl="1"/>
            <a:r>
              <a:rPr lang="en-IN" dirty="0"/>
              <a:t>communicate through queues and topics </a:t>
            </a:r>
          </a:p>
          <a:p>
            <a:pPr lvl="1"/>
            <a:r>
              <a:rPr lang="en-IN" dirty="0"/>
              <a:t>decouple producers and consumers </a:t>
            </a:r>
          </a:p>
          <a:p>
            <a:r>
              <a:rPr lang="en-IN" dirty="0"/>
              <a:t>JMS itself is an </a:t>
            </a:r>
            <a:r>
              <a:rPr lang="en-IN" b="1" dirty="0"/>
              <a:t>API/specification</a:t>
            </a:r>
            <a:r>
              <a:rPr lang="en-IN" dirty="0"/>
              <a:t>, not the broker.</a:t>
            </a:r>
          </a:p>
          <a:p>
            <a:r>
              <a:rPr lang="en-IN" dirty="0"/>
              <a:t>Common JMS providers/brokers include:</a:t>
            </a:r>
          </a:p>
          <a:p>
            <a:pPr lvl="1"/>
            <a:r>
              <a:rPr lang="en-IN" dirty="0"/>
              <a:t>ActiveMQ </a:t>
            </a:r>
          </a:p>
          <a:p>
            <a:pPr lvl="1"/>
            <a:r>
              <a:rPr lang="en-IN" dirty="0"/>
              <a:t>IBM MQ </a:t>
            </a:r>
          </a:p>
          <a:p>
            <a:pPr lvl="1"/>
            <a:r>
              <a:rPr lang="en-IN" dirty="0"/>
              <a:t>TIBCO EMS </a:t>
            </a:r>
          </a:p>
          <a:p>
            <a:pPr lvl="1"/>
            <a:r>
              <a:rPr lang="en-IN" dirty="0"/>
              <a:t>older/related ecosystems like </a:t>
            </a:r>
            <a:r>
              <a:rPr lang="en-IN" dirty="0" err="1"/>
              <a:t>HornetQ</a:t>
            </a:r>
            <a:r>
              <a:rPr lang="en-IN" dirty="0"/>
              <a:t> / Artemis </a:t>
            </a:r>
          </a:p>
          <a:p>
            <a:r>
              <a:rPr lang="en-IN" dirty="0"/>
              <a:t>A very important modern broker in Java land is ActiveMQ Artemis.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6567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B3C19-5BB6-F556-F8EF-E8AA5B8AF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does asynchronous messaging mean?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B5BE2-9AB0-6AE5-71F9-5253A298A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/>
          </a:bodyPr>
          <a:lstStyle/>
          <a:p>
            <a:r>
              <a:rPr lang="en-US" dirty="0"/>
              <a:t>In synchronous communication: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>
                <a:solidFill>
                  <a:srgbClr val="FF0000"/>
                </a:solidFill>
              </a:rPr>
              <a:t>App A -&gt; call App B -&gt; wait -&gt; get response</a:t>
            </a:r>
          </a:p>
          <a:p>
            <a:r>
              <a:rPr lang="en-US" dirty="0"/>
              <a:t>In asynchronous communication:</a:t>
            </a:r>
          </a:p>
          <a:p>
            <a:pPr marL="400050" lvl="1" indent="0">
              <a:buNone/>
            </a:pPr>
            <a:r>
              <a:rPr lang="en-US" sz="1700" b="1" dirty="0">
                <a:solidFill>
                  <a:srgbClr val="FF0000"/>
                </a:solidFill>
              </a:rPr>
              <a:t>App A -&gt; send message -&gt; continue work</a:t>
            </a:r>
            <a:br>
              <a:rPr lang="en-US" sz="1700" b="1" dirty="0">
                <a:solidFill>
                  <a:srgbClr val="FF0000"/>
                </a:solidFill>
              </a:rPr>
            </a:br>
            <a:r>
              <a:rPr lang="en-US" sz="1700" b="1" dirty="0">
                <a:solidFill>
                  <a:srgbClr val="FF0000"/>
                </a:solidFill>
              </a:rPr>
              <a:t>Broker stores message</a:t>
            </a:r>
            <a:br>
              <a:rPr lang="en-US" sz="1700" b="1" dirty="0">
                <a:solidFill>
                  <a:srgbClr val="FF0000"/>
                </a:solidFill>
              </a:rPr>
            </a:br>
            <a:r>
              <a:rPr lang="en-US" sz="1700" b="1" dirty="0">
                <a:solidFill>
                  <a:srgbClr val="FF0000"/>
                </a:solidFill>
              </a:rPr>
              <a:t>App B receives message later</a:t>
            </a:r>
          </a:p>
          <a:p>
            <a:r>
              <a:rPr lang="en-US" dirty="0"/>
              <a:t>Sender and receiver are decoupled in time </a:t>
            </a:r>
          </a:p>
          <a:p>
            <a:r>
              <a:rPr lang="en-US" dirty="0"/>
              <a:t>sender usually does not block for business processing result </a:t>
            </a:r>
          </a:p>
          <a:p>
            <a:r>
              <a:rPr lang="en-US" dirty="0"/>
              <a:t>Broker acts as a buffer </a:t>
            </a:r>
          </a:p>
          <a:p>
            <a:r>
              <a:rPr lang="en-US" dirty="0"/>
              <a:t>Systems become more resilient and scalable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199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CBDD4-363A-0FDF-1852-BB247844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73A4-675F-883C-E156-91DCB3587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asynchronous messaging?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46691-3B5A-1992-28B3-938794BC4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Because it solves a bunch of real production problems.</a:t>
            </a:r>
          </a:p>
          <a:p>
            <a:pPr marL="0" indent="0">
              <a:buNone/>
            </a:pPr>
            <a:r>
              <a:rPr lang="en-US" b="1" dirty="0"/>
              <a:t>Without async messaging</a:t>
            </a:r>
          </a:p>
          <a:p>
            <a:r>
              <a:rPr lang="en-US" dirty="0"/>
              <a:t>If one service directly calls another: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both must be online at the same time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sender waits for response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downstream slowness hurts upstream latency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failures propagate quickly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584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965DA-3AFC-C955-5A31-3DD4094B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C1AA-89D1-241C-BE87-3266387C5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With JMS async messaging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1086A-3FAD-A30B-C36F-218A5458D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sender can:</a:t>
            </a:r>
          </a:p>
          <a:p>
            <a:r>
              <a:rPr lang="en-US" dirty="0"/>
              <a:t>send message quickly </a:t>
            </a:r>
          </a:p>
          <a:p>
            <a:r>
              <a:rPr lang="en-US" dirty="0"/>
              <a:t>return immediately </a:t>
            </a:r>
          </a:p>
          <a:p>
            <a:r>
              <a:rPr lang="en-US" dirty="0"/>
              <a:t>let the broker buffer load </a:t>
            </a:r>
          </a:p>
          <a:p>
            <a:r>
              <a:rPr lang="en-US" dirty="0"/>
              <a:t>let receiver process at its own pace </a:t>
            </a:r>
          </a:p>
          <a:p>
            <a:r>
              <a:rPr lang="en-US" dirty="0"/>
              <a:t>retry later if needed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3975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E5FD2-3116-6E46-06A4-152D08B4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7E50E-B5BD-3760-FA7D-437F3DC56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07B04-9A51-0C0A-0BC3-9468DEDBD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Async messaging is useful for things like:</a:t>
            </a:r>
          </a:p>
          <a:p>
            <a:r>
              <a:rPr lang="en-US" dirty="0"/>
              <a:t>order processing </a:t>
            </a:r>
          </a:p>
          <a:p>
            <a:r>
              <a:rPr lang="en-US" dirty="0"/>
              <a:t>email sending </a:t>
            </a:r>
          </a:p>
          <a:p>
            <a:r>
              <a:rPr lang="en-US" dirty="0"/>
              <a:t>invoice generation </a:t>
            </a:r>
          </a:p>
          <a:p>
            <a:r>
              <a:rPr lang="en-US" dirty="0"/>
              <a:t>audit logging </a:t>
            </a:r>
          </a:p>
          <a:p>
            <a:r>
              <a:rPr lang="en-US" dirty="0"/>
              <a:t>shipment updates </a:t>
            </a:r>
          </a:p>
          <a:p>
            <a:r>
              <a:rPr lang="en-US" dirty="0"/>
              <a:t>batch workflows </a:t>
            </a:r>
          </a:p>
          <a:p>
            <a:r>
              <a:rPr lang="en-US" dirty="0"/>
              <a:t>event propagation across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265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3A4FE-A40C-B359-1405-894C4C1FD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5750-AD73-09F0-4EF2-C653F71B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JMS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EE7F0-8418-9F84-3747-CB0131CBA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There are four main players:</a:t>
            </a:r>
          </a:p>
          <a:p>
            <a:pPr marL="0" indent="0">
              <a:buNone/>
            </a:pPr>
            <a:r>
              <a:rPr lang="en-US" b="1" dirty="0"/>
              <a:t>Producer  -&gt; sends message</a:t>
            </a:r>
            <a:br>
              <a:rPr lang="en-US" b="1" dirty="0"/>
            </a:br>
            <a:r>
              <a:rPr lang="en-US" b="1" dirty="0"/>
              <a:t>Broker    -&gt; stores/routes message</a:t>
            </a:r>
            <a:br>
              <a:rPr lang="en-US" b="1" dirty="0"/>
            </a:br>
            <a:r>
              <a:rPr lang="en-US" b="1" dirty="0"/>
              <a:t>Destination -&gt; queue or topic</a:t>
            </a:r>
            <a:br>
              <a:rPr lang="en-US" b="1" dirty="0"/>
            </a:br>
            <a:r>
              <a:rPr lang="en-US" b="1" dirty="0"/>
              <a:t>Consumer  -&gt; receives message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DE622-9897-62ED-E135-5B776334F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326" y="4562757"/>
            <a:ext cx="5784711" cy="188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928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1A7F7-350D-CDAC-ACED-50F13719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3AF40-0F35-E50F-0EE1-B4920E7E6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5910B-A488-7487-42E0-5421B5FA2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/>
          </a:bodyPr>
          <a:lstStyle/>
          <a:p>
            <a:r>
              <a:rPr lang="en-US" b="1" dirty="0"/>
              <a:t>Queue = point-to-point</a:t>
            </a:r>
          </a:p>
          <a:p>
            <a:r>
              <a:rPr lang="en-US" dirty="0"/>
              <a:t>A queue is used when </a:t>
            </a:r>
            <a:r>
              <a:rPr lang="en-US" b="1" dirty="0"/>
              <a:t>one message should be consumed by one receiver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Producer -&gt; Queue -&gt; one consumer gets it</a:t>
            </a:r>
          </a:p>
          <a:p>
            <a:r>
              <a:rPr lang="en-US" dirty="0"/>
              <a:t>If multiple consumers are listening, the broker distributes messages among them.</a:t>
            </a:r>
          </a:p>
          <a:p>
            <a:pPr marL="0" indent="0">
              <a:buNone/>
            </a:pPr>
            <a:r>
              <a:rPr lang="en-US" dirty="0"/>
              <a:t>Use cases:</a:t>
            </a:r>
          </a:p>
          <a:p>
            <a:r>
              <a:rPr lang="en-US" dirty="0"/>
              <a:t>order processing </a:t>
            </a:r>
          </a:p>
          <a:p>
            <a:r>
              <a:rPr lang="en-US" dirty="0"/>
              <a:t>payment jobs </a:t>
            </a:r>
          </a:p>
          <a:p>
            <a:r>
              <a:rPr lang="en-US" dirty="0"/>
              <a:t>inventory updates </a:t>
            </a:r>
          </a:p>
          <a:p>
            <a:r>
              <a:rPr lang="en-US" dirty="0"/>
              <a:t>task queues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880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A4B0B-EAC4-A261-EEC5-5374A267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5C8F7-3D0D-7756-C69E-986C8C14F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2D2-F88D-BBBD-4FAD-B4320EECE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Producer -&gt; </a:t>
            </a:r>
            <a:r>
              <a:rPr lang="en-US" b="1" dirty="0" err="1">
                <a:solidFill>
                  <a:srgbClr val="FF0000"/>
                </a:solidFill>
              </a:rPr>
              <a:t>OrderQueue</a:t>
            </a:r>
            <a:r>
              <a:rPr lang="en-US" b="1" dirty="0">
                <a:solidFill>
                  <a:srgbClr val="FF0000"/>
                </a:solidFill>
              </a:rPr>
              <a:t> -&gt; Consumer A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                  -&gt; Consumer B</a:t>
            </a:r>
          </a:p>
          <a:p>
            <a:r>
              <a:rPr lang="en-US" dirty="0"/>
              <a:t>But each individual message goes to only one consumer.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104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89C6-7F05-91AD-4B8D-D5B415BE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2700-08D4-6C8A-C9CC-3F2CF55A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Topic = publish-subscribe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03DFF-E314-ECE7-A1AC-CBEB0AF9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 topic is used when </a:t>
            </a:r>
            <a:r>
              <a:rPr lang="en-US" b="1" dirty="0"/>
              <a:t>one message should go to multiple subscribers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Producer -&gt; Topic -&gt; Consumer A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              -&gt; Consumer B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                 -&gt; Consumer C</a:t>
            </a:r>
          </a:p>
          <a:p>
            <a:r>
              <a:rPr lang="en-US" dirty="0"/>
              <a:t>Use cases:</a:t>
            </a:r>
          </a:p>
          <a:p>
            <a:r>
              <a:rPr lang="en-US" dirty="0"/>
              <a:t>business events </a:t>
            </a:r>
          </a:p>
          <a:p>
            <a:r>
              <a:rPr lang="en-US" dirty="0"/>
              <a:t>notifications </a:t>
            </a:r>
          </a:p>
          <a:p>
            <a:r>
              <a:rPr lang="en-US" dirty="0"/>
              <a:t>analytics feeds </a:t>
            </a:r>
          </a:p>
          <a:p>
            <a:r>
              <a:rPr lang="en-US" dirty="0"/>
              <a:t>cache invalidation events </a:t>
            </a:r>
          </a:p>
          <a:p>
            <a:r>
              <a:rPr lang="en-US" dirty="0"/>
              <a:t>So:</a:t>
            </a:r>
          </a:p>
          <a:p>
            <a:r>
              <a:rPr lang="en-US" b="1" dirty="0"/>
              <a:t>Queue = one receiver</a:t>
            </a:r>
            <a:r>
              <a:rPr lang="en-US" dirty="0"/>
              <a:t> </a:t>
            </a:r>
          </a:p>
          <a:p>
            <a:r>
              <a:rPr lang="en-US" b="1" dirty="0"/>
              <a:t>Topic = many receivers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0230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2998D-6093-6DE3-9CE4-EE5E7702D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308BF-4049-C872-AB0C-D89D5C25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makes JMS asynchronous?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C193A-8B7C-9BE4-7096-9DA736C66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JMS sender typically does this:</a:t>
            </a:r>
          </a:p>
          <a:p>
            <a:pPr marL="400050" lvl="1" indent="0">
              <a:buNone/>
            </a:pPr>
            <a:r>
              <a:rPr lang="en-US" sz="1900" b="1" dirty="0" err="1">
                <a:solidFill>
                  <a:srgbClr val="FF0000"/>
                </a:solidFill>
              </a:rPr>
              <a:t>jmsTemplate.convertAndSend</a:t>
            </a:r>
            <a:r>
              <a:rPr lang="en-US" sz="1900" b="1" dirty="0">
                <a:solidFill>
                  <a:srgbClr val="FF0000"/>
                </a:solidFill>
              </a:rPr>
              <a:t>("</a:t>
            </a:r>
            <a:r>
              <a:rPr lang="en-US" sz="1900" b="1" dirty="0" err="1">
                <a:solidFill>
                  <a:srgbClr val="FF0000"/>
                </a:solidFill>
              </a:rPr>
              <a:t>orderQueue</a:t>
            </a:r>
            <a:r>
              <a:rPr lang="en-US" sz="1900" b="1" dirty="0">
                <a:solidFill>
                  <a:srgbClr val="FF0000"/>
                </a:solidFill>
              </a:rPr>
              <a:t>", order);</a:t>
            </a:r>
          </a:p>
          <a:p>
            <a:r>
              <a:rPr lang="en-US" dirty="0"/>
              <a:t>After sending, the sender can continue immediately.</a:t>
            </a:r>
          </a:p>
          <a:p>
            <a:r>
              <a:rPr lang="en-US" dirty="0"/>
              <a:t>It does </a:t>
            </a:r>
            <a:r>
              <a:rPr lang="en-US" b="1" dirty="0"/>
              <a:t>not</a:t>
            </a:r>
            <a:r>
              <a:rPr lang="en-US" dirty="0"/>
              <a:t> need to know:</a:t>
            </a:r>
          </a:p>
          <a:p>
            <a:pPr lvl="1"/>
            <a:r>
              <a:rPr lang="en-US" dirty="0"/>
              <a:t>when consumer receives it </a:t>
            </a:r>
          </a:p>
          <a:p>
            <a:pPr lvl="1"/>
            <a:r>
              <a:rPr lang="en-US" dirty="0"/>
              <a:t>which server processes it </a:t>
            </a:r>
          </a:p>
          <a:p>
            <a:pPr lvl="1"/>
            <a:r>
              <a:rPr lang="en-US" dirty="0"/>
              <a:t>how long processing takes </a:t>
            </a:r>
          </a:p>
          <a:p>
            <a:pPr lvl="1"/>
            <a:r>
              <a:rPr lang="en-US" dirty="0"/>
              <a:t>whether receiver is temporarily busy </a:t>
            </a:r>
          </a:p>
          <a:p>
            <a:r>
              <a:rPr lang="en-US" dirty="0"/>
              <a:t>The broker handles storage and delivery.</a:t>
            </a:r>
          </a:p>
          <a:p>
            <a:r>
              <a:rPr lang="en-US" dirty="0"/>
              <a:t>That is why it is asynchronous.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575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E1063-617E-E827-4E6A-6ABEC21BD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03BE6-4C5B-D44F-17EC-4C97D4B6F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Message flow in asynchronous JMS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5848A-A09A-389F-31BE-87D8E1767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Here’s the lifecycle.</a:t>
            </a:r>
          </a:p>
          <a:p>
            <a:pPr marL="0" indent="0">
              <a:buNone/>
            </a:pPr>
            <a:r>
              <a:rPr lang="en-IN" dirty="0"/>
              <a:t>1. Producer creates message</a:t>
            </a:r>
            <a:br>
              <a:rPr lang="en-IN" dirty="0"/>
            </a:br>
            <a:r>
              <a:rPr lang="en-IN" dirty="0"/>
              <a:t>2. Producer sends to queue/topic</a:t>
            </a:r>
            <a:br>
              <a:rPr lang="en-IN" dirty="0"/>
            </a:br>
            <a:r>
              <a:rPr lang="en-IN" dirty="0"/>
              <a:t>3. Broker stores message</a:t>
            </a:r>
            <a:br>
              <a:rPr lang="en-IN" dirty="0"/>
            </a:br>
            <a:r>
              <a:rPr lang="en-IN" dirty="0"/>
              <a:t>4. Producer continues</a:t>
            </a:r>
            <a:br>
              <a:rPr lang="en-IN" dirty="0"/>
            </a:br>
            <a:r>
              <a:rPr lang="en-IN" dirty="0"/>
              <a:t>5. Consumer receives message later</a:t>
            </a:r>
            <a:br>
              <a:rPr lang="en-IN" dirty="0"/>
            </a:br>
            <a:r>
              <a:rPr lang="en-IN" dirty="0"/>
              <a:t>6. Consumer processes it</a:t>
            </a:r>
            <a:br>
              <a:rPr lang="en-IN" dirty="0"/>
            </a:br>
            <a:r>
              <a:rPr lang="en-IN" dirty="0"/>
              <a:t>7. Consumer acknowledges success/failure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FD6EB-357A-7956-7EB3-5BA030A5C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22" y="2518607"/>
            <a:ext cx="3369839" cy="393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20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0918C-9C9E-8176-FB5B-C4DC08CF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560F3-47DE-CE56-7403-5FC83F29A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AAD3A-08C4-A906-7BA4-A425BAE37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Imagine an e-commerce app.</a:t>
            </a:r>
          </a:p>
          <a:p>
            <a:r>
              <a:rPr lang="en-US" dirty="0"/>
              <a:t>When user places an order, you may not want the REST API to do all work inline.</a:t>
            </a:r>
          </a:p>
          <a:p>
            <a:r>
              <a:rPr lang="en-US" dirty="0"/>
              <a:t>Instead: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REST API -&gt; create order -&gt; send JMS message -&gt; return "Order accepted"</a:t>
            </a:r>
          </a:p>
          <a:p>
            <a:r>
              <a:rPr lang="en-US" dirty="0"/>
              <a:t>Then background consumers do:</a:t>
            </a:r>
          </a:p>
          <a:p>
            <a:pPr lvl="1"/>
            <a:r>
              <a:rPr lang="en-US" dirty="0"/>
              <a:t>payment validation </a:t>
            </a:r>
          </a:p>
          <a:p>
            <a:pPr lvl="1"/>
            <a:r>
              <a:rPr lang="en-US" dirty="0"/>
              <a:t>inventory reservation </a:t>
            </a:r>
          </a:p>
          <a:p>
            <a:pPr lvl="1"/>
            <a:r>
              <a:rPr lang="en-US" dirty="0"/>
              <a:t>email notification </a:t>
            </a:r>
          </a:p>
          <a:p>
            <a:pPr lvl="1"/>
            <a:r>
              <a:rPr lang="en-US" dirty="0"/>
              <a:t>shipment workflow </a:t>
            </a:r>
          </a:p>
          <a:p>
            <a:r>
              <a:rPr lang="en-US" dirty="0"/>
              <a:t>Now the order API is faster and less tightly coupled.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5849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6B75-A4B2-A1EE-AE81-68AA8E1FF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538C1-0108-4794-955C-393F587B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JMS producer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840FA-4C01-685B-14D8-3BAC6A164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producer</a:t>
            </a:r>
            <a:r>
              <a:rPr lang="en-US" dirty="0"/>
              <a:t> sends messages to a destination.</a:t>
            </a:r>
          </a:p>
          <a:p>
            <a:pPr marL="0" indent="0">
              <a:buNone/>
            </a:pPr>
            <a:r>
              <a:rPr lang="en-US" dirty="0"/>
              <a:t>Historically in JMS API you work with:</a:t>
            </a:r>
          </a:p>
          <a:p>
            <a:r>
              <a:rPr lang="en-US" dirty="0" err="1"/>
              <a:t>ConnectionFactory</a:t>
            </a:r>
            <a:r>
              <a:rPr lang="en-US" dirty="0"/>
              <a:t> </a:t>
            </a:r>
          </a:p>
          <a:p>
            <a:r>
              <a:rPr lang="en-US" dirty="0"/>
              <a:t>Connection </a:t>
            </a:r>
          </a:p>
          <a:p>
            <a:r>
              <a:rPr lang="en-US" dirty="0"/>
              <a:t>Session </a:t>
            </a:r>
          </a:p>
          <a:p>
            <a:r>
              <a:rPr lang="en-US" dirty="0" err="1"/>
              <a:t>MessageProducer</a:t>
            </a:r>
            <a:r>
              <a:rPr lang="en-US" dirty="0"/>
              <a:t> </a:t>
            </a:r>
          </a:p>
          <a:p>
            <a:r>
              <a:rPr lang="en-US" dirty="0"/>
              <a:t>In Spring apps, you usually use </a:t>
            </a:r>
            <a:r>
              <a:rPr lang="en-US" b="1" dirty="0" err="1"/>
              <a:t>JmsTemplate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8019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BD522-81AB-DA8D-C8EA-79F3B67AD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128A-F281-8946-106E-0762FB1D2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JMS producer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6201B-7D26-3E0F-A83E-F4FC5FF8A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jmsTemplate.convertAndSend</a:t>
            </a:r>
            <a:r>
              <a:rPr lang="en-US" b="1" dirty="0">
                <a:solidFill>
                  <a:srgbClr val="FF0000"/>
                </a:solidFill>
              </a:rPr>
              <a:t>("</a:t>
            </a:r>
            <a:r>
              <a:rPr lang="en-US" b="1" dirty="0" err="1">
                <a:solidFill>
                  <a:srgbClr val="FF0000"/>
                </a:solidFill>
              </a:rPr>
              <a:t>orderQueue</a:t>
            </a:r>
            <a:r>
              <a:rPr lang="en-US" b="1" dirty="0">
                <a:solidFill>
                  <a:srgbClr val="FF0000"/>
                </a:solidFill>
              </a:rPr>
              <a:t>", order);</a:t>
            </a:r>
          </a:p>
          <a:p>
            <a:pPr marL="0" indent="0">
              <a:buNone/>
            </a:pPr>
            <a:r>
              <a:rPr lang="en-US" dirty="0"/>
              <a:t>What happens:</a:t>
            </a:r>
          </a:p>
          <a:p>
            <a:r>
              <a:rPr lang="en-US" dirty="0"/>
              <a:t>object gets converted into a JMS message </a:t>
            </a:r>
          </a:p>
          <a:p>
            <a:r>
              <a:rPr lang="en-US" dirty="0"/>
              <a:t>broker receives message </a:t>
            </a:r>
          </a:p>
          <a:p>
            <a:r>
              <a:rPr lang="en-US" dirty="0"/>
              <a:t>queue stores it </a:t>
            </a:r>
          </a:p>
          <a:p>
            <a:r>
              <a:rPr lang="en-US" dirty="0"/>
              <a:t>consumer gets it later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5586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646B0-74FB-5D80-9C30-D08C7A04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A909-A084-179F-EA4C-35DA7072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JMS consumer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CF2F2-A5BE-C77C-F83B-E6F3E5FC9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consumer</a:t>
            </a:r>
            <a:r>
              <a:rPr lang="en-US" dirty="0"/>
              <a:t> receives messages from a destination.</a:t>
            </a:r>
          </a:p>
          <a:p>
            <a:r>
              <a:rPr lang="en-US" dirty="0"/>
              <a:t>There are two major consumption styles:</a:t>
            </a:r>
          </a:p>
          <a:p>
            <a:pPr marL="0" indent="0">
              <a:buNone/>
            </a:pPr>
            <a:r>
              <a:rPr lang="en-US" b="1" dirty="0"/>
              <a:t>A. Synchronous receive</a:t>
            </a:r>
          </a:p>
          <a:p>
            <a:pPr marL="0" indent="0">
              <a:buNone/>
            </a:pPr>
            <a:r>
              <a:rPr lang="en-IN" b="1" dirty="0"/>
              <a:t>B. Asynchronous listener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838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FEA9-F1AE-F7AA-70F3-4ABCF883F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D34A4-FCE2-EB8E-4A54-CD8D0C93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JMS consumer - Synchronous receive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5426-2F39-8CDC-A54B-33E6A5536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Consumer explicitly polls or blocks waiting: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Message </a:t>
            </a:r>
            <a:r>
              <a:rPr lang="en-US" b="1" dirty="0" err="1">
                <a:solidFill>
                  <a:srgbClr val="FF0000"/>
                </a:solidFill>
              </a:rPr>
              <a:t>message</a:t>
            </a:r>
            <a:r>
              <a:rPr lang="en-US" b="1" dirty="0">
                <a:solidFill>
                  <a:srgbClr val="FF0000"/>
                </a:solidFill>
              </a:rPr>
              <a:t> = </a:t>
            </a:r>
            <a:r>
              <a:rPr lang="en-US" b="1" dirty="0" err="1">
                <a:solidFill>
                  <a:srgbClr val="FF0000"/>
                </a:solidFill>
              </a:rPr>
              <a:t>consumer.receive</a:t>
            </a:r>
            <a:r>
              <a:rPr lang="en-US" b="1" dirty="0">
                <a:solidFill>
                  <a:srgbClr val="FF0000"/>
                </a:solidFill>
              </a:rPr>
              <a:t>();</a:t>
            </a:r>
          </a:p>
          <a:p>
            <a:r>
              <a:rPr lang="en-US" dirty="0"/>
              <a:t>This is technically possible, but it is not the usual app-level pattern for scalable enterprise apps.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287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86E78-E17B-6CC2-D081-3A4BF7833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0E79D-3B73-D464-B890-6F21D7CC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584581" cy="706964"/>
          </a:xfrm>
        </p:spPr>
        <p:txBody>
          <a:bodyPr/>
          <a:lstStyle/>
          <a:p>
            <a:r>
              <a:rPr lang="en-US" b="1" dirty="0"/>
              <a:t>JMS consumer -- </a:t>
            </a:r>
            <a:r>
              <a:rPr lang="en-IN" b="1" dirty="0"/>
              <a:t>Asynchronous listener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A8B29-410F-89B5-B7A6-7857F8FB6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IN" dirty="0"/>
              <a:t>A listener is registered, and broker/container delivers messages when available.</a:t>
            </a:r>
          </a:p>
          <a:p>
            <a:r>
              <a:rPr lang="en-IN" dirty="0"/>
              <a:t>In Spring: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@JmsListener(destination = "</a:t>
            </a:r>
            <a:r>
              <a:rPr lang="en-IN" b="1" dirty="0" err="1">
                <a:solidFill>
                  <a:srgbClr val="FF0000"/>
                </a:solidFill>
              </a:rPr>
              <a:t>orderQueue</a:t>
            </a:r>
            <a:r>
              <a:rPr lang="en-IN" b="1" dirty="0">
                <a:solidFill>
                  <a:srgbClr val="FF0000"/>
                </a:solidFill>
              </a:rPr>
              <a:t>")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public void </a:t>
            </a:r>
            <a:r>
              <a:rPr lang="en-IN" b="1" dirty="0" err="1">
                <a:solidFill>
                  <a:srgbClr val="FF0000"/>
                </a:solidFill>
              </a:rPr>
              <a:t>handleOrder</a:t>
            </a:r>
            <a:r>
              <a:rPr lang="en-IN" b="1" dirty="0">
                <a:solidFill>
                  <a:srgbClr val="FF0000"/>
                </a:solidFill>
              </a:rPr>
              <a:t>(Order order) {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</a:t>
            </a:r>
            <a:r>
              <a:rPr lang="en-IN" b="1" dirty="0" err="1">
                <a:solidFill>
                  <a:srgbClr val="FF0000"/>
                </a:solidFill>
              </a:rPr>
              <a:t>System.out.println</a:t>
            </a:r>
            <a:r>
              <a:rPr lang="en-IN" b="1" dirty="0">
                <a:solidFill>
                  <a:srgbClr val="FF0000"/>
                </a:solidFill>
              </a:rPr>
              <a:t>("Received: " + order);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r>
              <a:rPr lang="en-IN" dirty="0"/>
              <a:t>This is the most common style.</a:t>
            </a:r>
          </a:p>
          <a:p>
            <a:r>
              <a:rPr lang="en-IN" dirty="0"/>
              <a:t>This is what people usually mean by </a:t>
            </a:r>
            <a:r>
              <a:rPr lang="en-IN" b="1" dirty="0"/>
              <a:t>asynchronous JMS consumption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426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ABF84-A1E0-0A5B-67AB-B3CD94F0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BDB3E-26C4-4EDC-5AEA-87FC833D7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Push-style listener model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CEAB9-8D14-7CFF-0F4F-4293983E6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With listener-based consumption:</a:t>
            </a:r>
          </a:p>
          <a:p>
            <a:r>
              <a:rPr lang="en-US" dirty="0"/>
              <a:t>So your application is not manually polling in business code.</a:t>
            </a:r>
          </a:p>
          <a:p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6BF5A-4EBE-5100-86B3-9B15B2A80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118" y="3980058"/>
            <a:ext cx="4469364" cy="238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617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0582E-34C1-E799-1CD6-4E0DFB45E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3FE72-0770-EEA6-8DCE-2FF8F098B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Spring’s listener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4936-1FF7-10A0-5385-16AD9EC96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Spring’s listener container manages:</a:t>
            </a:r>
          </a:p>
          <a:p>
            <a:r>
              <a:rPr lang="en-IN" dirty="0"/>
              <a:t>consumer threads </a:t>
            </a:r>
          </a:p>
          <a:p>
            <a:r>
              <a:rPr lang="en-IN" dirty="0"/>
              <a:t>session handling </a:t>
            </a:r>
          </a:p>
          <a:p>
            <a:r>
              <a:rPr lang="en-IN" dirty="0"/>
              <a:t>message conversion </a:t>
            </a:r>
          </a:p>
          <a:p>
            <a:r>
              <a:rPr lang="en-IN" dirty="0"/>
              <a:t>acknowledgement </a:t>
            </a:r>
          </a:p>
          <a:p>
            <a:r>
              <a:rPr lang="en-IN" dirty="0"/>
              <a:t>retries / error </a:t>
            </a:r>
            <a:r>
              <a:rPr lang="en-IN" dirty="0" err="1"/>
              <a:t>behavior</a:t>
            </a:r>
            <a:r>
              <a:rPr lang="en-IN" dirty="0"/>
              <a:t> depending on config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1600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42176-0D5C-8831-CB86-289955C52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D18F-E0B4-A372-3C7B-D57FADC18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Queue-based async messaging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0E2890-B133-E72C-1603-564C37F9C6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9444" y="3715065"/>
            <a:ext cx="9578196" cy="2377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1F9504-7A39-D453-86FE-1ABBDA7DCB5D}"/>
              </a:ext>
            </a:extLst>
          </p:cNvPr>
          <p:cNvSpPr txBox="1"/>
          <p:nvPr/>
        </p:nvSpPr>
        <p:spPr>
          <a:xfrm>
            <a:off x="1759986" y="2773603"/>
            <a:ext cx="60952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Classic point-to-point async pattern.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5707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947AC-F441-6AA1-1D8E-2F0E4137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D13F-F623-9153-1F57-75F6E2C25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920483" cy="706964"/>
          </a:xfrm>
        </p:spPr>
        <p:txBody>
          <a:bodyPr/>
          <a:lstStyle/>
          <a:p>
            <a:r>
              <a:rPr lang="en-US" b="1" dirty="0"/>
              <a:t>Topic-based async messaging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0303B-F431-D61E-81B1-9CAB52065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pub-sub</a:t>
            </a:r>
          </a:p>
          <a:p>
            <a:r>
              <a:rPr lang="en-US" dirty="0"/>
              <a:t>A single event can fan out to many consumers independently.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72380A-935A-C3FD-0153-132C3DAA5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764" y="3728079"/>
            <a:ext cx="6389457" cy="190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61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8A70-7E88-5D06-76A7-615DF4B8D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E97A-A981-66FF-EF76-41F8692B7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Message persistence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AAB55-DADB-A03F-5E2B-9E76E420D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/>
          </a:bodyPr>
          <a:lstStyle/>
          <a:p>
            <a:r>
              <a:rPr lang="en-US" dirty="0"/>
              <a:t>One big strength of JMS systems is durability.</a:t>
            </a:r>
          </a:p>
          <a:p>
            <a:r>
              <a:rPr lang="en-US" dirty="0"/>
              <a:t>Messages can often be </a:t>
            </a:r>
            <a:r>
              <a:rPr lang="en-US" b="1" dirty="0"/>
              <a:t>persistent</a:t>
            </a:r>
            <a:r>
              <a:rPr lang="en-US" dirty="0"/>
              <a:t>, meaning the broker stores them reliably so they survive crashes or restarts depending on broker configuration.</a:t>
            </a:r>
          </a:p>
          <a:p>
            <a:pPr marL="0" indent="0">
              <a:buNone/>
            </a:pPr>
            <a:r>
              <a:rPr lang="en-US" dirty="0"/>
              <a:t>Why this matters:</a:t>
            </a:r>
          </a:p>
          <a:p>
            <a:r>
              <a:rPr lang="en-US" dirty="0"/>
              <a:t>sender can send and move on </a:t>
            </a:r>
          </a:p>
          <a:p>
            <a:r>
              <a:rPr lang="en-US" dirty="0"/>
              <a:t>broker safely holds message </a:t>
            </a:r>
          </a:p>
          <a:p>
            <a:r>
              <a:rPr lang="en-US" dirty="0"/>
              <a:t>consumer can process later </a:t>
            </a:r>
          </a:p>
          <a:p>
            <a:r>
              <a:rPr lang="en-US" dirty="0"/>
              <a:t>temporary outages are tolerated better </a:t>
            </a:r>
          </a:p>
          <a:p>
            <a:r>
              <a:rPr lang="en-US" dirty="0"/>
              <a:t>Without persistence, async messaging is much weaker for critical business workflows.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4695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87E03-655F-45CC-1AA6-BBCCE8BFD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A40DF-3074-9E18-D737-8D4DBB5E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Message acknowledgment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3C321-89E1-FED6-68A9-D5F76192D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Once consumer gets a message, how does broker know whether processing succeeded?</a:t>
            </a:r>
          </a:p>
          <a:p>
            <a:r>
              <a:rPr lang="en-US" dirty="0"/>
              <a:t>That’s where </a:t>
            </a:r>
            <a:r>
              <a:rPr lang="en-US" b="1" dirty="0"/>
              <a:t>acknowledgment</a:t>
            </a:r>
            <a:r>
              <a:rPr lang="en-US" dirty="0"/>
              <a:t> comes in.</a:t>
            </a:r>
          </a:p>
          <a:p>
            <a:pPr marL="0" indent="0">
              <a:buNone/>
            </a:pPr>
            <a:r>
              <a:rPr lang="en-US" dirty="0"/>
              <a:t>Basic idea:</a:t>
            </a:r>
          </a:p>
          <a:p>
            <a:r>
              <a:rPr lang="en-US" b="1" dirty="0"/>
              <a:t>message delivered </a:t>
            </a:r>
          </a:p>
          <a:p>
            <a:r>
              <a:rPr lang="en-US" b="1" dirty="0"/>
              <a:t>consumer processes it </a:t>
            </a:r>
          </a:p>
          <a:p>
            <a:r>
              <a:rPr lang="en-US" b="1" dirty="0"/>
              <a:t>consumer/session acknowledges success </a:t>
            </a:r>
          </a:p>
          <a:p>
            <a:r>
              <a:rPr lang="en-US" b="1" dirty="0"/>
              <a:t>broker removes message </a:t>
            </a:r>
          </a:p>
          <a:p>
            <a:r>
              <a:rPr lang="en-US" dirty="0"/>
              <a:t>If processing fails before ack, the message may be redelivered depending on configuration.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1697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B8A7B-E25D-14C8-E093-F42C299EB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9701F-8BD2-1AFB-F1BC-C335D88AB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Transactions in JMS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D01D-E254-7BD4-690D-9126CEA31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Transactions are very important in asynchronous messaging.</a:t>
            </a:r>
          </a:p>
          <a:p>
            <a:r>
              <a:rPr lang="en-US" dirty="0"/>
              <a:t>A consumer often does something like:</a:t>
            </a:r>
          </a:p>
          <a:p>
            <a:pPr lvl="1"/>
            <a:r>
              <a:rPr lang="en-US" dirty="0"/>
              <a:t>receive message </a:t>
            </a:r>
          </a:p>
          <a:p>
            <a:pPr lvl="1"/>
            <a:r>
              <a:rPr lang="en-US" dirty="0"/>
              <a:t>update database </a:t>
            </a:r>
          </a:p>
          <a:p>
            <a:pPr lvl="1"/>
            <a:r>
              <a:rPr lang="en-US" dirty="0"/>
              <a:t>call business logic </a:t>
            </a:r>
          </a:p>
          <a:p>
            <a:pPr lvl="1"/>
            <a:r>
              <a:rPr lang="en-US" dirty="0"/>
              <a:t>commit </a:t>
            </a:r>
          </a:p>
          <a:p>
            <a:r>
              <a:rPr lang="en-US" dirty="0"/>
              <a:t>If transaction succeeds:</a:t>
            </a:r>
          </a:p>
          <a:p>
            <a:pPr lvl="1"/>
            <a:r>
              <a:rPr lang="en-US" dirty="0"/>
              <a:t>ack/commit message </a:t>
            </a:r>
          </a:p>
          <a:p>
            <a:pPr lvl="1"/>
            <a:r>
              <a:rPr lang="en-US" dirty="0"/>
              <a:t>remove from queue </a:t>
            </a:r>
          </a:p>
          <a:p>
            <a:r>
              <a:rPr lang="en-US" dirty="0"/>
              <a:t>If transaction fails:</a:t>
            </a:r>
          </a:p>
          <a:p>
            <a:pPr lvl="1"/>
            <a:r>
              <a:rPr lang="en-US" dirty="0"/>
              <a:t>rollback </a:t>
            </a:r>
          </a:p>
          <a:p>
            <a:pPr lvl="1"/>
            <a:r>
              <a:rPr lang="en-US" dirty="0"/>
              <a:t>message may be redelivered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0CF49-353F-0A1E-17FA-8CD4AB24C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503" y="3429000"/>
            <a:ext cx="6789421" cy="230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7123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B27D-65C5-FAB0-74BB-5C723B9AA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6F8D2-977A-2AD4-1F03-0C25F5D3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Redelivery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BCB60-7AB8-2609-772F-FC606B49F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If processing fails, JMS broker may try again.</a:t>
            </a:r>
          </a:p>
          <a:p>
            <a:r>
              <a:rPr lang="en-US" dirty="0"/>
              <a:t>Great for transient failures, but dangerous if your processing is not idempotent.</a:t>
            </a:r>
          </a:p>
          <a:p>
            <a:pPr marL="0" indent="0">
              <a:buNone/>
            </a:pPr>
            <a:r>
              <a:rPr lang="en-US" dirty="0"/>
              <a:t>Example danger:</a:t>
            </a:r>
          </a:p>
          <a:p>
            <a:r>
              <a:rPr lang="en-US" dirty="0"/>
              <a:t>consumer charges card </a:t>
            </a:r>
          </a:p>
          <a:p>
            <a:r>
              <a:rPr lang="en-US" dirty="0"/>
              <a:t>crashes before ack </a:t>
            </a:r>
          </a:p>
          <a:p>
            <a:r>
              <a:rPr lang="en-US" dirty="0"/>
              <a:t>message redelivered </a:t>
            </a:r>
          </a:p>
          <a:p>
            <a:r>
              <a:rPr lang="en-US" dirty="0"/>
              <a:t>card charged again </a:t>
            </a:r>
          </a:p>
          <a:p>
            <a:r>
              <a:rPr lang="en-US" dirty="0"/>
              <a:t>So async consumers should be designed carefully.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058ED3-3AF1-ECB4-299F-B7C2F747D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151" y="3553665"/>
            <a:ext cx="1920308" cy="311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07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7B01F-C72F-6B85-F547-586A336B0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0A08E-A171-DA91-C264-FE4DC667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Idempotency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87294-015A-9F34-FC7C-6C22461A1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/>
          </a:bodyPr>
          <a:lstStyle/>
          <a:p>
            <a:r>
              <a:rPr lang="en-US" dirty="0"/>
              <a:t>Because messages can be retried or duplicated, consumers should ideally be </a:t>
            </a:r>
            <a:r>
              <a:rPr lang="en-US" b="1" dirty="0"/>
              <a:t>idempotent</a:t>
            </a:r>
            <a:r>
              <a:rPr lang="en-US" dirty="0"/>
              <a:t>.</a:t>
            </a:r>
          </a:p>
          <a:p>
            <a:r>
              <a:rPr lang="en-US" dirty="0"/>
              <a:t>Meaning: processing the same message twice should not corrupt business state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use unique order event IDs </a:t>
            </a:r>
          </a:p>
          <a:p>
            <a:pPr lvl="1"/>
            <a:r>
              <a:rPr lang="en-US" dirty="0"/>
              <a:t>store processed-message IDs </a:t>
            </a:r>
          </a:p>
          <a:p>
            <a:pPr lvl="1"/>
            <a:r>
              <a:rPr lang="en-US" dirty="0"/>
              <a:t>use deduplication checks </a:t>
            </a:r>
          </a:p>
          <a:p>
            <a:pPr lvl="1"/>
            <a:r>
              <a:rPr lang="en-US" dirty="0"/>
              <a:t>make operations safe on repeat </a:t>
            </a:r>
          </a:p>
          <a:p>
            <a:r>
              <a:rPr lang="en-US" dirty="0"/>
              <a:t>Without idempotency, async messaging gets risky in real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649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737B4-0478-E799-8F67-F34104B8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98DAF-9BDF-788D-2482-F99E7E4C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Dead letter queue (DLQ)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435F6-130C-8FE2-A1DB-28CF258CC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IN" dirty="0"/>
              <a:t>What if a message keeps failing over and over?</a:t>
            </a:r>
          </a:p>
          <a:p>
            <a:r>
              <a:rPr lang="en-IN" dirty="0"/>
              <a:t>You don’t want infinite retries forever.</a:t>
            </a:r>
          </a:p>
          <a:p>
            <a:r>
              <a:rPr lang="en-IN" dirty="0"/>
              <a:t>So brokers often support a </a:t>
            </a:r>
            <a:r>
              <a:rPr lang="en-IN" b="1" dirty="0"/>
              <a:t>Dead Letter Queue</a:t>
            </a:r>
            <a:r>
              <a:rPr lang="en-IN" dirty="0"/>
              <a:t>.</a:t>
            </a:r>
          </a:p>
          <a:p>
            <a:r>
              <a:rPr lang="en-IN" dirty="0"/>
              <a:t>Flow: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Main Queue -&gt; consumer fails repeatedly -&gt; DLQ</a:t>
            </a:r>
          </a:p>
          <a:p>
            <a:r>
              <a:rPr lang="en-IN" dirty="0"/>
              <a:t>Now bad messages are isolated for investigation.</a:t>
            </a:r>
          </a:p>
          <a:p>
            <a:r>
              <a:rPr lang="en-US" dirty="0"/>
              <a:t>DLQs are essential in production systems.</a:t>
            </a:r>
            <a:endParaRPr lang="en-IN" dirty="0"/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834A36-B13A-EC13-CA4C-46D54C026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194" y="2603500"/>
            <a:ext cx="5079485" cy="187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56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91DCA-BAA9-5995-EC8A-F1D4F320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D4F9-0600-C203-C3DA-99BF5527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Load leveling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B2B58-B5D6-509A-6C7B-2A156C3F3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/>
          </a:bodyPr>
          <a:lstStyle/>
          <a:p>
            <a:r>
              <a:rPr lang="en-US" dirty="0"/>
              <a:t>One major async benefit is </a:t>
            </a:r>
            <a:r>
              <a:rPr lang="en-US" b="1" dirty="0"/>
              <a:t>load leveling</a:t>
            </a:r>
            <a:r>
              <a:rPr lang="en-US" dirty="0"/>
              <a:t>.</a:t>
            </a:r>
          </a:p>
          <a:p>
            <a:r>
              <a:rPr lang="en-US" dirty="0"/>
              <a:t>Suppose producers send 10,000 requests quickly.</a:t>
            </a:r>
          </a:p>
          <a:p>
            <a:r>
              <a:rPr lang="en-US" dirty="0"/>
              <a:t>Without a queue:</a:t>
            </a:r>
          </a:p>
          <a:p>
            <a:pPr lvl="1"/>
            <a:r>
              <a:rPr lang="en-US" dirty="0"/>
              <a:t>downstream service gets overloaded immediately </a:t>
            </a:r>
          </a:p>
          <a:p>
            <a:r>
              <a:rPr lang="en-US" dirty="0"/>
              <a:t>With JMS:</a:t>
            </a:r>
          </a:p>
          <a:p>
            <a:pPr lvl="1"/>
            <a:r>
              <a:rPr lang="en-US" dirty="0"/>
              <a:t>messages pile up in queue </a:t>
            </a:r>
          </a:p>
          <a:p>
            <a:pPr lvl="1"/>
            <a:r>
              <a:rPr lang="en-US" dirty="0"/>
              <a:t>consumers process at steady pace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Traffic spike -&gt; Queue buffers -&gt; workers drain gradually</a:t>
            </a:r>
          </a:p>
          <a:p>
            <a:r>
              <a:rPr lang="en-US" dirty="0"/>
              <a:t>This protects downstream systems and smooths traffic bursts.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8819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F511-331E-3E61-95D8-55C4DD0FE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9777D-DC3D-079C-F71D-DF02A81A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Competing consumers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746A8-CA8F-637C-F3B4-5244D1CAF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With queues, you can scale by adding multiple consumers.</a:t>
            </a:r>
          </a:p>
          <a:p>
            <a:pPr marL="0" indent="0">
              <a:buNone/>
            </a:pPr>
            <a:r>
              <a:rPr lang="en-US" b="1" dirty="0"/>
              <a:t>Producer -&gt; Queue -&gt; Consumer 1</a:t>
            </a:r>
            <a:br>
              <a:rPr lang="en-US" b="1" dirty="0"/>
            </a:br>
            <a:r>
              <a:rPr lang="en-US" b="1" dirty="0"/>
              <a:t>                  -&gt; Consumer 2</a:t>
            </a:r>
            <a:br>
              <a:rPr lang="en-US" b="1" dirty="0"/>
            </a:br>
            <a:r>
              <a:rPr lang="en-US" b="1" dirty="0"/>
              <a:t>                  -&gt; Consumer 3</a:t>
            </a:r>
          </a:p>
          <a:p>
            <a:r>
              <a:rPr lang="en-US" dirty="0"/>
              <a:t>Each message still goes to only one consumer, but total throughput increases.</a:t>
            </a:r>
          </a:p>
          <a:p>
            <a:r>
              <a:rPr lang="en-US" dirty="0"/>
              <a:t>This is called the </a:t>
            </a:r>
            <a:r>
              <a:rPr lang="en-US" b="1" dirty="0"/>
              <a:t>competing consumers</a:t>
            </a:r>
            <a:r>
              <a:rPr lang="en-US" dirty="0"/>
              <a:t> pattern.</a:t>
            </a:r>
          </a:p>
          <a:p>
            <a:r>
              <a:rPr lang="en-US" dirty="0"/>
              <a:t>Very common in enterprise integration.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810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05DB-934B-CCD7-5AE6-19D1FB66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55EE-8BE1-095B-EDED-A47A153B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Loose coupling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1677F-550C-FDA9-C161-17C007795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/>
          </a:bodyPr>
          <a:lstStyle/>
          <a:p>
            <a:r>
              <a:rPr lang="en-US" dirty="0"/>
              <a:t>JMS async messaging gives loose coupling in several ways:</a:t>
            </a:r>
          </a:p>
          <a:p>
            <a:r>
              <a:rPr lang="en-US" b="1" dirty="0"/>
              <a:t>Time decoupling -</a:t>
            </a:r>
            <a:r>
              <a:rPr lang="en-US" dirty="0"/>
              <a:t>Sender and receiver need not be active together.</a:t>
            </a:r>
          </a:p>
          <a:p>
            <a:r>
              <a:rPr lang="en-US" b="1" dirty="0"/>
              <a:t>Technology decoupling -</a:t>
            </a:r>
            <a:r>
              <a:rPr lang="en-US" dirty="0"/>
              <a:t>Systems interact through messages, not direct method calls.</a:t>
            </a:r>
          </a:p>
          <a:p>
            <a:r>
              <a:rPr lang="en-US" b="1" dirty="0"/>
              <a:t>Location decoupling -</a:t>
            </a:r>
            <a:r>
              <a:rPr lang="en-US" dirty="0"/>
              <a:t>Sender doesn’t care which machine handles processing.</a:t>
            </a:r>
          </a:p>
          <a:p>
            <a:r>
              <a:rPr lang="en-US" b="1" dirty="0"/>
              <a:t>Rate decoupling -</a:t>
            </a:r>
            <a:r>
              <a:rPr lang="en-US" dirty="0"/>
              <a:t>Sender and receiver can operate at different speeds.</a:t>
            </a:r>
          </a:p>
          <a:p>
            <a:r>
              <a:rPr lang="en-US" dirty="0"/>
              <a:t>That is why message-oriented systems are so powerful.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39858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2BF76-50A3-2C6C-44FB-4CE3E2157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472C8-A9C9-6FE5-03C0-86A75D005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Typical JMS message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34B3-B193-CFFA-937F-F2D115E65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At API level, JMS supports message forms like:</a:t>
            </a:r>
          </a:p>
          <a:p>
            <a:r>
              <a:rPr lang="en-US" dirty="0" err="1"/>
              <a:t>TextMessage</a:t>
            </a:r>
            <a:r>
              <a:rPr lang="en-US" dirty="0"/>
              <a:t> </a:t>
            </a:r>
          </a:p>
          <a:p>
            <a:r>
              <a:rPr lang="en-US" dirty="0" err="1"/>
              <a:t>ObjectMessage</a:t>
            </a:r>
            <a:r>
              <a:rPr lang="en-US" dirty="0"/>
              <a:t> </a:t>
            </a:r>
          </a:p>
          <a:p>
            <a:r>
              <a:rPr lang="en-US" dirty="0" err="1"/>
              <a:t>BytesMessage</a:t>
            </a:r>
            <a:r>
              <a:rPr lang="en-US" dirty="0"/>
              <a:t> </a:t>
            </a:r>
          </a:p>
          <a:p>
            <a:r>
              <a:rPr lang="en-US" dirty="0" err="1"/>
              <a:t>MapMessage</a:t>
            </a:r>
            <a:r>
              <a:rPr lang="en-US" dirty="0"/>
              <a:t> </a:t>
            </a:r>
          </a:p>
          <a:p>
            <a:r>
              <a:rPr lang="en-US" dirty="0" err="1"/>
              <a:t>StreamMessage</a:t>
            </a:r>
            <a:r>
              <a:rPr lang="en-US" dirty="0"/>
              <a:t> </a:t>
            </a:r>
          </a:p>
          <a:p>
            <a:r>
              <a:rPr lang="en-US" dirty="0"/>
              <a:t>In Spring, you often don’t deal with these directly because </a:t>
            </a:r>
            <a:r>
              <a:rPr lang="en-US" dirty="0" err="1"/>
              <a:t>JmsTemplate</a:t>
            </a:r>
            <a:r>
              <a:rPr lang="en-US" dirty="0"/>
              <a:t> and converters abstract them.</a:t>
            </a:r>
          </a:p>
          <a:p>
            <a:r>
              <a:rPr lang="en-US" dirty="0"/>
              <a:t>But conceptually the broker is carrying messages, not Java method calls.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0285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C0768-4B4C-FF5B-9A6D-CF3624AD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D1C78-9654-1D3B-39FA-5335FB5F2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Producer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EDE5F-04FF-B364-094D-05F1F2A46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@Service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OrderPublisher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private final </a:t>
            </a:r>
            <a:r>
              <a:rPr lang="en-IN" dirty="0" err="1"/>
              <a:t>JmsTemplate</a:t>
            </a:r>
            <a:r>
              <a:rPr lang="en-IN" dirty="0"/>
              <a:t> </a:t>
            </a:r>
            <a:r>
              <a:rPr lang="en-IN" dirty="0" err="1"/>
              <a:t>jmsTemplate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</a:t>
            </a:r>
            <a:r>
              <a:rPr lang="en-IN" dirty="0" err="1"/>
              <a:t>OrderPublisher</a:t>
            </a:r>
            <a:r>
              <a:rPr lang="en-IN" dirty="0"/>
              <a:t>(</a:t>
            </a:r>
            <a:r>
              <a:rPr lang="en-IN" dirty="0" err="1"/>
              <a:t>JmsTemplate</a:t>
            </a:r>
            <a:r>
              <a:rPr lang="en-IN" dirty="0"/>
              <a:t> </a:t>
            </a:r>
            <a:r>
              <a:rPr lang="en-IN" dirty="0" err="1"/>
              <a:t>jmsTemplate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this.jmsTemplate</a:t>
            </a:r>
            <a:r>
              <a:rPr lang="en-IN" dirty="0"/>
              <a:t> = </a:t>
            </a:r>
            <a:r>
              <a:rPr lang="en-IN" dirty="0" err="1"/>
              <a:t>jmsTemplate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public void publish(Order order)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jmsTemplate.convertAndSend</a:t>
            </a:r>
            <a:r>
              <a:rPr lang="en-IN" dirty="0"/>
              <a:t>("</a:t>
            </a:r>
            <a:r>
              <a:rPr lang="en-IN" dirty="0" err="1"/>
              <a:t>order.queue</a:t>
            </a:r>
            <a:r>
              <a:rPr lang="en-IN" dirty="0"/>
              <a:t>", order);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342863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6BB6C-FDE6-44C6-68BC-C306683F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79EF7-7D69-FB30-D0B3-1393E8B42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Consumer side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A9CE8-13AB-D220-DA3D-9C02D96C0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@Component</a:t>
            </a:r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OrderConsumer</a:t>
            </a:r>
            <a:r>
              <a:rPr lang="en-IN" dirty="0"/>
              <a:t>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@JmsListener(destination = "</a:t>
            </a:r>
            <a:r>
              <a:rPr lang="en-IN" dirty="0" err="1"/>
              <a:t>order.queue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    public void consume(Order order)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("Processing order: " + order);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9238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91A35-5149-C7F6-A990-860268B54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C9C0-D485-451F-0D88-55ADAEEE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using @JmsListener: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40D59-14F9-E43F-DC13-96DD2CD56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92EF2-26D8-47DA-8153-292A87C95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1578" y="2685778"/>
            <a:ext cx="5365885" cy="362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399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6A09-B7BE-B8AD-0E07-C6969DAF5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64490-788E-C6BD-AE3C-D260074C9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Request/reply vs pure async messaging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12E29-0724-17BE-60A5-69870B9A5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Pure asynchronous messaging</a:t>
            </a:r>
          </a:p>
          <a:p>
            <a:r>
              <a:rPr lang="en-US" dirty="0"/>
              <a:t>Sender sends and moves on.</a:t>
            </a:r>
          </a:p>
          <a:p>
            <a:r>
              <a:rPr lang="en-US" dirty="0"/>
              <a:t>send -&gt; done</a:t>
            </a:r>
          </a:p>
          <a:p>
            <a:r>
              <a:rPr lang="en-US" dirty="0"/>
              <a:t>No immediate reply expected.</a:t>
            </a:r>
          </a:p>
          <a:p>
            <a:pPr marL="0" indent="0">
              <a:buNone/>
            </a:pPr>
            <a:r>
              <a:rPr lang="en-US" b="1" dirty="0"/>
              <a:t>Request/reply over JMS</a:t>
            </a:r>
          </a:p>
          <a:p>
            <a:r>
              <a:rPr lang="en-US" dirty="0"/>
              <a:t>Sender sends a message and later expects a response message, often using </a:t>
            </a:r>
            <a:r>
              <a:rPr lang="en-US" b="1" dirty="0" err="1"/>
              <a:t>JMSReplyTo</a:t>
            </a:r>
            <a:r>
              <a:rPr lang="en-US" dirty="0"/>
              <a:t> and </a:t>
            </a:r>
            <a:r>
              <a:rPr lang="en-US" b="1" dirty="0"/>
              <a:t>correlation</a:t>
            </a:r>
            <a:r>
              <a:rPr lang="en-US" dirty="0"/>
              <a:t> IDs.</a:t>
            </a:r>
          </a:p>
          <a:p>
            <a:r>
              <a:rPr lang="en-US" dirty="0"/>
              <a:t>That is possible, but it is more complex and is not the same as pure async fire-and-forget messaging.</a:t>
            </a:r>
          </a:p>
          <a:p>
            <a:r>
              <a:rPr lang="en-US" dirty="0"/>
              <a:t>So when people say “asynchronous messaging with JMS,” they often mean:</a:t>
            </a:r>
          </a:p>
          <a:p>
            <a:pPr lvl="1"/>
            <a:r>
              <a:rPr lang="en-US" dirty="0"/>
              <a:t>queue/topic based decoupled communication </a:t>
            </a:r>
          </a:p>
          <a:p>
            <a:pPr lvl="1"/>
            <a:r>
              <a:rPr lang="en-US" dirty="0"/>
              <a:t>no immediate response in same call path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6784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31050-C8D1-7855-3569-BB26305B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01703-8E18-D613-291B-68213145A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Correlation ID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457E3-4682-6078-20FB-CB0B1EAA4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92500"/>
          </a:bodyPr>
          <a:lstStyle/>
          <a:p>
            <a:r>
              <a:rPr lang="en-US" dirty="0"/>
              <a:t>In more advanced JMS flows, correlation IDs are used to match replies or related messages.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Request message -&gt; </a:t>
            </a:r>
            <a:r>
              <a:rPr lang="en-US" b="1" dirty="0" err="1">
                <a:solidFill>
                  <a:srgbClr val="FF0000"/>
                </a:solidFill>
              </a:rPr>
              <a:t>CorrelationId</a:t>
            </a:r>
            <a:r>
              <a:rPr lang="en-US" b="1" dirty="0">
                <a:solidFill>
                  <a:srgbClr val="FF0000"/>
                </a:solidFill>
              </a:rPr>
              <a:t> = 123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Reply message   -&gt; </a:t>
            </a:r>
            <a:r>
              <a:rPr lang="en-US" b="1" dirty="0" err="1">
                <a:solidFill>
                  <a:srgbClr val="FF0000"/>
                </a:solidFill>
              </a:rPr>
              <a:t>CorrelationId</a:t>
            </a:r>
            <a:r>
              <a:rPr lang="en-US" b="1" dirty="0">
                <a:solidFill>
                  <a:srgbClr val="FF0000"/>
                </a:solidFill>
              </a:rPr>
              <a:t> = 123</a:t>
            </a:r>
          </a:p>
          <a:p>
            <a:r>
              <a:rPr lang="en-US" dirty="0"/>
              <a:t>This helps track conversations across async boundaries.</a:t>
            </a:r>
          </a:p>
          <a:p>
            <a:r>
              <a:rPr lang="en-US" dirty="0"/>
              <a:t>Very important for:</a:t>
            </a:r>
          </a:p>
          <a:p>
            <a:pPr lvl="1"/>
            <a:r>
              <a:rPr lang="en-US" dirty="0"/>
              <a:t>request/reply over JMS </a:t>
            </a:r>
          </a:p>
          <a:p>
            <a:pPr lvl="1"/>
            <a:r>
              <a:rPr lang="en-US" dirty="0"/>
              <a:t>saga workflows </a:t>
            </a:r>
          </a:p>
          <a:p>
            <a:pPr lvl="1"/>
            <a:r>
              <a:rPr lang="en-US" dirty="0"/>
              <a:t>tracing </a:t>
            </a:r>
          </a:p>
          <a:p>
            <a:pPr lvl="1"/>
            <a:r>
              <a:rPr lang="en-US" dirty="0"/>
              <a:t>distributed debugging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187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F0389-6236-6C2D-C2D0-25F291E4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9D079-FA15-6784-2821-C41DE139B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Reliability tradeoff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7A6F-B4BE-5A01-20E6-A76CC0B79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/>
          </a:bodyPr>
          <a:lstStyle/>
          <a:p>
            <a:r>
              <a:rPr lang="en-US" dirty="0"/>
              <a:t>Async JMS gives strong decoupling, but it changes system behavior.</a:t>
            </a:r>
          </a:p>
          <a:p>
            <a:r>
              <a:rPr lang="en-US" b="1" dirty="0"/>
              <a:t>So async messaging is powerful, but not “free.”</a:t>
            </a:r>
          </a:p>
          <a:p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60CF0A-43E3-C68F-5A73-461072BB78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0015475"/>
              </p:ext>
            </p:extLst>
          </p:nvPr>
        </p:nvGraphicFramePr>
        <p:xfrm>
          <a:off x="1328317" y="3583214"/>
          <a:ext cx="8824912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2456">
                  <a:extLst>
                    <a:ext uri="{9D8B030D-6E8A-4147-A177-3AD203B41FA5}">
                      <a16:colId xmlns:a16="http://schemas.microsoft.com/office/drawing/2014/main" val="3359431834"/>
                    </a:ext>
                  </a:extLst>
                </a:gridCol>
                <a:gridCol w="4412456">
                  <a:extLst>
                    <a:ext uri="{9D8B030D-6E8A-4147-A177-3AD203B41FA5}">
                      <a16:colId xmlns:a16="http://schemas.microsoft.com/office/drawing/2014/main" val="32834252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Complexities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084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resilience </a:t>
                      </a:r>
                    </a:p>
                    <a:p>
                      <a:r>
                        <a:rPr lang="en-US" dirty="0"/>
                        <a:t>scalability </a:t>
                      </a:r>
                    </a:p>
                    <a:p>
                      <a:r>
                        <a:rPr lang="en-US" dirty="0"/>
                        <a:t>buffering </a:t>
                      </a:r>
                    </a:p>
                    <a:p>
                      <a:r>
                        <a:rPr lang="en-US" dirty="0"/>
                        <a:t>loose coupling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eventual consistency </a:t>
                      </a:r>
                    </a:p>
                    <a:p>
                      <a:r>
                        <a:rPr lang="en-US" dirty="0"/>
                        <a:t>duplicate handling </a:t>
                      </a:r>
                    </a:p>
                    <a:p>
                      <a:r>
                        <a:rPr lang="en-US" dirty="0"/>
                        <a:t>retry complexity </a:t>
                      </a:r>
                    </a:p>
                    <a:p>
                      <a:r>
                        <a:rPr lang="en-US" dirty="0"/>
                        <a:t>operational monitoring needs </a:t>
                      </a:r>
                    </a:p>
                    <a:p>
                      <a:r>
                        <a:rPr lang="en-US" dirty="0"/>
                        <a:t>message ordering concerns </a:t>
                      </a:r>
                    </a:p>
                    <a:p>
                      <a:r>
                        <a:rPr lang="en-US" dirty="0"/>
                        <a:t>DLQ management 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25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7329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889A-C6DD-A7EC-9EDE-E336D245C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D3E0-3AD4-303F-1ED2-4EEE9467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use asynchronous JMS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FF47F-95EA-AD5D-75BD-56962192F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Use it when:</a:t>
            </a:r>
          </a:p>
          <a:p>
            <a:r>
              <a:rPr lang="en-US" dirty="0"/>
              <a:t>work does not need immediate completion before responding </a:t>
            </a:r>
          </a:p>
          <a:p>
            <a:r>
              <a:rPr lang="en-US" dirty="0"/>
              <a:t>systems should be decoupled </a:t>
            </a:r>
          </a:p>
          <a:p>
            <a:r>
              <a:rPr lang="en-US" dirty="0"/>
              <a:t>traffic spikes need buffering </a:t>
            </a:r>
          </a:p>
          <a:p>
            <a:r>
              <a:rPr lang="en-US" dirty="0"/>
              <a:t>background processing is needed </a:t>
            </a:r>
          </a:p>
          <a:p>
            <a:r>
              <a:rPr lang="en-US" dirty="0"/>
              <a:t>reliable inter-system communication matters </a:t>
            </a:r>
          </a:p>
          <a:p>
            <a:r>
              <a:rPr lang="en-US" dirty="0"/>
              <a:t>retries and durability are important 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r>
              <a:rPr lang="en-US" dirty="0"/>
              <a:t>order submitted → process later </a:t>
            </a:r>
          </a:p>
          <a:p>
            <a:r>
              <a:rPr lang="en-US" dirty="0"/>
              <a:t>user signup → send welcome mail async </a:t>
            </a:r>
          </a:p>
          <a:p>
            <a:r>
              <a:rPr lang="en-US" dirty="0"/>
              <a:t>invoice generation </a:t>
            </a:r>
          </a:p>
          <a:p>
            <a:r>
              <a:rPr lang="en-US" dirty="0"/>
              <a:t>audit/event publishing </a:t>
            </a:r>
          </a:p>
          <a:p>
            <a:r>
              <a:rPr lang="en-US" dirty="0"/>
              <a:t>batch task distribution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5509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1E39A-E575-B4A4-4098-D690FF9C8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B0168-9063-4323-F48E-03ECF4C48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not to use it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22CDF-E944-339A-F842-504647E8A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Avoid using async JMS when:</a:t>
            </a:r>
          </a:p>
          <a:p>
            <a:r>
              <a:rPr lang="en-US" dirty="0"/>
              <a:t>caller truly needs immediate synchronous result </a:t>
            </a:r>
          </a:p>
          <a:p>
            <a:r>
              <a:rPr lang="en-US" dirty="0"/>
              <a:t>workflow is very simple and direct call is enough </a:t>
            </a:r>
          </a:p>
          <a:p>
            <a:r>
              <a:rPr lang="en-US" dirty="0"/>
              <a:t>eventual consistency is unacceptable </a:t>
            </a:r>
          </a:p>
          <a:p>
            <a:r>
              <a:rPr lang="en-US" dirty="0"/>
              <a:t>operational overhead is not justified </a:t>
            </a:r>
          </a:p>
          <a:p>
            <a:r>
              <a:rPr lang="en-US" dirty="0"/>
              <a:t>debugging complexity would outweigh benefit </a:t>
            </a:r>
          </a:p>
          <a:p>
            <a:r>
              <a:rPr lang="en-US" dirty="0"/>
              <a:t>Not every problem needs a queue.</a:t>
            </a:r>
          </a:p>
          <a:p>
            <a:pPr marL="0" indent="0">
              <a:buNone/>
            </a:pPr>
            <a:r>
              <a:rPr lang="en-US" dirty="0"/>
              <a:t>That’s a very important architecture lesson.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90386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45351-6AB7-5032-EE88-B9655DDD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73C5-8348-B0EC-3F51-09C8C8AC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5C4B-5BFF-683C-605E-DFFD829B7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Asynchronous messaging with JMS is a communication style where a producer sends a message to a JMS destination such as a queue or topic through a broker, and the consumer processes it independently at a later time. </a:t>
            </a:r>
          </a:p>
          <a:p>
            <a:r>
              <a:rPr lang="en-US" dirty="0"/>
              <a:t>Sender and receiver are decoupled in time, execution, and often scale. </a:t>
            </a:r>
          </a:p>
          <a:p>
            <a:r>
              <a:rPr lang="en-US" dirty="0"/>
              <a:t>JMS enables reliable delivery, persistence, transactions, acknowledgments, retries, and patterns such as point-to-point queues and publish-subscribe topics. </a:t>
            </a:r>
          </a:p>
          <a:p>
            <a:r>
              <a:rPr lang="en-US" dirty="0"/>
              <a:t>Commonly used for background processing, load leveling, system integration, and event-driven workflows.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8004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6F0F-A39A-79C3-ABA2-7A8CFA0E2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77E88-8076-AADD-9250-0B0E459E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Order Processing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7C8D9-D54A-6FFB-518E-564BB2A8F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A REST API receives orders → sends them to a JMS queue → backend processes asynchronously.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REST Controller → Gateway → Channel → JMS Outbound Adapter (Queue)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                          ↓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                 JMS Listener (Inbound Adapter)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                          ↓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                  Service Activator (Process Order)</a:t>
            </a:r>
          </a:p>
          <a:p>
            <a:r>
              <a:rPr lang="en-IN" dirty="0"/>
              <a:t>JMS queues (point-to-point) </a:t>
            </a:r>
          </a:p>
          <a:p>
            <a:r>
              <a:rPr lang="en-IN" dirty="0"/>
              <a:t>Decoupling using messaging </a:t>
            </a:r>
          </a:p>
          <a:p>
            <a:r>
              <a:rPr lang="en-IN" dirty="0"/>
              <a:t>Async processing </a:t>
            </a:r>
          </a:p>
          <a:p>
            <a:r>
              <a:rPr lang="en-IN" dirty="0"/>
              <a:t>Gateway usage </a:t>
            </a:r>
          </a:p>
          <a:p>
            <a:r>
              <a:rPr lang="en-IN" dirty="0"/>
              <a:t>E-commerce app where order placement should not block the UI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15136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848E-5DBD-5852-B354-33E4E71B6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40B81-644C-EE9B-8E8D-3218310E8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Email Notification System (Event-Driven)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153EA-6FDC-7944-AECC-7809D6E17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lnSpcReduction="10000"/>
          </a:bodyPr>
          <a:lstStyle/>
          <a:p>
            <a:r>
              <a:rPr lang="en-IN" dirty="0"/>
              <a:t>Whenever an event (like user registration) happens → send a JMS message → email service consumes it and sends email.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User Service → Gateway → JMS Queue (event: USER_REGISTERED)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                   ↓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        JMS Listener → Transformer → Service Activator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                                    ↓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                              Email Sender</a:t>
            </a:r>
          </a:p>
          <a:p>
            <a:r>
              <a:rPr lang="en-IN" dirty="0"/>
              <a:t>Event-driven architecture </a:t>
            </a:r>
          </a:p>
          <a:p>
            <a:r>
              <a:rPr lang="en-IN" dirty="0"/>
              <a:t>Message transformation </a:t>
            </a:r>
          </a:p>
          <a:p>
            <a:r>
              <a:rPr lang="en-IN" dirty="0"/>
              <a:t>Loose coupling between services </a:t>
            </a:r>
          </a:p>
          <a:p>
            <a:r>
              <a:rPr lang="en-IN" dirty="0"/>
              <a:t>Send welcome email, OTP, alerts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91641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AAA3D-8C67-6534-0A34-98270601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FFB1D-B73C-73AC-2A2D-C25BB034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Log Aggregation / Audit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1F7BE-0601-F6D6-67CB-D2BEF9F5B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Multiple services send logs/events → JMS topic → central service consumes and stores logs in DB.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Multiple Producers → JMS Topic (Publish/Subscribe)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         ↓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Multiple Consumers (Audit Service, Monitoring Service)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         ↓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              Store in DB / Print Logs</a:t>
            </a:r>
          </a:p>
          <a:p>
            <a:r>
              <a:rPr lang="en-IN" dirty="0"/>
              <a:t>JMS Topics (pub-sub model) </a:t>
            </a:r>
          </a:p>
          <a:p>
            <a:r>
              <a:rPr lang="en-IN" dirty="0"/>
              <a:t>Multiple consumers </a:t>
            </a:r>
          </a:p>
          <a:p>
            <a:r>
              <a:rPr lang="en-IN" dirty="0"/>
              <a:t>Scalability pattern </a:t>
            </a:r>
          </a:p>
          <a:p>
            <a:pPr marL="0" indent="0">
              <a:buNone/>
            </a:pPr>
            <a:r>
              <a:rPr lang="en-IN" b="1" dirty="0"/>
              <a:t>Example Use Case</a:t>
            </a:r>
          </a:p>
          <a:p>
            <a:r>
              <a:rPr lang="en-IN" dirty="0"/>
              <a:t>Centralized logging system </a:t>
            </a:r>
          </a:p>
          <a:p>
            <a:r>
              <a:rPr lang="en-IN" dirty="0"/>
              <a:t>Audit trail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63360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12F43-39C7-D58E-DC99-9FF7C4FA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B788-F1CB-4E43-3060-9468A710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RabbitMq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74ABD-AE5A-86A8-8378-D83090762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b="1" dirty="0"/>
              <a:t>RabbitMQ is a message broker </a:t>
            </a:r>
          </a:p>
          <a:p>
            <a:pPr lvl="1"/>
            <a:r>
              <a:rPr lang="en-US" b="1" dirty="0"/>
              <a:t>where producers send messages to exchanges, </a:t>
            </a:r>
          </a:p>
          <a:p>
            <a:pPr lvl="1"/>
            <a:r>
              <a:rPr lang="en-US" b="1" dirty="0"/>
              <a:t>exchanges route messages to queues using routing rules, </a:t>
            </a:r>
          </a:p>
          <a:p>
            <a:pPr lvl="1"/>
            <a:r>
              <a:rPr lang="en-US" b="1" dirty="0"/>
              <a:t>and consumers process messages from queues with reliability features like acknowledgements, durability, and dead-letter handling.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719753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6C33A-4BF7-F9AA-1E6B-D21EA860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C2777-093E-EA96-A43A-6B9652FA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RabbitMQ Integration with Spring Integration?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F2316-5A97-F395-C843-C66B8CBA9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b="1" dirty="0"/>
              <a:t>RabbitMQ</a:t>
            </a:r>
            <a:r>
              <a:rPr lang="en-US" dirty="0"/>
              <a:t> is a </a:t>
            </a:r>
            <a:r>
              <a:rPr lang="en-US" b="1" dirty="0"/>
              <a:t>message broker</a:t>
            </a:r>
            <a:r>
              <a:rPr lang="en-US" dirty="0"/>
              <a:t> (AMQP-based), and </a:t>
            </a:r>
            <a:r>
              <a:rPr lang="en-US" b="1" dirty="0"/>
              <a:t>Spring Integration</a:t>
            </a:r>
            <a:r>
              <a:rPr lang="en-US" dirty="0"/>
              <a:t> provides adapters to connect your integration flows to it.</a:t>
            </a:r>
          </a:p>
          <a:p>
            <a:pPr marL="0" indent="0">
              <a:buNone/>
            </a:pPr>
            <a:r>
              <a:rPr lang="en-US" dirty="0"/>
              <a:t>In simple terms:</a:t>
            </a:r>
          </a:p>
          <a:p>
            <a:r>
              <a:rPr lang="en-US" dirty="0"/>
              <a:t>Spring Integration = orchestration layer</a:t>
            </a:r>
            <a:br>
              <a:rPr lang="en-US" dirty="0"/>
            </a:br>
            <a:r>
              <a:rPr lang="en-US" dirty="0"/>
              <a:t>RabbitMQ = transport layer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D9A1B-02A5-1AEE-1CD7-942C21165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042" y="4658109"/>
            <a:ext cx="6410460" cy="129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000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C7927-0DAE-AB75-3E50-4AE955D7B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ADFF8-3884-0A52-00F0-34CCDEA2A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Components in Spring Integration (RabbitMQ)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1534E-3B40-037E-7EB6-33CEFF2A3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IN" dirty="0"/>
              <a:t>Spring Integration provides </a:t>
            </a:r>
            <a:r>
              <a:rPr lang="en-IN" b="1" dirty="0"/>
              <a:t>AMQP adapters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b="1" dirty="0"/>
              <a:t>1. Outbound Adapter (Producer)</a:t>
            </a:r>
          </a:p>
          <a:p>
            <a:r>
              <a:rPr lang="en-IN" dirty="0"/>
              <a:t>Sends messages to RabbitMQ exchange </a:t>
            </a:r>
          </a:p>
          <a:p>
            <a:r>
              <a:rPr lang="en-IN" dirty="0"/>
              <a:t>Converts Spring Message → AMQP message</a:t>
            </a:r>
          </a:p>
          <a:p>
            <a:pPr marL="0" indent="0">
              <a:buNone/>
            </a:pPr>
            <a:r>
              <a:rPr lang="en-IN" b="1" dirty="0"/>
              <a:t>2. Inbound Adapter (Consumer)</a:t>
            </a:r>
          </a:p>
          <a:p>
            <a:r>
              <a:rPr lang="en-IN" dirty="0"/>
              <a:t>Listens to queue </a:t>
            </a:r>
          </a:p>
          <a:p>
            <a:r>
              <a:rPr lang="en-IN" dirty="0"/>
              <a:t>Converts AMQP → Spring Message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8663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4A0B0-09CA-FF11-5518-87462C3B6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0A9E2-5185-7287-921A-9DD0D800DD8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85192" y="672063"/>
            <a:ext cx="4824413" cy="576263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IN" dirty="0"/>
              <a:t>Outbound Adapter (Producer)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09C55B-09EE-61AC-39F4-7C90311AA45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85192" y="1248326"/>
            <a:ext cx="4824413" cy="2840037"/>
          </a:xfrm>
          <a:ln>
            <a:solidFill>
              <a:schemeClr val="accent1"/>
            </a:solidFill>
          </a:ln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@Bean</a:t>
            </a:r>
          </a:p>
          <a:p>
            <a:pPr marL="0" indent="0">
              <a:buNone/>
            </a:pPr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outboundFlow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IntegrationFlow.from</a:t>
            </a:r>
            <a:r>
              <a:rPr lang="en-IN" dirty="0"/>
              <a:t>("</a:t>
            </a:r>
            <a:r>
              <a:rPr lang="en-IN" dirty="0" err="1"/>
              <a:t>inputChannel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        .handle(</a:t>
            </a:r>
            <a:r>
              <a:rPr lang="en-IN" dirty="0" err="1"/>
              <a:t>Amqp.outboundAdapter</a:t>
            </a:r>
            <a:r>
              <a:rPr lang="en-IN" dirty="0"/>
              <a:t>(</a:t>
            </a:r>
            <a:r>
              <a:rPr lang="en-IN" dirty="0" err="1"/>
              <a:t>rabbitTemplate</a:t>
            </a:r>
            <a:r>
              <a:rPr lang="en-IN" dirty="0"/>
              <a:t>())</a:t>
            </a:r>
          </a:p>
          <a:p>
            <a:pPr marL="0" indent="0">
              <a:buNone/>
            </a:pPr>
            <a:r>
              <a:rPr lang="en-IN" dirty="0"/>
              <a:t>            .</a:t>
            </a:r>
            <a:r>
              <a:rPr lang="en-IN" dirty="0" err="1"/>
              <a:t>exchangeName</a:t>
            </a:r>
            <a:r>
              <a:rPr lang="en-IN" dirty="0"/>
              <a:t>("</a:t>
            </a:r>
            <a:r>
              <a:rPr lang="en-IN" dirty="0" err="1"/>
              <a:t>orders.exchange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dirty="0"/>
              <a:t>            .</a:t>
            </a:r>
            <a:r>
              <a:rPr lang="en-IN" dirty="0" err="1"/>
              <a:t>routingKey</a:t>
            </a:r>
            <a:r>
              <a:rPr lang="en-IN" dirty="0"/>
              <a:t>("</a:t>
            </a:r>
            <a:r>
              <a:rPr lang="en-IN" dirty="0" err="1"/>
              <a:t>orders.key</a:t>
            </a:r>
            <a:r>
              <a:rPr lang="en-IN" dirty="0"/>
              <a:t>"))</a:t>
            </a:r>
          </a:p>
          <a:p>
            <a:pPr marL="0" indent="0">
              <a:buNone/>
            </a:pPr>
            <a:r>
              <a:rPr lang="en-IN" dirty="0"/>
              <a:t>        .get();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4526A6-DD6C-0C32-EBAF-B503A9721D3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728441" y="2603500"/>
            <a:ext cx="4824412" cy="576263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IN" dirty="0"/>
              <a:t>Inbound Adapter (Consumer)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16878C-E53E-921C-7CCB-F266A458401F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6728441" y="3179763"/>
            <a:ext cx="4824412" cy="353361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400" dirty="0"/>
              <a:t>@Bean</a:t>
            </a:r>
          </a:p>
          <a:p>
            <a:pPr marL="0" indent="0">
              <a:buNone/>
            </a:pPr>
            <a:r>
              <a:rPr lang="en-IN" sz="1400" dirty="0"/>
              <a:t>public </a:t>
            </a:r>
            <a:r>
              <a:rPr lang="en-IN" sz="1400" dirty="0" err="1"/>
              <a:t>IntegrationFlow</a:t>
            </a:r>
            <a:r>
              <a:rPr lang="en-IN" sz="1400" dirty="0"/>
              <a:t> </a:t>
            </a:r>
            <a:r>
              <a:rPr lang="en-IN" sz="1400" dirty="0" err="1"/>
              <a:t>inboundFlow</a:t>
            </a:r>
            <a:r>
              <a:rPr lang="en-IN" sz="1400" dirty="0"/>
              <a:t>(</a:t>
            </a:r>
            <a:r>
              <a:rPr lang="en-IN" sz="1400" dirty="0" err="1"/>
              <a:t>ConnectionFactory</a:t>
            </a:r>
            <a:r>
              <a:rPr lang="en-IN" sz="1400" dirty="0"/>
              <a:t> </a:t>
            </a:r>
            <a:r>
              <a:rPr lang="en-IN" sz="1400" dirty="0" err="1"/>
              <a:t>connectionFactory</a:t>
            </a:r>
            <a:r>
              <a:rPr lang="en-IN" sz="1400" dirty="0"/>
              <a:t>) {</a:t>
            </a:r>
          </a:p>
          <a:p>
            <a:pPr marL="0" indent="0">
              <a:buNone/>
            </a:pPr>
            <a:r>
              <a:rPr lang="en-IN" sz="1400" dirty="0"/>
              <a:t>    return </a:t>
            </a:r>
            <a:r>
              <a:rPr lang="en-IN" sz="1400" dirty="0" err="1"/>
              <a:t>IntegrationFlow</a:t>
            </a:r>
            <a:endParaRPr lang="en-IN" sz="1400" dirty="0"/>
          </a:p>
          <a:p>
            <a:pPr marL="0" indent="0">
              <a:buNone/>
            </a:pPr>
            <a:r>
              <a:rPr lang="en-IN" sz="1400" dirty="0"/>
              <a:t>    .from(</a:t>
            </a:r>
            <a:r>
              <a:rPr lang="en-IN" sz="1400" dirty="0" err="1"/>
              <a:t>Amqp.inboundAdapter</a:t>
            </a:r>
            <a:r>
              <a:rPr lang="en-IN" sz="1400" dirty="0"/>
              <a:t>(</a:t>
            </a:r>
            <a:r>
              <a:rPr lang="en-IN" sz="1400" dirty="0" err="1"/>
              <a:t>connectionFactory</a:t>
            </a:r>
            <a:r>
              <a:rPr lang="en-IN" sz="1400" dirty="0"/>
              <a:t>, "</a:t>
            </a:r>
            <a:r>
              <a:rPr lang="en-IN" sz="1400" dirty="0" err="1"/>
              <a:t>orders.queue</a:t>
            </a:r>
            <a:r>
              <a:rPr lang="en-IN" sz="1400" dirty="0"/>
              <a:t>"))</a:t>
            </a:r>
          </a:p>
          <a:p>
            <a:pPr marL="0" indent="0">
              <a:buNone/>
            </a:pPr>
            <a:r>
              <a:rPr lang="en-IN" sz="1400" dirty="0"/>
              <a:t>        .handle(message -&gt; </a:t>
            </a:r>
            <a:r>
              <a:rPr lang="en-IN" sz="1400" dirty="0" err="1"/>
              <a:t>System.out.println</a:t>
            </a:r>
            <a:r>
              <a:rPr lang="en-IN" sz="1400" dirty="0"/>
              <a:t>("Received: " + message))</a:t>
            </a:r>
          </a:p>
          <a:p>
            <a:pPr marL="0" indent="0">
              <a:buNone/>
            </a:pPr>
            <a:r>
              <a:rPr lang="en-IN" sz="1400" dirty="0"/>
              <a:t>        .get();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720904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B7D18-D842-4FA7-50D0-F14C6760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BF522-F45A-53DD-25F3-339F31528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RabbitMQ Concepts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816AA9-F914-CF4E-5F48-0AD9F14DC4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336046"/>
              </p:ext>
            </p:extLst>
          </p:nvPr>
        </p:nvGraphicFramePr>
        <p:xfrm>
          <a:off x="1912143" y="3358039"/>
          <a:ext cx="8761414" cy="2194560"/>
        </p:xfrm>
        <a:graphic>
          <a:graphicData uri="http://schemas.openxmlformats.org/drawingml/2006/table">
            <a:tbl>
              <a:tblPr/>
              <a:tblGrid>
                <a:gridCol w="2351947">
                  <a:extLst>
                    <a:ext uri="{9D8B030D-6E8A-4147-A177-3AD203B41FA5}">
                      <a16:colId xmlns:a16="http://schemas.microsoft.com/office/drawing/2014/main" val="2730230931"/>
                    </a:ext>
                  </a:extLst>
                </a:gridCol>
                <a:gridCol w="6409467">
                  <a:extLst>
                    <a:ext uri="{9D8B030D-6E8A-4147-A177-3AD203B41FA5}">
                      <a16:colId xmlns:a16="http://schemas.microsoft.com/office/drawing/2014/main" val="40996602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439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Routes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964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9349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Binding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Connects exchange → 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659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Routing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Determines routing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4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Consumer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Reads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13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7911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61A91-34C8-4079-069E-504A3A8AE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5C5D4-A661-8CDC-26D3-602B7E453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Exchange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D42B6-2806-0030-97ED-19EFBDB6C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IN" b="1" dirty="0"/>
              <a:t>Direct</a:t>
            </a:r>
            <a:r>
              <a:rPr lang="en-IN" dirty="0"/>
              <a:t> → exact match routing </a:t>
            </a:r>
          </a:p>
          <a:p>
            <a:r>
              <a:rPr lang="en-IN" b="1" dirty="0"/>
              <a:t>Topic</a:t>
            </a:r>
            <a:r>
              <a:rPr lang="en-IN" dirty="0"/>
              <a:t> → pattern-based routing </a:t>
            </a:r>
          </a:p>
          <a:p>
            <a:r>
              <a:rPr lang="en-IN" b="1" dirty="0"/>
              <a:t>Fanout</a:t>
            </a:r>
            <a:r>
              <a:rPr lang="en-IN" dirty="0"/>
              <a:t> → broadcast </a:t>
            </a:r>
          </a:p>
          <a:p>
            <a:r>
              <a:rPr lang="en-IN" b="1" dirty="0"/>
              <a:t>Headers</a:t>
            </a:r>
            <a:r>
              <a:rPr lang="en-IN" dirty="0"/>
              <a:t> → metadata-based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3920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E006-DA63-3546-432C-B0076838D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08CF4-2C39-F3F0-52DE-046F3DD95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Features of RabbitMQ (with Spring Integration)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59FFE-6C90-8D2B-DF41-31FEADEAE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✅ Messaging Patterns</a:t>
            </a:r>
          </a:p>
          <a:p>
            <a:r>
              <a:rPr lang="en-IN" dirty="0"/>
              <a:t>Point-to-point </a:t>
            </a:r>
          </a:p>
          <a:p>
            <a:r>
              <a:rPr lang="en-IN" dirty="0"/>
              <a:t>Publish/Subscribe </a:t>
            </a:r>
          </a:p>
          <a:p>
            <a:r>
              <a:rPr lang="en-IN" dirty="0"/>
              <a:t>Request/Reply </a:t>
            </a:r>
          </a:p>
          <a:p>
            <a:pPr marL="0" indent="0">
              <a:buNone/>
            </a:pPr>
            <a:r>
              <a:rPr lang="en-IN" b="1" dirty="0"/>
              <a:t>✅ Reliability</a:t>
            </a:r>
          </a:p>
          <a:p>
            <a:r>
              <a:rPr lang="en-IN" dirty="0"/>
              <a:t>Acknowledgements </a:t>
            </a:r>
          </a:p>
          <a:p>
            <a:r>
              <a:rPr lang="en-IN" dirty="0"/>
              <a:t>Dead Letter Queues (DLQ) </a:t>
            </a:r>
          </a:p>
          <a:p>
            <a:r>
              <a:rPr lang="en-IN" dirty="0"/>
              <a:t>Retry mechanisms </a:t>
            </a:r>
          </a:p>
          <a:p>
            <a:pPr marL="0" indent="0">
              <a:buNone/>
            </a:pPr>
            <a:r>
              <a:rPr lang="en-IN" b="1" dirty="0"/>
              <a:t>✅ Flexible Routing</a:t>
            </a:r>
          </a:p>
          <a:p>
            <a:r>
              <a:rPr lang="en-IN" dirty="0"/>
              <a:t>Topic-based routing </a:t>
            </a:r>
          </a:p>
          <a:p>
            <a:r>
              <a:rPr lang="en-IN" dirty="0"/>
              <a:t>Content-based routing </a:t>
            </a:r>
          </a:p>
          <a:p>
            <a:pPr marL="0" indent="0">
              <a:buNone/>
            </a:pPr>
            <a:r>
              <a:rPr lang="en-IN" b="1" dirty="0"/>
              <a:t>✅ Message Conversion</a:t>
            </a:r>
          </a:p>
          <a:p>
            <a:r>
              <a:rPr lang="en-IN" dirty="0"/>
              <a:t>JSON, String, Serializable </a:t>
            </a:r>
          </a:p>
          <a:p>
            <a:r>
              <a:rPr lang="en-IN" dirty="0"/>
              <a:t>Custom converters (important for your JMS error case!)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813643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96235-22C5-93E1-A50C-9704ABE24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C7A4-1E53-9077-46E4-4B92D371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RabbitMQ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6391-6473-C28D-B767-0D64139C0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Key Reason to Prefer RabbitMQ</a:t>
            </a:r>
          </a:p>
          <a:p>
            <a:pPr marL="0" indent="0">
              <a:buNone/>
            </a:pPr>
            <a:r>
              <a:rPr lang="en-IN" dirty="0"/>
              <a:t>👉 JMS is just an abstraction</a:t>
            </a:r>
            <a:br>
              <a:rPr lang="en-IN" dirty="0"/>
            </a:br>
            <a:r>
              <a:rPr lang="en-IN" dirty="0"/>
              <a:t>👉 RabbitMQ is a </a:t>
            </a:r>
            <a:r>
              <a:rPr lang="en-IN" b="1" dirty="0"/>
              <a:t>real, modern, feature-rich broker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 When RabbitMQ Wins</a:t>
            </a:r>
          </a:p>
          <a:p>
            <a:r>
              <a:rPr lang="en-IN" dirty="0"/>
              <a:t>Complex routing (topic/fanout) </a:t>
            </a:r>
          </a:p>
          <a:p>
            <a:r>
              <a:rPr lang="en-IN" dirty="0"/>
              <a:t>Microservices communication </a:t>
            </a:r>
          </a:p>
          <a:p>
            <a:r>
              <a:rPr lang="en-IN" dirty="0"/>
              <a:t>Cloud-native systems </a:t>
            </a:r>
          </a:p>
          <a:p>
            <a:r>
              <a:rPr lang="en-IN" dirty="0"/>
              <a:t>Event-driven architecture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1398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33AE2-BBA8-53C4-E6AF-F13E5C6C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841AF-D12B-362A-D47A-77F4A740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 of RabbitMQ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9BFE9-0810-6671-005C-1EEDBD899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 1. Easy to Use</a:t>
            </a:r>
          </a:p>
          <a:p>
            <a:r>
              <a:rPr lang="en-IN" dirty="0"/>
              <a:t>Quick setup </a:t>
            </a:r>
          </a:p>
          <a:p>
            <a:r>
              <a:rPr lang="en-IN" dirty="0"/>
              <a:t>Works well with Spring Boot auto-config </a:t>
            </a:r>
          </a:p>
          <a:p>
            <a:pPr marL="0" indent="0">
              <a:buNone/>
            </a:pPr>
            <a:r>
              <a:rPr lang="en-IN" b="1" dirty="0"/>
              <a:t>2. Powerful Routing</a:t>
            </a:r>
          </a:p>
          <a:p>
            <a:r>
              <a:rPr lang="en-IN" dirty="0"/>
              <a:t>Exchange-based routing is very flexible </a:t>
            </a:r>
          </a:p>
          <a:p>
            <a:pPr marL="0" indent="0">
              <a:buNone/>
            </a:pPr>
            <a:r>
              <a:rPr lang="en-IN" b="1" dirty="0"/>
              <a:t>3. Reliability</a:t>
            </a:r>
          </a:p>
          <a:p>
            <a:r>
              <a:rPr lang="en-IN" dirty="0"/>
              <a:t>Message persistence </a:t>
            </a:r>
          </a:p>
          <a:p>
            <a:r>
              <a:rPr lang="en-IN" dirty="0"/>
              <a:t>DLQ support </a:t>
            </a:r>
          </a:p>
          <a:p>
            <a:pPr marL="0" indent="0">
              <a:buNone/>
            </a:pPr>
            <a:r>
              <a:rPr lang="en-IN" b="1" dirty="0"/>
              <a:t>4. Great Spring Support</a:t>
            </a:r>
          </a:p>
          <a:p>
            <a:r>
              <a:rPr lang="en-IN" dirty="0"/>
              <a:t>Spring AMQP + Spring Integration </a:t>
            </a:r>
          </a:p>
          <a:p>
            <a:pPr marL="0" indent="0">
              <a:buNone/>
            </a:pPr>
            <a:r>
              <a:rPr lang="en-IN" b="1" dirty="0"/>
              <a:t>5. Lightweight</a:t>
            </a:r>
          </a:p>
          <a:p>
            <a:r>
              <a:rPr lang="en-IN" dirty="0"/>
              <a:t>Faster to get started than Kafka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5930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5C0EC-C206-9B7E-E68C-2EAD996D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F326-94E6-8649-A010-A0A4D9A8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Disadvantages of RabbitMQ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DD13-BE9A-DA61-DA66-4AAC27583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1. Not ideal for high-throughput streaming</a:t>
            </a:r>
          </a:p>
          <a:p>
            <a:r>
              <a:rPr lang="en-IN" dirty="0"/>
              <a:t>Kafka is better for big data pipelines </a:t>
            </a:r>
          </a:p>
          <a:p>
            <a:pPr marL="0" indent="0">
              <a:buNone/>
            </a:pPr>
            <a:r>
              <a:rPr lang="en-IN" b="1" dirty="0"/>
              <a:t>2. Queue-based (not log-based)</a:t>
            </a:r>
          </a:p>
          <a:p>
            <a:r>
              <a:rPr lang="en-IN" dirty="0"/>
              <a:t>Messages are removed after consumption </a:t>
            </a:r>
          </a:p>
          <a:p>
            <a:pPr marL="0" indent="0">
              <a:buNone/>
            </a:pPr>
            <a:r>
              <a:rPr lang="en-IN" b="1" dirty="0"/>
              <a:t> 3. Scaling limitations</a:t>
            </a:r>
          </a:p>
          <a:p>
            <a:r>
              <a:rPr lang="en-IN" dirty="0"/>
              <a:t>Horizontal scaling is harder than Kafka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8037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5DB4C-01F8-AB85-E463-74295707A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DB8A1-1FDB-BEEC-43F1-F2DA83C8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 Cases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85E6D-A8A5-1786-0EFE-56DFCC960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🛒 1. Order Processing System</a:t>
            </a:r>
          </a:p>
          <a:p>
            <a:r>
              <a:rPr lang="en-IN" dirty="0"/>
              <a:t>Order placed → Queue → Payment → Shipping </a:t>
            </a:r>
          </a:p>
          <a:p>
            <a:pPr marL="0" indent="0">
              <a:buNone/>
            </a:pPr>
            <a:r>
              <a:rPr lang="en-IN" b="1" dirty="0"/>
              <a:t>📧 2. Email Notifications</a:t>
            </a:r>
          </a:p>
          <a:p>
            <a:r>
              <a:rPr lang="en-IN" dirty="0"/>
              <a:t>Async email sending </a:t>
            </a:r>
          </a:p>
          <a:p>
            <a:pPr marL="0" indent="0">
              <a:buNone/>
            </a:pPr>
            <a:r>
              <a:rPr lang="en-IN" b="1" dirty="0"/>
              <a:t>🔄 3. Microservices Communication</a:t>
            </a:r>
          </a:p>
          <a:p>
            <a:r>
              <a:rPr lang="en-IN" dirty="0"/>
              <a:t>Service A → Queue → Service B </a:t>
            </a:r>
          </a:p>
          <a:p>
            <a:pPr marL="0" indent="0">
              <a:buNone/>
            </a:pPr>
            <a:r>
              <a:rPr lang="en-IN" b="1" dirty="0"/>
              <a:t>📦 4. Task Queues / Background Jobs</a:t>
            </a:r>
          </a:p>
          <a:p>
            <a:r>
              <a:rPr lang="en-IN" dirty="0"/>
              <a:t>Image processing </a:t>
            </a:r>
          </a:p>
          <a:p>
            <a:r>
              <a:rPr lang="en-IN" dirty="0"/>
              <a:t>Report generation </a:t>
            </a:r>
          </a:p>
          <a:p>
            <a:pPr marL="0" indent="0">
              <a:buNone/>
            </a:pPr>
            <a:r>
              <a:rPr lang="en-IN" b="1" dirty="0"/>
              <a:t>🔁 5. Retry / DLQ Patterns</a:t>
            </a:r>
          </a:p>
          <a:p>
            <a:r>
              <a:rPr lang="en-IN" dirty="0"/>
              <a:t>Failed payments → DLQ → Retry later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7935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1FEB2-B96B-1BF1-6182-7CB1E0AD7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51A6-8F20-6FE3-1847-71181006E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77470-9124-A877-6AAE-EB1739E14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Use </a:t>
            </a:r>
            <a:r>
              <a:rPr lang="en-US" b="1" dirty="0"/>
              <a:t>RabbitMQ + Spring Integration</a:t>
            </a:r>
            <a:r>
              <a:rPr lang="en-US" dirty="0"/>
              <a:t> when:</a:t>
            </a:r>
          </a:p>
          <a:p>
            <a:r>
              <a:rPr lang="en-US" dirty="0"/>
              <a:t>You need </a:t>
            </a:r>
            <a:r>
              <a:rPr lang="en-US" b="1" dirty="0"/>
              <a:t>asynchronous communication</a:t>
            </a:r>
            <a:r>
              <a:rPr lang="en-US" dirty="0"/>
              <a:t> </a:t>
            </a:r>
          </a:p>
          <a:p>
            <a:r>
              <a:rPr lang="en-US" dirty="0"/>
              <a:t>You want </a:t>
            </a:r>
            <a:r>
              <a:rPr lang="en-US" b="1" dirty="0"/>
              <a:t>clean integration flows</a:t>
            </a:r>
            <a:r>
              <a:rPr lang="en-US" dirty="0"/>
              <a:t> </a:t>
            </a:r>
          </a:p>
          <a:p>
            <a:r>
              <a:rPr lang="en-US" dirty="0"/>
              <a:t>You need </a:t>
            </a:r>
            <a:r>
              <a:rPr lang="en-US" b="1" dirty="0"/>
              <a:t>routing flexibility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Prefer over JMS when:</a:t>
            </a:r>
          </a:p>
          <a:p>
            <a:r>
              <a:rPr lang="en-US" dirty="0"/>
              <a:t>You want </a:t>
            </a:r>
            <a:r>
              <a:rPr lang="en-US" b="1" dirty="0"/>
              <a:t>modern architecture</a:t>
            </a:r>
            <a:r>
              <a:rPr lang="en-US" dirty="0"/>
              <a:t> </a:t>
            </a:r>
          </a:p>
          <a:p>
            <a:r>
              <a:rPr lang="en-US" dirty="0"/>
              <a:t>You need </a:t>
            </a:r>
            <a:r>
              <a:rPr lang="en-US" b="1" dirty="0"/>
              <a:t>better routing + scalability</a:t>
            </a:r>
            <a:r>
              <a:rPr lang="en-US" dirty="0"/>
              <a:t> </a:t>
            </a:r>
          </a:p>
          <a:p>
            <a:r>
              <a:rPr lang="en-US" dirty="0"/>
              <a:t>You don’t want vendor lock-in </a:t>
            </a:r>
          </a:p>
          <a:p>
            <a:pPr marL="0" indent="0">
              <a:buNone/>
            </a:pPr>
            <a:r>
              <a:rPr lang="en-US" dirty="0"/>
              <a:t> Prefer Kafka when:</a:t>
            </a:r>
          </a:p>
          <a:p>
            <a:r>
              <a:rPr lang="en-US" dirty="0"/>
              <a:t>You need </a:t>
            </a:r>
            <a:r>
              <a:rPr lang="en-US" b="1" dirty="0"/>
              <a:t>event streaming</a:t>
            </a:r>
            <a:r>
              <a:rPr lang="en-US" dirty="0"/>
              <a:t> </a:t>
            </a:r>
          </a:p>
          <a:p>
            <a:r>
              <a:rPr lang="en-US" dirty="0"/>
              <a:t>You need </a:t>
            </a:r>
            <a:r>
              <a:rPr lang="en-US" b="1" dirty="0"/>
              <a:t>message replay</a:t>
            </a:r>
            <a:r>
              <a:rPr lang="en-US" dirty="0"/>
              <a:t> </a:t>
            </a:r>
          </a:p>
          <a:p>
            <a:r>
              <a:rPr lang="en-US" dirty="0"/>
              <a:t>You handle </a:t>
            </a:r>
            <a:r>
              <a:rPr lang="en-US" b="1" dirty="0"/>
              <a:t>big data / analytics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3236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CED3-7E5F-E5CE-DC37-F9B3DC591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7212E-B050-8CA3-BEA7-BE895350F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RabbitMQ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84DD2-6F40-C9AD-8D4E-5F0043847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At its core, RabbitMQ is a </a:t>
            </a:r>
            <a:r>
              <a:rPr lang="en-US" b="1" dirty="0"/>
              <a:t>message routing system</a:t>
            </a:r>
            <a:r>
              <a:rPr lang="en-US" dirty="0"/>
              <a:t>, not just a queue.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Producer → Exchange → Queue → Consumer</a:t>
            </a:r>
          </a:p>
          <a:p>
            <a:r>
              <a:rPr lang="en-US" dirty="0"/>
              <a:t> Key idea: Producer never sends directly to a queue — it sends to an </a:t>
            </a:r>
            <a:r>
              <a:rPr lang="en-US" b="1" dirty="0"/>
              <a:t>Exchange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174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AA30A-BD18-A384-6551-F8DF82EA9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E179-7591-CEE1-495E-F49A5246E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Producer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097A0-FA03-DB84-4596-B3E690A27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IN" dirty="0"/>
              <a:t>The application that </a:t>
            </a:r>
            <a:r>
              <a:rPr lang="en-IN" b="1" dirty="0"/>
              <a:t>sends messages</a:t>
            </a:r>
            <a:r>
              <a:rPr lang="en-IN" dirty="0"/>
              <a:t> </a:t>
            </a:r>
          </a:p>
          <a:p>
            <a:r>
              <a:rPr lang="en-IN" dirty="0"/>
              <a:t>In Spring: </a:t>
            </a:r>
            <a:r>
              <a:rPr lang="en-IN" dirty="0" err="1"/>
              <a:t>RabbitTemplate</a:t>
            </a:r>
            <a:r>
              <a:rPr lang="en-IN" dirty="0"/>
              <a:t> or outbound adapter 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rabbitTemplate.convertAndSend</a:t>
            </a:r>
            <a:r>
              <a:rPr lang="en-IN" b="1" dirty="0">
                <a:solidFill>
                  <a:srgbClr val="FF0000"/>
                </a:solidFill>
              </a:rPr>
              <a:t>("exchange", "</a:t>
            </a:r>
            <a:r>
              <a:rPr lang="en-IN" b="1" dirty="0" err="1">
                <a:solidFill>
                  <a:srgbClr val="FF0000"/>
                </a:solidFill>
              </a:rPr>
              <a:t>routingKey</a:t>
            </a:r>
            <a:r>
              <a:rPr lang="en-IN" b="1" dirty="0">
                <a:solidFill>
                  <a:srgbClr val="FF0000"/>
                </a:solidFill>
              </a:rPr>
              <a:t>", message);</a:t>
            </a:r>
          </a:p>
          <a:p>
            <a:r>
              <a:rPr lang="en-IN" dirty="0"/>
              <a:t>Application produce events/messages"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67895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96768-CA4A-1D7F-A1A2-BE223AC8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3B95-E9E5-E4D3-D5DF-72566E44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Consumer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C8E78-6894-AB15-415F-67A609BEC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IN" dirty="0"/>
              <a:t>The application that </a:t>
            </a:r>
            <a:r>
              <a:rPr lang="en-IN" b="1" dirty="0"/>
              <a:t>receives messages</a:t>
            </a:r>
            <a:r>
              <a:rPr lang="en-IN" dirty="0"/>
              <a:t> </a:t>
            </a:r>
          </a:p>
          <a:p>
            <a:r>
              <a:rPr lang="en-IN" b="1" dirty="0"/>
              <a:t>In Spring: @RabbitListener or inbound adapter </a:t>
            </a:r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@RabbitListener(queues = "</a:t>
            </a:r>
            <a:r>
              <a:rPr lang="en-IN" b="1" dirty="0" err="1">
                <a:solidFill>
                  <a:srgbClr val="FF0000"/>
                </a:solidFill>
              </a:rPr>
              <a:t>orders.queue</a:t>
            </a:r>
            <a:r>
              <a:rPr lang="en-IN" b="1" dirty="0">
                <a:solidFill>
                  <a:srgbClr val="FF0000"/>
                </a:solidFill>
              </a:rPr>
              <a:t>")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public void handle(String message) {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    </a:t>
            </a:r>
            <a:r>
              <a:rPr lang="en-IN" b="1" dirty="0" err="1">
                <a:solidFill>
                  <a:srgbClr val="FF0000"/>
                </a:solidFill>
              </a:rPr>
              <a:t>System.out.println</a:t>
            </a:r>
            <a:r>
              <a:rPr lang="en-IN" b="1" dirty="0">
                <a:solidFill>
                  <a:srgbClr val="FF0000"/>
                </a:solidFill>
              </a:rPr>
              <a:t>(message);</a:t>
            </a:r>
            <a:br>
              <a:rPr lang="en-IN" b="1" dirty="0">
                <a:solidFill>
                  <a:srgbClr val="FF0000"/>
                </a:solidFill>
              </a:rPr>
            </a:br>
            <a:r>
              <a:rPr lang="en-IN" b="1" dirty="0">
                <a:solidFill>
                  <a:srgbClr val="FF0000"/>
                </a:solidFill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5871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1E637-EEE0-D0F1-EF1D-BBC152523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610B-4D06-DF0F-5F67-58D2A5E14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Exchange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F3734-BEDE-6207-107F-FA4D6AA7B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This is where RabbitMQ becomes powerful.</a:t>
            </a:r>
          </a:p>
          <a:p>
            <a:r>
              <a:rPr lang="en-US" dirty="0"/>
              <a:t> Exchange = </a:t>
            </a:r>
            <a:r>
              <a:rPr lang="en-US" b="1" dirty="0"/>
              <a:t>Router</a:t>
            </a:r>
            <a:endParaRPr lang="en-US" dirty="0"/>
          </a:p>
          <a:p>
            <a:r>
              <a:rPr lang="en-US" dirty="0"/>
              <a:t>Receives messages from producer </a:t>
            </a:r>
          </a:p>
          <a:p>
            <a:r>
              <a:rPr lang="en-US" dirty="0"/>
              <a:t>Decides </a:t>
            </a:r>
            <a:r>
              <a:rPr lang="en-US" b="1" dirty="0"/>
              <a:t>which queue(s)</a:t>
            </a:r>
            <a:r>
              <a:rPr lang="en-US" dirty="0"/>
              <a:t> should get the message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8391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83E30-AE0D-0865-67E4-A43AB1B7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860C-5CCE-582B-EA24-42685CDBA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Exchanges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9F979-B912-D5FC-FE28-78985B324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1. Direct Exchange</a:t>
            </a:r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IN" b="1" dirty="0"/>
              <a:t>Topic Exchange</a:t>
            </a:r>
          </a:p>
          <a:p>
            <a:pPr marL="0" indent="0">
              <a:buNone/>
            </a:pPr>
            <a:r>
              <a:rPr lang="en-IN" b="1" dirty="0"/>
              <a:t>3. Fanout Exchange</a:t>
            </a:r>
          </a:p>
          <a:p>
            <a:pPr marL="0" indent="0">
              <a:buNone/>
            </a:pPr>
            <a:r>
              <a:rPr lang="en-IN" b="1" dirty="0"/>
              <a:t>4. Header Exchange</a:t>
            </a: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38547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ow to use RabbitMQ. Concepts | by Chi Thuc Nguyen | Medium">
            <a:extLst>
              <a:ext uri="{FF2B5EF4-FFF2-40B4-BE49-F238E27FC236}">
                <a16:creationId xmlns:a16="http://schemas.microsoft.com/office/drawing/2014/main" id="{C3D14F3C-D4A5-7322-176F-DC7443907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3" y="0"/>
            <a:ext cx="112426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8131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ADE21-5570-7C13-541A-79C0A13E9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EEBF9-2AF7-79AE-65F9-05B55C55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Direct Exchange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7D8D4-0D1C-E546-5DF1-A6F44D53C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Routes based on </a:t>
            </a:r>
            <a:r>
              <a:rPr lang="en-US" b="1" dirty="0"/>
              <a:t>exact routing key match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FF0000"/>
                </a:solidFill>
              </a:rPr>
              <a:t>routingKey</a:t>
            </a:r>
            <a:r>
              <a:rPr lang="en-US" b="1" dirty="0">
                <a:solidFill>
                  <a:srgbClr val="FF0000"/>
                </a:solidFill>
              </a:rPr>
              <a:t> = "</a:t>
            </a:r>
            <a:r>
              <a:rPr lang="en-US" b="1" dirty="0" err="1">
                <a:solidFill>
                  <a:srgbClr val="FF0000"/>
                </a:solidFill>
              </a:rPr>
              <a:t>order.created</a:t>
            </a:r>
            <a:r>
              <a:rPr lang="en-US" b="1" dirty="0">
                <a:solidFill>
                  <a:srgbClr val="FF000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/>
              <a:t>Use when:</a:t>
            </a:r>
          </a:p>
          <a:p>
            <a:r>
              <a:rPr lang="en-US" dirty="0"/>
              <a:t>Exact routing needed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88350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6FEA64-7A8B-9072-F684-5B0E66A85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373" y="0"/>
            <a:ext cx="6523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200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C8FFD-ECA0-9448-4DD4-69CE90EEF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2402-5813-58C6-C272-2FDFA87C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Exchange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71470-CE0B-3901-B3BC-4F3F35C68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IN" dirty="0"/>
              <a:t>Uses </a:t>
            </a:r>
            <a:r>
              <a:rPr lang="en-IN" b="1" dirty="0"/>
              <a:t>wildcards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* → one word </a:t>
            </a:r>
          </a:p>
          <a:p>
            <a:pPr lvl="1"/>
            <a:r>
              <a:rPr lang="en-IN" dirty="0"/>
              <a:t># → multiple words </a:t>
            </a:r>
          </a:p>
          <a:p>
            <a:r>
              <a:rPr lang="en-IN" dirty="0"/>
              <a:t>order.*        → </a:t>
            </a:r>
            <a:r>
              <a:rPr lang="en-IN" dirty="0" err="1"/>
              <a:t>order.created</a:t>
            </a:r>
            <a:r>
              <a:rPr lang="en-IN" dirty="0"/>
              <a:t>, </a:t>
            </a:r>
            <a:r>
              <a:rPr lang="en-IN" dirty="0" err="1"/>
              <a:t>order.updated</a:t>
            </a:r>
            <a:br>
              <a:rPr lang="en-IN" dirty="0"/>
            </a:br>
            <a:r>
              <a:rPr lang="en-IN" dirty="0"/>
              <a:t>order.#        → order.created.us, order.updated.eu</a:t>
            </a:r>
          </a:p>
          <a:p>
            <a:pPr marL="0" indent="0">
              <a:buNone/>
            </a:pPr>
            <a:r>
              <a:rPr lang="en-IN" dirty="0"/>
              <a:t> Use when:</a:t>
            </a:r>
          </a:p>
          <a:p>
            <a:r>
              <a:rPr lang="en-IN" dirty="0"/>
              <a:t>Flexible routing needed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2410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392B2-FC17-D86E-8F1C-A44AB120D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500" y="0"/>
            <a:ext cx="6256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227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F0D2E-2B3C-2523-DB2D-4F8D4DB1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CF4AB-0326-4CB3-21E5-0A01D2FE9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Fanout Exchange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6F178-FA83-2B1B-EAD3-0297F4679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Sends message to </a:t>
            </a:r>
            <a:r>
              <a:rPr lang="en-US" b="1" dirty="0"/>
              <a:t>ALL bound queues</a:t>
            </a:r>
            <a:r>
              <a:rPr lang="en-US" dirty="0"/>
              <a:t> </a:t>
            </a:r>
          </a:p>
          <a:p>
            <a:r>
              <a:rPr lang="en-US" dirty="0"/>
              <a:t>Ignores routing key </a:t>
            </a:r>
          </a:p>
          <a:p>
            <a:pPr marL="0" indent="0">
              <a:buNone/>
            </a:pPr>
            <a:r>
              <a:rPr lang="en-US" dirty="0"/>
              <a:t> Use when:</a:t>
            </a:r>
          </a:p>
          <a:p>
            <a:r>
              <a:rPr lang="en-US" dirty="0"/>
              <a:t>Broadcast (pub/sub)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95583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41A7D2-9F83-ADFA-72BB-A06212AEC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482" y="0"/>
            <a:ext cx="68310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79398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E7F4-BF18-0AB1-553E-AE8F427D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4B7D-01DC-4104-9BE6-8E024FDA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Headers Exchange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610C0-B8B5-3B3A-3503-AB920EC8E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Routes based on </a:t>
            </a:r>
            <a:r>
              <a:rPr lang="en-US" b="1" dirty="0"/>
              <a:t>message headers</a:t>
            </a:r>
            <a:r>
              <a:rPr lang="en-US" dirty="0"/>
              <a:t> </a:t>
            </a:r>
          </a:p>
          <a:p>
            <a:r>
              <a:rPr lang="en-US" dirty="0"/>
              <a:t>Not commonly used </a:t>
            </a:r>
          </a:p>
          <a:p>
            <a:pPr marL="0" indent="0">
              <a:buNone/>
            </a:pPr>
            <a:r>
              <a:rPr lang="en-US" dirty="0"/>
              <a:t>Use when:</a:t>
            </a:r>
          </a:p>
          <a:p>
            <a:r>
              <a:rPr lang="en-US" dirty="0"/>
              <a:t>Routing depends on metadata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22743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Part 4: RabbitMQ Exchanges, routing keys and bindings - CloudAMQP">
            <a:extLst>
              <a:ext uri="{FF2B5EF4-FFF2-40B4-BE49-F238E27FC236}">
                <a16:creationId xmlns:a16="http://schemas.microsoft.com/office/drawing/2014/main" id="{8927FDB6-D63C-CA86-036D-E80A6535A1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3C6DCE-B1EF-5067-9DEC-A06FA028F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45" y="0"/>
            <a:ext cx="58827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8071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AE84A-BEE0-166A-C679-5455C8631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9E245-31BB-337D-FCA7-E1E9A88FE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Queue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38506-B3F7-0098-63D5-292ED9F8F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Stores messages until consumed </a:t>
            </a:r>
          </a:p>
          <a:p>
            <a:pPr marL="0" indent="0">
              <a:buNone/>
            </a:pPr>
            <a:r>
              <a:rPr lang="en-US" dirty="0"/>
              <a:t> Key properties:</a:t>
            </a:r>
          </a:p>
          <a:p>
            <a:r>
              <a:rPr lang="en-US" dirty="0"/>
              <a:t>Durable (survives restart) </a:t>
            </a:r>
          </a:p>
          <a:p>
            <a:r>
              <a:rPr lang="en-US" dirty="0"/>
              <a:t>Exclusive (used by one consumer) </a:t>
            </a:r>
          </a:p>
          <a:p>
            <a:r>
              <a:rPr lang="en-US" dirty="0"/>
              <a:t>Auto-delete</a:t>
            </a:r>
          </a:p>
          <a:p>
            <a:r>
              <a:rPr lang="en-US" dirty="0"/>
              <a:t>Messages sit in queue until consumed (FIFO-</a:t>
            </a:r>
            <a:r>
              <a:rPr lang="en-US" dirty="0" err="1"/>
              <a:t>ish</a:t>
            </a:r>
            <a:r>
              <a:rPr lang="en-US" dirty="0"/>
              <a:t>, but not strict)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93696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A5353-E1A2-FC88-250F-3AD020EEC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9246F-4D5E-A36C-5D6A-84EDEDFC1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Routing Key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CC90C-18CD-2980-7B9A-535AD409E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A string sent with message </a:t>
            </a:r>
          </a:p>
          <a:p>
            <a:r>
              <a:rPr lang="en-US" dirty="0"/>
              <a:t>Used by exchange to route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"</a:t>
            </a:r>
            <a:r>
              <a:rPr lang="en-US" b="1" dirty="0" err="1">
                <a:solidFill>
                  <a:srgbClr val="FF0000"/>
                </a:solidFill>
              </a:rPr>
              <a:t>order.created</a:t>
            </a:r>
            <a:r>
              <a:rPr lang="en-US" b="1" dirty="0">
                <a:solidFill>
                  <a:srgbClr val="FF0000"/>
                </a:solidFill>
              </a:rPr>
              <a:t>"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"</a:t>
            </a:r>
            <a:r>
              <a:rPr lang="en-US" b="1" dirty="0" err="1">
                <a:solidFill>
                  <a:srgbClr val="FF0000"/>
                </a:solidFill>
              </a:rPr>
              <a:t>payment.failed</a:t>
            </a:r>
            <a:r>
              <a:rPr lang="en-US" b="1" dirty="0">
                <a:solidFill>
                  <a:srgbClr val="FF0000"/>
                </a:solidFill>
              </a:rPr>
              <a:t>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0703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B822E-4121-5B3D-4B56-5333BD81B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7DA74-6981-B6C0-987E-52743AE5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Message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1EF86-0CDF-FD08-3BAB-3D0ABE42B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message consists of:</a:t>
            </a:r>
          </a:p>
          <a:p>
            <a:r>
              <a:rPr lang="en-US" b="1" dirty="0"/>
              <a:t>Payload</a:t>
            </a:r>
            <a:r>
              <a:rPr lang="en-US" dirty="0"/>
              <a:t> → actual data </a:t>
            </a:r>
          </a:p>
          <a:p>
            <a:r>
              <a:rPr lang="en-US" b="1" dirty="0"/>
              <a:t>Headers</a:t>
            </a:r>
            <a:r>
              <a:rPr lang="en-US" dirty="0"/>
              <a:t> → metadata </a:t>
            </a:r>
          </a:p>
          <a:p>
            <a:r>
              <a:rPr lang="en-US" b="1" dirty="0"/>
              <a:t>Properties</a:t>
            </a:r>
            <a:r>
              <a:rPr lang="en-US" dirty="0"/>
              <a:t> → delivery mode, priority,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8898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91AC5-1026-E68A-FBAF-47D0F3AC7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058A0-C410-7BA3-1B17-BDFFBB5C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Binding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2B70E-758C-9A50-5095-7881421FC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Connection between </a:t>
            </a:r>
            <a:r>
              <a:rPr lang="en-US" b="1" dirty="0"/>
              <a:t>Exchange → Queue</a:t>
            </a:r>
            <a:r>
              <a:rPr lang="en-US" dirty="0"/>
              <a:t> </a:t>
            </a:r>
          </a:p>
          <a:p>
            <a:r>
              <a:rPr lang="en-US" dirty="0"/>
              <a:t>Exchange + Routing Key → Queue</a:t>
            </a:r>
          </a:p>
          <a:p>
            <a:pPr marL="0" indent="0">
              <a:buNone/>
            </a:pPr>
            <a:r>
              <a:rPr lang="en-US" dirty="0"/>
              <a:t> Think:</a:t>
            </a:r>
          </a:p>
          <a:p>
            <a:r>
              <a:rPr lang="en-US" dirty="0"/>
              <a:t>"Rule that defines where messages go“</a:t>
            </a:r>
          </a:p>
          <a:p>
            <a:r>
              <a:rPr lang="en-US" b="1" dirty="0"/>
              <a:t>Binding = a rule that connects an Exchange to a Queue</a:t>
            </a:r>
            <a:endParaRPr lang="en-US" dirty="0"/>
          </a:p>
          <a:p>
            <a:r>
              <a:rPr lang="en-US" dirty="0"/>
              <a:t>It tells RabbitMQ:</a:t>
            </a:r>
            <a:br>
              <a:rPr lang="en-US" dirty="0"/>
            </a:br>
            <a:r>
              <a:rPr lang="en-US" b="1" dirty="0"/>
              <a:t>“If a message comes with this routing key → send it to this queue”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Producer → Exchange → (Binding) → Queue → Consumer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6913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9277-8C69-0694-14A5-47AB7938E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Binding Actually Works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D6B67-F3B3-0DBE-C54B-A826493C4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032450" cy="372732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Conceptual View</a:t>
            </a:r>
          </a:p>
          <a:p>
            <a:r>
              <a:rPr lang="en-US" dirty="0"/>
              <a:t>Producer sends message → Exchange </a:t>
            </a:r>
          </a:p>
          <a:p>
            <a:r>
              <a:rPr lang="en-US" dirty="0"/>
              <a:t>Exchange checks bindings </a:t>
            </a:r>
          </a:p>
          <a:p>
            <a:r>
              <a:rPr lang="en-US" dirty="0"/>
              <a:t>Based on rules → message goes to queue(s)</a:t>
            </a:r>
          </a:p>
          <a:p>
            <a:pPr marL="0" indent="0">
              <a:buNone/>
            </a:pPr>
            <a:r>
              <a:rPr lang="en-IN" b="1" dirty="0"/>
              <a:t>Real-Life Analogy</a:t>
            </a:r>
          </a:p>
          <a:p>
            <a:r>
              <a:rPr lang="en-IN" dirty="0"/>
              <a:t>Think of a </a:t>
            </a:r>
            <a:r>
              <a:rPr lang="en-IN" b="1" dirty="0"/>
              <a:t>postal sorting </a:t>
            </a:r>
            <a:r>
              <a:rPr lang="en-IN" b="1" dirty="0" err="1"/>
              <a:t>center</a:t>
            </a:r>
            <a:r>
              <a:rPr lang="en-IN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Producer = person sending parcel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Exchange = sorting office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Binding = sorting rule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Queue = mailbox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Consumer = receiver </a:t>
            </a:r>
          </a:p>
          <a:p>
            <a:r>
              <a:rPr lang="en-IN" dirty="0"/>
              <a:t>Binding = “All parcels with ZIP code 600001 → go to this mailbox”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690629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FD5D-B3CD-07C6-A216-1D94DE5F4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5CDE3-3EE9-0C4A-8FAF-EB6F12A5D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Exchange: </a:t>
            </a:r>
            <a:r>
              <a:rPr lang="en-IN" dirty="0" err="1"/>
              <a:t>orders.exchange</a:t>
            </a:r>
            <a:br>
              <a:rPr lang="en-IN" dirty="0"/>
            </a:br>
            <a:r>
              <a:rPr lang="en-IN" dirty="0"/>
              <a:t>Queue: </a:t>
            </a:r>
            <a:r>
              <a:rPr lang="en-IN" dirty="0" err="1"/>
              <a:t>orders.queue</a:t>
            </a:r>
            <a:br>
              <a:rPr lang="en-IN" dirty="0"/>
            </a:br>
            <a:r>
              <a:rPr lang="en-IN" dirty="0"/>
              <a:t>Binding: </a:t>
            </a:r>
            <a:r>
              <a:rPr lang="en-IN" dirty="0" err="1"/>
              <a:t>routingKey</a:t>
            </a:r>
            <a:r>
              <a:rPr lang="en-IN" dirty="0"/>
              <a:t> = "</a:t>
            </a:r>
            <a:r>
              <a:rPr lang="en-IN" dirty="0" err="1"/>
              <a:t>order.created</a:t>
            </a:r>
            <a:r>
              <a:rPr lang="en-IN" dirty="0"/>
              <a:t>"</a:t>
            </a:r>
          </a:p>
          <a:p>
            <a:r>
              <a:rPr lang="en-IN" b="1" dirty="0"/>
              <a:t>Flow:</a:t>
            </a:r>
          </a:p>
          <a:p>
            <a:r>
              <a:rPr lang="en-IN" dirty="0"/>
              <a:t>Producer sends → "</a:t>
            </a:r>
            <a:r>
              <a:rPr lang="en-IN" dirty="0" err="1"/>
              <a:t>order.created</a:t>
            </a:r>
            <a:r>
              <a:rPr lang="en-IN" dirty="0"/>
              <a:t>"</a:t>
            </a:r>
            <a:br>
              <a:rPr lang="en-IN" dirty="0"/>
            </a:br>
            <a:r>
              <a:rPr lang="en-IN" dirty="0"/>
              <a:t>Exchange checks binding</a:t>
            </a:r>
            <a:br>
              <a:rPr lang="en-IN" dirty="0"/>
            </a:br>
            <a:r>
              <a:rPr lang="en-IN" dirty="0"/>
              <a:t>→ Matches</a:t>
            </a:r>
            <a:br>
              <a:rPr lang="en-IN" dirty="0"/>
            </a:br>
            <a:r>
              <a:rPr lang="en-IN" dirty="0"/>
              <a:t>→ Message goes to </a:t>
            </a:r>
            <a:r>
              <a:rPr lang="en-IN" dirty="0" err="1"/>
              <a:t>orders.queue</a:t>
            </a:r>
            <a:br>
              <a:rPr lang="en-IN" dirty="0"/>
            </a:br>
            <a:r>
              <a:rPr lang="en-IN" dirty="0"/>
              <a:t>→ Consumer receives 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99219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D7AF-2844-9AED-156F-C20B23E7A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/ Spring Integration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08B05F-41A1-A101-B840-56CD27C5EACB}"/>
              </a:ext>
            </a:extLst>
          </p:cNvPr>
          <p:cNvSpPr txBox="1"/>
          <p:nvPr/>
        </p:nvSpPr>
        <p:spPr>
          <a:xfrm>
            <a:off x="685800" y="2056686"/>
            <a:ext cx="813979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Queue queue() {</a:t>
            </a:r>
          </a:p>
          <a:p>
            <a:r>
              <a:rPr lang="en-IN" dirty="0"/>
              <a:t>    return new Queue("</a:t>
            </a:r>
            <a:r>
              <a:rPr lang="en-IN" dirty="0" err="1"/>
              <a:t>orders.queue</a:t>
            </a:r>
            <a:r>
              <a:rPr lang="en-IN" dirty="0"/>
              <a:t>");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DirectExchange</a:t>
            </a:r>
            <a:r>
              <a:rPr lang="en-IN" dirty="0"/>
              <a:t> exchange() {</a:t>
            </a:r>
          </a:p>
          <a:p>
            <a:r>
              <a:rPr lang="en-IN" dirty="0"/>
              <a:t>    return new </a:t>
            </a:r>
            <a:r>
              <a:rPr lang="en-IN" dirty="0" err="1"/>
              <a:t>DirectExchange</a:t>
            </a:r>
            <a:r>
              <a:rPr lang="en-IN" dirty="0"/>
              <a:t>("</a:t>
            </a:r>
            <a:r>
              <a:rPr lang="en-IN" dirty="0" err="1"/>
              <a:t>orders.exchange</a:t>
            </a:r>
            <a:r>
              <a:rPr lang="en-IN" dirty="0"/>
              <a:t>");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@Bean</a:t>
            </a:r>
          </a:p>
          <a:p>
            <a:r>
              <a:rPr lang="en-IN" dirty="0"/>
              <a:t>public Binding binding(Queue </a:t>
            </a:r>
            <a:r>
              <a:rPr lang="en-IN" dirty="0" err="1"/>
              <a:t>queue</a:t>
            </a:r>
            <a:r>
              <a:rPr lang="en-IN" dirty="0"/>
              <a:t>, </a:t>
            </a:r>
            <a:r>
              <a:rPr lang="en-IN" dirty="0" err="1"/>
              <a:t>DirectExchange</a:t>
            </a:r>
            <a:r>
              <a:rPr lang="en-IN" dirty="0"/>
              <a:t> exchange) {</a:t>
            </a:r>
          </a:p>
          <a:p>
            <a:r>
              <a:rPr lang="en-IN" dirty="0"/>
              <a:t>    return </a:t>
            </a:r>
            <a:r>
              <a:rPr lang="en-IN" dirty="0" err="1"/>
              <a:t>BindingBuilder</a:t>
            </a:r>
            <a:endParaRPr lang="en-IN" dirty="0"/>
          </a:p>
          <a:p>
            <a:r>
              <a:rPr lang="en-IN" dirty="0"/>
              <a:t>        .bind(queue)</a:t>
            </a:r>
          </a:p>
          <a:p>
            <a:r>
              <a:rPr lang="en-IN" dirty="0"/>
              <a:t>        .to(exchange)</a:t>
            </a:r>
          </a:p>
          <a:p>
            <a:r>
              <a:rPr lang="en-IN" dirty="0"/>
              <a:t>        .with("</a:t>
            </a:r>
            <a:r>
              <a:rPr lang="en-IN" dirty="0" err="1"/>
              <a:t>order.created</a:t>
            </a:r>
            <a:r>
              <a:rPr lang="en-IN" dirty="0"/>
              <a:t>");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8792D-900F-F269-1A1A-59FF5F7DA1F0}"/>
              </a:ext>
            </a:extLst>
          </p:cNvPr>
          <p:cNvSpPr txBox="1"/>
          <p:nvPr/>
        </p:nvSpPr>
        <p:spPr>
          <a:xfrm>
            <a:off x="6677219" y="2365510"/>
            <a:ext cx="5079352" cy="923330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What this does:</a:t>
            </a:r>
          </a:p>
          <a:p>
            <a:pPr rtl="0">
              <a:buNone/>
            </a:pP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Bind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orders.queue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 → 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orders.exchange</a:t>
            </a:r>
            <a:b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Using routing key → "</a:t>
            </a:r>
            <a:r>
              <a:rPr lang="en-US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order.created</a:t>
            </a:r>
            <a:r>
              <a:rPr lang="en-US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563240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0680A1-67BF-D921-4D63-EBCF08F31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End-to-End Flow with Binding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8C910-18D2-624E-852D-F0CD9B504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1. Producer sends message:</a:t>
            </a:r>
            <a:br>
              <a:rPr lang="en-IN" dirty="0"/>
            </a:br>
            <a:r>
              <a:rPr lang="en-IN" dirty="0"/>
              <a:t>   </a:t>
            </a:r>
            <a:r>
              <a:rPr lang="en-IN" dirty="0" err="1"/>
              <a:t>routingKey</a:t>
            </a:r>
            <a:r>
              <a:rPr lang="en-IN" dirty="0"/>
              <a:t> = "</a:t>
            </a:r>
            <a:r>
              <a:rPr lang="en-IN" dirty="0" err="1"/>
              <a:t>order.created</a:t>
            </a:r>
            <a:r>
              <a:rPr lang="en-IN" dirty="0"/>
              <a:t>"</a:t>
            </a:r>
            <a:br>
              <a:rPr lang="en-IN" dirty="0"/>
            </a:br>
            <a:br>
              <a:rPr lang="en-IN" dirty="0"/>
            </a:br>
            <a:r>
              <a:rPr lang="en-IN" dirty="0"/>
              <a:t>2. Exchange receives message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3. Exchange checks bindings:</a:t>
            </a:r>
            <a:br>
              <a:rPr lang="en-IN" dirty="0"/>
            </a:br>
            <a:r>
              <a:rPr lang="en-IN" dirty="0"/>
              <a:t>   - Does any queue have binding "</a:t>
            </a:r>
            <a:r>
              <a:rPr lang="en-IN" dirty="0" err="1"/>
              <a:t>order.created</a:t>
            </a:r>
            <a:r>
              <a:rPr lang="en-IN" dirty="0"/>
              <a:t>"? ✅ YES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4. Message routed to that queue</a:t>
            </a:r>
            <a:br>
              <a:rPr lang="en-IN" dirty="0"/>
            </a:br>
            <a:br>
              <a:rPr lang="en-IN" dirty="0"/>
            </a:br>
            <a:r>
              <a:rPr lang="en-IN" dirty="0"/>
              <a:t>5. Consumer reads from queue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1133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41FB-0938-D6CE-119B-B7FF29B88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D627A-6017-D9CD-E790-1F1A8D913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Binding in RabbitMQ is the relationship between an exchange and a queue </a:t>
            </a:r>
          </a:p>
          <a:p>
            <a:r>
              <a:rPr lang="en-US" dirty="0"/>
              <a:t>that defines how messages are routed.</a:t>
            </a:r>
          </a:p>
          <a:p>
            <a:r>
              <a:rPr lang="en-US" dirty="0"/>
              <a:t>Specifies the routing rules, typically using a routing key or pattern, so that when a producer sends a message to an exchange, </a:t>
            </a:r>
          </a:p>
          <a:p>
            <a:r>
              <a:rPr lang="en-US" dirty="0"/>
              <a:t>the exchange uses the binding to decide which queue(s) should receive that message.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151406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979BCC3-397C-6EA0-BD84-5CD717AF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Concepts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B5D872FB-E7FE-9BE2-53BC-394BEC4879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7390859"/>
              </p:ext>
            </p:extLst>
          </p:nvPr>
        </p:nvGraphicFramePr>
        <p:xfrm>
          <a:off x="1155700" y="2603500"/>
          <a:ext cx="8824912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6228">
                  <a:extLst>
                    <a:ext uri="{9D8B030D-6E8A-4147-A177-3AD203B41FA5}">
                      <a16:colId xmlns:a16="http://schemas.microsoft.com/office/drawing/2014/main" val="4023563954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2524777863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4192369936"/>
                    </a:ext>
                  </a:extLst>
                </a:gridCol>
                <a:gridCol w="2206228">
                  <a:extLst>
                    <a:ext uri="{9D8B030D-6E8A-4147-A177-3AD203B41FA5}">
                      <a16:colId xmlns:a16="http://schemas.microsoft.com/office/drawing/2014/main" val="685285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it 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Who defines 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731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Exchange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Router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config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Decides where messages 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2811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Routing Key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Message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Producer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Helps in routing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391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Binding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config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Matches routing key → queue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419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95904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578F7-04EA-E8C8-4D09-9C93D4F3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54F92-998C-D813-2A99-95CF83743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Exchange acts as a router that receives messages from producers. </a:t>
            </a:r>
          </a:p>
          <a:p>
            <a:r>
              <a:rPr lang="en-US" dirty="0"/>
              <a:t>Routing key is a label attached to the message, </a:t>
            </a:r>
          </a:p>
          <a:p>
            <a:r>
              <a:rPr lang="en-US" dirty="0"/>
              <a:t>Binding is a rule that connects an exchange to a queue. </a:t>
            </a:r>
          </a:p>
          <a:p>
            <a:r>
              <a:rPr lang="en-US" dirty="0"/>
              <a:t>Exchange uses the routing key and compares it with binding rules to decide which queue or queues should receive the message.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14457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EA75-F036-0FEA-B695-9BDBC63B7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E09A8-BFFE-788B-0EB7-DDE72AE57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message can go to </a:t>
            </a:r>
            <a:r>
              <a:rPr lang="en-US" b="1" dirty="0"/>
              <a:t>multiple queues</a:t>
            </a:r>
            <a:endParaRPr lang="en-US" dirty="0"/>
          </a:p>
          <a:p>
            <a:r>
              <a:rPr lang="en-US" dirty="0"/>
              <a:t>Why? Multiple bindings can match the same routing key 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Queue A binding: order.*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Queue B binding: </a:t>
            </a:r>
            <a:r>
              <a:rPr lang="en-US" b="1" dirty="0" err="1">
                <a:solidFill>
                  <a:srgbClr val="C00000"/>
                </a:solidFill>
              </a:rPr>
              <a:t>order.created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Routing Key: </a:t>
            </a:r>
            <a:r>
              <a:rPr lang="en-US" b="1" dirty="0" err="1">
                <a:solidFill>
                  <a:srgbClr val="C00000"/>
                </a:solidFill>
              </a:rPr>
              <a:t>order.created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✔ Both queues receive the message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64515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542A7A-9BD9-6BB6-DFDF-EE5CF52B47E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579915" y="1047361"/>
            <a:ext cx="5198350" cy="55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1033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9E853-3ED0-32F7-8283-1EF58058D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B5EE-7E72-7CF6-3E2E-02F43670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Acknowledgement (ACK)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66026-F4A8-6146-7C35-4C396611D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IN" dirty="0"/>
              <a:t>Consumer confirms message processed </a:t>
            </a:r>
          </a:p>
          <a:p>
            <a:pPr marL="0" indent="0">
              <a:buNone/>
            </a:pPr>
            <a:r>
              <a:rPr lang="en-IN" b="1" dirty="0"/>
              <a:t>Types:</a:t>
            </a:r>
          </a:p>
          <a:p>
            <a:r>
              <a:rPr lang="en-IN" b="1" dirty="0"/>
              <a:t>Auto ACK</a:t>
            </a:r>
            <a:r>
              <a:rPr lang="en-IN" dirty="0"/>
              <a:t> → automatic </a:t>
            </a:r>
          </a:p>
          <a:p>
            <a:r>
              <a:rPr lang="en-IN" b="1" dirty="0"/>
              <a:t>Manual ACK</a:t>
            </a:r>
            <a:r>
              <a:rPr lang="en-IN" dirty="0"/>
              <a:t> → safer </a:t>
            </a:r>
          </a:p>
          <a:p>
            <a:pPr marL="0" indent="0">
              <a:buNone/>
            </a:pPr>
            <a:r>
              <a:rPr lang="en-IN" b="1" dirty="0" err="1">
                <a:solidFill>
                  <a:srgbClr val="FF0000"/>
                </a:solidFill>
              </a:rPr>
              <a:t>channel.basicAck</a:t>
            </a:r>
            <a:r>
              <a:rPr lang="en-IN" b="1" dirty="0">
                <a:solidFill>
                  <a:srgbClr val="FF0000"/>
                </a:solidFill>
              </a:rPr>
              <a:t>(</a:t>
            </a:r>
            <a:r>
              <a:rPr lang="en-IN" b="1" dirty="0" err="1">
                <a:solidFill>
                  <a:srgbClr val="FF0000"/>
                </a:solidFill>
              </a:rPr>
              <a:t>deliveryTag</a:t>
            </a:r>
            <a:r>
              <a:rPr lang="en-IN" b="1" dirty="0">
                <a:solidFill>
                  <a:srgbClr val="FF0000"/>
                </a:solidFill>
              </a:rPr>
              <a:t>, false);</a:t>
            </a:r>
          </a:p>
          <a:p>
            <a:pPr marL="0" indent="0">
              <a:buNone/>
            </a:pPr>
            <a:r>
              <a:rPr lang="en-IN" dirty="0"/>
              <a:t>Why important:</a:t>
            </a:r>
          </a:p>
          <a:p>
            <a:r>
              <a:rPr lang="en-IN" dirty="0"/>
              <a:t>Prevents message loss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919637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CA4FD-9120-3371-B965-A0F4247FD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B25E-7D2C-48C6-9402-806F5107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Message Durability &amp; Persistence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C8035-210E-5C19-46B6-3F501B376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b="1" dirty="0"/>
              <a:t>Durable Queue =</a:t>
            </a:r>
            <a:r>
              <a:rPr lang="en-US" dirty="0"/>
              <a:t>Survives restart </a:t>
            </a:r>
          </a:p>
          <a:p>
            <a:r>
              <a:rPr lang="en-US" b="1" dirty="0"/>
              <a:t>Persistent Message  =</a:t>
            </a:r>
            <a:r>
              <a:rPr lang="en-US" dirty="0"/>
              <a:t>Stored on disk </a:t>
            </a:r>
          </a:p>
          <a:p>
            <a:pPr marL="0" indent="0">
              <a:buNone/>
            </a:pPr>
            <a:r>
              <a:rPr lang="en-US" dirty="0"/>
              <a:t>Both needed for full reliability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7356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75D98-20B6-4C47-765E-D30E7862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5D08-BB5D-5923-E298-6E2E8B1F4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Prefetch Count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F9132-AE1C-6A4B-4A8B-686822E20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r>
              <a:rPr lang="en-US" dirty="0"/>
              <a:t>Controls how many messages a consumer gets at once</a:t>
            </a:r>
          </a:p>
          <a:p>
            <a:pPr marL="0" indent="0">
              <a:buNone/>
            </a:pPr>
            <a:r>
              <a:rPr lang="en-US" b="1" dirty="0" err="1"/>
              <a:t>factory.setPrefetchCount</a:t>
            </a:r>
            <a:r>
              <a:rPr lang="en-US" b="1" dirty="0"/>
              <a:t>(10);</a:t>
            </a:r>
          </a:p>
          <a:p>
            <a:r>
              <a:rPr lang="en-US" dirty="0"/>
              <a:t>Prevents: Overloading consumers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663884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764CD-3CB2-EB8E-AC16-FB56BABE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3C91E-281D-FEA6-0F7D-D2F23C48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12B72-472C-494F-0225-DF98C4D0F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146" name="Picture 2" descr="Part 1: RabbitMQ for beginners - What is RabbitMQ? - CloudAMQP">
            <a:extLst>
              <a:ext uri="{FF2B5EF4-FFF2-40B4-BE49-F238E27FC236}">
                <a16:creationId xmlns:a16="http://schemas.microsoft.com/office/drawing/2014/main" id="{EFECACAD-1EEC-D7B5-53B2-04AE79758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8638"/>
            <a:ext cx="12192000" cy="579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96430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C43F7-74B6-E6BE-8C27-46C0C10E3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8B987-C439-097A-3617-8E5A7995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Topic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E92E7-81B4-C274-9997-3CC6CDC5C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702" y="2258008"/>
            <a:ext cx="10473612" cy="394218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</a:t>
            </a:r>
            <a:r>
              <a:rPr lang="en-IN" dirty="0"/>
              <a:t>Producer → Topic Exchange → (Binding rules) → Queue(s) → Consumer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Scenario:</a:t>
            </a:r>
          </a:p>
          <a:p>
            <a:r>
              <a:rPr lang="en-IN" dirty="0"/>
              <a:t>Exchange: </a:t>
            </a:r>
            <a:r>
              <a:rPr lang="en-IN" dirty="0" err="1"/>
              <a:t>orders.exchange</a:t>
            </a:r>
            <a:r>
              <a:rPr lang="en-IN" dirty="0"/>
              <a:t> (Topic) </a:t>
            </a:r>
          </a:p>
          <a:p>
            <a:r>
              <a:rPr lang="en-IN" dirty="0"/>
              <a:t>Queue 1: </a:t>
            </a:r>
            <a:r>
              <a:rPr lang="en-IN" dirty="0" err="1"/>
              <a:t>orders.created.queue</a:t>
            </a:r>
            <a:r>
              <a:rPr lang="en-IN" dirty="0"/>
              <a:t> </a:t>
            </a:r>
          </a:p>
          <a:p>
            <a:r>
              <a:rPr lang="en-IN" dirty="0"/>
              <a:t>Queue 2: </a:t>
            </a:r>
            <a:r>
              <a:rPr lang="en-IN" dirty="0" err="1"/>
              <a:t>orders.all.queue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b="1" dirty="0"/>
              <a:t> Binding rules</a:t>
            </a:r>
          </a:p>
          <a:p>
            <a:r>
              <a:rPr lang="en-IN" dirty="0" err="1"/>
              <a:t>orders.created.queue</a:t>
            </a:r>
            <a:r>
              <a:rPr lang="en-IN" dirty="0"/>
              <a:t> → </a:t>
            </a:r>
            <a:r>
              <a:rPr lang="en-IN" dirty="0" err="1"/>
              <a:t>order.created</a:t>
            </a:r>
            <a:br>
              <a:rPr lang="en-IN" dirty="0"/>
            </a:br>
            <a:r>
              <a:rPr lang="en-IN" dirty="0" err="1"/>
              <a:t>orders.all.queue</a:t>
            </a:r>
            <a:r>
              <a:rPr lang="en-IN" dirty="0"/>
              <a:t>     → order.*</a:t>
            </a:r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2ECC10C1-3D66-B84F-B99E-FEE606252B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6383054"/>
              </p:ext>
            </p:extLst>
          </p:nvPr>
        </p:nvGraphicFramePr>
        <p:xfrm>
          <a:off x="1534254" y="5320991"/>
          <a:ext cx="8761414" cy="1463040"/>
        </p:xfrm>
        <a:graphic>
          <a:graphicData uri="http://schemas.openxmlformats.org/drawingml/2006/table">
            <a:tbl>
              <a:tblPr/>
              <a:tblGrid>
                <a:gridCol w="4380707">
                  <a:extLst>
                    <a:ext uri="{9D8B030D-6E8A-4147-A177-3AD203B41FA5}">
                      <a16:colId xmlns:a16="http://schemas.microsoft.com/office/drawing/2014/main" val="3445475548"/>
                    </a:ext>
                  </a:extLst>
                </a:gridCol>
                <a:gridCol w="4380707">
                  <a:extLst>
                    <a:ext uri="{9D8B030D-6E8A-4147-A177-3AD203B41FA5}">
                      <a16:colId xmlns:a16="http://schemas.microsoft.com/office/drawing/2014/main" val="34075631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Routing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Goes to 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448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Courier New" panose="02070309020205020404" pitchFamily="49" charset="0"/>
                        </a:rPr>
                        <a:t>order.created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BOTH queues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2212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order.updated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orders.all.queue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091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payment.created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496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57045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9394C31-66ED-C2A4-F894-5CD7D125AA71}"/>
              </a:ext>
            </a:extLst>
          </p:cNvPr>
          <p:cNvSpPr txBox="1"/>
          <p:nvPr/>
        </p:nvSpPr>
        <p:spPr>
          <a:xfrm>
            <a:off x="6422185" y="358871"/>
            <a:ext cx="5213089" cy="3139321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// Queues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@Bean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public Queue </a:t>
            </a:r>
            <a:r>
              <a:rPr lang="en-IN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createdQueue</a:t>
            </a: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() {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return new Queue("</a:t>
            </a:r>
            <a:r>
              <a:rPr lang="en-IN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orders.created.queue</a:t>
            </a: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");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}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@Bean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public Queue </a:t>
            </a:r>
            <a:r>
              <a:rPr lang="en-IN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allOrdersQueue</a:t>
            </a: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() {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return new Queue("</a:t>
            </a:r>
            <a:r>
              <a:rPr lang="en-IN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orders.all.queue</a:t>
            </a: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");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}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838CC1-3BF6-9DF1-57F4-04E3B39A51DF}"/>
              </a:ext>
            </a:extLst>
          </p:cNvPr>
          <p:cNvSpPr txBox="1"/>
          <p:nvPr/>
        </p:nvSpPr>
        <p:spPr>
          <a:xfrm>
            <a:off x="141125" y="509305"/>
            <a:ext cx="6095222" cy="1477328"/>
          </a:xfrm>
          <a:prstGeom prst="rect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// Topic Exchange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@Bean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public </a:t>
            </a:r>
            <a:r>
              <a:rPr lang="en-IN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TopicExchange</a:t>
            </a: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exchange() {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return new </a:t>
            </a:r>
            <a:r>
              <a:rPr lang="en-IN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TopicExchange</a:t>
            </a: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("</a:t>
            </a:r>
            <a:r>
              <a:rPr lang="en-IN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orders.exchange</a:t>
            </a: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");</a:t>
            </a:r>
            <a:b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IN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7AE46-BBC8-956A-1AFA-C3967ACCF71D}"/>
              </a:ext>
            </a:extLst>
          </p:cNvPr>
          <p:cNvSpPr txBox="1"/>
          <p:nvPr/>
        </p:nvSpPr>
        <p:spPr>
          <a:xfrm>
            <a:off x="466532" y="2948331"/>
            <a:ext cx="990949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// Bindings</a:t>
            </a:r>
            <a:br>
              <a:rPr lang="en-IN" b="1" dirty="0"/>
            </a:br>
            <a:r>
              <a:rPr lang="en-IN" dirty="0"/>
              <a:t>@Bean</a:t>
            </a:r>
            <a:br>
              <a:rPr lang="en-IN" dirty="0"/>
            </a:br>
            <a:r>
              <a:rPr lang="en-IN" dirty="0"/>
              <a:t>public Binding </a:t>
            </a:r>
            <a:r>
              <a:rPr lang="en-IN" dirty="0" err="1"/>
              <a:t>bindingCreated</a:t>
            </a:r>
            <a:r>
              <a:rPr lang="en-IN" dirty="0"/>
              <a:t>(Queue </a:t>
            </a:r>
            <a:r>
              <a:rPr lang="en-IN" dirty="0" err="1"/>
              <a:t>createdQueue</a:t>
            </a:r>
            <a:r>
              <a:rPr lang="en-IN" dirty="0"/>
              <a:t>, </a:t>
            </a:r>
            <a:r>
              <a:rPr lang="en-IN" dirty="0" err="1"/>
              <a:t>TopicExchange</a:t>
            </a:r>
            <a:r>
              <a:rPr lang="en-IN" dirty="0"/>
              <a:t> exchange) {</a:t>
            </a:r>
            <a:br>
              <a:rPr lang="en-IN" dirty="0"/>
            </a:br>
            <a:r>
              <a:rPr lang="en-IN" dirty="0"/>
              <a:t>return </a:t>
            </a:r>
            <a:r>
              <a:rPr lang="en-IN" dirty="0" err="1"/>
              <a:t>BindingBuilder.bind</a:t>
            </a:r>
            <a:r>
              <a:rPr lang="en-IN" dirty="0"/>
              <a:t>(</a:t>
            </a:r>
            <a:r>
              <a:rPr lang="en-IN" dirty="0" err="1"/>
              <a:t>createdQueue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.to(exchange)</a:t>
            </a:r>
            <a:br>
              <a:rPr lang="en-IN" dirty="0"/>
            </a:br>
            <a:r>
              <a:rPr lang="en-IN" dirty="0"/>
              <a:t>.with("</a:t>
            </a:r>
            <a:r>
              <a:rPr lang="en-IN" dirty="0" err="1"/>
              <a:t>order.created</a:t>
            </a:r>
            <a:r>
              <a:rPr lang="en-IN" dirty="0"/>
              <a:t>");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@Bean</a:t>
            </a:r>
            <a:br>
              <a:rPr lang="en-IN" dirty="0"/>
            </a:br>
            <a:r>
              <a:rPr lang="en-IN" dirty="0"/>
              <a:t>public Binding </a:t>
            </a:r>
            <a:r>
              <a:rPr lang="en-IN" dirty="0" err="1"/>
              <a:t>bindingAll</a:t>
            </a:r>
            <a:r>
              <a:rPr lang="en-IN" dirty="0"/>
              <a:t>(Queue </a:t>
            </a:r>
            <a:r>
              <a:rPr lang="en-IN" dirty="0" err="1"/>
              <a:t>allOrdersQueue</a:t>
            </a:r>
            <a:r>
              <a:rPr lang="en-IN" dirty="0"/>
              <a:t>, </a:t>
            </a:r>
            <a:r>
              <a:rPr lang="en-IN" dirty="0" err="1"/>
              <a:t>TopicExchange</a:t>
            </a:r>
            <a:r>
              <a:rPr lang="en-IN" dirty="0"/>
              <a:t> exchange) {</a:t>
            </a:r>
            <a:br>
              <a:rPr lang="en-IN" dirty="0"/>
            </a:br>
            <a:r>
              <a:rPr lang="en-IN" dirty="0"/>
              <a:t>return </a:t>
            </a:r>
            <a:r>
              <a:rPr lang="en-IN" dirty="0" err="1"/>
              <a:t>BindingBuilder.bind</a:t>
            </a:r>
            <a:r>
              <a:rPr lang="en-IN" dirty="0"/>
              <a:t>(</a:t>
            </a:r>
            <a:r>
              <a:rPr lang="en-IN" dirty="0" err="1"/>
              <a:t>allOrdersQueue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.to(exchange)</a:t>
            </a:r>
            <a:br>
              <a:rPr lang="en-IN" dirty="0"/>
            </a:br>
            <a:r>
              <a:rPr lang="en-IN" dirty="0"/>
              <a:t>.with("order.*");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949358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F7209A-719F-E08C-52B8-161FAE936E82}"/>
              </a:ext>
            </a:extLst>
          </p:cNvPr>
          <p:cNvSpPr txBox="1"/>
          <p:nvPr/>
        </p:nvSpPr>
        <p:spPr>
          <a:xfrm>
            <a:off x="587829" y="1298344"/>
            <a:ext cx="85550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@Service</a:t>
            </a:r>
          </a:p>
          <a:p>
            <a:r>
              <a:rPr lang="en-IN" dirty="0"/>
              <a:t>public class </a:t>
            </a:r>
            <a:r>
              <a:rPr lang="en-IN" dirty="0" err="1"/>
              <a:t>OrderProducer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@Autowired</a:t>
            </a:r>
          </a:p>
          <a:p>
            <a:r>
              <a:rPr lang="en-IN" dirty="0"/>
              <a:t>    private </a:t>
            </a:r>
            <a:r>
              <a:rPr lang="en-IN" dirty="0" err="1"/>
              <a:t>RabbitTemplate</a:t>
            </a:r>
            <a:r>
              <a:rPr lang="en-IN" dirty="0"/>
              <a:t> </a:t>
            </a:r>
            <a:r>
              <a:rPr lang="en-IN" dirty="0" err="1"/>
              <a:t>rabbitTemplate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public void send(String </a:t>
            </a:r>
            <a:r>
              <a:rPr lang="en-IN" dirty="0" err="1"/>
              <a:t>routingKey</a:t>
            </a:r>
            <a:r>
              <a:rPr lang="en-IN" dirty="0"/>
              <a:t>, String message) {</a:t>
            </a:r>
          </a:p>
          <a:p>
            <a:r>
              <a:rPr lang="en-IN" dirty="0"/>
              <a:t>        </a:t>
            </a:r>
            <a:r>
              <a:rPr lang="en-IN" dirty="0" err="1"/>
              <a:t>rabbitTemplate.convertAndSend</a:t>
            </a:r>
            <a:r>
              <a:rPr lang="en-IN" dirty="0"/>
              <a:t>(</a:t>
            </a:r>
          </a:p>
          <a:p>
            <a:r>
              <a:rPr lang="en-IN" dirty="0"/>
              <a:t>                "</a:t>
            </a:r>
            <a:r>
              <a:rPr lang="en-IN" dirty="0" err="1"/>
              <a:t>orders.exchange</a:t>
            </a:r>
            <a:r>
              <a:rPr lang="en-IN" dirty="0"/>
              <a:t>",</a:t>
            </a:r>
          </a:p>
          <a:p>
            <a:r>
              <a:rPr lang="en-IN" dirty="0"/>
              <a:t>                </a:t>
            </a:r>
            <a:r>
              <a:rPr lang="en-IN" dirty="0" err="1"/>
              <a:t>routingKey</a:t>
            </a:r>
            <a:r>
              <a:rPr lang="en-IN" dirty="0"/>
              <a:t>,</a:t>
            </a:r>
          </a:p>
          <a:p>
            <a:r>
              <a:rPr lang="en-IN" dirty="0"/>
              <a:t>                message</a:t>
            </a:r>
          </a:p>
          <a:p>
            <a:r>
              <a:rPr lang="en-IN" dirty="0"/>
              <a:t>        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84A5C8-C780-3108-6485-06C38DE0E907}"/>
              </a:ext>
            </a:extLst>
          </p:cNvPr>
          <p:cNvSpPr txBox="1"/>
          <p:nvPr/>
        </p:nvSpPr>
        <p:spPr>
          <a:xfrm>
            <a:off x="1298121" y="452148"/>
            <a:ext cx="6095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Producer (Send Message)</a:t>
            </a:r>
          </a:p>
        </p:txBody>
      </p:sp>
    </p:spTree>
    <p:extLst>
      <p:ext uri="{BB962C8B-B14F-4D97-AF65-F5344CB8AC3E}">
        <p14:creationId xmlns:p14="http://schemas.microsoft.com/office/powerpoint/2010/main" val="345258565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8A8DC0-0A45-E508-D2D3-069D61369468}"/>
              </a:ext>
            </a:extLst>
          </p:cNvPr>
          <p:cNvSpPr txBox="1"/>
          <p:nvPr/>
        </p:nvSpPr>
        <p:spPr>
          <a:xfrm>
            <a:off x="1516224" y="1298344"/>
            <a:ext cx="953122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@Component</a:t>
            </a:r>
          </a:p>
          <a:p>
            <a:r>
              <a:rPr lang="en-IN" dirty="0"/>
              <a:t>public class </a:t>
            </a:r>
            <a:r>
              <a:rPr lang="en-IN" dirty="0" err="1"/>
              <a:t>OrderConsumers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@RabbitListener(queues = "</a:t>
            </a:r>
            <a:r>
              <a:rPr lang="en-IN" dirty="0" err="1"/>
              <a:t>orders.created.queue</a:t>
            </a:r>
            <a:r>
              <a:rPr lang="en-IN" dirty="0"/>
              <a:t>")</a:t>
            </a:r>
          </a:p>
          <a:p>
            <a:r>
              <a:rPr lang="en-IN" dirty="0"/>
              <a:t>    public void </a:t>
            </a:r>
            <a:r>
              <a:rPr lang="en-IN" dirty="0" err="1"/>
              <a:t>handleCreated</a:t>
            </a:r>
            <a:r>
              <a:rPr lang="en-IN" dirty="0"/>
              <a:t>(String message)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("Created Queue Received: " + message);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@RabbitListener(queues = "</a:t>
            </a:r>
            <a:r>
              <a:rPr lang="en-IN" dirty="0" err="1"/>
              <a:t>orders.all.queue</a:t>
            </a:r>
            <a:r>
              <a:rPr lang="en-IN" dirty="0"/>
              <a:t>")</a:t>
            </a:r>
          </a:p>
          <a:p>
            <a:r>
              <a:rPr lang="en-IN" dirty="0"/>
              <a:t>    public void </a:t>
            </a:r>
            <a:r>
              <a:rPr lang="en-IN" dirty="0" err="1"/>
              <a:t>handleAll</a:t>
            </a:r>
            <a:r>
              <a:rPr lang="en-IN" dirty="0"/>
              <a:t>(String message)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("All Orders Queue Received: " + message);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7E169-47A9-C755-B11A-1337D75ECA63}"/>
              </a:ext>
            </a:extLst>
          </p:cNvPr>
          <p:cNvSpPr txBox="1"/>
          <p:nvPr/>
        </p:nvSpPr>
        <p:spPr>
          <a:xfrm>
            <a:off x="901570" y="489471"/>
            <a:ext cx="6095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Consumers</a:t>
            </a:r>
          </a:p>
        </p:txBody>
      </p:sp>
    </p:spTree>
    <p:extLst>
      <p:ext uri="{BB962C8B-B14F-4D97-AF65-F5344CB8AC3E}">
        <p14:creationId xmlns:p14="http://schemas.microsoft.com/office/powerpoint/2010/main" val="197665828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960440-5366-44E5-5A71-18D0BCC9A02E}"/>
              </a:ext>
            </a:extLst>
          </p:cNvPr>
          <p:cNvSpPr txBox="1"/>
          <p:nvPr/>
        </p:nvSpPr>
        <p:spPr>
          <a:xfrm>
            <a:off x="321906" y="150679"/>
            <a:ext cx="784121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@RestController</a:t>
            </a:r>
          </a:p>
          <a:p>
            <a:r>
              <a:rPr lang="en-IN" dirty="0"/>
              <a:t>public class </a:t>
            </a:r>
            <a:r>
              <a:rPr lang="en-IN" dirty="0" err="1"/>
              <a:t>TestController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@Autowired</a:t>
            </a:r>
          </a:p>
          <a:p>
            <a:r>
              <a:rPr lang="en-IN" dirty="0"/>
              <a:t>    private </a:t>
            </a:r>
            <a:r>
              <a:rPr lang="en-IN" dirty="0" err="1"/>
              <a:t>OrderProducer</a:t>
            </a:r>
            <a:r>
              <a:rPr lang="en-IN" dirty="0"/>
              <a:t> producer;</a:t>
            </a:r>
          </a:p>
          <a:p>
            <a:endParaRPr lang="en-IN" dirty="0"/>
          </a:p>
          <a:p>
            <a:r>
              <a:rPr lang="en-IN" dirty="0"/>
              <a:t>    @GetMapping("/send")</a:t>
            </a:r>
          </a:p>
          <a:p>
            <a:r>
              <a:rPr lang="en-IN" dirty="0"/>
              <a:t>    public String send() {</a:t>
            </a:r>
          </a:p>
          <a:p>
            <a:r>
              <a:rPr lang="en-IN" dirty="0"/>
              <a:t>        </a:t>
            </a:r>
            <a:r>
              <a:rPr lang="en-IN" dirty="0" err="1"/>
              <a:t>producer.send</a:t>
            </a:r>
            <a:r>
              <a:rPr lang="en-IN" dirty="0"/>
              <a:t>("</a:t>
            </a:r>
            <a:r>
              <a:rPr lang="en-IN" dirty="0" err="1"/>
              <a:t>order.created</a:t>
            </a:r>
            <a:r>
              <a:rPr lang="en-IN" dirty="0"/>
              <a:t>", "Order Created!");</a:t>
            </a:r>
          </a:p>
          <a:p>
            <a:r>
              <a:rPr lang="en-IN" dirty="0"/>
              <a:t>        </a:t>
            </a:r>
            <a:r>
              <a:rPr lang="en-IN" dirty="0" err="1"/>
              <a:t>producer.send</a:t>
            </a:r>
            <a:r>
              <a:rPr lang="en-IN" dirty="0"/>
              <a:t>("</a:t>
            </a:r>
            <a:r>
              <a:rPr lang="en-IN" dirty="0" err="1"/>
              <a:t>order.updated</a:t>
            </a:r>
            <a:r>
              <a:rPr lang="en-IN" dirty="0"/>
              <a:t>", "Order Updated!");</a:t>
            </a:r>
          </a:p>
          <a:p>
            <a:r>
              <a:rPr lang="en-IN" dirty="0"/>
              <a:t>        return "Messages sent!";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7FCC9-DE66-1EC6-9745-CC0F291E3018}"/>
              </a:ext>
            </a:extLst>
          </p:cNvPr>
          <p:cNvSpPr txBox="1"/>
          <p:nvPr/>
        </p:nvSpPr>
        <p:spPr>
          <a:xfrm>
            <a:off x="5730162" y="2956274"/>
            <a:ext cx="6095222" cy="36933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Case 1: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routingKey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order.created</a:t>
            </a: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✔ Matches: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order.created</a:t>
            </a:r>
            <a:r>
              <a:rPr lang="en-IN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order.*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👉 Goes to BOTH queues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Case 2:</a:t>
            </a:r>
          </a:p>
          <a:p>
            <a:pPr rtl="0">
              <a:buNone/>
            </a:pPr>
            <a:r>
              <a:rPr lang="en-IN" dirty="0" err="1">
                <a:latin typeface="Courier New" panose="02070309020205020404" pitchFamily="49" charset="0"/>
              </a:rPr>
              <a:t>routingKey</a:t>
            </a:r>
            <a:r>
              <a:rPr lang="en-IN" dirty="0">
                <a:latin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</a:rPr>
              <a:t>order.updated</a:t>
            </a:r>
            <a:endParaRPr lang="en-IN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dirty="0"/>
              <a:t>✔ Matches: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order.*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👉 Goes to </a:t>
            </a:r>
            <a:r>
              <a:rPr lang="en-IN" dirty="0" err="1">
                <a:latin typeface="Courier New" panose="02070309020205020404" pitchFamily="49" charset="0"/>
              </a:rPr>
              <a:t>orders.all.queue</a:t>
            </a:r>
            <a:r>
              <a:rPr lang="en-IN" dirty="0"/>
              <a:t> only</a:t>
            </a:r>
          </a:p>
        </p:txBody>
      </p:sp>
    </p:spTree>
    <p:extLst>
      <p:ext uri="{BB962C8B-B14F-4D97-AF65-F5344CB8AC3E}">
        <p14:creationId xmlns:p14="http://schemas.microsoft.com/office/powerpoint/2010/main" val="373700339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C0ED7E6-6937-C6B2-06EE-3CB178713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Fan out Exchange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95CA46-0E2B-BE0C-B11C-FD8516AB5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9811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1A762C-1C55-0B8E-C440-4CD0B668A2DE}"/>
              </a:ext>
            </a:extLst>
          </p:cNvPr>
          <p:cNvSpPr txBox="1"/>
          <p:nvPr/>
        </p:nvSpPr>
        <p:spPr>
          <a:xfrm>
            <a:off x="107303" y="666525"/>
            <a:ext cx="869029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@Configuration</a:t>
            </a:r>
          </a:p>
          <a:p>
            <a:r>
              <a:rPr lang="en-IN" dirty="0"/>
              <a:t>public class </a:t>
            </a:r>
            <a:r>
              <a:rPr lang="en-IN" dirty="0" err="1"/>
              <a:t>RabbitConfig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// Queues</a:t>
            </a:r>
          </a:p>
          <a:p>
            <a:r>
              <a:rPr lang="en-IN" dirty="0"/>
              <a:t>    @Bean</a:t>
            </a:r>
          </a:p>
          <a:p>
            <a:r>
              <a:rPr lang="en-IN" dirty="0"/>
              <a:t>    public Queue queue1() {</a:t>
            </a:r>
          </a:p>
          <a:p>
            <a:r>
              <a:rPr lang="en-IN" dirty="0"/>
              <a:t>        return new Queue("fanout.queue1");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@Bean</a:t>
            </a:r>
          </a:p>
          <a:p>
            <a:r>
              <a:rPr lang="en-IN" dirty="0"/>
              <a:t>    public Queue queue2() {</a:t>
            </a:r>
          </a:p>
          <a:p>
            <a:r>
              <a:rPr lang="en-IN" dirty="0"/>
              <a:t>        return new Queue("fanout.queue2");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Fanout Exchange</a:t>
            </a:r>
          </a:p>
          <a:p>
            <a:r>
              <a:rPr lang="en-IN" dirty="0"/>
              <a:t>    @Bean</a:t>
            </a:r>
          </a:p>
          <a:p>
            <a:r>
              <a:rPr lang="en-IN" dirty="0"/>
              <a:t>    public </a:t>
            </a:r>
            <a:r>
              <a:rPr lang="en-IN" dirty="0" err="1"/>
              <a:t>FanoutExchange</a:t>
            </a:r>
            <a:r>
              <a:rPr lang="en-IN" dirty="0"/>
              <a:t> </a:t>
            </a:r>
            <a:r>
              <a:rPr lang="en-IN" dirty="0" err="1"/>
              <a:t>fanoutExchange</a:t>
            </a:r>
            <a:r>
              <a:rPr lang="en-IN" dirty="0"/>
              <a:t>() {</a:t>
            </a:r>
          </a:p>
          <a:p>
            <a:r>
              <a:rPr lang="en-IN" dirty="0"/>
              <a:t>        return new </a:t>
            </a:r>
            <a:r>
              <a:rPr lang="en-IN" dirty="0" err="1"/>
              <a:t>FanoutExchange</a:t>
            </a:r>
            <a:r>
              <a:rPr lang="en-IN" dirty="0"/>
              <a:t>("</a:t>
            </a:r>
            <a:r>
              <a:rPr lang="en-IN" dirty="0" err="1"/>
              <a:t>fanout.exchange</a:t>
            </a:r>
            <a:r>
              <a:rPr lang="en-IN" dirty="0"/>
              <a:t>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// Bindings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C164E-00C4-1AEE-F053-DE69E19A8E34}"/>
              </a:ext>
            </a:extLst>
          </p:cNvPr>
          <p:cNvSpPr txBox="1"/>
          <p:nvPr/>
        </p:nvSpPr>
        <p:spPr>
          <a:xfrm>
            <a:off x="5538884" y="844349"/>
            <a:ext cx="6590912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// </a:t>
            </a:r>
            <a:r>
              <a:rPr lang="en-IN" b="1" dirty="0"/>
              <a:t>Bindings (NO routing key needed)</a:t>
            </a:r>
          </a:p>
          <a:p>
            <a:r>
              <a:rPr lang="en-IN" dirty="0"/>
              <a:t>    @Bean</a:t>
            </a:r>
          </a:p>
          <a:p>
            <a:r>
              <a:rPr lang="en-IN" dirty="0"/>
              <a:t>    public Binding binding1(Queue queue1, </a:t>
            </a:r>
            <a:r>
              <a:rPr lang="en-IN" dirty="0" err="1"/>
              <a:t>FanoutExchange</a:t>
            </a:r>
            <a:r>
              <a:rPr lang="en-IN" dirty="0"/>
              <a:t> </a:t>
            </a:r>
            <a:r>
              <a:rPr lang="en-IN" dirty="0" err="1"/>
              <a:t>fanoutExchange</a:t>
            </a:r>
            <a:r>
              <a:rPr lang="en-IN" dirty="0"/>
              <a:t>) {</a:t>
            </a:r>
          </a:p>
          <a:p>
            <a:r>
              <a:rPr lang="en-IN" dirty="0"/>
              <a:t>        return </a:t>
            </a:r>
            <a:r>
              <a:rPr lang="en-IN" dirty="0" err="1"/>
              <a:t>BindingBuilder.bind</a:t>
            </a:r>
            <a:r>
              <a:rPr lang="en-IN" dirty="0"/>
              <a:t>(queue1).to(</a:t>
            </a:r>
            <a:r>
              <a:rPr lang="en-IN" dirty="0" err="1"/>
              <a:t>fanoutExchange</a:t>
            </a:r>
            <a:r>
              <a:rPr lang="en-IN" dirty="0"/>
              <a:t>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@Bean</a:t>
            </a:r>
          </a:p>
          <a:p>
            <a:r>
              <a:rPr lang="en-IN" dirty="0"/>
              <a:t>    public Binding binding2(Queue queue2, </a:t>
            </a:r>
            <a:r>
              <a:rPr lang="en-IN" dirty="0" err="1"/>
              <a:t>FanoutExchange</a:t>
            </a:r>
            <a:r>
              <a:rPr lang="en-IN" dirty="0"/>
              <a:t> </a:t>
            </a:r>
            <a:r>
              <a:rPr lang="en-IN" dirty="0" err="1"/>
              <a:t>fanoutExchange</a:t>
            </a:r>
            <a:r>
              <a:rPr lang="en-IN" dirty="0"/>
              <a:t>) {</a:t>
            </a:r>
          </a:p>
          <a:p>
            <a:r>
              <a:rPr lang="en-IN" dirty="0"/>
              <a:t>        return </a:t>
            </a:r>
            <a:r>
              <a:rPr lang="en-IN" dirty="0" err="1"/>
              <a:t>BindingBuilder.bind</a:t>
            </a:r>
            <a:r>
              <a:rPr lang="en-IN" dirty="0"/>
              <a:t>(queue2).to(</a:t>
            </a:r>
            <a:r>
              <a:rPr lang="en-IN" dirty="0" err="1"/>
              <a:t>fanoutExchange</a:t>
            </a:r>
            <a:r>
              <a:rPr lang="en-IN" dirty="0"/>
              <a:t>);</a:t>
            </a:r>
          </a:p>
          <a:p>
            <a:r>
              <a:rPr lang="en-IN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40141280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E397-73F5-95CB-58D0-B105FFD6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A5185F-4FE5-54EA-4AD3-ADC06ABA0BDF}"/>
              </a:ext>
            </a:extLst>
          </p:cNvPr>
          <p:cNvSpPr txBox="1"/>
          <p:nvPr/>
        </p:nvSpPr>
        <p:spPr>
          <a:xfrm>
            <a:off x="783771" y="2056686"/>
            <a:ext cx="1025434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@Configuration</a:t>
            </a:r>
          </a:p>
          <a:p>
            <a:r>
              <a:rPr lang="en-IN" dirty="0"/>
              <a:t>@EnableIntegration</a:t>
            </a:r>
          </a:p>
          <a:p>
            <a:r>
              <a:rPr lang="en-IN" dirty="0"/>
              <a:t>public class </a:t>
            </a:r>
            <a:r>
              <a:rPr lang="en-IN" dirty="0" err="1"/>
              <a:t>FanoutIntegrationConfig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@Bean</a:t>
            </a:r>
          </a:p>
          <a:p>
            <a:r>
              <a:rPr lang="en-IN" dirty="0"/>
              <a:t>    public </a:t>
            </a:r>
            <a:r>
              <a:rPr lang="en-IN" dirty="0" err="1"/>
              <a:t>DirectChannel</a:t>
            </a:r>
            <a:r>
              <a:rPr lang="en-IN" dirty="0"/>
              <a:t> </a:t>
            </a:r>
            <a:r>
              <a:rPr lang="en-IN" dirty="0" err="1"/>
              <a:t>inputChannel</a:t>
            </a:r>
            <a:r>
              <a:rPr lang="en-IN" dirty="0"/>
              <a:t>() {</a:t>
            </a:r>
          </a:p>
          <a:p>
            <a:r>
              <a:rPr lang="en-IN" dirty="0"/>
              <a:t>        return new </a:t>
            </a:r>
            <a:r>
              <a:rPr lang="en-IN" dirty="0" err="1"/>
              <a:t>DirectChannel</a:t>
            </a:r>
            <a:r>
              <a:rPr lang="en-IN" dirty="0"/>
              <a:t>();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@Bean</a:t>
            </a:r>
          </a:p>
          <a:p>
            <a:r>
              <a:rPr lang="en-IN" dirty="0"/>
              <a:t>    public </a:t>
            </a:r>
            <a:r>
              <a:rPr lang="en-IN" dirty="0" err="1"/>
              <a:t>IntegrationFlow</a:t>
            </a:r>
            <a:r>
              <a:rPr lang="en-IN" dirty="0"/>
              <a:t> </a:t>
            </a:r>
            <a:r>
              <a:rPr lang="en-IN" dirty="0" err="1"/>
              <a:t>fanoutOutboundFlow</a:t>
            </a:r>
            <a:r>
              <a:rPr lang="en-IN" dirty="0"/>
              <a:t>(</a:t>
            </a:r>
            <a:r>
              <a:rPr lang="en-IN" dirty="0" err="1"/>
              <a:t>RabbitTemplate</a:t>
            </a:r>
            <a:r>
              <a:rPr lang="en-IN" dirty="0"/>
              <a:t> </a:t>
            </a:r>
            <a:r>
              <a:rPr lang="en-IN" dirty="0" err="1"/>
              <a:t>rabbitTemplate</a:t>
            </a:r>
            <a:r>
              <a:rPr lang="en-IN" dirty="0"/>
              <a:t>) {</a:t>
            </a:r>
          </a:p>
          <a:p>
            <a:r>
              <a:rPr lang="en-IN" dirty="0"/>
              <a:t>        return </a:t>
            </a:r>
            <a:r>
              <a:rPr lang="en-IN" dirty="0" err="1"/>
              <a:t>IntegrationFlows.from</a:t>
            </a:r>
            <a:r>
              <a:rPr lang="en-IN" dirty="0"/>
              <a:t>("</a:t>
            </a:r>
            <a:r>
              <a:rPr lang="en-IN" dirty="0" err="1"/>
              <a:t>inputChannel</a:t>
            </a:r>
            <a:r>
              <a:rPr lang="en-IN" dirty="0"/>
              <a:t>")</a:t>
            </a:r>
          </a:p>
          <a:p>
            <a:r>
              <a:rPr lang="en-IN" dirty="0"/>
              <a:t>                .handle(</a:t>
            </a:r>
            <a:r>
              <a:rPr lang="en-IN" dirty="0" err="1"/>
              <a:t>Amqp.outboundAdapter</a:t>
            </a:r>
            <a:r>
              <a:rPr lang="en-IN" dirty="0"/>
              <a:t>(</a:t>
            </a:r>
            <a:r>
              <a:rPr lang="en-IN" dirty="0" err="1"/>
              <a:t>rabbitTemplate</a:t>
            </a:r>
            <a:r>
              <a:rPr lang="en-IN" dirty="0"/>
              <a:t>)</a:t>
            </a:r>
          </a:p>
          <a:p>
            <a:r>
              <a:rPr lang="en-IN" dirty="0"/>
              <a:t>                        .</a:t>
            </a:r>
            <a:r>
              <a:rPr lang="en-IN" dirty="0" err="1"/>
              <a:t>exchangeName</a:t>
            </a:r>
            <a:r>
              <a:rPr lang="en-IN" dirty="0"/>
              <a:t>("</a:t>
            </a:r>
            <a:r>
              <a:rPr lang="en-IN" dirty="0" err="1"/>
              <a:t>fanout.exchange</a:t>
            </a:r>
            <a:r>
              <a:rPr lang="en-IN" dirty="0"/>
              <a:t>"))</a:t>
            </a:r>
          </a:p>
          <a:p>
            <a:r>
              <a:rPr lang="en-IN" dirty="0"/>
              <a:t>                .get();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126019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2F5C-620A-2F11-956C-FCF39146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Consumer1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0D2121-6438-B775-1D7F-D673928AA5AC}"/>
              </a:ext>
            </a:extLst>
          </p:cNvPr>
          <p:cNvSpPr txBox="1"/>
          <p:nvPr/>
        </p:nvSpPr>
        <p:spPr>
          <a:xfrm>
            <a:off x="1694673" y="2651569"/>
            <a:ext cx="8797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queue1Flow(</a:t>
            </a:r>
            <a:r>
              <a:rPr lang="en-IN" dirty="0" err="1"/>
              <a:t>ConnectionFactory</a:t>
            </a:r>
            <a:r>
              <a:rPr lang="en-IN" dirty="0"/>
              <a:t> </a:t>
            </a:r>
            <a:r>
              <a:rPr lang="en-IN" dirty="0" err="1"/>
              <a:t>connectionFactory</a:t>
            </a:r>
            <a:r>
              <a:rPr lang="en-IN" dirty="0"/>
              <a:t>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IntegrationFlows</a:t>
            </a:r>
            <a:endParaRPr lang="en-IN" dirty="0"/>
          </a:p>
          <a:p>
            <a:r>
              <a:rPr lang="en-IN" dirty="0"/>
              <a:t>            .from(</a:t>
            </a:r>
            <a:r>
              <a:rPr lang="en-IN" dirty="0" err="1"/>
              <a:t>Amqp.inboundAdapter</a:t>
            </a:r>
            <a:r>
              <a:rPr lang="en-IN" dirty="0"/>
              <a:t>(</a:t>
            </a:r>
            <a:r>
              <a:rPr lang="en-IN" dirty="0" err="1"/>
              <a:t>connectionFactory</a:t>
            </a:r>
            <a:r>
              <a:rPr lang="en-IN" dirty="0"/>
              <a:t>, "fanout.queue1"))</a:t>
            </a:r>
          </a:p>
          <a:p>
            <a:r>
              <a:rPr lang="en-IN" dirty="0"/>
              <a:t>            .handle(</a:t>
            </a:r>
            <a:r>
              <a:rPr lang="en-IN" dirty="0" err="1"/>
              <a:t>msg</a:t>
            </a:r>
            <a:r>
              <a:rPr lang="en-IN" dirty="0"/>
              <a:t> -&gt; </a:t>
            </a:r>
            <a:r>
              <a:rPr lang="en-IN" dirty="0" err="1"/>
              <a:t>System.out.println</a:t>
            </a:r>
            <a:r>
              <a:rPr lang="en-IN" dirty="0"/>
              <a:t>("Queue1 received: " + </a:t>
            </a:r>
            <a:r>
              <a:rPr lang="en-IN" dirty="0" err="1"/>
              <a:t>msg.getPayload</a:t>
            </a:r>
            <a:r>
              <a:rPr lang="en-IN" dirty="0"/>
              <a:t>()))</a:t>
            </a:r>
          </a:p>
          <a:p>
            <a:r>
              <a:rPr lang="en-IN" dirty="0"/>
              <a:t>            .get();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9008544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F1AF-B1C6-B757-09A6-5E4F8367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Consumer2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509788-17FB-96E0-6F45-6951561BB703}"/>
              </a:ext>
            </a:extLst>
          </p:cNvPr>
          <p:cNvSpPr txBox="1"/>
          <p:nvPr/>
        </p:nvSpPr>
        <p:spPr>
          <a:xfrm>
            <a:off x="1478903" y="3022010"/>
            <a:ext cx="983913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@Bean</a:t>
            </a:r>
          </a:p>
          <a:p>
            <a:r>
              <a:rPr lang="en-IN" dirty="0"/>
              <a:t>public </a:t>
            </a:r>
            <a:r>
              <a:rPr lang="en-IN" dirty="0" err="1"/>
              <a:t>IntegrationFlow</a:t>
            </a:r>
            <a:r>
              <a:rPr lang="en-IN" dirty="0"/>
              <a:t> queue2Flow(</a:t>
            </a:r>
            <a:r>
              <a:rPr lang="en-IN" dirty="0" err="1"/>
              <a:t>ConnectionFactory</a:t>
            </a:r>
            <a:r>
              <a:rPr lang="en-IN" dirty="0"/>
              <a:t> </a:t>
            </a:r>
            <a:r>
              <a:rPr lang="en-IN" dirty="0" err="1"/>
              <a:t>connectionFactory</a:t>
            </a:r>
            <a:r>
              <a:rPr lang="en-IN" dirty="0"/>
              <a:t>) {</a:t>
            </a:r>
          </a:p>
          <a:p>
            <a:r>
              <a:rPr lang="en-IN" dirty="0"/>
              <a:t>    return </a:t>
            </a:r>
            <a:r>
              <a:rPr lang="en-IN" dirty="0" err="1"/>
              <a:t>IntegrationFlows</a:t>
            </a:r>
            <a:endParaRPr lang="en-IN" dirty="0"/>
          </a:p>
          <a:p>
            <a:r>
              <a:rPr lang="en-IN" dirty="0"/>
              <a:t>            .from(</a:t>
            </a:r>
            <a:r>
              <a:rPr lang="en-IN" dirty="0" err="1"/>
              <a:t>Amqp.inboundAdapter</a:t>
            </a:r>
            <a:r>
              <a:rPr lang="en-IN" dirty="0"/>
              <a:t>(</a:t>
            </a:r>
            <a:r>
              <a:rPr lang="en-IN" dirty="0" err="1"/>
              <a:t>connectionFactory</a:t>
            </a:r>
            <a:r>
              <a:rPr lang="en-IN" dirty="0"/>
              <a:t>, "fanout.queue2"))</a:t>
            </a:r>
          </a:p>
          <a:p>
            <a:r>
              <a:rPr lang="en-IN" dirty="0"/>
              <a:t>            .handle(</a:t>
            </a:r>
            <a:r>
              <a:rPr lang="en-IN" dirty="0" err="1"/>
              <a:t>msg</a:t>
            </a:r>
            <a:r>
              <a:rPr lang="en-IN" dirty="0"/>
              <a:t> -&gt; </a:t>
            </a:r>
            <a:r>
              <a:rPr lang="en-IN" dirty="0" err="1"/>
              <a:t>System.out.println</a:t>
            </a:r>
            <a:r>
              <a:rPr lang="en-IN" dirty="0"/>
              <a:t>("Queue2 received: " + </a:t>
            </a:r>
            <a:r>
              <a:rPr lang="en-IN" dirty="0" err="1"/>
              <a:t>msg.getPayload</a:t>
            </a:r>
            <a:r>
              <a:rPr lang="en-IN" dirty="0"/>
              <a:t>()))</a:t>
            </a:r>
          </a:p>
          <a:p>
            <a:r>
              <a:rPr lang="en-IN" dirty="0"/>
              <a:t>            .get();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926710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D9F3C-B63B-0FBA-1ACD-2BA37D33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Consumer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80A9F-1E3E-0D6E-D75C-1E264FA6AA46}"/>
              </a:ext>
            </a:extLst>
          </p:cNvPr>
          <p:cNvSpPr txBox="1"/>
          <p:nvPr/>
        </p:nvSpPr>
        <p:spPr>
          <a:xfrm>
            <a:off x="1351464" y="2518908"/>
            <a:ext cx="836839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@Component</a:t>
            </a:r>
          </a:p>
          <a:p>
            <a:r>
              <a:rPr lang="en-IN" dirty="0"/>
              <a:t>public class </a:t>
            </a:r>
            <a:r>
              <a:rPr lang="en-IN" dirty="0" err="1"/>
              <a:t>FanoutConsumers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@RabbitListener(queues = "fanout.queue1")</a:t>
            </a:r>
          </a:p>
          <a:p>
            <a:r>
              <a:rPr lang="en-IN" dirty="0"/>
              <a:t>    public void consumeFromQueue1(String message)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("Queue1 received: " + message);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@RabbitListener(queues = "fanout.queue2")</a:t>
            </a:r>
          </a:p>
          <a:p>
            <a:r>
              <a:rPr lang="en-IN" dirty="0"/>
              <a:t>    public void consumeFromQueue2(String message)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("Queue2 received: " + message);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571976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C75C4-C641-224E-44A8-062A033F6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9B9E3-6BA8-8ED3-5E98-2566C39D9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</a:t>
            </a:r>
            <a:r>
              <a:rPr lang="en-IN" dirty="0" err="1"/>
              <a:t>Behavior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90862A-5AEB-1021-EED1-3597EB6C1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38333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D256F-53EC-4879-6A7E-FF8BC088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2998-2108-D658-F62C-6C1A15734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67AD0-6A43-4B75-C256-300836191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237696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929C6-F972-127B-277E-12B8A50E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C8C3-6FFD-CD3C-FCC4-A9454D752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C66AD-EF8C-EEB8-46A1-4C19BBE1F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75046" cy="3703994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3272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172</TotalTime>
  <Words>4678</Words>
  <Application>Microsoft Office PowerPoint</Application>
  <PresentationFormat>Widescreen</PresentationFormat>
  <Paragraphs>786</Paragraphs>
  <Slides>102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8" baseType="lpstr">
      <vt:lpstr>Arial</vt:lpstr>
      <vt:lpstr>Century Gothic</vt:lpstr>
      <vt:lpstr>Courier New</vt:lpstr>
      <vt:lpstr>Wingdings</vt:lpstr>
      <vt:lpstr>Wingdings 3</vt:lpstr>
      <vt:lpstr>Ion Boardroom</vt:lpstr>
      <vt:lpstr>MESSAGE BROKERS</vt:lpstr>
      <vt:lpstr>Asynchronous messaging with JMS</vt:lpstr>
      <vt:lpstr>What is JMS?</vt:lpstr>
      <vt:lpstr>What does asynchronous messaging mean?</vt:lpstr>
      <vt:lpstr>Why use asynchronous messaging?</vt:lpstr>
      <vt:lpstr>With JMS async messaging</vt:lpstr>
      <vt:lpstr>Use cases</vt:lpstr>
      <vt:lpstr>Core JMS model</vt:lpstr>
      <vt:lpstr>Queue</vt:lpstr>
      <vt:lpstr>Queue</vt:lpstr>
      <vt:lpstr>Topic = publish-subscribe</vt:lpstr>
      <vt:lpstr>What makes JMS asynchronous?</vt:lpstr>
      <vt:lpstr>Message flow in asynchronous JMS</vt:lpstr>
      <vt:lpstr>Real-world example</vt:lpstr>
      <vt:lpstr>JMS producer</vt:lpstr>
      <vt:lpstr>JMS producer</vt:lpstr>
      <vt:lpstr>JMS consumer</vt:lpstr>
      <vt:lpstr>JMS consumer - Synchronous receive</vt:lpstr>
      <vt:lpstr>JMS consumer -- Asynchronous listener</vt:lpstr>
      <vt:lpstr>Push-style listener model</vt:lpstr>
      <vt:lpstr>Spring’s listener</vt:lpstr>
      <vt:lpstr>Queue-based async messaging </vt:lpstr>
      <vt:lpstr>Topic-based async messaging </vt:lpstr>
      <vt:lpstr>Message persistence</vt:lpstr>
      <vt:lpstr>Message acknowledgment</vt:lpstr>
      <vt:lpstr>Transactions in JMS</vt:lpstr>
      <vt:lpstr>Redelivery</vt:lpstr>
      <vt:lpstr>Idempotency</vt:lpstr>
      <vt:lpstr>Dead letter queue (DLQ)</vt:lpstr>
      <vt:lpstr>Load leveling</vt:lpstr>
      <vt:lpstr>Competing consumers</vt:lpstr>
      <vt:lpstr>Loose coupling</vt:lpstr>
      <vt:lpstr>Typical JMS message types</vt:lpstr>
      <vt:lpstr>Producer side</vt:lpstr>
      <vt:lpstr>Consumer side</vt:lpstr>
      <vt:lpstr>When using @JmsListener:</vt:lpstr>
      <vt:lpstr>Request/reply vs pure async messaging</vt:lpstr>
      <vt:lpstr>Correlation ID</vt:lpstr>
      <vt:lpstr>Reliability tradeoff</vt:lpstr>
      <vt:lpstr>When to use asynchronous JMS</vt:lpstr>
      <vt:lpstr>When not to use it </vt:lpstr>
      <vt:lpstr>Summary</vt:lpstr>
      <vt:lpstr>Order Processing System</vt:lpstr>
      <vt:lpstr>Email Notification System (Event-Driven)</vt:lpstr>
      <vt:lpstr>Log Aggregation / Audit System</vt:lpstr>
      <vt:lpstr>RabbitMq</vt:lpstr>
      <vt:lpstr>What is RabbitMQ Integration with Spring Integration?</vt:lpstr>
      <vt:lpstr>Key Components in Spring Integration (RabbitMQ)</vt:lpstr>
      <vt:lpstr>PowerPoint Presentation</vt:lpstr>
      <vt:lpstr>Core RabbitMQ Concepts</vt:lpstr>
      <vt:lpstr>Exchange Types</vt:lpstr>
      <vt:lpstr>Features of RabbitMQ (with Spring Integration)</vt:lpstr>
      <vt:lpstr>RabbitMQ</vt:lpstr>
      <vt:lpstr>Advantages of RabbitMQ</vt:lpstr>
      <vt:lpstr>Disadvantages of RabbitMQ</vt:lpstr>
      <vt:lpstr>Use Cases </vt:lpstr>
      <vt:lpstr>Final Summary</vt:lpstr>
      <vt:lpstr>RabbitMQ</vt:lpstr>
      <vt:lpstr>Producer</vt:lpstr>
      <vt:lpstr>Consumer</vt:lpstr>
      <vt:lpstr>Exchange</vt:lpstr>
      <vt:lpstr>Types of Exchanges</vt:lpstr>
      <vt:lpstr>PowerPoint Presentation</vt:lpstr>
      <vt:lpstr>Direct Exchange</vt:lpstr>
      <vt:lpstr>PowerPoint Presentation</vt:lpstr>
      <vt:lpstr>Topic Exchange</vt:lpstr>
      <vt:lpstr>PowerPoint Presentation</vt:lpstr>
      <vt:lpstr>Fanout Exchange</vt:lpstr>
      <vt:lpstr>PowerPoint Presentation</vt:lpstr>
      <vt:lpstr>Headers Exchange</vt:lpstr>
      <vt:lpstr>PowerPoint Presentation</vt:lpstr>
      <vt:lpstr>Queue</vt:lpstr>
      <vt:lpstr>Routing Key</vt:lpstr>
      <vt:lpstr>Message</vt:lpstr>
      <vt:lpstr>Binding</vt:lpstr>
      <vt:lpstr>How Binding Actually Works</vt:lpstr>
      <vt:lpstr>Example</vt:lpstr>
      <vt:lpstr>Spring Boot / Spring Integration Example</vt:lpstr>
      <vt:lpstr>End-to-End Flow with Binding</vt:lpstr>
      <vt:lpstr>Binding</vt:lpstr>
      <vt:lpstr>Core Concepts</vt:lpstr>
      <vt:lpstr>Summary</vt:lpstr>
      <vt:lpstr>Important Note</vt:lpstr>
      <vt:lpstr>PowerPoint Presentation</vt:lpstr>
      <vt:lpstr>Acknowledgement (ACK)</vt:lpstr>
      <vt:lpstr>Message Durability &amp; Persistence</vt:lpstr>
      <vt:lpstr>Prefetch Count</vt:lpstr>
      <vt:lpstr>PowerPoint Presentation</vt:lpstr>
      <vt:lpstr>Topic Example</vt:lpstr>
      <vt:lpstr>PowerPoint Presentation</vt:lpstr>
      <vt:lpstr>PowerPoint Presentation</vt:lpstr>
      <vt:lpstr>PowerPoint Presentation</vt:lpstr>
      <vt:lpstr>PowerPoint Presentation</vt:lpstr>
      <vt:lpstr>Fan out Exchange</vt:lpstr>
      <vt:lpstr>PowerPoint Presentation</vt:lpstr>
      <vt:lpstr>Producer</vt:lpstr>
      <vt:lpstr>Consumer1</vt:lpstr>
      <vt:lpstr>Consumer2</vt:lpstr>
      <vt:lpstr>Consumer</vt:lpstr>
      <vt:lpstr>Expected Behavior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112</cp:revision>
  <dcterms:created xsi:type="dcterms:W3CDTF">2026-03-25T00:59:00Z</dcterms:created>
  <dcterms:modified xsi:type="dcterms:W3CDTF">2026-03-25T03:51:35Z</dcterms:modified>
</cp:coreProperties>
</file>