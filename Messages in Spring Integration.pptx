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6" r:id="rId31"/>
    <p:sldId id="285"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00" autoAdjust="0"/>
    <p:restoredTop sz="94660"/>
  </p:normalViewPr>
  <p:slideViewPr>
    <p:cSldViewPr snapToGrid="0">
      <p:cViewPr varScale="1">
        <p:scale>
          <a:sx n="82" d="100"/>
          <a:sy n="82" d="100"/>
        </p:scale>
        <p:origin x="290" y="4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281EBA70-8E26-455A-BBCD-84405033CEB4}" type="datetimeFigureOut">
              <a:rPr lang="en-IN" smtClean="0"/>
              <a:t>23-03-2026</a:t>
            </a:fld>
            <a:endParaRPr lang="en-IN"/>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IN"/>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B20E0861-6A24-4545-969B-87815D14E4B5}" type="slidenum">
              <a:rPr lang="en-IN" smtClean="0"/>
              <a:t>‹#›</a:t>
            </a:fld>
            <a:endParaRPr lang="en-IN"/>
          </a:p>
        </p:txBody>
      </p:sp>
    </p:spTree>
    <p:extLst>
      <p:ext uri="{BB962C8B-B14F-4D97-AF65-F5344CB8AC3E}">
        <p14:creationId xmlns:p14="http://schemas.microsoft.com/office/powerpoint/2010/main" val="21893831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81EBA70-8E26-455A-BBCD-84405033CEB4}" type="datetimeFigureOut">
              <a:rPr lang="en-IN" smtClean="0"/>
              <a:t>23-03-2026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20E0861-6A24-4545-969B-87815D14E4B5}" type="slidenum">
              <a:rPr lang="en-IN" smtClean="0"/>
              <a:t>‹#›</a:t>
            </a:fld>
            <a:endParaRPr lang="en-IN"/>
          </a:p>
        </p:txBody>
      </p:sp>
    </p:spTree>
    <p:extLst>
      <p:ext uri="{BB962C8B-B14F-4D97-AF65-F5344CB8AC3E}">
        <p14:creationId xmlns:p14="http://schemas.microsoft.com/office/powerpoint/2010/main" val="10121405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81EBA70-8E26-455A-BBCD-84405033CEB4}" type="datetimeFigureOut">
              <a:rPr lang="en-IN" smtClean="0"/>
              <a:t>23-03-2026</a:t>
            </a:fld>
            <a:endParaRPr lang="en-IN"/>
          </a:p>
        </p:txBody>
      </p:sp>
      <p:sp>
        <p:nvSpPr>
          <p:cNvPr id="5" name="Footer Placeholder 4"/>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20E0861-6A24-4545-969B-87815D14E4B5}" type="slidenum">
              <a:rPr lang="en-IN" smtClean="0"/>
              <a:t>‹#›</a:t>
            </a:fld>
            <a:endParaRPr lang="en-IN"/>
          </a:p>
        </p:txBody>
      </p:sp>
    </p:spTree>
    <p:extLst>
      <p:ext uri="{BB962C8B-B14F-4D97-AF65-F5344CB8AC3E}">
        <p14:creationId xmlns:p14="http://schemas.microsoft.com/office/powerpoint/2010/main" val="39293713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81EBA70-8E26-455A-BBCD-84405033CEB4}" type="datetimeFigureOut">
              <a:rPr lang="en-IN" smtClean="0"/>
              <a:t>23-03-2026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20E0861-6A24-4545-969B-87815D14E4B5}" type="slidenum">
              <a:rPr lang="en-IN" smtClean="0"/>
              <a:t>‹#›</a:t>
            </a:fld>
            <a:endParaRPr lang="en-IN"/>
          </a:p>
        </p:txBody>
      </p:sp>
    </p:spTree>
    <p:extLst>
      <p:ext uri="{BB962C8B-B14F-4D97-AF65-F5344CB8AC3E}">
        <p14:creationId xmlns:p14="http://schemas.microsoft.com/office/powerpoint/2010/main" val="11211941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81EBA70-8E26-455A-BBCD-84405033CEB4}" type="datetimeFigureOut">
              <a:rPr lang="en-IN" smtClean="0"/>
              <a:t>23-03-2026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20E0861-6A24-4545-969B-87815D14E4B5}" type="slidenum">
              <a:rPr lang="en-IN" smtClean="0"/>
              <a:t>‹#›</a:t>
            </a:fld>
            <a:endParaRPr lang="en-IN"/>
          </a:p>
        </p:txBody>
      </p:sp>
    </p:spTree>
    <p:extLst>
      <p:ext uri="{BB962C8B-B14F-4D97-AF65-F5344CB8AC3E}">
        <p14:creationId xmlns:p14="http://schemas.microsoft.com/office/powerpoint/2010/main" val="22375729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81EBA70-8E26-455A-BBCD-84405033CEB4}" type="datetimeFigureOut">
              <a:rPr lang="en-IN" smtClean="0"/>
              <a:t>23-03-2026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20E0861-6A24-4545-969B-87815D14E4B5}" type="slidenum">
              <a:rPr lang="en-IN" smtClean="0"/>
              <a:t>‹#›</a:t>
            </a:fld>
            <a:endParaRPr lang="en-IN"/>
          </a:p>
        </p:txBody>
      </p:sp>
    </p:spTree>
    <p:extLst>
      <p:ext uri="{BB962C8B-B14F-4D97-AF65-F5344CB8AC3E}">
        <p14:creationId xmlns:p14="http://schemas.microsoft.com/office/powerpoint/2010/main" val="30046718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81EBA70-8E26-455A-BBCD-84405033CEB4}" type="datetimeFigureOut">
              <a:rPr lang="en-IN" smtClean="0"/>
              <a:t>23-03-2026</a:t>
            </a:fld>
            <a:endParaRPr lang="en-IN"/>
          </a:p>
        </p:txBody>
      </p:sp>
      <p:sp>
        <p:nvSpPr>
          <p:cNvPr id="3" name="Footer Placeholder 2"/>
          <p:cNvSpPr>
            <a:spLocks noGrp="1"/>
          </p:cNvSpPr>
          <p:nvPr>
            <p:ph type="ftr" sz="quarter" idx="11"/>
          </p:nvPr>
        </p:nvSpPr>
        <p:spPr/>
        <p:txBody>
          <a:bodyPr/>
          <a:lstStyle/>
          <a:p>
            <a:endParaRPr lang="en-IN"/>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B20E0861-6A24-4545-969B-87815D14E4B5}" type="slidenum">
              <a:rPr lang="en-IN" smtClean="0"/>
              <a:t>‹#›</a:t>
            </a:fld>
            <a:endParaRPr lang="en-IN"/>
          </a:p>
        </p:txBody>
      </p:sp>
    </p:spTree>
    <p:extLst>
      <p:ext uri="{BB962C8B-B14F-4D97-AF65-F5344CB8AC3E}">
        <p14:creationId xmlns:p14="http://schemas.microsoft.com/office/powerpoint/2010/main" val="34591309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81EBA70-8E26-455A-BBCD-84405033CEB4}" type="datetimeFigureOut">
              <a:rPr lang="en-IN" smtClean="0"/>
              <a:t>23-03-2026</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B20E0861-6A24-4545-969B-87815D14E4B5}" type="slidenum">
              <a:rPr lang="en-IN" smtClean="0"/>
              <a:t>‹#›</a:t>
            </a:fld>
            <a:endParaRPr lang="en-IN"/>
          </a:p>
        </p:txBody>
      </p:sp>
    </p:spTree>
    <p:extLst>
      <p:ext uri="{BB962C8B-B14F-4D97-AF65-F5344CB8AC3E}">
        <p14:creationId xmlns:p14="http://schemas.microsoft.com/office/powerpoint/2010/main" val="10607514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81EBA70-8E26-455A-BBCD-84405033CEB4}" type="datetimeFigureOut">
              <a:rPr lang="en-IN" smtClean="0"/>
              <a:t>23-03-2026</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B20E0861-6A24-4545-969B-87815D14E4B5}" type="slidenum">
              <a:rPr lang="en-IN" smtClean="0"/>
              <a:t>‹#›</a:t>
            </a:fld>
            <a:endParaRPr lang="en-IN"/>
          </a:p>
        </p:txBody>
      </p:sp>
    </p:spTree>
    <p:extLst>
      <p:ext uri="{BB962C8B-B14F-4D97-AF65-F5344CB8AC3E}">
        <p14:creationId xmlns:p14="http://schemas.microsoft.com/office/powerpoint/2010/main" val="27701185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81EBA70-8E26-455A-BBCD-84405033CEB4}" type="datetimeFigureOut">
              <a:rPr lang="en-IN" smtClean="0"/>
              <a:t>23-03-2026</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B20E0861-6A24-4545-969B-87815D14E4B5}" type="slidenum">
              <a:rPr lang="en-IN" smtClean="0"/>
              <a:t>‹#›</a:t>
            </a:fld>
            <a:endParaRPr lang="en-IN"/>
          </a:p>
        </p:txBody>
      </p:sp>
    </p:spTree>
    <p:extLst>
      <p:ext uri="{BB962C8B-B14F-4D97-AF65-F5344CB8AC3E}">
        <p14:creationId xmlns:p14="http://schemas.microsoft.com/office/powerpoint/2010/main" val="18039499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281EBA70-8E26-455A-BBCD-84405033CEB4}" type="datetimeFigureOut">
              <a:rPr lang="en-IN" smtClean="0"/>
              <a:t>23-03-2026</a:t>
            </a:fld>
            <a:endParaRPr lang="en-IN"/>
          </a:p>
        </p:txBody>
      </p:sp>
      <p:sp>
        <p:nvSpPr>
          <p:cNvPr id="5" name="Footer Placeholder 4"/>
          <p:cNvSpPr>
            <a:spLocks noGrp="1"/>
          </p:cNvSpPr>
          <p:nvPr>
            <p:ph type="ftr" sz="quarter" idx="11"/>
          </p:nvPr>
        </p:nvSpPr>
        <p:spPr/>
        <p:txBody>
          <a:bodyPr/>
          <a:lstStyle/>
          <a:p>
            <a:endParaRPr lang="en-IN"/>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20E0861-6A24-4545-969B-87815D14E4B5}" type="slidenum">
              <a:rPr lang="en-IN" smtClean="0"/>
              <a:t>‹#›</a:t>
            </a:fld>
            <a:endParaRPr lang="en-IN"/>
          </a:p>
        </p:txBody>
      </p:sp>
    </p:spTree>
    <p:extLst>
      <p:ext uri="{BB962C8B-B14F-4D97-AF65-F5344CB8AC3E}">
        <p14:creationId xmlns:p14="http://schemas.microsoft.com/office/powerpoint/2010/main" val="1280942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281EBA70-8E26-455A-BBCD-84405033CEB4}" type="datetimeFigureOut">
              <a:rPr lang="en-IN" smtClean="0"/>
              <a:t>23-03-2026</a:t>
            </a:fld>
            <a:endParaRPr lang="en-IN"/>
          </a:p>
        </p:txBody>
      </p:sp>
      <p:sp>
        <p:nvSpPr>
          <p:cNvPr id="5" name="Footer Placeholder 4"/>
          <p:cNvSpPr>
            <a:spLocks noGrp="1"/>
          </p:cNvSpPr>
          <p:nvPr>
            <p:ph type="ftr" sz="quarter" idx="11"/>
          </p:nvPr>
        </p:nvSpPr>
        <p:spPr/>
        <p:txBody>
          <a:bodyPr/>
          <a:lstStyle/>
          <a:p>
            <a:endParaRPr lang="en-IN"/>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20E0861-6A24-4545-969B-87815D14E4B5}" type="slidenum">
              <a:rPr lang="en-IN" smtClean="0"/>
              <a:t>‹#›</a:t>
            </a:fld>
            <a:endParaRPr lang="en-IN"/>
          </a:p>
        </p:txBody>
      </p:sp>
    </p:spTree>
    <p:extLst>
      <p:ext uri="{BB962C8B-B14F-4D97-AF65-F5344CB8AC3E}">
        <p14:creationId xmlns:p14="http://schemas.microsoft.com/office/powerpoint/2010/main" val="3571411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81EBA70-8E26-455A-BBCD-84405033CEB4}" type="datetimeFigureOut">
              <a:rPr lang="en-IN" smtClean="0"/>
              <a:t>23-03-2026</a:t>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20E0861-6A24-4545-969B-87815D14E4B5}" type="slidenum">
              <a:rPr lang="en-IN" smtClean="0"/>
              <a:t>‹#›</a:t>
            </a:fld>
            <a:endParaRPr lang="en-IN"/>
          </a:p>
        </p:txBody>
      </p:sp>
    </p:spTree>
    <p:extLst>
      <p:ext uri="{BB962C8B-B14F-4D97-AF65-F5344CB8AC3E}">
        <p14:creationId xmlns:p14="http://schemas.microsoft.com/office/powerpoint/2010/main" val="9647064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281EBA70-8E26-455A-BBCD-84405033CEB4}" type="datetimeFigureOut">
              <a:rPr lang="en-IN" smtClean="0"/>
              <a:t>23-03-2026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20E0861-6A24-4545-969B-87815D14E4B5}" type="slidenum">
              <a:rPr lang="en-IN" smtClean="0"/>
              <a:t>‹#›</a:t>
            </a:fld>
            <a:endParaRPr lang="en-IN"/>
          </a:p>
        </p:txBody>
      </p:sp>
    </p:spTree>
    <p:extLst>
      <p:ext uri="{BB962C8B-B14F-4D97-AF65-F5344CB8AC3E}">
        <p14:creationId xmlns:p14="http://schemas.microsoft.com/office/powerpoint/2010/main" val="22698595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281EBA70-8E26-455A-BBCD-84405033CEB4}" type="datetimeFigureOut">
              <a:rPr lang="en-IN" smtClean="0"/>
              <a:t>23-03-2026</a:t>
            </a:fld>
            <a:endParaRPr lang="en-IN"/>
          </a:p>
        </p:txBody>
      </p:sp>
      <p:sp>
        <p:nvSpPr>
          <p:cNvPr id="8" name="Footer Placeholder 7"/>
          <p:cNvSpPr>
            <a:spLocks noGrp="1"/>
          </p:cNvSpPr>
          <p:nvPr>
            <p:ph type="ftr" sz="quarter" idx="11"/>
          </p:nvPr>
        </p:nvSpPr>
        <p:spPr>
          <a:xfrm>
            <a:off x="561111" y="6391838"/>
            <a:ext cx="3644282" cy="304801"/>
          </a:xfrm>
        </p:spPr>
        <p:txBody>
          <a:bodyPr/>
          <a:lstStyle/>
          <a:p>
            <a:endParaRPr lang="en-IN"/>
          </a:p>
        </p:txBody>
      </p:sp>
      <p:sp>
        <p:nvSpPr>
          <p:cNvPr id="9" name="Slide Number Placeholder 8"/>
          <p:cNvSpPr>
            <a:spLocks noGrp="1"/>
          </p:cNvSpPr>
          <p:nvPr>
            <p:ph type="sldNum" sz="quarter" idx="12"/>
          </p:nvPr>
        </p:nvSpPr>
        <p:spPr/>
        <p:txBody>
          <a:bodyPr/>
          <a:lstStyle/>
          <a:p>
            <a:fld id="{B20E0861-6A24-4545-969B-87815D14E4B5}" type="slidenum">
              <a:rPr lang="en-IN" smtClean="0"/>
              <a:t>‹#›</a:t>
            </a:fld>
            <a:endParaRPr lang="en-IN"/>
          </a:p>
        </p:txBody>
      </p:sp>
    </p:spTree>
    <p:extLst>
      <p:ext uri="{BB962C8B-B14F-4D97-AF65-F5344CB8AC3E}">
        <p14:creationId xmlns:p14="http://schemas.microsoft.com/office/powerpoint/2010/main" val="5894662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281EBA70-8E26-455A-BBCD-84405033CEB4}" type="datetimeFigureOut">
              <a:rPr lang="en-IN" smtClean="0"/>
              <a:t>23-03-2026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20E0861-6A24-4545-969B-87815D14E4B5}" type="slidenum">
              <a:rPr lang="en-IN" smtClean="0"/>
              <a:t>‹#›</a:t>
            </a:fld>
            <a:endParaRPr lang="en-IN"/>
          </a:p>
        </p:txBody>
      </p:sp>
    </p:spTree>
    <p:extLst>
      <p:ext uri="{BB962C8B-B14F-4D97-AF65-F5344CB8AC3E}">
        <p14:creationId xmlns:p14="http://schemas.microsoft.com/office/powerpoint/2010/main" val="5055589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281EBA70-8E26-455A-BBCD-84405033CEB4}" type="datetimeFigureOut">
              <a:rPr lang="en-IN" smtClean="0"/>
              <a:t>23-03-2026</a:t>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20E0861-6A24-4545-969B-87815D14E4B5}" type="slidenum">
              <a:rPr lang="en-IN" smtClean="0"/>
              <a:t>‹#›</a:t>
            </a:fld>
            <a:endParaRPr lang="en-IN"/>
          </a:p>
        </p:txBody>
      </p:sp>
    </p:spTree>
    <p:extLst>
      <p:ext uri="{BB962C8B-B14F-4D97-AF65-F5344CB8AC3E}">
        <p14:creationId xmlns:p14="http://schemas.microsoft.com/office/powerpoint/2010/main" val="40192062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81EBA70-8E26-455A-BBCD-84405033CEB4}" type="datetimeFigureOut">
              <a:rPr lang="en-IN" smtClean="0"/>
              <a:t>23-03-2026</a:t>
            </a:fld>
            <a:endParaRPr lang="en-IN"/>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IN"/>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B20E0861-6A24-4545-969B-87815D14E4B5}" type="slidenum">
              <a:rPr lang="en-IN" smtClean="0"/>
              <a:t>‹#›</a:t>
            </a:fld>
            <a:endParaRPr lang="en-IN"/>
          </a:p>
        </p:txBody>
      </p:sp>
    </p:spTree>
    <p:extLst>
      <p:ext uri="{BB962C8B-B14F-4D97-AF65-F5344CB8AC3E}">
        <p14:creationId xmlns:p14="http://schemas.microsoft.com/office/powerpoint/2010/main" val="191408240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E1142-2605-64C0-FBDC-D057338CC480}"/>
              </a:ext>
            </a:extLst>
          </p:cNvPr>
          <p:cNvSpPr>
            <a:spLocks noGrp="1"/>
          </p:cNvSpPr>
          <p:nvPr>
            <p:ph type="ctrTitle"/>
          </p:nvPr>
        </p:nvSpPr>
        <p:spPr/>
        <p:txBody>
          <a:bodyPr/>
          <a:lstStyle/>
          <a:p>
            <a:r>
              <a:rPr lang="en-IN" dirty="0"/>
              <a:t>Messages and Message Channels in Spring Integration</a:t>
            </a:r>
          </a:p>
        </p:txBody>
      </p:sp>
      <p:sp>
        <p:nvSpPr>
          <p:cNvPr id="3" name="Subtitle 2">
            <a:extLst>
              <a:ext uri="{FF2B5EF4-FFF2-40B4-BE49-F238E27FC236}">
                <a16:creationId xmlns:a16="http://schemas.microsoft.com/office/drawing/2014/main" id="{352269DE-465D-7D12-6EC9-C46D89084C05}"/>
              </a:ext>
            </a:extLst>
          </p:cNvPr>
          <p:cNvSpPr>
            <a:spLocks noGrp="1"/>
          </p:cNvSpPr>
          <p:nvPr>
            <p:ph type="subTitle" idx="1"/>
          </p:nvPr>
        </p:nvSpPr>
        <p:spPr/>
        <p:txBody>
          <a:bodyPr/>
          <a:lstStyle/>
          <a:p>
            <a:r>
              <a:rPr lang="en-IN" dirty="0"/>
              <a:t>Anju munoth</a:t>
            </a:r>
          </a:p>
        </p:txBody>
      </p:sp>
    </p:spTree>
    <p:extLst>
      <p:ext uri="{BB962C8B-B14F-4D97-AF65-F5344CB8AC3E}">
        <p14:creationId xmlns:p14="http://schemas.microsoft.com/office/powerpoint/2010/main" val="27940620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687C31-C19E-5278-29F2-02CA8FE00D9C}"/>
              </a:ext>
            </a:extLst>
          </p:cNvPr>
          <p:cNvSpPr>
            <a:spLocks noGrp="1"/>
          </p:cNvSpPr>
          <p:nvPr>
            <p:ph type="title"/>
          </p:nvPr>
        </p:nvSpPr>
        <p:spPr/>
        <p:txBody>
          <a:bodyPr/>
          <a:lstStyle/>
          <a:p>
            <a:r>
              <a:rPr lang="en-US" b="1" dirty="0"/>
              <a:t>Message</a:t>
            </a:r>
            <a:endParaRPr lang="en-IN" dirty="0"/>
          </a:p>
        </p:txBody>
      </p:sp>
      <p:sp>
        <p:nvSpPr>
          <p:cNvPr id="3" name="Content Placeholder 2">
            <a:extLst>
              <a:ext uri="{FF2B5EF4-FFF2-40B4-BE49-F238E27FC236}">
                <a16:creationId xmlns:a16="http://schemas.microsoft.com/office/drawing/2014/main" id="{7276A6F6-FBFD-6ABC-FE19-3262311F8007}"/>
              </a:ext>
            </a:extLst>
          </p:cNvPr>
          <p:cNvSpPr>
            <a:spLocks noGrp="1"/>
          </p:cNvSpPr>
          <p:nvPr>
            <p:ph idx="1"/>
          </p:nvPr>
        </p:nvSpPr>
        <p:spPr>
          <a:xfrm>
            <a:off x="1154954" y="2603500"/>
            <a:ext cx="10083768" cy="3741316"/>
          </a:xfrm>
        </p:spPr>
        <p:txBody>
          <a:bodyPr>
            <a:normAutofit/>
          </a:bodyPr>
          <a:lstStyle/>
          <a:p>
            <a:r>
              <a:rPr lang="en-US" dirty="0"/>
              <a:t>The Spring Integration Message is a generic container for data. </a:t>
            </a:r>
          </a:p>
          <a:p>
            <a:r>
              <a:rPr lang="en-US" dirty="0"/>
              <a:t>Any object can be provided as the payload, and each Message instance includes headers containing user-extensible properties as key-value pairs.</a:t>
            </a:r>
          </a:p>
          <a:p>
            <a:pPr marL="0" indent="0">
              <a:buNone/>
            </a:pPr>
            <a:r>
              <a:rPr lang="en-US" b="1" dirty="0">
                <a:solidFill>
                  <a:srgbClr val="FF0000"/>
                </a:solidFill>
              </a:rPr>
              <a:t>public interface Message&lt;T&gt; {</a:t>
            </a:r>
          </a:p>
          <a:p>
            <a:pPr marL="0" indent="0">
              <a:buNone/>
            </a:pPr>
            <a:r>
              <a:rPr lang="en-US" b="1" dirty="0">
                <a:solidFill>
                  <a:srgbClr val="FF0000"/>
                </a:solidFill>
              </a:rPr>
              <a:t>    T </a:t>
            </a:r>
            <a:r>
              <a:rPr lang="en-US" b="1" dirty="0" err="1">
                <a:solidFill>
                  <a:srgbClr val="FF0000"/>
                </a:solidFill>
              </a:rPr>
              <a:t>getPayload</a:t>
            </a:r>
            <a:r>
              <a:rPr lang="en-US" b="1" dirty="0">
                <a:solidFill>
                  <a:srgbClr val="FF0000"/>
                </a:solidFill>
              </a:rPr>
              <a:t>();</a:t>
            </a:r>
          </a:p>
          <a:p>
            <a:pPr marL="0" indent="0">
              <a:buNone/>
            </a:pPr>
            <a:r>
              <a:rPr lang="en-US" b="1" dirty="0">
                <a:solidFill>
                  <a:srgbClr val="FF0000"/>
                </a:solidFill>
              </a:rPr>
              <a:t>    </a:t>
            </a:r>
            <a:r>
              <a:rPr lang="en-US" b="1" dirty="0" err="1">
                <a:solidFill>
                  <a:srgbClr val="FF0000"/>
                </a:solidFill>
              </a:rPr>
              <a:t>MessageHeaders</a:t>
            </a:r>
            <a:r>
              <a:rPr lang="en-US" b="1" dirty="0">
                <a:solidFill>
                  <a:srgbClr val="FF0000"/>
                </a:solidFill>
              </a:rPr>
              <a:t> </a:t>
            </a:r>
            <a:r>
              <a:rPr lang="en-US" b="1" dirty="0" err="1">
                <a:solidFill>
                  <a:srgbClr val="FF0000"/>
                </a:solidFill>
              </a:rPr>
              <a:t>getHeaders</a:t>
            </a:r>
            <a:r>
              <a:rPr lang="en-US" b="1" dirty="0">
                <a:solidFill>
                  <a:srgbClr val="FF0000"/>
                </a:solidFill>
              </a:rPr>
              <a:t>();</a:t>
            </a:r>
          </a:p>
          <a:p>
            <a:pPr marL="0" indent="0">
              <a:buNone/>
            </a:pPr>
            <a:r>
              <a:rPr lang="en-US" b="1" dirty="0">
                <a:solidFill>
                  <a:srgbClr val="FF0000"/>
                </a:solidFill>
              </a:rPr>
              <a:t>}</a:t>
            </a:r>
            <a:endParaRPr lang="en-IN" b="1" dirty="0">
              <a:solidFill>
                <a:srgbClr val="FF0000"/>
              </a:solidFill>
            </a:endParaRPr>
          </a:p>
        </p:txBody>
      </p:sp>
    </p:spTree>
    <p:extLst>
      <p:ext uri="{BB962C8B-B14F-4D97-AF65-F5344CB8AC3E}">
        <p14:creationId xmlns:p14="http://schemas.microsoft.com/office/powerpoint/2010/main" val="10788860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5B75B0-397D-8058-EFFD-6729344A20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FAEE28-B7E5-91D7-3C8E-81F21061C302}"/>
              </a:ext>
            </a:extLst>
          </p:cNvPr>
          <p:cNvSpPr>
            <a:spLocks noGrp="1"/>
          </p:cNvSpPr>
          <p:nvPr>
            <p:ph type="title"/>
          </p:nvPr>
        </p:nvSpPr>
        <p:spPr/>
        <p:txBody>
          <a:bodyPr/>
          <a:lstStyle/>
          <a:p>
            <a:r>
              <a:rPr lang="en-IN" dirty="0"/>
              <a:t>Message Interface</a:t>
            </a:r>
          </a:p>
        </p:txBody>
      </p:sp>
      <p:sp>
        <p:nvSpPr>
          <p:cNvPr id="3" name="Content Placeholder 2">
            <a:extLst>
              <a:ext uri="{FF2B5EF4-FFF2-40B4-BE49-F238E27FC236}">
                <a16:creationId xmlns:a16="http://schemas.microsoft.com/office/drawing/2014/main" id="{E8D6C235-5E3C-6509-BC1F-84F7B5328CC2}"/>
              </a:ext>
            </a:extLst>
          </p:cNvPr>
          <p:cNvSpPr>
            <a:spLocks noGrp="1"/>
          </p:cNvSpPr>
          <p:nvPr>
            <p:ph idx="1"/>
          </p:nvPr>
        </p:nvSpPr>
        <p:spPr>
          <a:xfrm>
            <a:off x="1154954" y="2603500"/>
            <a:ext cx="10083768" cy="3741316"/>
          </a:xfrm>
        </p:spPr>
        <p:txBody>
          <a:bodyPr/>
          <a:lstStyle/>
          <a:p>
            <a:r>
              <a:rPr lang="en-US" dirty="0"/>
              <a:t>Message interface is a core part of the API. </a:t>
            </a:r>
          </a:p>
          <a:p>
            <a:r>
              <a:rPr lang="en-US" dirty="0"/>
              <a:t>By encapsulating the data in a generic wrapper, the messaging system can pass it around without any knowledge of the data’s type.</a:t>
            </a:r>
          </a:p>
          <a:p>
            <a:r>
              <a:rPr lang="en-US" dirty="0"/>
              <a:t> As an application evolves to support new types or when the types themselves are modified or extended, the messaging system is not affected.</a:t>
            </a:r>
          </a:p>
          <a:p>
            <a:r>
              <a:rPr lang="en-US" dirty="0"/>
              <a:t>When some component in the messaging system does require access to information about the Message, such metadata can typically be stored to and retrieved from the metadata in the message headers.</a:t>
            </a:r>
            <a:endParaRPr lang="en-IN" dirty="0"/>
          </a:p>
        </p:txBody>
      </p:sp>
    </p:spTree>
    <p:extLst>
      <p:ext uri="{BB962C8B-B14F-4D97-AF65-F5344CB8AC3E}">
        <p14:creationId xmlns:p14="http://schemas.microsoft.com/office/powerpoint/2010/main" val="9294284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B628AD-1681-FF31-57FC-C29104F899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E4283D-F991-A4B5-E98F-EBED6C7E514F}"/>
              </a:ext>
            </a:extLst>
          </p:cNvPr>
          <p:cNvSpPr>
            <a:spLocks noGrp="1"/>
          </p:cNvSpPr>
          <p:nvPr>
            <p:ph type="title"/>
          </p:nvPr>
        </p:nvSpPr>
        <p:spPr/>
        <p:txBody>
          <a:bodyPr/>
          <a:lstStyle/>
          <a:p>
            <a:r>
              <a:rPr lang="en-US" b="1" dirty="0"/>
              <a:t>Message Headers</a:t>
            </a:r>
            <a:endParaRPr lang="en-IN" dirty="0"/>
          </a:p>
        </p:txBody>
      </p:sp>
      <p:sp>
        <p:nvSpPr>
          <p:cNvPr id="3" name="Content Placeholder 2">
            <a:extLst>
              <a:ext uri="{FF2B5EF4-FFF2-40B4-BE49-F238E27FC236}">
                <a16:creationId xmlns:a16="http://schemas.microsoft.com/office/drawing/2014/main" id="{834C5781-53E3-3E02-1CF2-E380901714E6}"/>
              </a:ext>
            </a:extLst>
          </p:cNvPr>
          <p:cNvSpPr>
            <a:spLocks noGrp="1"/>
          </p:cNvSpPr>
          <p:nvPr>
            <p:ph idx="1"/>
          </p:nvPr>
        </p:nvSpPr>
        <p:spPr>
          <a:xfrm>
            <a:off x="1154954" y="2603500"/>
            <a:ext cx="10083768" cy="3741316"/>
          </a:xfrm>
        </p:spPr>
        <p:txBody>
          <a:bodyPr/>
          <a:lstStyle/>
          <a:p>
            <a:r>
              <a:rPr lang="en-US" dirty="0"/>
              <a:t>Just as Spring Integration lets any Object be used as the payload of a Message, it also supports any Object types as header values.</a:t>
            </a:r>
          </a:p>
          <a:p>
            <a:r>
              <a:rPr lang="en-US" dirty="0" err="1"/>
              <a:t>MessageHeaders</a:t>
            </a:r>
            <a:r>
              <a:rPr lang="en-US" dirty="0"/>
              <a:t> class implements the </a:t>
            </a:r>
            <a:r>
              <a:rPr lang="en-US" dirty="0" err="1"/>
              <a:t>java.util.Map</a:t>
            </a:r>
            <a:r>
              <a:rPr lang="en-US" dirty="0"/>
              <a:t>_ interface, as the following class definition shows:</a:t>
            </a:r>
          </a:p>
          <a:p>
            <a:pPr marL="0" indent="0">
              <a:buNone/>
            </a:pPr>
            <a:r>
              <a:rPr lang="en-US" b="1" dirty="0">
                <a:solidFill>
                  <a:srgbClr val="FF0000"/>
                </a:solidFill>
              </a:rPr>
              <a:t>public final class </a:t>
            </a:r>
            <a:r>
              <a:rPr lang="en-US" b="1" dirty="0" err="1">
                <a:solidFill>
                  <a:srgbClr val="FF0000"/>
                </a:solidFill>
              </a:rPr>
              <a:t>MessageHeaders</a:t>
            </a:r>
            <a:r>
              <a:rPr lang="en-US" b="1" dirty="0">
                <a:solidFill>
                  <a:srgbClr val="FF0000"/>
                </a:solidFill>
              </a:rPr>
              <a:t> implements Map&lt;String, Object&gt;, Serializable {</a:t>
            </a:r>
          </a:p>
          <a:p>
            <a:pPr marL="0" indent="0">
              <a:buNone/>
            </a:pPr>
            <a:r>
              <a:rPr lang="en-US" b="1" dirty="0">
                <a:solidFill>
                  <a:srgbClr val="FF0000"/>
                </a:solidFill>
              </a:rPr>
              <a:t>  ...</a:t>
            </a:r>
          </a:p>
          <a:p>
            <a:pPr marL="0" indent="0">
              <a:buNone/>
            </a:pPr>
            <a:r>
              <a:rPr lang="en-US" b="1" dirty="0">
                <a:solidFill>
                  <a:srgbClr val="FF0000"/>
                </a:solidFill>
              </a:rPr>
              <a:t>}</a:t>
            </a:r>
          </a:p>
          <a:p>
            <a:endParaRPr lang="en-IN" dirty="0"/>
          </a:p>
        </p:txBody>
      </p:sp>
    </p:spTree>
    <p:extLst>
      <p:ext uri="{BB962C8B-B14F-4D97-AF65-F5344CB8AC3E}">
        <p14:creationId xmlns:p14="http://schemas.microsoft.com/office/powerpoint/2010/main" val="23461237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D19808-244A-22F0-BF02-78C2AFC83A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9A746F-4DB5-B035-5B11-F37B481152B9}"/>
              </a:ext>
            </a:extLst>
          </p:cNvPr>
          <p:cNvSpPr>
            <a:spLocks noGrp="1"/>
          </p:cNvSpPr>
          <p:nvPr>
            <p:ph type="title"/>
          </p:nvPr>
        </p:nvSpPr>
        <p:spPr/>
        <p:txBody>
          <a:bodyPr/>
          <a:lstStyle/>
          <a:p>
            <a:r>
              <a:rPr lang="en-US" b="1" dirty="0"/>
              <a:t>Message Headers</a:t>
            </a:r>
            <a:endParaRPr lang="en-IN" dirty="0"/>
          </a:p>
        </p:txBody>
      </p:sp>
      <p:sp>
        <p:nvSpPr>
          <p:cNvPr id="3" name="Content Placeholder 2">
            <a:extLst>
              <a:ext uri="{FF2B5EF4-FFF2-40B4-BE49-F238E27FC236}">
                <a16:creationId xmlns:a16="http://schemas.microsoft.com/office/drawing/2014/main" id="{E55EC831-76C6-D13B-BB49-DF881E8CE3E3}"/>
              </a:ext>
            </a:extLst>
          </p:cNvPr>
          <p:cNvSpPr>
            <a:spLocks noGrp="1"/>
          </p:cNvSpPr>
          <p:nvPr>
            <p:ph idx="1"/>
          </p:nvPr>
        </p:nvSpPr>
        <p:spPr>
          <a:xfrm>
            <a:off x="1154954" y="2603500"/>
            <a:ext cx="10083768" cy="3741316"/>
          </a:xfrm>
        </p:spPr>
        <p:txBody>
          <a:bodyPr/>
          <a:lstStyle/>
          <a:p>
            <a:r>
              <a:rPr lang="en-US" dirty="0"/>
              <a:t>Even though the </a:t>
            </a:r>
            <a:r>
              <a:rPr lang="en-US" dirty="0" err="1"/>
              <a:t>MessageHeaders</a:t>
            </a:r>
            <a:r>
              <a:rPr lang="en-US" dirty="0"/>
              <a:t> class implements Map, it is effectively a </a:t>
            </a:r>
            <a:r>
              <a:rPr lang="en-US" b="1" dirty="0"/>
              <a:t>read-only implementation. </a:t>
            </a:r>
          </a:p>
          <a:p>
            <a:r>
              <a:rPr lang="en-US" dirty="0"/>
              <a:t>Any attempt to put a value in the Map results in an </a:t>
            </a:r>
            <a:r>
              <a:rPr lang="en-US" dirty="0" err="1"/>
              <a:t>UnsupportedOperationException</a:t>
            </a:r>
            <a:r>
              <a:rPr lang="en-US" dirty="0"/>
              <a:t>.</a:t>
            </a:r>
          </a:p>
          <a:p>
            <a:r>
              <a:rPr lang="en-US" dirty="0"/>
              <a:t> The same applies for remove and clear. </a:t>
            </a:r>
          </a:p>
          <a:p>
            <a:r>
              <a:rPr lang="en-US" dirty="0"/>
              <a:t>Since messages may be passed to multiple consumers, the structure of the Map cannot be modified. </a:t>
            </a:r>
          </a:p>
          <a:p>
            <a:r>
              <a:rPr lang="en-US" dirty="0"/>
              <a:t>Likewise, the </a:t>
            </a:r>
            <a:r>
              <a:rPr lang="en-US" b="1" dirty="0"/>
              <a:t>message’s payload Object can not be set</a:t>
            </a:r>
            <a:r>
              <a:rPr lang="en-US" dirty="0"/>
              <a:t> after the initial creation.</a:t>
            </a:r>
          </a:p>
          <a:p>
            <a:r>
              <a:rPr lang="en-US" dirty="0"/>
              <a:t> However, the mutability of the header values themselves (or the payload Object) is intentionally left as a decision for the framework user.</a:t>
            </a:r>
            <a:endParaRPr lang="en-IN" dirty="0"/>
          </a:p>
        </p:txBody>
      </p:sp>
    </p:spTree>
    <p:extLst>
      <p:ext uri="{BB962C8B-B14F-4D97-AF65-F5344CB8AC3E}">
        <p14:creationId xmlns:p14="http://schemas.microsoft.com/office/powerpoint/2010/main" val="169816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F7E384-ADCD-7069-5905-2BB6ECF786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1482AB-0656-D390-2021-8308AD2B0C58}"/>
              </a:ext>
            </a:extLst>
          </p:cNvPr>
          <p:cNvSpPr>
            <a:spLocks noGrp="1"/>
          </p:cNvSpPr>
          <p:nvPr>
            <p:ph type="title"/>
          </p:nvPr>
        </p:nvSpPr>
        <p:spPr/>
        <p:txBody>
          <a:bodyPr/>
          <a:lstStyle/>
          <a:p>
            <a:r>
              <a:rPr lang="en-US" b="1" dirty="0"/>
              <a:t>Message Headers</a:t>
            </a:r>
            <a:endParaRPr lang="en-IN" dirty="0"/>
          </a:p>
        </p:txBody>
      </p:sp>
      <p:sp>
        <p:nvSpPr>
          <p:cNvPr id="3" name="Content Placeholder 2">
            <a:extLst>
              <a:ext uri="{FF2B5EF4-FFF2-40B4-BE49-F238E27FC236}">
                <a16:creationId xmlns:a16="http://schemas.microsoft.com/office/drawing/2014/main" id="{EB0070C6-9B18-330A-8C88-52E5136BED4F}"/>
              </a:ext>
            </a:extLst>
          </p:cNvPr>
          <p:cNvSpPr>
            <a:spLocks noGrp="1"/>
          </p:cNvSpPr>
          <p:nvPr>
            <p:ph idx="1"/>
          </p:nvPr>
        </p:nvSpPr>
        <p:spPr>
          <a:xfrm>
            <a:off x="1154954" y="2603500"/>
            <a:ext cx="10083768" cy="3741316"/>
          </a:xfrm>
        </p:spPr>
        <p:txBody>
          <a:bodyPr>
            <a:normAutofit/>
          </a:bodyPr>
          <a:lstStyle/>
          <a:p>
            <a:r>
              <a:rPr lang="en-US" dirty="0"/>
              <a:t>As an implementation of Map, the headers can be retrieved by calling get(..) with the name of the header. </a:t>
            </a:r>
          </a:p>
          <a:p>
            <a:r>
              <a:rPr lang="en-US" dirty="0"/>
              <a:t>Alternatively, you can provide the expected Class as an additional parameter. </a:t>
            </a:r>
          </a:p>
          <a:p>
            <a:r>
              <a:rPr lang="en-US" dirty="0"/>
              <a:t>Even better, when retrieving one of the pre-defined values, convenient getters are available. </a:t>
            </a:r>
          </a:p>
          <a:p>
            <a:pPr marL="0" indent="0">
              <a:buNone/>
            </a:pPr>
            <a:r>
              <a:rPr lang="en-US" dirty="0"/>
              <a:t>Example shows each of these three options:</a:t>
            </a:r>
          </a:p>
          <a:p>
            <a:r>
              <a:rPr lang="en-US" b="1" dirty="0">
                <a:solidFill>
                  <a:srgbClr val="FF0000"/>
                </a:solidFill>
              </a:rPr>
              <a:t>Object </a:t>
            </a:r>
            <a:r>
              <a:rPr lang="en-US" b="1" dirty="0" err="1">
                <a:solidFill>
                  <a:srgbClr val="FF0000"/>
                </a:solidFill>
              </a:rPr>
              <a:t>someValue</a:t>
            </a:r>
            <a:r>
              <a:rPr lang="en-US" b="1" dirty="0">
                <a:solidFill>
                  <a:srgbClr val="FF0000"/>
                </a:solidFill>
              </a:rPr>
              <a:t> = </a:t>
            </a:r>
            <a:r>
              <a:rPr lang="en-US" b="1" dirty="0" err="1">
                <a:solidFill>
                  <a:srgbClr val="FF0000"/>
                </a:solidFill>
              </a:rPr>
              <a:t>message.getHeaders</a:t>
            </a:r>
            <a:r>
              <a:rPr lang="en-US" b="1" dirty="0">
                <a:solidFill>
                  <a:srgbClr val="FF0000"/>
                </a:solidFill>
              </a:rPr>
              <a:t>().get("</a:t>
            </a:r>
            <a:r>
              <a:rPr lang="en-US" b="1" dirty="0" err="1">
                <a:solidFill>
                  <a:srgbClr val="FF0000"/>
                </a:solidFill>
              </a:rPr>
              <a:t>someKey</a:t>
            </a:r>
            <a:r>
              <a:rPr lang="en-US" b="1" dirty="0">
                <a:solidFill>
                  <a:srgbClr val="FF0000"/>
                </a:solidFill>
              </a:rPr>
              <a:t>");</a:t>
            </a:r>
          </a:p>
          <a:p>
            <a:r>
              <a:rPr lang="en-US" b="1" dirty="0" err="1">
                <a:solidFill>
                  <a:srgbClr val="FF0000"/>
                </a:solidFill>
              </a:rPr>
              <a:t>CustomerId</a:t>
            </a:r>
            <a:r>
              <a:rPr lang="en-US" b="1" dirty="0">
                <a:solidFill>
                  <a:srgbClr val="FF0000"/>
                </a:solidFill>
              </a:rPr>
              <a:t> </a:t>
            </a:r>
            <a:r>
              <a:rPr lang="en-US" b="1" dirty="0" err="1">
                <a:solidFill>
                  <a:srgbClr val="FF0000"/>
                </a:solidFill>
              </a:rPr>
              <a:t>customerId</a:t>
            </a:r>
            <a:r>
              <a:rPr lang="en-US" b="1" dirty="0">
                <a:solidFill>
                  <a:srgbClr val="FF0000"/>
                </a:solidFill>
              </a:rPr>
              <a:t> = </a:t>
            </a:r>
            <a:r>
              <a:rPr lang="en-US" b="1" dirty="0" err="1">
                <a:solidFill>
                  <a:srgbClr val="FF0000"/>
                </a:solidFill>
              </a:rPr>
              <a:t>message.getHeaders</a:t>
            </a:r>
            <a:r>
              <a:rPr lang="en-US" b="1" dirty="0">
                <a:solidFill>
                  <a:srgbClr val="FF0000"/>
                </a:solidFill>
              </a:rPr>
              <a:t>().get("</a:t>
            </a:r>
            <a:r>
              <a:rPr lang="en-US" b="1" dirty="0" err="1">
                <a:solidFill>
                  <a:srgbClr val="FF0000"/>
                </a:solidFill>
              </a:rPr>
              <a:t>customerId</a:t>
            </a:r>
            <a:r>
              <a:rPr lang="en-US" b="1" dirty="0">
                <a:solidFill>
                  <a:srgbClr val="FF0000"/>
                </a:solidFill>
              </a:rPr>
              <a:t>", </a:t>
            </a:r>
            <a:r>
              <a:rPr lang="en-US" b="1" dirty="0" err="1">
                <a:solidFill>
                  <a:srgbClr val="FF0000"/>
                </a:solidFill>
              </a:rPr>
              <a:t>CustomerId.class</a:t>
            </a:r>
            <a:r>
              <a:rPr lang="en-US" b="1" dirty="0">
                <a:solidFill>
                  <a:srgbClr val="FF0000"/>
                </a:solidFill>
              </a:rPr>
              <a:t>);</a:t>
            </a:r>
          </a:p>
          <a:p>
            <a:r>
              <a:rPr lang="en-US" b="1" dirty="0">
                <a:solidFill>
                  <a:srgbClr val="FF0000"/>
                </a:solidFill>
              </a:rPr>
              <a:t>Long timestamp = </a:t>
            </a:r>
            <a:r>
              <a:rPr lang="en-US" b="1" dirty="0" err="1">
                <a:solidFill>
                  <a:srgbClr val="FF0000"/>
                </a:solidFill>
              </a:rPr>
              <a:t>message.getHeaders</a:t>
            </a:r>
            <a:r>
              <a:rPr lang="en-US" b="1" dirty="0">
                <a:solidFill>
                  <a:srgbClr val="FF0000"/>
                </a:solidFill>
              </a:rPr>
              <a:t>().</a:t>
            </a:r>
            <a:r>
              <a:rPr lang="en-US" b="1" dirty="0" err="1">
                <a:solidFill>
                  <a:srgbClr val="FF0000"/>
                </a:solidFill>
              </a:rPr>
              <a:t>getTimestamp</a:t>
            </a:r>
            <a:r>
              <a:rPr lang="en-US" b="1" dirty="0">
                <a:solidFill>
                  <a:srgbClr val="FF0000"/>
                </a:solidFill>
              </a:rPr>
              <a:t>();</a:t>
            </a:r>
          </a:p>
          <a:p>
            <a:endParaRPr lang="en-IN" dirty="0"/>
          </a:p>
        </p:txBody>
      </p:sp>
    </p:spTree>
    <p:extLst>
      <p:ext uri="{BB962C8B-B14F-4D97-AF65-F5344CB8AC3E}">
        <p14:creationId xmlns:p14="http://schemas.microsoft.com/office/powerpoint/2010/main" val="9963232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8F89F-EA01-4A34-F008-83B6F804DB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2AE5FC-00C1-47B3-049F-27B90A259E96}"/>
              </a:ext>
            </a:extLst>
          </p:cNvPr>
          <p:cNvSpPr>
            <a:spLocks noGrp="1"/>
          </p:cNvSpPr>
          <p:nvPr>
            <p:ph type="title"/>
          </p:nvPr>
        </p:nvSpPr>
        <p:spPr/>
        <p:txBody>
          <a:bodyPr/>
          <a:lstStyle/>
          <a:p>
            <a:r>
              <a:rPr lang="en-IN" i="1" dirty="0"/>
              <a:t>Pre-defined Message Headers</a:t>
            </a:r>
            <a:endParaRPr lang="en-IN" dirty="0"/>
          </a:p>
        </p:txBody>
      </p:sp>
      <p:graphicFrame>
        <p:nvGraphicFramePr>
          <p:cNvPr id="4" name="Content Placeholder 3">
            <a:extLst>
              <a:ext uri="{FF2B5EF4-FFF2-40B4-BE49-F238E27FC236}">
                <a16:creationId xmlns:a16="http://schemas.microsoft.com/office/drawing/2014/main" id="{DE5D7619-9628-D389-3B4A-B0C084EAB25E}"/>
              </a:ext>
            </a:extLst>
          </p:cNvPr>
          <p:cNvGraphicFramePr>
            <a:graphicFrameLocks noGrp="1"/>
          </p:cNvGraphicFramePr>
          <p:nvPr>
            <p:ph idx="1"/>
            <p:extLst>
              <p:ext uri="{D42A27DB-BD31-4B8C-83A1-F6EECF244321}">
                <p14:modId xmlns:p14="http://schemas.microsoft.com/office/powerpoint/2010/main" val="1679422375"/>
              </p:ext>
            </p:extLst>
          </p:nvPr>
        </p:nvGraphicFramePr>
        <p:xfrm>
          <a:off x="1155700" y="2603500"/>
          <a:ext cx="10787484" cy="4028440"/>
        </p:xfrm>
        <a:graphic>
          <a:graphicData uri="http://schemas.openxmlformats.org/drawingml/2006/table">
            <a:tbl>
              <a:tblPr firstRow="1" bandRow="1">
                <a:tableStyleId>{5C22544A-7EE6-4342-B048-85BDC9FD1C3A}</a:tableStyleId>
              </a:tblPr>
              <a:tblGrid>
                <a:gridCol w="2068027">
                  <a:extLst>
                    <a:ext uri="{9D8B030D-6E8A-4147-A177-3AD203B41FA5}">
                      <a16:colId xmlns:a16="http://schemas.microsoft.com/office/drawing/2014/main" val="3886790655"/>
                    </a:ext>
                  </a:extLst>
                </a:gridCol>
                <a:gridCol w="1838130">
                  <a:extLst>
                    <a:ext uri="{9D8B030D-6E8A-4147-A177-3AD203B41FA5}">
                      <a16:colId xmlns:a16="http://schemas.microsoft.com/office/drawing/2014/main" val="2707363090"/>
                    </a:ext>
                  </a:extLst>
                </a:gridCol>
                <a:gridCol w="6881327">
                  <a:extLst>
                    <a:ext uri="{9D8B030D-6E8A-4147-A177-3AD203B41FA5}">
                      <a16:colId xmlns:a16="http://schemas.microsoft.com/office/drawing/2014/main" val="2084952377"/>
                    </a:ext>
                  </a:extLst>
                </a:gridCol>
              </a:tblGrid>
              <a:tr h="370840">
                <a:tc>
                  <a:txBody>
                    <a:bodyPr/>
                    <a:lstStyle/>
                    <a:p>
                      <a:pPr algn="l" fontAlgn="t">
                        <a:buNone/>
                      </a:pPr>
                      <a:r>
                        <a:rPr lang="en-IN" b="1" dirty="0">
                          <a:effectLst/>
                        </a:rPr>
                        <a:t>Header Name</a:t>
                      </a:r>
                    </a:p>
                  </a:txBody>
                  <a:tcPr/>
                </a:tc>
                <a:tc>
                  <a:txBody>
                    <a:bodyPr/>
                    <a:lstStyle/>
                    <a:p>
                      <a:pPr algn="l" fontAlgn="t">
                        <a:buNone/>
                      </a:pPr>
                      <a:r>
                        <a:rPr lang="en-IN" b="1">
                          <a:effectLst/>
                        </a:rPr>
                        <a:t>Header Type</a:t>
                      </a:r>
                    </a:p>
                  </a:txBody>
                  <a:tcPr/>
                </a:tc>
                <a:tc>
                  <a:txBody>
                    <a:bodyPr/>
                    <a:lstStyle/>
                    <a:p>
                      <a:pPr algn="l" fontAlgn="t">
                        <a:buNone/>
                      </a:pPr>
                      <a:r>
                        <a:rPr lang="en-IN" b="1">
                          <a:effectLst/>
                        </a:rPr>
                        <a:t>Usage</a:t>
                      </a:r>
                    </a:p>
                  </a:txBody>
                  <a:tcPr/>
                </a:tc>
                <a:extLst>
                  <a:ext uri="{0D108BD9-81ED-4DB2-BD59-A6C34878D82A}">
                    <a16:rowId xmlns:a16="http://schemas.microsoft.com/office/drawing/2014/main" val="976971046"/>
                  </a:ext>
                </a:extLst>
              </a:tr>
              <a:tr h="370840">
                <a:tc>
                  <a:txBody>
                    <a:bodyPr/>
                    <a:lstStyle/>
                    <a:p>
                      <a:pPr algn="l" fontAlgn="t">
                        <a:buNone/>
                      </a:pPr>
                      <a:r>
                        <a:rPr lang="en-IN" dirty="0">
                          <a:solidFill>
                            <a:schemeClr val="tx1"/>
                          </a:solidFill>
                          <a:effectLst/>
                          <a:latin typeface="SFMono-Regular"/>
                        </a:rPr>
                        <a:t> MessageHeaders.ID</a:t>
                      </a:r>
                    </a:p>
                  </a:txBody>
                  <a:tcPr/>
                </a:tc>
                <a:tc>
                  <a:txBody>
                    <a:bodyPr/>
                    <a:lstStyle/>
                    <a:p>
                      <a:pPr algn="l" fontAlgn="t">
                        <a:buNone/>
                      </a:pPr>
                      <a:r>
                        <a:rPr lang="en-IN">
                          <a:solidFill>
                            <a:schemeClr val="tx1"/>
                          </a:solidFill>
                          <a:effectLst/>
                          <a:latin typeface="SFMono-Regular"/>
                        </a:rPr>
                        <a:t> java.util.UUID</a:t>
                      </a:r>
                    </a:p>
                  </a:txBody>
                  <a:tcPr/>
                </a:tc>
                <a:tc>
                  <a:txBody>
                    <a:bodyPr/>
                    <a:lstStyle/>
                    <a:p>
                      <a:pPr algn="l" fontAlgn="t">
                        <a:buNone/>
                      </a:pPr>
                      <a:r>
                        <a:rPr lang="en-US">
                          <a:solidFill>
                            <a:schemeClr val="tx1"/>
                          </a:solidFill>
                          <a:effectLst/>
                        </a:rPr>
                        <a:t>An identifier for this message instance. Changes each time a message is mutated.</a:t>
                      </a:r>
                    </a:p>
                  </a:txBody>
                  <a:tcPr/>
                </a:tc>
                <a:extLst>
                  <a:ext uri="{0D108BD9-81ED-4DB2-BD59-A6C34878D82A}">
                    <a16:rowId xmlns:a16="http://schemas.microsoft.com/office/drawing/2014/main" val="3015634080"/>
                  </a:ext>
                </a:extLst>
              </a:tr>
              <a:tr h="370840">
                <a:tc>
                  <a:txBody>
                    <a:bodyPr/>
                    <a:lstStyle/>
                    <a:p>
                      <a:pPr algn="l" fontAlgn="t">
                        <a:buNone/>
                      </a:pPr>
                      <a:r>
                        <a:rPr lang="en-IN" dirty="0">
                          <a:solidFill>
                            <a:schemeClr val="tx1"/>
                          </a:solidFill>
                          <a:effectLst/>
                          <a:latin typeface="SFMono-Regular"/>
                        </a:rPr>
                        <a:t> </a:t>
                      </a:r>
                      <a:r>
                        <a:rPr lang="en-IN" dirty="0" err="1">
                          <a:solidFill>
                            <a:schemeClr val="tx1"/>
                          </a:solidFill>
                          <a:effectLst/>
                          <a:latin typeface="SFMono-Regular"/>
                        </a:rPr>
                        <a:t>MessageHeaders</a:t>
                      </a:r>
                      <a:r>
                        <a:rPr lang="en-IN" dirty="0">
                          <a:solidFill>
                            <a:schemeClr val="tx1"/>
                          </a:solidFill>
                          <a:effectLst/>
                          <a:latin typeface="SFMono-Regular"/>
                        </a:rPr>
                        <a:t>.</a:t>
                      </a:r>
                    </a:p>
                    <a:p>
                      <a:pPr algn="l" fontAlgn="t">
                        <a:buNone/>
                      </a:pPr>
                      <a:r>
                        <a:rPr lang="en-IN" dirty="0">
                          <a:solidFill>
                            <a:schemeClr val="tx1"/>
                          </a:solidFill>
                          <a:effectLst/>
                          <a:latin typeface="SFMono-Regular"/>
                        </a:rPr>
                        <a:t>TIMESTAMP</a:t>
                      </a:r>
                    </a:p>
                  </a:txBody>
                  <a:tcPr/>
                </a:tc>
                <a:tc>
                  <a:txBody>
                    <a:bodyPr/>
                    <a:lstStyle/>
                    <a:p>
                      <a:pPr algn="l" fontAlgn="t">
                        <a:buNone/>
                      </a:pPr>
                      <a:r>
                        <a:rPr lang="en-IN" dirty="0">
                          <a:solidFill>
                            <a:schemeClr val="tx1"/>
                          </a:solidFill>
                          <a:effectLst/>
                          <a:latin typeface="SFMono-Regular"/>
                        </a:rPr>
                        <a:t> </a:t>
                      </a:r>
                      <a:r>
                        <a:rPr lang="en-IN" dirty="0" err="1">
                          <a:solidFill>
                            <a:schemeClr val="tx1"/>
                          </a:solidFill>
                          <a:effectLst/>
                          <a:latin typeface="SFMono-Regular"/>
                        </a:rPr>
                        <a:t>java.lang.Long</a:t>
                      </a:r>
                      <a:endParaRPr lang="en-IN" dirty="0">
                        <a:solidFill>
                          <a:schemeClr val="tx1"/>
                        </a:solidFill>
                        <a:effectLst/>
                        <a:latin typeface="SFMono-Regular"/>
                      </a:endParaRPr>
                    </a:p>
                  </a:txBody>
                  <a:tcPr/>
                </a:tc>
                <a:tc>
                  <a:txBody>
                    <a:bodyPr/>
                    <a:lstStyle/>
                    <a:p>
                      <a:pPr algn="l" fontAlgn="t">
                        <a:buNone/>
                      </a:pPr>
                      <a:r>
                        <a:rPr lang="en-US" dirty="0">
                          <a:solidFill>
                            <a:schemeClr val="tx1"/>
                          </a:solidFill>
                          <a:effectLst/>
                        </a:rPr>
                        <a:t>The time the message was created. Changes each time a message is mutated.</a:t>
                      </a:r>
                    </a:p>
                  </a:txBody>
                  <a:tcPr/>
                </a:tc>
                <a:extLst>
                  <a:ext uri="{0D108BD9-81ED-4DB2-BD59-A6C34878D82A}">
                    <a16:rowId xmlns:a16="http://schemas.microsoft.com/office/drawing/2014/main" val="3891974910"/>
                  </a:ext>
                </a:extLst>
              </a:tr>
              <a:tr h="370840">
                <a:tc>
                  <a:txBody>
                    <a:bodyPr/>
                    <a:lstStyle/>
                    <a:p>
                      <a:pPr algn="l" fontAlgn="t">
                        <a:buNone/>
                      </a:pPr>
                      <a:r>
                        <a:rPr lang="en-IN">
                          <a:solidFill>
                            <a:schemeClr val="tx1"/>
                          </a:solidFill>
                          <a:effectLst/>
                          <a:latin typeface="SFMono-Regular"/>
                        </a:rPr>
                        <a:t> MessageHeaders.</a:t>
                      </a:r>
                    </a:p>
                    <a:p>
                      <a:pPr algn="l" fontAlgn="t">
                        <a:buNone/>
                      </a:pPr>
                      <a:r>
                        <a:rPr lang="en-IN">
                          <a:solidFill>
                            <a:schemeClr val="tx1"/>
                          </a:solidFill>
                          <a:effectLst/>
                          <a:latin typeface="SFMono-Regular"/>
                        </a:rPr>
                        <a:t>REPLY_CHANNEL</a:t>
                      </a:r>
                    </a:p>
                  </a:txBody>
                  <a:tcPr/>
                </a:tc>
                <a:tc>
                  <a:txBody>
                    <a:bodyPr/>
                    <a:lstStyle/>
                    <a:p>
                      <a:pPr algn="l" fontAlgn="t">
                        <a:buNone/>
                      </a:pPr>
                      <a:r>
                        <a:rPr lang="en-US">
                          <a:solidFill>
                            <a:schemeClr val="tx1"/>
                          </a:solidFill>
                          <a:effectLst/>
                          <a:latin typeface="SFMono-Regular"/>
                        </a:rPr>
                        <a:t> java.lang.Object</a:t>
                      </a:r>
                    </a:p>
                    <a:p>
                      <a:pPr algn="l" fontAlgn="t">
                        <a:buNone/>
                      </a:pPr>
                      <a:r>
                        <a:rPr lang="en-US">
                          <a:solidFill>
                            <a:schemeClr val="tx1"/>
                          </a:solidFill>
                          <a:effectLst/>
                          <a:latin typeface="SFMono-Regular"/>
                        </a:rPr>
                        <a:t>(String or</a:t>
                      </a:r>
                    </a:p>
                    <a:p>
                      <a:pPr algn="l" fontAlgn="t">
                        <a:buNone/>
                      </a:pPr>
                      <a:r>
                        <a:rPr lang="en-US">
                          <a:solidFill>
                            <a:schemeClr val="tx1"/>
                          </a:solidFill>
                          <a:effectLst/>
                          <a:latin typeface="SFMono-Regular"/>
                        </a:rPr>
                        <a:t>MessageChannel)</a:t>
                      </a:r>
                    </a:p>
                  </a:txBody>
                  <a:tcPr/>
                </a:tc>
                <a:tc>
                  <a:txBody>
                    <a:bodyPr/>
                    <a:lstStyle/>
                    <a:p>
                      <a:pPr algn="l" fontAlgn="t">
                        <a:buNone/>
                      </a:pPr>
                      <a:r>
                        <a:rPr lang="en-US" dirty="0">
                          <a:solidFill>
                            <a:schemeClr val="tx1"/>
                          </a:solidFill>
                          <a:effectLst/>
                        </a:rPr>
                        <a:t>A channel to which a reply (if any) is sent when no explicit output channel is configured and there is no </a:t>
                      </a:r>
                      <a:r>
                        <a:rPr lang="en-US" dirty="0">
                          <a:solidFill>
                            <a:schemeClr val="tx1"/>
                          </a:solidFill>
                          <a:effectLst/>
                          <a:latin typeface="SFMono-Regular"/>
                        </a:rPr>
                        <a:t>ROUTING_SLIP</a:t>
                      </a:r>
                      <a:r>
                        <a:rPr lang="en-US" dirty="0">
                          <a:solidFill>
                            <a:schemeClr val="tx1"/>
                          </a:solidFill>
                          <a:effectLst/>
                        </a:rPr>
                        <a:t> or the </a:t>
                      </a:r>
                      <a:r>
                        <a:rPr lang="en-US" dirty="0">
                          <a:solidFill>
                            <a:schemeClr val="tx1"/>
                          </a:solidFill>
                          <a:effectLst/>
                          <a:latin typeface="SFMono-Regular"/>
                        </a:rPr>
                        <a:t>ROUTING_SLIP</a:t>
                      </a:r>
                      <a:r>
                        <a:rPr lang="en-US" dirty="0">
                          <a:solidFill>
                            <a:schemeClr val="tx1"/>
                          </a:solidFill>
                          <a:effectLst/>
                        </a:rPr>
                        <a:t> is exhausted. If the value is a </a:t>
                      </a:r>
                      <a:r>
                        <a:rPr lang="en-US" dirty="0">
                          <a:solidFill>
                            <a:schemeClr val="tx1"/>
                          </a:solidFill>
                          <a:effectLst/>
                          <a:latin typeface="SFMono-Regular"/>
                        </a:rPr>
                        <a:t>String</a:t>
                      </a:r>
                      <a:r>
                        <a:rPr lang="en-US" dirty="0">
                          <a:solidFill>
                            <a:schemeClr val="tx1"/>
                          </a:solidFill>
                          <a:effectLst/>
                        </a:rPr>
                        <a:t>, it must represent a bean name or have been generated by a </a:t>
                      </a:r>
                      <a:r>
                        <a:rPr lang="en-US" dirty="0" err="1">
                          <a:solidFill>
                            <a:schemeClr val="tx1"/>
                          </a:solidFill>
                          <a:effectLst/>
                          <a:latin typeface="SFMono-Regular"/>
                        </a:rPr>
                        <a:t>ChannelRegistry</a:t>
                      </a:r>
                      <a:r>
                        <a:rPr lang="en-US" dirty="0">
                          <a:solidFill>
                            <a:schemeClr val="tx1"/>
                          </a:solidFill>
                          <a:effectLst/>
                          <a:latin typeface="SFMono-Regular"/>
                        </a:rPr>
                        <a:t>.</a:t>
                      </a:r>
                      <a:endParaRPr lang="en-US" dirty="0">
                        <a:solidFill>
                          <a:schemeClr val="tx1"/>
                        </a:solidFill>
                        <a:effectLst/>
                      </a:endParaRPr>
                    </a:p>
                  </a:txBody>
                  <a:tcPr/>
                </a:tc>
                <a:extLst>
                  <a:ext uri="{0D108BD9-81ED-4DB2-BD59-A6C34878D82A}">
                    <a16:rowId xmlns:a16="http://schemas.microsoft.com/office/drawing/2014/main" val="4171626960"/>
                  </a:ext>
                </a:extLst>
              </a:tr>
              <a:tr h="370840">
                <a:tc>
                  <a:txBody>
                    <a:bodyPr/>
                    <a:lstStyle/>
                    <a:p>
                      <a:pPr algn="l" fontAlgn="t">
                        <a:buNone/>
                      </a:pPr>
                      <a:r>
                        <a:rPr lang="en-IN">
                          <a:solidFill>
                            <a:schemeClr val="tx1"/>
                          </a:solidFill>
                          <a:effectLst/>
                          <a:latin typeface="SFMono-Regular"/>
                        </a:rPr>
                        <a:t> MessageHeaders.</a:t>
                      </a:r>
                    </a:p>
                    <a:p>
                      <a:pPr algn="l" fontAlgn="t">
                        <a:buNone/>
                      </a:pPr>
                      <a:r>
                        <a:rPr lang="en-IN">
                          <a:solidFill>
                            <a:schemeClr val="tx1"/>
                          </a:solidFill>
                          <a:effectLst/>
                          <a:latin typeface="SFMono-Regular"/>
                        </a:rPr>
                        <a:t>ERROR_CHANNEL</a:t>
                      </a:r>
                    </a:p>
                  </a:txBody>
                  <a:tcPr/>
                </a:tc>
                <a:tc>
                  <a:txBody>
                    <a:bodyPr/>
                    <a:lstStyle/>
                    <a:p>
                      <a:pPr algn="l" fontAlgn="t">
                        <a:buNone/>
                      </a:pPr>
                      <a:r>
                        <a:rPr lang="en-US">
                          <a:solidFill>
                            <a:schemeClr val="tx1"/>
                          </a:solidFill>
                          <a:effectLst/>
                          <a:latin typeface="SFMono-Regular"/>
                        </a:rPr>
                        <a:t> java.lang.Object</a:t>
                      </a:r>
                    </a:p>
                    <a:p>
                      <a:pPr algn="l" fontAlgn="t">
                        <a:buNone/>
                      </a:pPr>
                      <a:r>
                        <a:rPr lang="en-US">
                          <a:solidFill>
                            <a:schemeClr val="tx1"/>
                          </a:solidFill>
                          <a:effectLst/>
                          <a:latin typeface="SFMono-Regular"/>
                        </a:rPr>
                        <a:t>(String or</a:t>
                      </a:r>
                    </a:p>
                    <a:p>
                      <a:pPr algn="l" fontAlgn="t">
                        <a:buNone/>
                      </a:pPr>
                      <a:r>
                        <a:rPr lang="en-US">
                          <a:solidFill>
                            <a:schemeClr val="tx1"/>
                          </a:solidFill>
                          <a:effectLst/>
                          <a:latin typeface="SFMono-Regular"/>
                        </a:rPr>
                        <a:t>MessageChannel)</a:t>
                      </a:r>
                    </a:p>
                  </a:txBody>
                  <a:tcPr/>
                </a:tc>
                <a:tc>
                  <a:txBody>
                    <a:bodyPr/>
                    <a:lstStyle/>
                    <a:p>
                      <a:pPr algn="l" fontAlgn="t">
                        <a:buNone/>
                      </a:pPr>
                      <a:r>
                        <a:rPr lang="en-US" dirty="0">
                          <a:solidFill>
                            <a:schemeClr val="tx1"/>
                          </a:solidFill>
                          <a:effectLst/>
                        </a:rPr>
                        <a:t>A channel to which errors are sent. If the value is a </a:t>
                      </a:r>
                      <a:r>
                        <a:rPr lang="en-US" dirty="0">
                          <a:solidFill>
                            <a:schemeClr val="tx1"/>
                          </a:solidFill>
                          <a:effectLst/>
                          <a:latin typeface="SFMono-Regular"/>
                        </a:rPr>
                        <a:t>String</a:t>
                      </a:r>
                      <a:r>
                        <a:rPr lang="en-US" dirty="0">
                          <a:solidFill>
                            <a:schemeClr val="tx1"/>
                          </a:solidFill>
                          <a:effectLst/>
                        </a:rPr>
                        <a:t>, it must represent a bean name or have been generated by a </a:t>
                      </a:r>
                      <a:r>
                        <a:rPr lang="en-US" dirty="0" err="1">
                          <a:solidFill>
                            <a:schemeClr val="tx1"/>
                          </a:solidFill>
                          <a:effectLst/>
                          <a:latin typeface="SFMono-Regular"/>
                        </a:rPr>
                        <a:t>ChannelRegistry</a:t>
                      </a:r>
                      <a:r>
                        <a:rPr lang="en-US" dirty="0">
                          <a:solidFill>
                            <a:schemeClr val="tx1"/>
                          </a:solidFill>
                          <a:effectLst/>
                          <a:latin typeface="SFMono-Regular"/>
                        </a:rPr>
                        <a:t>.</a:t>
                      </a:r>
                      <a:endParaRPr lang="en-US" dirty="0">
                        <a:solidFill>
                          <a:schemeClr val="tx1"/>
                        </a:solidFill>
                        <a:effectLst/>
                      </a:endParaRPr>
                    </a:p>
                  </a:txBody>
                  <a:tcPr/>
                </a:tc>
                <a:extLst>
                  <a:ext uri="{0D108BD9-81ED-4DB2-BD59-A6C34878D82A}">
                    <a16:rowId xmlns:a16="http://schemas.microsoft.com/office/drawing/2014/main" val="3038133861"/>
                  </a:ext>
                </a:extLst>
              </a:tr>
            </a:tbl>
          </a:graphicData>
        </a:graphic>
      </p:graphicFrame>
    </p:spTree>
    <p:extLst>
      <p:ext uri="{BB962C8B-B14F-4D97-AF65-F5344CB8AC3E}">
        <p14:creationId xmlns:p14="http://schemas.microsoft.com/office/powerpoint/2010/main" val="40933607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C05CC7-F5AF-B643-D8B5-C802AA43AD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F070CC-000E-9021-9561-9AA8F841952C}"/>
              </a:ext>
            </a:extLst>
          </p:cNvPr>
          <p:cNvSpPr>
            <a:spLocks noGrp="1"/>
          </p:cNvSpPr>
          <p:nvPr>
            <p:ph type="title"/>
          </p:nvPr>
        </p:nvSpPr>
        <p:spPr/>
        <p:txBody>
          <a:bodyPr/>
          <a:lstStyle/>
          <a:p>
            <a:r>
              <a:rPr lang="en-US" b="1" dirty="0"/>
              <a:t>Header Propagation</a:t>
            </a:r>
            <a:endParaRPr lang="en-IN" dirty="0"/>
          </a:p>
        </p:txBody>
      </p:sp>
      <p:sp>
        <p:nvSpPr>
          <p:cNvPr id="3" name="Content Placeholder 2">
            <a:extLst>
              <a:ext uri="{FF2B5EF4-FFF2-40B4-BE49-F238E27FC236}">
                <a16:creationId xmlns:a16="http://schemas.microsoft.com/office/drawing/2014/main" id="{3B3B1AFA-80F9-7948-9F2F-BEC76DE477BE}"/>
              </a:ext>
            </a:extLst>
          </p:cNvPr>
          <p:cNvSpPr>
            <a:spLocks noGrp="1"/>
          </p:cNvSpPr>
          <p:nvPr>
            <p:ph idx="1"/>
          </p:nvPr>
        </p:nvSpPr>
        <p:spPr>
          <a:xfrm>
            <a:off x="1154954" y="2603500"/>
            <a:ext cx="10083768" cy="3741316"/>
          </a:xfrm>
        </p:spPr>
        <p:txBody>
          <a:bodyPr/>
          <a:lstStyle/>
          <a:p>
            <a:r>
              <a:rPr lang="en-US" dirty="0"/>
              <a:t>When messages are processed (and modified) by message-producing endpoints (such as a service activator), in general, </a:t>
            </a:r>
            <a:r>
              <a:rPr lang="en-US" b="1" dirty="0"/>
              <a:t>inbound headers are propagated to the outbound message. </a:t>
            </a:r>
          </a:p>
          <a:p>
            <a:r>
              <a:rPr lang="en-US" dirty="0"/>
              <a:t>One exception to this is a transformer, when a complete message is returned to the framework.</a:t>
            </a:r>
          </a:p>
          <a:p>
            <a:r>
              <a:rPr lang="en-US" dirty="0"/>
              <a:t> In that case, the user code is responsible for the entire outbound message. </a:t>
            </a:r>
          </a:p>
          <a:p>
            <a:r>
              <a:rPr lang="en-US" dirty="0"/>
              <a:t>When a transformer just returns the payload, the inbound headers are propagated.</a:t>
            </a:r>
          </a:p>
          <a:p>
            <a:r>
              <a:rPr lang="en-US" dirty="0"/>
              <a:t> Also, a header is only propagated if it does not already exist in the outbound message, letting you change header values as needed.</a:t>
            </a:r>
          </a:p>
          <a:p>
            <a:endParaRPr lang="en-IN" dirty="0"/>
          </a:p>
        </p:txBody>
      </p:sp>
    </p:spTree>
    <p:extLst>
      <p:ext uri="{BB962C8B-B14F-4D97-AF65-F5344CB8AC3E}">
        <p14:creationId xmlns:p14="http://schemas.microsoft.com/office/powerpoint/2010/main" val="21811362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D4A72B-5EF8-6920-1F34-5182311E9A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33F241-2BD2-FED2-3292-34082370409C}"/>
              </a:ext>
            </a:extLst>
          </p:cNvPr>
          <p:cNvSpPr>
            <a:spLocks noGrp="1"/>
          </p:cNvSpPr>
          <p:nvPr>
            <p:ph type="title"/>
          </p:nvPr>
        </p:nvSpPr>
        <p:spPr/>
        <p:txBody>
          <a:bodyPr/>
          <a:lstStyle/>
          <a:p>
            <a:r>
              <a:rPr lang="en-US" b="1" dirty="0"/>
              <a:t>Message Implementations</a:t>
            </a:r>
            <a:endParaRPr lang="en-IN" dirty="0"/>
          </a:p>
        </p:txBody>
      </p:sp>
      <p:sp>
        <p:nvSpPr>
          <p:cNvPr id="3" name="Content Placeholder 2">
            <a:extLst>
              <a:ext uri="{FF2B5EF4-FFF2-40B4-BE49-F238E27FC236}">
                <a16:creationId xmlns:a16="http://schemas.microsoft.com/office/drawing/2014/main" id="{E9A2746A-0E5C-B2C6-FDE9-78B606D07036}"/>
              </a:ext>
            </a:extLst>
          </p:cNvPr>
          <p:cNvSpPr>
            <a:spLocks noGrp="1"/>
          </p:cNvSpPr>
          <p:nvPr>
            <p:ph idx="1"/>
          </p:nvPr>
        </p:nvSpPr>
        <p:spPr>
          <a:xfrm>
            <a:off x="1154954" y="2603500"/>
            <a:ext cx="10083768" cy="3741316"/>
          </a:xfrm>
        </p:spPr>
        <p:txBody>
          <a:bodyPr/>
          <a:lstStyle/>
          <a:p>
            <a:r>
              <a:rPr lang="en-US" dirty="0"/>
              <a:t>The base implementation of the Message interface is </a:t>
            </a:r>
            <a:r>
              <a:rPr lang="en-US" dirty="0" err="1"/>
              <a:t>GenericMessage</a:t>
            </a:r>
            <a:r>
              <a:rPr lang="en-US" dirty="0"/>
              <a:t>&lt;T&gt;, and it provides two constructors, shown in the following listing:</a:t>
            </a:r>
          </a:p>
          <a:p>
            <a:pPr marL="0" indent="0">
              <a:buNone/>
            </a:pPr>
            <a:r>
              <a:rPr lang="en-US" b="1" dirty="0">
                <a:solidFill>
                  <a:srgbClr val="C00000"/>
                </a:solidFill>
              </a:rPr>
              <a:t>new </a:t>
            </a:r>
            <a:r>
              <a:rPr lang="en-US" b="1" dirty="0" err="1">
                <a:solidFill>
                  <a:srgbClr val="C00000"/>
                </a:solidFill>
              </a:rPr>
              <a:t>GenericMessage</a:t>
            </a:r>
            <a:r>
              <a:rPr lang="en-US" b="1" dirty="0">
                <a:solidFill>
                  <a:srgbClr val="C00000"/>
                </a:solidFill>
              </a:rPr>
              <a:t>&lt;T&gt;(T payload);</a:t>
            </a:r>
          </a:p>
          <a:p>
            <a:pPr marL="0" indent="0">
              <a:buNone/>
            </a:pPr>
            <a:r>
              <a:rPr lang="en-US" b="1" dirty="0">
                <a:solidFill>
                  <a:srgbClr val="C00000"/>
                </a:solidFill>
              </a:rPr>
              <a:t>new </a:t>
            </a:r>
            <a:r>
              <a:rPr lang="en-US" b="1" dirty="0" err="1">
                <a:solidFill>
                  <a:srgbClr val="C00000"/>
                </a:solidFill>
              </a:rPr>
              <a:t>GenericMessage</a:t>
            </a:r>
            <a:r>
              <a:rPr lang="en-US" b="1" dirty="0">
                <a:solidFill>
                  <a:srgbClr val="C00000"/>
                </a:solidFill>
              </a:rPr>
              <a:t>&lt;T&gt;(T payload, Map&lt;String, Object&gt; headers)</a:t>
            </a:r>
          </a:p>
          <a:p>
            <a:r>
              <a:rPr lang="en-US" dirty="0"/>
              <a:t>When a Message is created, a random unique ID is generated. </a:t>
            </a:r>
          </a:p>
          <a:p>
            <a:r>
              <a:rPr lang="en-US" dirty="0"/>
              <a:t>The constructor that accepts a Map of headers copies the provided headers to the newly created Message.</a:t>
            </a:r>
          </a:p>
          <a:p>
            <a:endParaRPr lang="en-IN" dirty="0"/>
          </a:p>
        </p:txBody>
      </p:sp>
    </p:spTree>
    <p:extLst>
      <p:ext uri="{BB962C8B-B14F-4D97-AF65-F5344CB8AC3E}">
        <p14:creationId xmlns:p14="http://schemas.microsoft.com/office/powerpoint/2010/main" val="5171259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22DAD7-F140-5FD4-175A-F01874D68C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3EF594-36EB-8E91-C561-938CF28DD236}"/>
              </a:ext>
            </a:extLst>
          </p:cNvPr>
          <p:cNvSpPr>
            <a:spLocks noGrp="1"/>
          </p:cNvSpPr>
          <p:nvPr>
            <p:ph type="title"/>
          </p:nvPr>
        </p:nvSpPr>
        <p:spPr/>
        <p:txBody>
          <a:bodyPr/>
          <a:lstStyle/>
          <a:p>
            <a:r>
              <a:rPr lang="en-US" b="1" dirty="0" err="1"/>
              <a:t>MessageBuilder</a:t>
            </a:r>
            <a:r>
              <a:rPr lang="en-US" b="1" dirty="0"/>
              <a:t> Helper Class</a:t>
            </a:r>
            <a:endParaRPr lang="en-IN" dirty="0"/>
          </a:p>
        </p:txBody>
      </p:sp>
      <p:sp>
        <p:nvSpPr>
          <p:cNvPr id="3" name="Content Placeholder 2">
            <a:extLst>
              <a:ext uri="{FF2B5EF4-FFF2-40B4-BE49-F238E27FC236}">
                <a16:creationId xmlns:a16="http://schemas.microsoft.com/office/drawing/2014/main" id="{7D613EEA-75F3-457B-9FAB-08B39B7DD1AB}"/>
              </a:ext>
            </a:extLst>
          </p:cNvPr>
          <p:cNvSpPr>
            <a:spLocks noGrp="1"/>
          </p:cNvSpPr>
          <p:nvPr>
            <p:ph idx="1"/>
          </p:nvPr>
        </p:nvSpPr>
        <p:spPr>
          <a:xfrm>
            <a:off x="1154954" y="2603500"/>
            <a:ext cx="10083768" cy="3741316"/>
          </a:xfrm>
        </p:spPr>
        <p:txBody>
          <a:bodyPr>
            <a:normAutofit fontScale="85000" lnSpcReduction="10000"/>
          </a:bodyPr>
          <a:lstStyle/>
          <a:p>
            <a:r>
              <a:rPr lang="en-US" dirty="0"/>
              <a:t>Message interface defines retrieval methods for its payload and headers but </a:t>
            </a:r>
            <a:r>
              <a:rPr lang="en-US" b="1" dirty="0"/>
              <a:t>provides no setters. </a:t>
            </a:r>
          </a:p>
          <a:p>
            <a:r>
              <a:rPr lang="en-US" dirty="0"/>
              <a:t>Message cannot be modified after its initial creation. </a:t>
            </a:r>
          </a:p>
          <a:p>
            <a:r>
              <a:rPr lang="en-US" dirty="0"/>
              <a:t>Therefore, when a Message instance is sent to multiple consumers, (for example, through a publish-subscribe Channel), if one of those consumers needs to send a reply with a different payload type, it must create a new Message. </a:t>
            </a:r>
          </a:p>
          <a:p>
            <a:r>
              <a:rPr lang="en-US" dirty="0"/>
              <a:t>As a result, the other consumers are not affected by those changes. </a:t>
            </a:r>
          </a:p>
          <a:p>
            <a:r>
              <a:rPr lang="en-US" dirty="0"/>
              <a:t>Multiple consumers may access the same payload instance or header value, and whether such an instance is itself immutable is a decision left to you. </a:t>
            </a:r>
          </a:p>
          <a:p>
            <a:r>
              <a:rPr lang="en-US" dirty="0"/>
              <a:t>Contract for Message instances is similar to that of an unmodifiable Collection, and the </a:t>
            </a:r>
            <a:r>
              <a:rPr lang="en-US" dirty="0" err="1"/>
              <a:t>MessageHeaders</a:t>
            </a:r>
            <a:r>
              <a:rPr lang="en-US" dirty="0"/>
              <a:t> map further exemplifies that. </a:t>
            </a:r>
          </a:p>
          <a:p>
            <a:r>
              <a:rPr lang="en-US" dirty="0"/>
              <a:t>Even though the </a:t>
            </a:r>
            <a:r>
              <a:rPr lang="en-US" dirty="0" err="1"/>
              <a:t>MessageHeaders</a:t>
            </a:r>
            <a:r>
              <a:rPr lang="en-US" dirty="0"/>
              <a:t> class implements </a:t>
            </a:r>
            <a:r>
              <a:rPr lang="en-US" dirty="0" err="1"/>
              <a:t>java.util.Map</a:t>
            </a:r>
            <a:r>
              <a:rPr lang="en-US" dirty="0"/>
              <a:t>, any attempt to invoke a put operation (or 'remove' or 'clear') on a </a:t>
            </a:r>
            <a:r>
              <a:rPr lang="en-US" dirty="0" err="1"/>
              <a:t>MessageHeaders</a:t>
            </a:r>
            <a:r>
              <a:rPr lang="en-US" dirty="0"/>
              <a:t> instance results in an </a:t>
            </a:r>
            <a:r>
              <a:rPr lang="en-US" dirty="0" err="1"/>
              <a:t>UnsupportedOperationException</a:t>
            </a:r>
            <a:r>
              <a:rPr lang="en-US" dirty="0"/>
              <a:t>.</a:t>
            </a:r>
          </a:p>
          <a:p>
            <a:endParaRPr lang="en-IN" dirty="0"/>
          </a:p>
        </p:txBody>
      </p:sp>
    </p:spTree>
    <p:extLst>
      <p:ext uri="{BB962C8B-B14F-4D97-AF65-F5344CB8AC3E}">
        <p14:creationId xmlns:p14="http://schemas.microsoft.com/office/powerpoint/2010/main" val="7933735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B1763-C8E8-3526-1CBE-FA09EB0F7F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E2603B-0F5D-0936-149A-C53755CF12FD}"/>
              </a:ext>
            </a:extLst>
          </p:cNvPr>
          <p:cNvSpPr>
            <a:spLocks noGrp="1"/>
          </p:cNvSpPr>
          <p:nvPr>
            <p:ph type="title"/>
          </p:nvPr>
        </p:nvSpPr>
        <p:spPr/>
        <p:txBody>
          <a:bodyPr/>
          <a:lstStyle/>
          <a:p>
            <a:r>
              <a:rPr lang="en-US" b="1" dirty="0" err="1"/>
              <a:t>MessageBuilder</a:t>
            </a:r>
            <a:r>
              <a:rPr lang="en-US" b="1" dirty="0"/>
              <a:t> Helper Class</a:t>
            </a:r>
            <a:endParaRPr lang="en-IN" dirty="0"/>
          </a:p>
        </p:txBody>
      </p:sp>
      <p:sp>
        <p:nvSpPr>
          <p:cNvPr id="3" name="Content Placeholder 2">
            <a:extLst>
              <a:ext uri="{FF2B5EF4-FFF2-40B4-BE49-F238E27FC236}">
                <a16:creationId xmlns:a16="http://schemas.microsoft.com/office/drawing/2014/main" id="{63F84973-68BE-1B39-8107-99315EB28D85}"/>
              </a:ext>
            </a:extLst>
          </p:cNvPr>
          <p:cNvSpPr>
            <a:spLocks noGrp="1"/>
          </p:cNvSpPr>
          <p:nvPr>
            <p:ph idx="1"/>
          </p:nvPr>
        </p:nvSpPr>
        <p:spPr>
          <a:xfrm>
            <a:off x="1154954" y="2603500"/>
            <a:ext cx="10083768" cy="3741316"/>
          </a:xfrm>
        </p:spPr>
        <p:txBody>
          <a:bodyPr/>
          <a:lstStyle/>
          <a:p>
            <a:r>
              <a:rPr lang="en-US" dirty="0"/>
              <a:t>Rather than requiring the creation and population of a Map to pass into the </a:t>
            </a:r>
            <a:r>
              <a:rPr lang="en-US" dirty="0" err="1"/>
              <a:t>GenericMessage</a:t>
            </a:r>
            <a:r>
              <a:rPr lang="en-US" dirty="0"/>
              <a:t> constructor, Spring Integration does provide a far more convenient way to </a:t>
            </a:r>
            <a:r>
              <a:rPr lang="en-US" b="1" dirty="0"/>
              <a:t>construct Messages</a:t>
            </a:r>
            <a:r>
              <a:rPr lang="en-US" dirty="0"/>
              <a:t>: </a:t>
            </a:r>
            <a:r>
              <a:rPr lang="en-US" b="1" dirty="0" err="1"/>
              <a:t>MessageBuilder</a:t>
            </a:r>
            <a:r>
              <a:rPr lang="en-US" dirty="0"/>
              <a:t>. </a:t>
            </a:r>
          </a:p>
          <a:p>
            <a:r>
              <a:rPr lang="en-US" dirty="0" err="1"/>
              <a:t>MessageBuilder</a:t>
            </a:r>
            <a:r>
              <a:rPr lang="en-US" dirty="0"/>
              <a:t> provides two factory methods for creating Message instances from either an existing Message or with a payload Object. </a:t>
            </a:r>
            <a:endParaRPr lang="en-IN" dirty="0"/>
          </a:p>
        </p:txBody>
      </p:sp>
    </p:spTree>
    <p:extLst>
      <p:ext uri="{BB962C8B-B14F-4D97-AF65-F5344CB8AC3E}">
        <p14:creationId xmlns:p14="http://schemas.microsoft.com/office/powerpoint/2010/main" val="19637126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1FD1FC-960E-C5E6-F61A-4FA5F349EE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F3C69A-1E83-4BD6-BA15-D23404576EDF}"/>
              </a:ext>
            </a:extLst>
          </p:cNvPr>
          <p:cNvSpPr>
            <a:spLocks noGrp="1"/>
          </p:cNvSpPr>
          <p:nvPr>
            <p:ph type="title"/>
          </p:nvPr>
        </p:nvSpPr>
        <p:spPr/>
        <p:txBody>
          <a:bodyPr/>
          <a:lstStyle/>
          <a:p>
            <a:r>
              <a:rPr lang="en-US" b="1" dirty="0" err="1"/>
              <a:t>MessageBuilder</a:t>
            </a:r>
            <a:r>
              <a:rPr lang="en-US" b="1" dirty="0"/>
              <a:t> Helper Class</a:t>
            </a:r>
            <a:endParaRPr lang="en-IN" dirty="0"/>
          </a:p>
        </p:txBody>
      </p:sp>
      <p:sp>
        <p:nvSpPr>
          <p:cNvPr id="3" name="Content Placeholder 2">
            <a:extLst>
              <a:ext uri="{FF2B5EF4-FFF2-40B4-BE49-F238E27FC236}">
                <a16:creationId xmlns:a16="http://schemas.microsoft.com/office/drawing/2014/main" id="{7494F7FF-6473-307B-69C6-1D3900AB5686}"/>
              </a:ext>
            </a:extLst>
          </p:cNvPr>
          <p:cNvSpPr>
            <a:spLocks noGrp="1"/>
          </p:cNvSpPr>
          <p:nvPr>
            <p:ph idx="1"/>
          </p:nvPr>
        </p:nvSpPr>
        <p:spPr>
          <a:xfrm>
            <a:off x="1154954" y="2603500"/>
            <a:ext cx="10083768" cy="3741316"/>
          </a:xfrm>
        </p:spPr>
        <p:txBody>
          <a:bodyPr>
            <a:normAutofit lnSpcReduction="10000"/>
          </a:bodyPr>
          <a:lstStyle/>
          <a:p>
            <a:r>
              <a:rPr lang="en-US" dirty="0"/>
              <a:t>When building from an existing Message, the headers and payload of that Message are copied to the new Message, as the following example shows:</a:t>
            </a:r>
          </a:p>
          <a:p>
            <a:pPr marL="0" indent="0">
              <a:buNone/>
            </a:pPr>
            <a:r>
              <a:rPr lang="en-US" b="1" dirty="0">
                <a:solidFill>
                  <a:srgbClr val="FF0000"/>
                </a:solidFill>
              </a:rPr>
              <a:t>Message&lt;String&gt; message1 = </a:t>
            </a:r>
            <a:r>
              <a:rPr lang="en-US" b="1" dirty="0" err="1">
                <a:solidFill>
                  <a:srgbClr val="FF0000"/>
                </a:solidFill>
              </a:rPr>
              <a:t>MessageBuilder.withPayload</a:t>
            </a:r>
            <a:r>
              <a:rPr lang="en-US" b="1" dirty="0">
                <a:solidFill>
                  <a:srgbClr val="FF0000"/>
                </a:solidFill>
              </a:rPr>
              <a:t>("test")</a:t>
            </a:r>
          </a:p>
          <a:p>
            <a:pPr marL="0" indent="0">
              <a:buNone/>
            </a:pPr>
            <a:r>
              <a:rPr lang="en-US" b="1" dirty="0">
                <a:solidFill>
                  <a:srgbClr val="FF0000"/>
                </a:solidFill>
              </a:rPr>
              <a:t>        .</a:t>
            </a:r>
            <a:r>
              <a:rPr lang="en-US" b="1" dirty="0" err="1">
                <a:solidFill>
                  <a:srgbClr val="FF0000"/>
                </a:solidFill>
              </a:rPr>
              <a:t>setHeader</a:t>
            </a:r>
            <a:r>
              <a:rPr lang="en-US" b="1" dirty="0">
                <a:solidFill>
                  <a:srgbClr val="FF0000"/>
                </a:solidFill>
              </a:rPr>
              <a:t>("foo", "bar")</a:t>
            </a:r>
          </a:p>
          <a:p>
            <a:pPr marL="0" indent="0">
              <a:buNone/>
            </a:pPr>
            <a:r>
              <a:rPr lang="en-US" b="1" dirty="0">
                <a:solidFill>
                  <a:srgbClr val="FF0000"/>
                </a:solidFill>
              </a:rPr>
              <a:t>        .build();</a:t>
            </a:r>
          </a:p>
          <a:p>
            <a:pPr marL="0" indent="0">
              <a:buNone/>
            </a:pPr>
            <a:endParaRPr lang="en-US" dirty="0"/>
          </a:p>
          <a:p>
            <a:pPr marL="0" indent="0">
              <a:buNone/>
            </a:pPr>
            <a:r>
              <a:rPr lang="en-US" b="1" dirty="0">
                <a:solidFill>
                  <a:srgbClr val="FF0000"/>
                </a:solidFill>
              </a:rPr>
              <a:t>Message&lt;String&gt; message2 = </a:t>
            </a:r>
            <a:r>
              <a:rPr lang="en-US" b="1" dirty="0" err="1">
                <a:solidFill>
                  <a:srgbClr val="FF0000"/>
                </a:solidFill>
              </a:rPr>
              <a:t>MessageBuilder.fromMessage</a:t>
            </a:r>
            <a:r>
              <a:rPr lang="en-US" b="1" dirty="0">
                <a:solidFill>
                  <a:srgbClr val="FF0000"/>
                </a:solidFill>
              </a:rPr>
              <a:t>(message1).build();</a:t>
            </a:r>
          </a:p>
          <a:p>
            <a:pPr marL="0" indent="0">
              <a:buNone/>
            </a:pPr>
            <a:endParaRPr lang="en-US" dirty="0"/>
          </a:p>
          <a:p>
            <a:pPr marL="0" indent="0">
              <a:buNone/>
            </a:pPr>
            <a:r>
              <a:rPr lang="en-US" dirty="0" err="1"/>
              <a:t>assertEquals</a:t>
            </a:r>
            <a:r>
              <a:rPr lang="en-US" dirty="0"/>
              <a:t>("test", message2.getPayload());</a:t>
            </a:r>
          </a:p>
          <a:p>
            <a:pPr marL="0" indent="0">
              <a:buNone/>
            </a:pPr>
            <a:r>
              <a:rPr lang="en-US" dirty="0" err="1"/>
              <a:t>assertEquals</a:t>
            </a:r>
            <a:r>
              <a:rPr lang="en-US" dirty="0"/>
              <a:t>("bar", message2.getHeaders().get("foo"));</a:t>
            </a:r>
          </a:p>
          <a:p>
            <a:endParaRPr lang="en-IN" dirty="0"/>
          </a:p>
        </p:txBody>
      </p:sp>
    </p:spTree>
    <p:extLst>
      <p:ext uri="{BB962C8B-B14F-4D97-AF65-F5344CB8AC3E}">
        <p14:creationId xmlns:p14="http://schemas.microsoft.com/office/powerpoint/2010/main" val="5824718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9EEB7-2BC6-302A-9A0E-8B01B8A4E1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DA88AA-A47E-5A19-0211-6DE12B9D41DB}"/>
              </a:ext>
            </a:extLst>
          </p:cNvPr>
          <p:cNvSpPr>
            <a:spLocks noGrp="1"/>
          </p:cNvSpPr>
          <p:nvPr>
            <p:ph type="title"/>
          </p:nvPr>
        </p:nvSpPr>
        <p:spPr/>
        <p:txBody>
          <a:bodyPr/>
          <a:lstStyle/>
          <a:p>
            <a:r>
              <a:rPr lang="en-US" b="1" dirty="0" err="1"/>
              <a:t>MessageBuilder</a:t>
            </a:r>
            <a:r>
              <a:rPr lang="en-US" b="1" dirty="0"/>
              <a:t> Helper Class</a:t>
            </a:r>
            <a:endParaRPr lang="en-IN" dirty="0"/>
          </a:p>
        </p:txBody>
      </p:sp>
      <p:sp>
        <p:nvSpPr>
          <p:cNvPr id="3" name="Content Placeholder 2">
            <a:extLst>
              <a:ext uri="{FF2B5EF4-FFF2-40B4-BE49-F238E27FC236}">
                <a16:creationId xmlns:a16="http://schemas.microsoft.com/office/drawing/2014/main" id="{BB06E13A-61B9-7B1F-B434-2D8543BA2331}"/>
              </a:ext>
            </a:extLst>
          </p:cNvPr>
          <p:cNvSpPr>
            <a:spLocks noGrp="1"/>
          </p:cNvSpPr>
          <p:nvPr>
            <p:ph idx="1"/>
          </p:nvPr>
        </p:nvSpPr>
        <p:spPr>
          <a:xfrm>
            <a:off x="1154954" y="2603500"/>
            <a:ext cx="10083768" cy="3741316"/>
          </a:xfrm>
        </p:spPr>
        <p:txBody>
          <a:bodyPr>
            <a:normAutofit fontScale="70000" lnSpcReduction="20000"/>
          </a:bodyPr>
          <a:lstStyle/>
          <a:p>
            <a:r>
              <a:rPr lang="en-US" dirty="0"/>
              <a:t>If you need to create a Message with a new payload but still want to copy the headers from an existing Message, you can use one of the 'copy' methods, as the following example shows:</a:t>
            </a:r>
          </a:p>
          <a:p>
            <a:pPr marL="0" indent="0">
              <a:buNone/>
            </a:pPr>
            <a:r>
              <a:rPr lang="en-US" sz="1900" b="1" dirty="0">
                <a:solidFill>
                  <a:srgbClr val="FF0000"/>
                </a:solidFill>
              </a:rPr>
              <a:t>Message&lt;String&gt; message3 = </a:t>
            </a:r>
            <a:r>
              <a:rPr lang="en-US" sz="1900" b="1" dirty="0" err="1">
                <a:solidFill>
                  <a:srgbClr val="FF0000"/>
                </a:solidFill>
              </a:rPr>
              <a:t>MessageBuilder.withPayload</a:t>
            </a:r>
            <a:r>
              <a:rPr lang="en-US" sz="1900" b="1" dirty="0">
                <a:solidFill>
                  <a:srgbClr val="FF0000"/>
                </a:solidFill>
              </a:rPr>
              <a:t>("test3")</a:t>
            </a:r>
          </a:p>
          <a:p>
            <a:pPr marL="0" indent="0">
              <a:buNone/>
            </a:pPr>
            <a:r>
              <a:rPr lang="en-US" sz="1900" b="1" dirty="0">
                <a:solidFill>
                  <a:srgbClr val="FF0000"/>
                </a:solidFill>
              </a:rPr>
              <a:t>        .</a:t>
            </a:r>
            <a:r>
              <a:rPr lang="en-US" sz="1900" b="1" dirty="0" err="1">
                <a:solidFill>
                  <a:srgbClr val="FF0000"/>
                </a:solidFill>
              </a:rPr>
              <a:t>copyHeaders</a:t>
            </a:r>
            <a:r>
              <a:rPr lang="en-US" sz="1900" b="1" dirty="0">
                <a:solidFill>
                  <a:srgbClr val="FF0000"/>
                </a:solidFill>
              </a:rPr>
              <a:t>(message1.getHeaders())</a:t>
            </a:r>
          </a:p>
          <a:p>
            <a:pPr marL="0" indent="0">
              <a:buNone/>
            </a:pPr>
            <a:r>
              <a:rPr lang="en-US" sz="1900" b="1" dirty="0">
                <a:solidFill>
                  <a:srgbClr val="FF0000"/>
                </a:solidFill>
              </a:rPr>
              <a:t>        .build();</a:t>
            </a:r>
          </a:p>
          <a:p>
            <a:pPr marL="0" indent="0">
              <a:buNone/>
            </a:pPr>
            <a:endParaRPr lang="en-US" sz="1900" b="1" dirty="0">
              <a:solidFill>
                <a:srgbClr val="FF0000"/>
              </a:solidFill>
            </a:endParaRPr>
          </a:p>
          <a:p>
            <a:pPr marL="0" indent="0">
              <a:buNone/>
            </a:pPr>
            <a:r>
              <a:rPr lang="en-US" sz="1900" b="1" dirty="0">
                <a:solidFill>
                  <a:srgbClr val="FF0000"/>
                </a:solidFill>
              </a:rPr>
              <a:t>Message&lt;String&gt; message4 = </a:t>
            </a:r>
            <a:r>
              <a:rPr lang="en-US" sz="1900" b="1" dirty="0" err="1">
                <a:solidFill>
                  <a:srgbClr val="FF0000"/>
                </a:solidFill>
              </a:rPr>
              <a:t>MessageBuilder.withPayload</a:t>
            </a:r>
            <a:r>
              <a:rPr lang="en-US" sz="1900" b="1" dirty="0">
                <a:solidFill>
                  <a:srgbClr val="FF0000"/>
                </a:solidFill>
              </a:rPr>
              <a:t>("test4")</a:t>
            </a:r>
          </a:p>
          <a:p>
            <a:pPr marL="0" indent="0">
              <a:buNone/>
            </a:pPr>
            <a:r>
              <a:rPr lang="en-US" sz="1900" b="1" dirty="0">
                <a:solidFill>
                  <a:srgbClr val="FF0000"/>
                </a:solidFill>
              </a:rPr>
              <a:t>        .</a:t>
            </a:r>
            <a:r>
              <a:rPr lang="en-US" sz="1900" b="1" dirty="0" err="1">
                <a:solidFill>
                  <a:srgbClr val="FF0000"/>
                </a:solidFill>
              </a:rPr>
              <a:t>setHeader</a:t>
            </a:r>
            <a:r>
              <a:rPr lang="en-US" sz="1900" b="1" dirty="0">
                <a:solidFill>
                  <a:srgbClr val="FF0000"/>
                </a:solidFill>
              </a:rPr>
              <a:t>("foo", 123)</a:t>
            </a:r>
          </a:p>
          <a:p>
            <a:pPr marL="0" indent="0">
              <a:buNone/>
            </a:pPr>
            <a:r>
              <a:rPr lang="en-US" sz="1900" b="1" dirty="0">
                <a:solidFill>
                  <a:srgbClr val="FF0000"/>
                </a:solidFill>
              </a:rPr>
              <a:t>        .</a:t>
            </a:r>
            <a:r>
              <a:rPr lang="en-US" sz="1900" b="1" dirty="0" err="1">
                <a:solidFill>
                  <a:srgbClr val="FF0000"/>
                </a:solidFill>
              </a:rPr>
              <a:t>copyHeadersIfAbsent</a:t>
            </a:r>
            <a:r>
              <a:rPr lang="en-US" sz="1900" b="1" dirty="0">
                <a:solidFill>
                  <a:srgbClr val="FF0000"/>
                </a:solidFill>
              </a:rPr>
              <a:t>(message1.getHeaders())</a:t>
            </a:r>
          </a:p>
          <a:p>
            <a:pPr marL="0" indent="0">
              <a:buNone/>
            </a:pPr>
            <a:r>
              <a:rPr lang="en-US" sz="1900" b="1" dirty="0">
                <a:solidFill>
                  <a:srgbClr val="FF0000"/>
                </a:solidFill>
              </a:rPr>
              <a:t>        .build();</a:t>
            </a:r>
          </a:p>
          <a:p>
            <a:pPr marL="0" indent="0">
              <a:buNone/>
            </a:pPr>
            <a:endParaRPr lang="en-US" sz="1900" dirty="0"/>
          </a:p>
          <a:p>
            <a:pPr marL="0" indent="0">
              <a:buNone/>
            </a:pPr>
            <a:r>
              <a:rPr lang="en-US" sz="1900" dirty="0" err="1"/>
              <a:t>assertEquals</a:t>
            </a:r>
            <a:r>
              <a:rPr lang="en-US" sz="1900" dirty="0"/>
              <a:t>("bar", message3.getHeaders().get("foo"));</a:t>
            </a:r>
          </a:p>
          <a:p>
            <a:pPr marL="0" indent="0">
              <a:buNone/>
            </a:pPr>
            <a:r>
              <a:rPr lang="en-US" sz="1900" dirty="0" err="1"/>
              <a:t>assertEquals</a:t>
            </a:r>
            <a:r>
              <a:rPr lang="en-US" sz="1900" dirty="0"/>
              <a:t>(123, message4.getHeaders().get("foo"));</a:t>
            </a:r>
          </a:p>
          <a:p>
            <a:endParaRPr lang="en-IN" dirty="0"/>
          </a:p>
        </p:txBody>
      </p:sp>
    </p:spTree>
    <p:extLst>
      <p:ext uri="{BB962C8B-B14F-4D97-AF65-F5344CB8AC3E}">
        <p14:creationId xmlns:p14="http://schemas.microsoft.com/office/powerpoint/2010/main" val="11699783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E94DAB-F579-B541-0B3B-E8843AE819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677B71-2F60-EA46-84E5-64193229FD53}"/>
              </a:ext>
            </a:extLst>
          </p:cNvPr>
          <p:cNvSpPr>
            <a:spLocks noGrp="1"/>
          </p:cNvSpPr>
          <p:nvPr>
            <p:ph type="title"/>
          </p:nvPr>
        </p:nvSpPr>
        <p:spPr/>
        <p:txBody>
          <a:bodyPr/>
          <a:lstStyle/>
          <a:p>
            <a:r>
              <a:rPr lang="en-US" b="1" dirty="0" err="1"/>
              <a:t>MessageBuilder</a:t>
            </a:r>
            <a:r>
              <a:rPr lang="en-US" b="1" dirty="0"/>
              <a:t> Helper Class</a:t>
            </a:r>
            <a:endParaRPr lang="en-IN" dirty="0"/>
          </a:p>
        </p:txBody>
      </p:sp>
      <p:sp>
        <p:nvSpPr>
          <p:cNvPr id="3" name="Content Placeholder 2">
            <a:extLst>
              <a:ext uri="{FF2B5EF4-FFF2-40B4-BE49-F238E27FC236}">
                <a16:creationId xmlns:a16="http://schemas.microsoft.com/office/drawing/2014/main" id="{4A43094F-0A98-DE8C-658E-EA8633FB428D}"/>
              </a:ext>
            </a:extLst>
          </p:cNvPr>
          <p:cNvSpPr>
            <a:spLocks noGrp="1"/>
          </p:cNvSpPr>
          <p:nvPr>
            <p:ph idx="1"/>
          </p:nvPr>
        </p:nvSpPr>
        <p:spPr>
          <a:xfrm>
            <a:off x="1154954" y="2603500"/>
            <a:ext cx="10083768" cy="3741316"/>
          </a:xfrm>
        </p:spPr>
        <p:txBody>
          <a:bodyPr>
            <a:normAutofit fontScale="85000" lnSpcReduction="10000"/>
          </a:bodyPr>
          <a:lstStyle/>
          <a:p>
            <a:r>
              <a:rPr lang="en-IN" dirty="0"/>
              <a:t>Can also use </a:t>
            </a:r>
            <a:r>
              <a:rPr lang="en-IN" dirty="0" err="1"/>
              <a:t>MessageBuilder</a:t>
            </a:r>
            <a:r>
              <a:rPr lang="en-IN" dirty="0"/>
              <a:t> to set the priority of messages, as the following example shows:</a:t>
            </a:r>
          </a:p>
          <a:p>
            <a:pPr marL="0" indent="0">
              <a:buNone/>
            </a:pPr>
            <a:r>
              <a:rPr lang="en-IN" b="1" dirty="0">
                <a:solidFill>
                  <a:srgbClr val="FF0000"/>
                </a:solidFill>
              </a:rPr>
              <a:t>Message&lt;Integer&gt; </a:t>
            </a:r>
            <a:r>
              <a:rPr lang="en-IN" b="1" dirty="0" err="1">
                <a:solidFill>
                  <a:srgbClr val="FF0000"/>
                </a:solidFill>
              </a:rPr>
              <a:t>importantMessage</a:t>
            </a:r>
            <a:r>
              <a:rPr lang="en-IN" b="1" dirty="0">
                <a:solidFill>
                  <a:srgbClr val="FF0000"/>
                </a:solidFill>
              </a:rPr>
              <a:t> = </a:t>
            </a:r>
            <a:r>
              <a:rPr lang="en-IN" b="1" dirty="0" err="1">
                <a:solidFill>
                  <a:srgbClr val="FF0000"/>
                </a:solidFill>
              </a:rPr>
              <a:t>MessageBuilder.withPayload</a:t>
            </a:r>
            <a:r>
              <a:rPr lang="en-IN" b="1" dirty="0">
                <a:solidFill>
                  <a:srgbClr val="FF0000"/>
                </a:solidFill>
              </a:rPr>
              <a:t>(99)</a:t>
            </a:r>
          </a:p>
          <a:p>
            <a:pPr marL="0" indent="0">
              <a:buNone/>
            </a:pPr>
            <a:r>
              <a:rPr lang="en-IN" b="1" dirty="0">
                <a:solidFill>
                  <a:srgbClr val="FF0000"/>
                </a:solidFill>
              </a:rPr>
              <a:t>        .</a:t>
            </a:r>
            <a:r>
              <a:rPr lang="en-IN" b="1" dirty="0" err="1">
                <a:solidFill>
                  <a:srgbClr val="FF0000"/>
                </a:solidFill>
              </a:rPr>
              <a:t>setPriority</a:t>
            </a:r>
            <a:r>
              <a:rPr lang="en-IN" b="1" dirty="0">
                <a:solidFill>
                  <a:srgbClr val="FF0000"/>
                </a:solidFill>
              </a:rPr>
              <a:t>(5)</a:t>
            </a:r>
          </a:p>
          <a:p>
            <a:pPr marL="0" indent="0">
              <a:buNone/>
            </a:pPr>
            <a:r>
              <a:rPr lang="en-IN" b="1" dirty="0">
                <a:solidFill>
                  <a:srgbClr val="FF0000"/>
                </a:solidFill>
              </a:rPr>
              <a:t>        .build();</a:t>
            </a:r>
          </a:p>
          <a:p>
            <a:pPr marL="0" indent="0">
              <a:buNone/>
            </a:pPr>
            <a:r>
              <a:rPr lang="en-IN" dirty="0" err="1"/>
              <a:t>assertEquals</a:t>
            </a:r>
            <a:r>
              <a:rPr lang="en-IN" dirty="0"/>
              <a:t>(5, </a:t>
            </a:r>
            <a:r>
              <a:rPr lang="en-IN" dirty="0" err="1"/>
              <a:t>importantMessage.getHeaders</a:t>
            </a:r>
            <a:r>
              <a:rPr lang="en-IN" dirty="0"/>
              <a:t>().</a:t>
            </a:r>
            <a:r>
              <a:rPr lang="en-IN" dirty="0" err="1"/>
              <a:t>getPriority</a:t>
            </a:r>
            <a:r>
              <a:rPr lang="en-IN" dirty="0"/>
              <a:t>());</a:t>
            </a:r>
          </a:p>
          <a:p>
            <a:pPr marL="0" indent="0">
              <a:buNone/>
            </a:pPr>
            <a:endParaRPr lang="en-IN" dirty="0"/>
          </a:p>
          <a:p>
            <a:pPr marL="0" indent="0">
              <a:buNone/>
            </a:pPr>
            <a:r>
              <a:rPr lang="en-IN" b="1" dirty="0">
                <a:solidFill>
                  <a:srgbClr val="FF0000"/>
                </a:solidFill>
              </a:rPr>
              <a:t>Message&lt;Integer&gt; </a:t>
            </a:r>
            <a:r>
              <a:rPr lang="en-IN" b="1" dirty="0" err="1">
                <a:solidFill>
                  <a:srgbClr val="FF0000"/>
                </a:solidFill>
              </a:rPr>
              <a:t>lessImportantMessage</a:t>
            </a:r>
            <a:r>
              <a:rPr lang="en-IN" b="1" dirty="0">
                <a:solidFill>
                  <a:srgbClr val="FF0000"/>
                </a:solidFill>
              </a:rPr>
              <a:t> = </a:t>
            </a:r>
            <a:r>
              <a:rPr lang="en-IN" b="1" dirty="0" err="1">
                <a:solidFill>
                  <a:srgbClr val="FF0000"/>
                </a:solidFill>
              </a:rPr>
              <a:t>MessageBuilder.fromMessage</a:t>
            </a:r>
            <a:r>
              <a:rPr lang="en-IN" b="1" dirty="0">
                <a:solidFill>
                  <a:srgbClr val="FF0000"/>
                </a:solidFill>
              </a:rPr>
              <a:t>(</a:t>
            </a:r>
            <a:r>
              <a:rPr lang="en-IN" b="1" dirty="0" err="1">
                <a:solidFill>
                  <a:srgbClr val="FF0000"/>
                </a:solidFill>
              </a:rPr>
              <a:t>importantMessage</a:t>
            </a:r>
            <a:r>
              <a:rPr lang="en-IN" b="1" dirty="0">
                <a:solidFill>
                  <a:srgbClr val="FF0000"/>
                </a:solidFill>
              </a:rPr>
              <a:t>)</a:t>
            </a:r>
          </a:p>
          <a:p>
            <a:pPr marL="0" indent="0">
              <a:buNone/>
            </a:pPr>
            <a:r>
              <a:rPr lang="en-IN" b="1" dirty="0">
                <a:solidFill>
                  <a:srgbClr val="FF0000"/>
                </a:solidFill>
              </a:rPr>
              <a:t>        .</a:t>
            </a:r>
            <a:r>
              <a:rPr lang="en-IN" b="1" dirty="0" err="1">
                <a:solidFill>
                  <a:srgbClr val="FF0000"/>
                </a:solidFill>
              </a:rPr>
              <a:t>setHeaderIfAbsent</a:t>
            </a:r>
            <a:r>
              <a:rPr lang="en-IN" b="1" dirty="0">
                <a:solidFill>
                  <a:srgbClr val="FF0000"/>
                </a:solidFill>
              </a:rPr>
              <a:t>(</a:t>
            </a:r>
            <a:r>
              <a:rPr lang="en-IN" b="1" dirty="0" err="1">
                <a:solidFill>
                  <a:srgbClr val="FF0000"/>
                </a:solidFill>
              </a:rPr>
              <a:t>IntegrationMessageHeaderAccessor.PRIORITY</a:t>
            </a:r>
            <a:r>
              <a:rPr lang="en-IN" b="1" dirty="0">
                <a:solidFill>
                  <a:srgbClr val="FF0000"/>
                </a:solidFill>
              </a:rPr>
              <a:t>, 2)</a:t>
            </a:r>
          </a:p>
          <a:p>
            <a:pPr marL="0" indent="0">
              <a:buNone/>
            </a:pPr>
            <a:r>
              <a:rPr lang="en-IN" b="1" dirty="0">
                <a:solidFill>
                  <a:srgbClr val="FF0000"/>
                </a:solidFill>
              </a:rPr>
              <a:t>        .build();</a:t>
            </a:r>
          </a:p>
          <a:p>
            <a:pPr marL="0" indent="0">
              <a:buNone/>
            </a:pPr>
            <a:r>
              <a:rPr lang="en-IN" dirty="0" err="1"/>
              <a:t>assertEquals</a:t>
            </a:r>
            <a:r>
              <a:rPr lang="en-IN" dirty="0"/>
              <a:t>(2, </a:t>
            </a:r>
            <a:r>
              <a:rPr lang="en-IN" dirty="0" err="1"/>
              <a:t>lessImportantMessage.getHeaders</a:t>
            </a:r>
            <a:r>
              <a:rPr lang="en-IN" dirty="0"/>
              <a:t>().</a:t>
            </a:r>
            <a:r>
              <a:rPr lang="en-IN" dirty="0" err="1"/>
              <a:t>getPriority</a:t>
            </a:r>
            <a:r>
              <a:rPr lang="en-IN" dirty="0"/>
              <a:t>());</a:t>
            </a:r>
          </a:p>
          <a:p>
            <a:r>
              <a:rPr lang="en-IN" dirty="0"/>
              <a:t>The priority header is considered only when using a </a:t>
            </a:r>
            <a:r>
              <a:rPr lang="en-IN" b="1" dirty="0" err="1"/>
              <a:t>PriorityChannel</a:t>
            </a:r>
            <a:r>
              <a:rPr lang="en-IN" dirty="0"/>
              <a:t>. It is defined as a </a:t>
            </a:r>
            <a:r>
              <a:rPr lang="en-IN" dirty="0" err="1"/>
              <a:t>java.lang.Integer</a:t>
            </a:r>
            <a:r>
              <a:rPr lang="en-IN" dirty="0"/>
              <a:t>.</a:t>
            </a:r>
          </a:p>
          <a:p>
            <a:endParaRPr lang="en-IN" dirty="0"/>
          </a:p>
        </p:txBody>
      </p:sp>
    </p:spTree>
    <p:extLst>
      <p:ext uri="{BB962C8B-B14F-4D97-AF65-F5344CB8AC3E}">
        <p14:creationId xmlns:p14="http://schemas.microsoft.com/office/powerpoint/2010/main" val="42564600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386E0-93EE-2667-23EB-E0DD30D7BE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8AC313-4963-06A9-9D9A-A2912CC03CCD}"/>
              </a:ext>
            </a:extLst>
          </p:cNvPr>
          <p:cNvSpPr>
            <a:spLocks noGrp="1"/>
          </p:cNvSpPr>
          <p:nvPr>
            <p:ph type="title"/>
          </p:nvPr>
        </p:nvSpPr>
        <p:spPr/>
        <p:txBody>
          <a:bodyPr/>
          <a:lstStyle/>
          <a:p>
            <a:r>
              <a:rPr lang="en-US" b="1" dirty="0"/>
              <a:t>Message Channels</a:t>
            </a:r>
            <a:endParaRPr lang="en-IN" dirty="0"/>
          </a:p>
        </p:txBody>
      </p:sp>
      <p:sp>
        <p:nvSpPr>
          <p:cNvPr id="3" name="Content Placeholder 2">
            <a:extLst>
              <a:ext uri="{FF2B5EF4-FFF2-40B4-BE49-F238E27FC236}">
                <a16:creationId xmlns:a16="http://schemas.microsoft.com/office/drawing/2014/main" id="{5597A073-34DD-0D0F-2267-CD2D866D2A65}"/>
              </a:ext>
            </a:extLst>
          </p:cNvPr>
          <p:cNvSpPr>
            <a:spLocks noGrp="1"/>
          </p:cNvSpPr>
          <p:nvPr>
            <p:ph idx="1"/>
          </p:nvPr>
        </p:nvSpPr>
        <p:spPr>
          <a:xfrm>
            <a:off x="1154954" y="2603500"/>
            <a:ext cx="10083768" cy="3741316"/>
          </a:xfrm>
        </p:spPr>
        <p:txBody>
          <a:bodyPr/>
          <a:lstStyle/>
          <a:p>
            <a:r>
              <a:rPr lang="en-US" dirty="0"/>
              <a:t>While the Message plays the crucial role of encapsulating data, it is the </a:t>
            </a:r>
            <a:r>
              <a:rPr lang="en-US" b="1" dirty="0" err="1"/>
              <a:t>MessageChannel</a:t>
            </a:r>
            <a:r>
              <a:rPr lang="en-US" dirty="0"/>
              <a:t> that decouples message producers from message consumers.</a:t>
            </a:r>
          </a:p>
          <a:p>
            <a:endParaRPr lang="en-IN" dirty="0"/>
          </a:p>
        </p:txBody>
      </p:sp>
    </p:spTree>
    <p:extLst>
      <p:ext uri="{BB962C8B-B14F-4D97-AF65-F5344CB8AC3E}">
        <p14:creationId xmlns:p14="http://schemas.microsoft.com/office/powerpoint/2010/main" val="34326288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7E9147-44B0-36DB-7BDD-D5E4276DE6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5713C9-0826-A153-B35A-436ACA085E46}"/>
              </a:ext>
            </a:extLst>
          </p:cNvPr>
          <p:cNvSpPr>
            <a:spLocks noGrp="1"/>
          </p:cNvSpPr>
          <p:nvPr>
            <p:ph type="title"/>
          </p:nvPr>
        </p:nvSpPr>
        <p:spPr/>
        <p:txBody>
          <a:bodyPr/>
          <a:lstStyle/>
          <a:p>
            <a:r>
              <a:rPr lang="en-US" b="1" dirty="0" err="1"/>
              <a:t>MessageChannel</a:t>
            </a:r>
            <a:r>
              <a:rPr lang="en-US" b="1" dirty="0"/>
              <a:t> Interface</a:t>
            </a:r>
            <a:endParaRPr lang="en-IN" dirty="0"/>
          </a:p>
        </p:txBody>
      </p:sp>
      <p:sp>
        <p:nvSpPr>
          <p:cNvPr id="3" name="Content Placeholder 2">
            <a:extLst>
              <a:ext uri="{FF2B5EF4-FFF2-40B4-BE49-F238E27FC236}">
                <a16:creationId xmlns:a16="http://schemas.microsoft.com/office/drawing/2014/main" id="{211AF939-EE16-3E7C-2F9F-672E168EEE65}"/>
              </a:ext>
            </a:extLst>
          </p:cNvPr>
          <p:cNvSpPr>
            <a:spLocks noGrp="1"/>
          </p:cNvSpPr>
          <p:nvPr>
            <p:ph idx="1"/>
          </p:nvPr>
        </p:nvSpPr>
        <p:spPr>
          <a:xfrm>
            <a:off x="1154954" y="2603500"/>
            <a:ext cx="10083768" cy="3741316"/>
          </a:xfrm>
        </p:spPr>
        <p:txBody>
          <a:bodyPr>
            <a:normAutofit/>
          </a:bodyPr>
          <a:lstStyle/>
          <a:p>
            <a:r>
              <a:rPr lang="en-US" dirty="0"/>
              <a:t>Spring Integration’s top-level </a:t>
            </a:r>
            <a:r>
              <a:rPr lang="en-US" dirty="0" err="1"/>
              <a:t>MessageChannel</a:t>
            </a:r>
            <a:r>
              <a:rPr lang="en-US" dirty="0"/>
              <a:t> interface is defined as follows:</a:t>
            </a:r>
          </a:p>
          <a:p>
            <a:pPr marL="0" indent="0">
              <a:buNone/>
            </a:pPr>
            <a:r>
              <a:rPr lang="en-US" b="1" dirty="0">
                <a:solidFill>
                  <a:srgbClr val="C00000"/>
                </a:solidFill>
              </a:rPr>
              <a:t>public interface </a:t>
            </a:r>
            <a:r>
              <a:rPr lang="en-US" b="1" dirty="0" err="1">
                <a:solidFill>
                  <a:srgbClr val="C00000"/>
                </a:solidFill>
              </a:rPr>
              <a:t>MessageChannel</a:t>
            </a:r>
            <a:r>
              <a:rPr lang="en-US" b="1" dirty="0">
                <a:solidFill>
                  <a:srgbClr val="C00000"/>
                </a:solidFill>
              </a:rPr>
              <a:t> {</a:t>
            </a:r>
          </a:p>
          <a:p>
            <a:pPr marL="0" indent="0">
              <a:buNone/>
            </a:pPr>
            <a:r>
              <a:rPr lang="en-US" b="1" dirty="0">
                <a:solidFill>
                  <a:srgbClr val="C00000"/>
                </a:solidFill>
              </a:rPr>
              <a:t>    </a:t>
            </a:r>
            <a:r>
              <a:rPr lang="en-US" b="1" dirty="0" err="1">
                <a:solidFill>
                  <a:srgbClr val="C00000"/>
                </a:solidFill>
              </a:rPr>
              <a:t>boolean</a:t>
            </a:r>
            <a:r>
              <a:rPr lang="en-US" b="1" dirty="0">
                <a:solidFill>
                  <a:srgbClr val="C00000"/>
                </a:solidFill>
              </a:rPr>
              <a:t> send(Message message);</a:t>
            </a:r>
          </a:p>
          <a:p>
            <a:pPr marL="0" indent="0">
              <a:buNone/>
            </a:pPr>
            <a:r>
              <a:rPr lang="en-US" b="1" dirty="0">
                <a:solidFill>
                  <a:srgbClr val="C00000"/>
                </a:solidFill>
              </a:rPr>
              <a:t>    </a:t>
            </a:r>
            <a:r>
              <a:rPr lang="en-US" b="1" dirty="0" err="1">
                <a:solidFill>
                  <a:srgbClr val="C00000"/>
                </a:solidFill>
              </a:rPr>
              <a:t>boolean</a:t>
            </a:r>
            <a:r>
              <a:rPr lang="en-US" b="1" dirty="0">
                <a:solidFill>
                  <a:srgbClr val="C00000"/>
                </a:solidFill>
              </a:rPr>
              <a:t> send(Message </a:t>
            </a:r>
            <a:r>
              <a:rPr lang="en-US" b="1" dirty="0" err="1">
                <a:solidFill>
                  <a:srgbClr val="C00000"/>
                </a:solidFill>
              </a:rPr>
              <a:t>message</a:t>
            </a:r>
            <a:r>
              <a:rPr lang="en-US" b="1" dirty="0">
                <a:solidFill>
                  <a:srgbClr val="C00000"/>
                </a:solidFill>
              </a:rPr>
              <a:t>, long timeout);</a:t>
            </a:r>
          </a:p>
          <a:p>
            <a:pPr marL="0" indent="0">
              <a:buNone/>
            </a:pPr>
            <a:r>
              <a:rPr lang="en-US" b="1" dirty="0">
                <a:solidFill>
                  <a:srgbClr val="C00000"/>
                </a:solidFill>
              </a:rPr>
              <a:t>}</a:t>
            </a:r>
          </a:p>
          <a:p>
            <a:r>
              <a:rPr lang="en-US" dirty="0"/>
              <a:t>When sending a message, the return value is true if the message is sent successfully.</a:t>
            </a:r>
          </a:p>
          <a:p>
            <a:r>
              <a:rPr lang="en-US" dirty="0"/>
              <a:t> If the send call times out or is interrupted, it returns false.</a:t>
            </a:r>
          </a:p>
          <a:p>
            <a:endParaRPr lang="en-IN" dirty="0"/>
          </a:p>
        </p:txBody>
      </p:sp>
    </p:spTree>
    <p:extLst>
      <p:ext uri="{BB962C8B-B14F-4D97-AF65-F5344CB8AC3E}">
        <p14:creationId xmlns:p14="http://schemas.microsoft.com/office/powerpoint/2010/main" val="4712652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166E12-51D1-663A-E272-19DE764D5C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2C28DB-881B-A0FE-0B53-D3517E03EE35}"/>
              </a:ext>
            </a:extLst>
          </p:cNvPr>
          <p:cNvSpPr>
            <a:spLocks noGrp="1"/>
          </p:cNvSpPr>
          <p:nvPr>
            <p:ph type="title"/>
          </p:nvPr>
        </p:nvSpPr>
        <p:spPr/>
        <p:txBody>
          <a:bodyPr/>
          <a:lstStyle/>
          <a:p>
            <a:r>
              <a:rPr lang="en-US" b="1" dirty="0" err="1"/>
              <a:t>PollableChannel</a:t>
            </a:r>
            <a:endParaRPr lang="en-IN" dirty="0"/>
          </a:p>
        </p:txBody>
      </p:sp>
      <p:sp>
        <p:nvSpPr>
          <p:cNvPr id="3" name="Content Placeholder 2">
            <a:extLst>
              <a:ext uri="{FF2B5EF4-FFF2-40B4-BE49-F238E27FC236}">
                <a16:creationId xmlns:a16="http://schemas.microsoft.com/office/drawing/2014/main" id="{24B2B12A-58FF-2B5F-E8A9-76B363FC5FD7}"/>
              </a:ext>
            </a:extLst>
          </p:cNvPr>
          <p:cNvSpPr>
            <a:spLocks noGrp="1"/>
          </p:cNvSpPr>
          <p:nvPr>
            <p:ph idx="1"/>
          </p:nvPr>
        </p:nvSpPr>
        <p:spPr>
          <a:xfrm>
            <a:off x="1154954" y="2603500"/>
            <a:ext cx="10083768" cy="3741316"/>
          </a:xfrm>
        </p:spPr>
        <p:txBody>
          <a:bodyPr>
            <a:normAutofit/>
          </a:bodyPr>
          <a:lstStyle/>
          <a:p>
            <a:r>
              <a:rPr lang="en-US" dirty="0"/>
              <a:t>Since message channels may or may not buffer messages ,two sub-interfaces define the buffering (pollable) and non-buffering (</a:t>
            </a:r>
            <a:r>
              <a:rPr lang="en-US" dirty="0" err="1"/>
              <a:t>subscribable</a:t>
            </a:r>
            <a:r>
              <a:rPr lang="en-US" dirty="0"/>
              <a:t>) channel behavior. </a:t>
            </a:r>
          </a:p>
          <a:p>
            <a:r>
              <a:rPr lang="en-US" dirty="0"/>
              <a:t>The following listing shows the definition of the </a:t>
            </a:r>
            <a:r>
              <a:rPr lang="en-US" dirty="0" err="1"/>
              <a:t>PollableChannel</a:t>
            </a:r>
            <a:r>
              <a:rPr lang="en-US" dirty="0"/>
              <a:t> interface:</a:t>
            </a:r>
          </a:p>
          <a:p>
            <a:pPr marL="0" indent="0">
              <a:buNone/>
            </a:pPr>
            <a:r>
              <a:rPr lang="en-US" b="1" dirty="0">
                <a:solidFill>
                  <a:srgbClr val="C00000"/>
                </a:solidFill>
              </a:rPr>
              <a:t>public interface </a:t>
            </a:r>
            <a:r>
              <a:rPr lang="en-US" b="1" dirty="0" err="1">
                <a:solidFill>
                  <a:srgbClr val="C00000"/>
                </a:solidFill>
              </a:rPr>
              <a:t>PollableChannel</a:t>
            </a:r>
            <a:r>
              <a:rPr lang="en-US" b="1" dirty="0">
                <a:solidFill>
                  <a:srgbClr val="C00000"/>
                </a:solidFill>
              </a:rPr>
              <a:t> extends </a:t>
            </a:r>
            <a:r>
              <a:rPr lang="en-US" b="1" dirty="0" err="1">
                <a:solidFill>
                  <a:srgbClr val="C00000"/>
                </a:solidFill>
              </a:rPr>
              <a:t>MessageChannel</a:t>
            </a:r>
            <a:r>
              <a:rPr lang="en-US" b="1" dirty="0">
                <a:solidFill>
                  <a:srgbClr val="C00000"/>
                </a:solidFill>
              </a:rPr>
              <a:t> {</a:t>
            </a:r>
          </a:p>
          <a:p>
            <a:pPr marL="0" indent="0">
              <a:buNone/>
            </a:pPr>
            <a:r>
              <a:rPr lang="en-US" b="1" dirty="0">
                <a:solidFill>
                  <a:srgbClr val="C00000"/>
                </a:solidFill>
              </a:rPr>
              <a:t>    Message&lt;?&gt; receive();</a:t>
            </a:r>
          </a:p>
          <a:p>
            <a:pPr marL="0" indent="0">
              <a:buNone/>
            </a:pPr>
            <a:r>
              <a:rPr lang="en-US" b="1" dirty="0">
                <a:solidFill>
                  <a:srgbClr val="C00000"/>
                </a:solidFill>
              </a:rPr>
              <a:t>    Message&lt;?&gt; receive(long timeout);</a:t>
            </a:r>
          </a:p>
          <a:p>
            <a:pPr marL="0" indent="0">
              <a:buNone/>
            </a:pPr>
            <a:r>
              <a:rPr lang="en-US" b="1" dirty="0">
                <a:solidFill>
                  <a:srgbClr val="C00000"/>
                </a:solidFill>
              </a:rPr>
              <a:t>}</a:t>
            </a:r>
          </a:p>
          <a:p>
            <a:r>
              <a:rPr lang="en-US" dirty="0"/>
              <a:t>As with the send methods, when receiving a message, the return value is null in the case of a timeout or interrupt.</a:t>
            </a:r>
          </a:p>
          <a:p>
            <a:endParaRPr lang="en-IN" dirty="0"/>
          </a:p>
        </p:txBody>
      </p:sp>
    </p:spTree>
    <p:extLst>
      <p:ext uri="{BB962C8B-B14F-4D97-AF65-F5344CB8AC3E}">
        <p14:creationId xmlns:p14="http://schemas.microsoft.com/office/powerpoint/2010/main" val="42436709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F6818-3E7C-46C4-F09A-E36198CF52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FFC80A-EC7D-7EDF-B838-DB858D01B942}"/>
              </a:ext>
            </a:extLst>
          </p:cNvPr>
          <p:cNvSpPr>
            <a:spLocks noGrp="1"/>
          </p:cNvSpPr>
          <p:nvPr>
            <p:ph type="title"/>
          </p:nvPr>
        </p:nvSpPr>
        <p:spPr/>
        <p:txBody>
          <a:bodyPr/>
          <a:lstStyle/>
          <a:p>
            <a:r>
              <a:rPr lang="en-IN" b="1" dirty="0" err="1"/>
              <a:t>SubscribableChannel</a:t>
            </a:r>
            <a:endParaRPr lang="en-IN" dirty="0"/>
          </a:p>
        </p:txBody>
      </p:sp>
      <p:sp>
        <p:nvSpPr>
          <p:cNvPr id="3" name="Content Placeholder 2">
            <a:extLst>
              <a:ext uri="{FF2B5EF4-FFF2-40B4-BE49-F238E27FC236}">
                <a16:creationId xmlns:a16="http://schemas.microsoft.com/office/drawing/2014/main" id="{3357DEBE-4D1E-4EAB-7058-5DEDF8D53B0C}"/>
              </a:ext>
            </a:extLst>
          </p:cNvPr>
          <p:cNvSpPr>
            <a:spLocks noGrp="1"/>
          </p:cNvSpPr>
          <p:nvPr>
            <p:ph idx="1"/>
          </p:nvPr>
        </p:nvSpPr>
        <p:spPr>
          <a:xfrm>
            <a:off x="1154954" y="2603500"/>
            <a:ext cx="10083768" cy="3741316"/>
          </a:xfrm>
        </p:spPr>
        <p:txBody>
          <a:bodyPr>
            <a:normAutofit lnSpcReduction="10000"/>
          </a:bodyPr>
          <a:lstStyle/>
          <a:p>
            <a:r>
              <a:rPr lang="en-IN" dirty="0" err="1"/>
              <a:t>SubscribableChannel</a:t>
            </a:r>
            <a:r>
              <a:rPr lang="en-IN" dirty="0"/>
              <a:t> base interface is implemented by channels that send messages directly to their subscribed MessageHandler instances. </a:t>
            </a:r>
          </a:p>
          <a:p>
            <a:r>
              <a:rPr lang="en-IN" dirty="0"/>
              <a:t>Therefore, they do not provide receive methods for polling. </a:t>
            </a:r>
          </a:p>
          <a:p>
            <a:r>
              <a:rPr lang="en-IN" dirty="0"/>
              <a:t>Instead, they define methods for managing those subscribers. </a:t>
            </a:r>
          </a:p>
          <a:p>
            <a:r>
              <a:rPr lang="en-IN" dirty="0"/>
              <a:t>The following listing shows the definition of the </a:t>
            </a:r>
            <a:r>
              <a:rPr lang="en-IN" dirty="0" err="1"/>
              <a:t>SubscribableChannel</a:t>
            </a:r>
            <a:r>
              <a:rPr lang="en-IN" dirty="0"/>
              <a:t> interface:</a:t>
            </a:r>
          </a:p>
          <a:p>
            <a:pPr marL="0" indent="0">
              <a:buNone/>
            </a:pPr>
            <a:r>
              <a:rPr lang="en-IN" b="1" dirty="0">
                <a:solidFill>
                  <a:srgbClr val="C00000"/>
                </a:solidFill>
              </a:rPr>
              <a:t>public interface </a:t>
            </a:r>
            <a:r>
              <a:rPr lang="en-IN" b="1" dirty="0" err="1">
                <a:solidFill>
                  <a:srgbClr val="C00000"/>
                </a:solidFill>
              </a:rPr>
              <a:t>SubscribableChannel</a:t>
            </a:r>
            <a:r>
              <a:rPr lang="en-IN" b="1" dirty="0">
                <a:solidFill>
                  <a:srgbClr val="C00000"/>
                </a:solidFill>
              </a:rPr>
              <a:t> extends </a:t>
            </a:r>
            <a:r>
              <a:rPr lang="en-IN" b="1" dirty="0" err="1">
                <a:solidFill>
                  <a:srgbClr val="C00000"/>
                </a:solidFill>
              </a:rPr>
              <a:t>MessageChannel</a:t>
            </a:r>
            <a:r>
              <a:rPr lang="en-IN" b="1" dirty="0">
                <a:solidFill>
                  <a:srgbClr val="C00000"/>
                </a:solidFill>
              </a:rPr>
              <a:t> {</a:t>
            </a:r>
          </a:p>
          <a:p>
            <a:pPr marL="0" indent="0">
              <a:buNone/>
            </a:pPr>
            <a:r>
              <a:rPr lang="en-IN" b="1" dirty="0">
                <a:solidFill>
                  <a:srgbClr val="C00000"/>
                </a:solidFill>
              </a:rPr>
              <a:t>    </a:t>
            </a:r>
            <a:r>
              <a:rPr lang="en-IN" b="1" dirty="0" err="1">
                <a:solidFill>
                  <a:srgbClr val="C00000"/>
                </a:solidFill>
              </a:rPr>
              <a:t>boolean</a:t>
            </a:r>
            <a:r>
              <a:rPr lang="en-IN" b="1" dirty="0">
                <a:solidFill>
                  <a:srgbClr val="C00000"/>
                </a:solidFill>
              </a:rPr>
              <a:t> subscribe(MessageHandler handler);</a:t>
            </a:r>
          </a:p>
          <a:p>
            <a:pPr marL="0" indent="0">
              <a:buNone/>
            </a:pPr>
            <a:r>
              <a:rPr lang="en-IN" b="1" dirty="0">
                <a:solidFill>
                  <a:srgbClr val="C00000"/>
                </a:solidFill>
              </a:rPr>
              <a:t>    </a:t>
            </a:r>
            <a:r>
              <a:rPr lang="en-IN" b="1" dirty="0" err="1">
                <a:solidFill>
                  <a:srgbClr val="C00000"/>
                </a:solidFill>
              </a:rPr>
              <a:t>boolean</a:t>
            </a:r>
            <a:r>
              <a:rPr lang="en-IN" b="1" dirty="0">
                <a:solidFill>
                  <a:srgbClr val="C00000"/>
                </a:solidFill>
              </a:rPr>
              <a:t> unsubscribe(MessageHandler handler);</a:t>
            </a:r>
          </a:p>
          <a:p>
            <a:pPr marL="0" indent="0">
              <a:buNone/>
            </a:pPr>
            <a:endParaRPr lang="en-IN" b="1" dirty="0">
              <a:solidFill>
                <a:srgbClr val="C00000"/>
              </a:solidFill>
            </a:endParaRPr>
          </a:p>
          <a:p>
            <a:pPr marL="0" indent="0">
              <a:buNone/>
            </a:pPr>
            <a:r>
              <a:rPr lang="en-IN" b="1" dirty="0">
                <a:solidFill>
                  <a:srgbClr val="C00000"/>
                </a:solidFill>
              </a:rPr>
              <a:t>}</a:t>
            </a:r>
          </a:p>
          <a:p>
            <a:endParaRPr lang="en-IN" dirty="0"/>
          </a:p>
        </p:txBody>
      </p:sp>
    </p:spTree>
    <p:extLst>
      <p:ext uri="{BB962C8B-B14F-4D97-AF65-F5344CB8AC3E}">
        <p14:creationId xmlns:p14="http://schemas.microsoft.com/office/powerpoint/2010/main" val="2563022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9225E-98E1-F64B-A3C6-6C2C9C69DE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1F26EA-74DC-2765-4605-678643735D47}"/>
              </a:ext>
            </a:extLst>
          </p:cNvPr>
          <p:cNvSpPr>
            <a:spLocks noGrp="1"/>
          </p:cNvSpPr>
          <p:nvPr>
            <p:ph type="title"/>
          </p:nvPr>
        </p:nvSpPr>
        <p:spPr/>
        <p:txBody>
          <a:bodyPr/>
          <a:lstStyle/>
          <a:p>
            <a:r>
              <a:rPr lang="en-IN" b="1" dirty="0"/>
              <a:t>Message Channel Implementations</a:t>
            </a:r>
          </a:p>
        </p:txBody>
      </p:sp>
      <p:sp>
        <p:nvSpPr>
          <p:cNvPr id="3" name="Content Placeholder 2">
            <a:extLst>
              <a:ext uri="{FF2B5EF4-FFF2-40B4-BE49-F238E27FC236}">
                <a16:creationId xmlns:a16="http://schemas.microsoft.com/office/drawing/2014/main" id="{5B524225-038B-10BD-86F3-89823F7BA00C}"/>
              </a:ext>
            </a:extLst>
          </p:cNvPr>
          <p:cNvSpPr>
            <a:spLocks noGrp="1"/>
          </p:cNvSpPr>
          <p:nvPr>
            <p:ph idx="1"/>
          </p:nvPr>
        </p:nvSpPr>
        <p:spPr>
          <a:xfrm>
            <a:off x="1154954" y="2603500"/>
            <a:ext cx="10083768" cy="3741316"/>
          </a:xfrm>
        </p:spPr>
        <p:txBody>
          <a:bodyPr>
            <a:normAutofit lnSpcReduction="10000"/>
          </a:bodyPr>
          <a:lstStyle/>
          <a:p>
            <a:pPr marL="0" indent="0">
              <a:buNone/>
            </a:pPr>
            <a:r>
              <a:rPr lang="en-US" b="1" dirty="0" err="1"/>
              <a:t>PublishSubscribeChannel</a:t>
            </a:r>
            <a:endParaRPr lang="en-US" b="1" dirty="0"/>
          </a:p>
          <a:p>
            <a:r>
              <a:rPr lang="en-US" dirty="0" err="1"/>
              <a:t>PublishSubscribeChannel</a:t>
            </a:r>
            <a:r>
              <a:rPr lang="en-US" dirty="0"/>
              <a:t> implementation </a:t>
            </a:r>
            <a:r>
              <a:rPr lang="en-US" b="1" dirty="0"/>
              <a:t>broadcasts</a:t>
            </a:r>
            <a:r>
              <a:rPr lang="en-US" dirty="0"/>
              <a:t> any Message sent to it to all of its subscribed handlers. </a:t>
            </a:r>
          </a:p>
          <a:p>
            <a:r>
              <a:rPr lang="en-US" dirty="0"/>
              <a:t>Most often used for </a:t>
            </a:r>
            <a:r>
              <a:rPr lang="en-US" b="1" dirty="0"/>
              <a:t>sending event messages</a:t>
            </a:r>
            <a:r>
              <a:rPr lang="en-US" dirty="0"/>
              <a:t>, whose primary role is notification (as opposed to document messages, which are generally intended to be processed by a single handler). </a:t>
            </a:r>
          </a:p>
          <a:p>
            <a:r>
              <a:rPr lang="en-US" dirty="0" err="1"/>
              <a:t>PublishSubscribeChannel</a:t>
            </a:r>
            <a:r>
              <a:rPr lang="en-US" dirty="0"/>
              <a:t> is intended for sending only. </a:t>
            </a:r>
          </a:p>
          <a:p>
            <a:r>
              <a:rPr lang="en-US" dirty="0"/>
              <a:t>Since it broadcasts to its subscribers directly when its send(Message) method is invoked, consumers cannot poll for messages (it does not implement </a:t>
            </a:r>
            <a:r>
              <a:rPr lang="en-US" dirty="0" err="1"/>
              <a:t>PollableChannel</a:t>
            </a:r>
            <a:r>
              <a:rPr lang="en-US" dirty="0"/>
              <a:t> and therefore has no receive() method). </a:t>
            </a:r>
          </a:p>
          <a:p>
            <a:r>
              <a:rPr lang="en-US" dirty="0"/>
              <a:t>Instead, any subscriber must itself be a </a:t>
            </a:r>
            <a:r>
              <a:rPr lang="en-US" b="1" dirty="0"/>
              <a:t>MessageHandler</a:t>
            </a:r>
            <a:r>
              <a:rPr lang="en-US" dirty="0"/>
              <a:t>, and the subscriber’s </a:t>
            </a:r>
            <a:r>
              <a:rPr lang="en-US" b="1" dirty="0" err="1"/>
              <a:t>handleMessage</a:t>
            </a:r>
            <a:r>
              <a:rPr lang="en-US" dirty="0"/>
              <a:t>(Message) method is invoked in turn.</a:t>
            </a:r>
          </a:p>
          <a:p>
            <a:endParaRPr lang="en-IN" dirty="0"/>
          </a:p>
        </p:txBody>
      </p:sp>
    </p:spTree>
    <p:extLst>
      <p:ext uri="{BB962C8B-B14F-4D97-AF65-F5344CB8AC3E}">
        <p14:creationId xmlns:p14="http://schemas.microsoft.com/office/powerpoint/2010/main" val="12167380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EE239C-6CAB-BEF4-3977-0ABA0C14A1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ECC435-CDA3-7BBF-C5C0-397D90A3A0BB}"/>
              </a:ext>
            </a:extLst>
          </p:cNvPr>
          <p:cNvSpPr>
            <a:spLocks noGrp="1"/>
          </p:cNvSpPr>
          <p:nvPr>
            <p:ph type="title"/>
          </p:nvPr>
        </p:nvSpPr>
        <p:spPr/>
        <p:txBody>
          <a:bodyPr/>
          <a:lstStyle/>
          <a:p>
            <a:r>
              <a:rPr lang="en-US" b="1" dirty="0" err="1"/>
              <a:t>PublishSubscribeChannel</a:t>
            </a:r>
            <a:endParaRPr lang="en-IN" dirty="0"/>
          </a:p>
        </p:txBody>
      </p:sp>
      <p:sp>
        <p:nvSpPr>
          <p:cNvPr id="3" name="Content Placeholder 2">
            <a:extLst>
              <a:ext uri="{FF2B5EF4-FFF2-40B4-BE49-F238E27FC236}">
                <a16:creationId xmlns:a16="http://schemas.microsoft.com/office/drawing/2014/main" id="{44CED1E7-8DDA-BB0F-FEF9-4B3DB5CE6E76}"/>
              </a:ext>
            </a:extLst>
          </p:cNvPr>
          <p:cNvSpPr>
            <a:spLocks noGrp="1"/>
          </p:cNvSpPr>
          <p:nvPr>
            <p:ph idx="1"/>
          </p:nvPr>
        </p:nvSpPr>
        <p:spPr>
          <a:xfrm>
            <a:off x="1154954" y="2603500"/>
            <a:ext cx="10083768" cy="3741316"/>
          </a:xfrm>
        </p:spPr>
        <p:txBody>
          <a:bodyPr/>
          <a:lstStyle/>
          <a:p>
            <a:r>
              <a:rPr lang="en-US" dirty="0"/>
              <a:t>Prior to version 3.0, invoking the send method on a </a:t>
            </a:r>
            <a:r>
              <a:rPr lang="en-US" dirty="0" err="1"/>
              <a:t>PublishSubscribeChannel</a:t>
            </a:r>
            <a:r>
              <a:rPr lang="en-US" dirty="0"/>
              <a:t> that had no subscribers returned false. </a:t>
            </a:r>
          </a:p>
          <a:p>
            <a:r>
              <a:rPr lang="en-US" dirty="0"/>
              <a:t>When used in conjunction with a </a:t>
            </a:r>
            <a:r>
              <a:rPr lang="en-US" dirty="0" err="1"/>
              <a:t>MessagingTemplate</a:t>
            </a:r>
            <a:r>
              <a:rPr lang="en-US" dirty="0"/>
              <a:t>, a </a:t>
            </a:r>
            <a:r>
              <a:rPr lang="en-US" dirty="0" err="1"/>
              <a:t>MessageDeliveryException</a:t>
            </a:r>
            <a:r>
              <a:rPr lang="en-US" dirty="0"/>
              <a:t> was thrown. </a:t>
            </a:r>
          </a:p>
          <a:p>
            <a:r>
              <a:rPr lang="en-US" dirty="0"/>
              <a:t>Starting with version 3.0, the behavior has changed such that a send is always considered successful if at least the </a:t>
            </a:r>
            <a:r>
              <a:rPr lang="en-US" b="1" dirty="0"/>
              <a:t>minimum subscribers are present</a:t>
            </a:r>
            <a:r>
              <a:rPr lang="en-US" dirty="0"/>
              <a:t> (and successfully handle the message). </a:t>
            </a:r>
          </a:p>
          <a:p>
            <a:r>
              <a:rPr lang="en-US" dirty="0"/>
              <a:t>This behavior can be modified by setting the </a:t>
            </a:r>
            <a:r>
              <a:rPr lang="en-US" dirty="0" err="1"/>
              <a:t>minSubscribers</a:t>
            </a:r>
            <a:r>
              <a:rPr lang="en-US" dirty="0"/>
              <a:t> property, which defaults to 0.</a:t>
            </a:r>
            <a:endParaRPr lang="en-IN" dirty="0"/>
          </a:p>
        </p:txBody>
      </p:sp>
    </p:spTree>
    <p:extLst>
      <p:ext uri="{BB962C8B-B14F-4D97-AF65-F5344CB8AC3E}">
        <p14:creationId xmlns:p14="http://schemas.microsoft.com/office/powerpoint/2010/main" val="1874727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344C64-8564-550D-DE7B-6F7FF37B49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781173-F180-A4AF-E2DB-8BC3265BC6AC}"/>
              </a:ext>
            </a:extLst>
          </p:cNvPr>
          <p:cNvSpPr>
            <a:spLocks noGrp="1"/>
          </p:cNvSpPr>
          <p:nvPr>
            <p:ph type="title"/>
          </p:nvPr>
        </p:nvSpPr>
        <p:spPr/>
        <p:txBody>
          <a:bodyPr/>
          <a:lstStyle/>
          <a:p>
            <a:r>
              <a:rPr lang="en-US" b="1" dirty="0" err="1"/>
              <a:t>QueueChannel</a:t>
            </a:r>
            <a:endParaRPr lang="en-IN" dirty="0"/>
          </a:p>
        </p:txBody>
      </p:sp>
      <p:sp>
        <p:nvSpPr>
          <p:cNvPr id="3" name="Content Placeholder 2">
            <a:extLst>
              <a:ext uri="{FF2B5EF4-FFF2-40B4-BE49-F238E27FC236}">
                <a16:creationId xmlns:a16="http://schemas.microsoft.com/office/drawing/2014/main" id="{D5828C36-4112-D31A-A497-BCA0E0354DF9}"/>
              </a:ext>
            </a:extLst>
          </p:cNvPr>
          <p:cNvSpPr>
            <a:spLocks noGrp="1"/>
          </p:cNvSpPr>
          <p:nvPr>
            <p:ph idx="1"/>
          </p:nvPr>
        </p:nvSpPr>
        <p:spPr>
          <a:xfrm>
            <a:off x="1154954" y="2603500"/>
            <a:ext cx="10083768" cy="3741316"/>
          </a:xfrm>
        </p:spPr>
        <p:txBody>
          <a:bodyPr/>
          <a:lstStyle/>
          <a:p>
            <a:r>
              <a:rPr lang="en-US" dirty="0" err="1"/>
              <a:t>QueueChannel</a:t>
            </a:r>
            <a:r>
              <a:rPr lang="en-US" dirty="0"/>
              <a:t> implementation wraps a queue. </a:t>
            </a:r>
          </a:p>
          <a:p>
            <a:r>
              <a:rPr lang="en-US" dirty="0"/>
              <a:t>Unlike the </a:t>
            </a:r>
            <a:r>
              <a:rPr lang="en-US" dirty="0" err="1"/>
              <a:t>PublishSubscribeChannel</a:t>
            </a:r>
            <a:r>
              <a:rPr lang="en-US" dirty="0"/>
              <a:t>, the </a:t>
            </a:r>
            <a:r>
              <a:rPr lang="en-US" dirty="0" err="1"/>
              <a:t>QueueChannel</a:t>
            </a:r>
            <a:r>
              <a:rPr lang="en-US" dirty="0"/>
              <a:t> has point-to-point semantics.</a:t>
            </a:r>
          </a:p>
          <a:p>
            <a:r>
              <a:rPr lang="en-US" dirty="0"/>
              <a:t>Even if the channel has multiple consumers, only one of them should receive any Message sent to that channel. </a:t>
            </a:r>
          </a:p>
          <a:p>
            <a:r>
              <a:rPr lang="en-US" dirty="0"/>
              <a:t>Provides a default no-argument constructor (providing an essentially unbounded capacity of </a:t>
            </a:r>
            <a:r>
              <a:rPr lang="en-US" dirty="0" err="1"/>
              <a:t>Integer.MAX_VALUE</a:t>
            </a:r>
            <a:r>
              <a:rPr lang="en-US" dirty="0"/>
              <a:t>) as well as a constructor that accepts the queue capacity, as the following listing shows:</a:t>
            </a:r>
          </a:p>
          <a:p>
            <a:pPr marL="0" indent="0">
              <a:buNone/>
            </a:pPr>
            <a:r>
              <a:rPr lang="en-US" b="1" dirty="0">
                <a:solidFill>
                  <a:srgbClr val="C00000"/>
                </a:solidFill>
              </a:rPr>
              <a:t>public </a:t>
            </a:r>
            <a:r>
              <a:rPr lang="en-US" b="1" dirty="0" err="1">
                <a:solidFill>
                  <a:srgbClr val="C00000"/>
                </a:solidFill>
              </a:rPr>
              <a:t>QueueChannel</a:t>
            </a:r>
            <a:r>
              <a:rPr lang="en-US" b="1" dirty="0">
                <a:solidFill>
                  <a:srgbClr val="C00000"/>
                </a:solidFill>
              </a:rPr>
              <a:t>(int capacity)</a:t>
            </a:r>
          </a:p>
          <a:p>
            <a:endParaRPr lang="en-IN" dirty="0"/>
          </a:p>
        </p:txBody>
      </p:sp>
    </p:spTree>
    <p:extLst>
      <p:ext uri="{BB962C8B-B14F-4D97-AF65-F5344CB8AC3E}">
        <p14:creationId xmlns:p14="http://schemas.microsoft.com/office/powerpoint/2010/main" val="11228421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D151FF-8AB6-5FF9-83F2-FE31826C2B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2BCE70-6C1A-54DD-8E42-E31541756807}"/>
              </a:ext>
            </a:extLst>
          </p:cNvPr>
          <p:cNvSpPr>
            <a:spLocks noGrp="1"/>
          </p:cNvSpPr>
          <p:nvPr>
            <p:ph type="title"/>
          </p:nvPr>
        </p:nvSpPr>
        <p:spPr/>
        <p:txBody>
          <a:bodyPr/>
          <a:lstStyle/>
          <a:p>
            <a:r>
              <a:rPr lang="en-US" b="1" dirty="0" err="1"/>
              <a:t>QueueChannel</a:t>
            </a:r>
            <a:endParaRPr lang="en-IN" dirty="0"/>
          </a:p>
        </p:txBody>
      </p:sp>
      <p:sp>
        <p:nvSpPr>
          <p:cNvPr id="3" name="Content Placeholder 2">
            <a:extLst>
              <a:ext uri="{FF2B5EF4-FFF2-40B4-BE49-F238E27FC236}">
                <a16:creationId xmlns:a16="http://schemas.microsoft.com/office/drawing/2014/main" id="{D961174B-F89C-A9FB-6C23-517795D742DC}"/>
              </a:ext>
            </a:extLst>
          </p:cNvPr>
          <p:cNvSpPr>
            <a:spLocks noGrp="1"/>
          </p:cNvSpPr>
          <p:nvPr>
            <p:ph idx="1"/>
          </p:nvPr>
        </p:nvSpPr>
        <p:spPr>
          <a:xfrm>
            <a:off x="1154954" y="2603500"/>
            <a:ext cx="10083768" cy="3741316"/>
          </a:xfrm>
        </p:spPr>
        <p:txBody>
          <a:bodyPr>
            <a:normAutofit fontScale="92500" lnSpcReduction="20000"/>
          </a:bodyPr>
          <a:lstStyle/>
          <a:p>
            <a:r>
              <a:rPr lang="en-US" dirty="0"/>
              <a:t>A channel that has not reached its capacity limit stores messages in its internal queue, and the send(Message&lt;?&gt;) method returns immediately, even if no receiver is ready to handle the message. </a:t>
            </a:r>
          </a:p>
          <a:p>
            <a:r>
              <a:rPr lang="en-US" dirty="0"/>
              <a:t>If the queue has reached capacity, the sender blocks until room is available in the queue. </a:t>
            </a:r>
          </a:p>
          <a:p>
            <a:r>
              <a:rPr lang="en-US" dirty="0"/>
              <a:t>If you use the send method that has an additional timeout parameter, the queue blocks until either room is available or the timeout period elapses, whichever occurs first. </a:t>
            </a:r>
          </a:p>
          <a:p>
            <a:r>
              <a:rPr lang="en-US" dirty="0"/>
              <a:t>A receive() call returns immediately if a message is available on the queue, but, if the queue is empty, then a receive call may block until either a message is available or the timeout, if provided, elapses. </a:t>
            </a:r>
          </a:p>
          <a:p>
            <a:r>
              <a:rPr lang="en-US" dirty="0"/>
              <a:t>In either case, it is possible to force an immediate return regardless of the queue’s state by passing a timeout value of 0. </a:t>
            </a:r>
          </a:p>
          <a:p>
            <a:r>
              <a:rPr lang="en-US" dirty="0"/>
              <a:t>Note, however, that calls the versions of send() and receive() with no timeout parameter block indefinitely.</a:t>
            </a:r>
            <a:endParaRPr lang="en-IN" dirty="0"/>
          </a:p>
        </p:txBody>
      </p:sp>
    </p:spTree>
    <p:extLst>
      <p:ext uri="{BB962C8B-B14F-4D97-AF65-F5344CB8AC3E}">
        <p14:creationId xmlns:p14="http://schemas.microsoft.com/office/powerpoint/2010/main" val="9963128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D1364-894B-0E14-5F6E-148961246A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19930B-4C6C-D7C1-6C27-E8A20D0EDCA9}"/>
              </a:ext>
            </a:extLst>
          </p:cNvPr>
          <p:cNvSpPr>
            <a:spLocks noGrp="1"/>
          </p:cNvSpPr>
          <p:nvPr>
            <p:ph type="title"/>
          </p:nvPr>
        </p:nvSpPr>
        <p:spPr/>
        <p:txBody>
          <a:bodyPr/>
          <a:lstStyle/>
          <a:p>
            <a:r>
              <a:rPr lang="en-US" b="1" dirty="0" err="1"/>
              <a:t>PriorityChannel</a:t>
            </a:r>
            <a:endParaRPr lang="en-IN" dirty="0"/>
          </a:p>
        </p:txBody>
      </p:sp>
      <p:sp>
        <p:nvSpPr>
          <p:cNvPr id="3" name="Content Placeholder 2">
            <a:extLst>
              <a:ext uri="{FF2B5EF4-FFF2-40B4-BE49-F238E27FC236}">
                <a16:creationId xmlns:a16="http://schemas.microsoft.com/office/drawing/2014/main" id="{8C9E00F1-9D1D-FE1F-2875-7B94D6EF1040}"/>
              </a:ext>
            </a:extLst>
          </p:cNvPr>
          <p:cNvSpPr>
            <a:spLocks noGrp="1"/>
          </p:cNvSpPr>
          <p:nvPr>
            <p:ph idx="1"/>
          </p:nvPr>
        </p:nvSpPr>
        <p:spPr>
          <a:xfrm>
            <a:off x="1154954" y="2603500"/>
            <a:ext cx="10083768" cy="3741316"/>
          </a:xfrm>
        </p:spPr>
        <p:txBody>
          <a:bodyPr/>
          <a:lstStyle/>
          <a:p>
            <a:r>
              <a:rPr lang="en-US" dirty="0"/>
              <a:t>Whereas the </a:t>
            </a:r>
            <a:r>
              <a:rPr lang="en-US" dirty="0" err="1"/>
              <a:t>QueueChannel</a:t>
            </a:r>
            <a:r>
              <a:rPr lang="en-US" dirty="0"/>
              <a:t> enforces first-in-first-out (FIFO) ordering, the </a:t>
            </a:r>
            <a:r>
              <a:rPr lang="en-US" dirty="0" err="1"/>
              <a:t>PriorityChannel</a:t>
            </a:r>
            <a:r>
              <a:rPr lang="en-US" dirty="0"/>
              <a:t> is an alternative implementation that allows for messages to be ordered within the channel based upon a priority. </a:t>
            </a:r>
          </a:p>
          <a:p>
            <a:r>
              <a:rPr lang="en-US" dirty="0"/>
              <a:t>By default, the priority is determined by the priority header within each message.</a:t>
            </a:r>
          </a:p>
          <a:p>
            <a:r>
              <a:rPr lang="en-US" dirty="0"/>
              <a:t> However, for custom priority determination logic, a comparator of type Comparator&lt;Message&lt;?&gt;&gt; can be provided to the </a:t>
            </a:r>
            <a:r>
              <a:rPr lang="en-US" dirty="0" err="1"/>
              <a:t>PriorityChannel</a:t>
            </a:r>
            <a:r>
              <a:rPr lang="en-US" dirty="0"/>
              <a:t> constructor.</a:t>
            </a:r>
          </a:p>
          <a:p>
            <a:endParaRPr lang="en-IN" dirty="0"/>
          </a:p>
        </p:txBody>
      </p:sp>
    </p:spTree>
    <p:extLst>
      <p:ext uri="{BB962C8B-B14F-4D97-AF65-F5344CB8AC3E}">
        <p14:creationId xmlns:p14="http://schemas.microsoft.com/office/powerpoint/2010/main" val="10312574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C878F-E3AF-5628-8A62-042D2FF137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46BD3A-C36A-975E-DCA3-9B5CC226B059}"/>
              </a:ext>
            </a:extLst>
          </p:cNvPr>
          <p:cNvSpPr>
            <a:spLocks noGrp="1"/>
          </p:cNvSpPr>
          <p:nvPr>
            <p:ph type="title"/>
          </p:nvPr>
        </p:nvSpPr>
        <p:spPr/>
        <p:txBody>
          <a:bodyPr/>
          <a:lstStyle/>
          <a:p>
            <a:r>
              <a:rPr lang="en-US" b="1" dirty="0" err="1"/>
              <a:t>RendezvousChannel</a:t>
            </a:r>
            <a:endParaRPr lang="en-IN" dirty="0"/>
          </a:p>
        </p:txBody>
      </p:sp>
      <p:sp>
        <p:nvSpPr>
          <p:cNvPr id="3" name="Content Placeholder 2">
            <a:extLst>
              <a:ext uri="{FF2B5EF4-FFF2-40B4-BE49-F238E27FC236}">
                <a16:creationId xmlns:a16="http://schemas.microsoft.com/office/drawing/2014/main" id="{C655D298-B9BC-2420-6662-25D022D0BE8A}"/>
              </a:ext>
            </a:extLst>
          </p:cNvPr>
          <p:cNvSpPr>
            <a:spLocks noGrp="1"/>
          </p:cNvSpPr>
          <p:nvPr>
            <p:ph idx="1"/>
          </p:nvPr>
        </p:nvSpPr>
        <p:spPr>
          <a:xfrm>
            <a:off x="1154954" y="2603500"/>
            <a:ext cx="10083768" cy="3741316"/>
          </a:xfrm>
        </p:spPr>
        <p:txBody>
          <a:bodyPr/>
          <a:lstStyle/>
          <a:p>
            <a:r>
              <a:rPr lang="en-US" dirty="0" err="1"/>
              <a:t>RendezvousChannel</a:t>
            </a:r>
            <a:r>
              <a:rPr lang="en-US" dirty="0"/>
              <a:t> enables a “direct-handoff” scenario, wherein a sender blocks until another party invokes the channel’s receive() method.</a:t>
            </a:r>
          </a:p>
          <a:p>
            <a:r>
              <a:rPr lang="en-US" dirty="0"/>
              <a:t> The other party blocks until the sender sends the message. </a:t>
            </a:r>
          </a:p>
          <a:p>
            <a:r>
              <a:rPr lang="en-US" dirty="0"/>
              <a:t>Internally, this implementation is quite similar to the </a:t>
            </a:r>
            <a:r>
              <a:rPr lang="en-US" dirty="0" err="1"/>
              <a:t>QueueChannel</a:t>
            </a:r>
            <a:r>
              <a:rPr lang="en-US" dirty="0"/>
              <a:t>, except that it uses a </a:t>
            </a:r>
            <a:r>
              <a:rPr lang="en-US" dirty="0" err="1"/>
              <a:t>SynchronousQueue</a:t>
            </a:r>
            <a:r>
              <a:rPr lang="en-US" dirty="0"/>
              <a:t> (a zero-capacity implementation of BlockingQueue). </a:t>
            </a:r>
          </a:p>
          <a:p>
            <a:r>
              <a:rPr lang="en-US" dirty="0"/>
              <a:t>This works well in situations where the sender and receiver operate in different threads, but asynchronously dropping the message in a queue is not appropriate. </a:t>
            </a:r>
          </a:p>
          <a:p>
            <a:r>
              <a:rPr lang="en-US" dirty="0"/>
              <a:t>With a </a:t>
            </a:r>
            <a:r>
              <a:rPr lang="en-US" dirty="0" err="1"/>
              <a:t>RendezvousChannel</a:t>
            </a:r>
            <a:r>
              <a:rPr lang="en-US" dirty="0"/>
              <a:t>, the sender knows that some receiver has accepted the message, whereas with a </a:t>
            </a:r>
            <a:r>
              <a:rPr lang="en-US" dirty="0" err="1"/>
              <a:t>QueueChannel</a:t>
            </a:r>
            <a:r>
              <a:rPr lang="en-US" dirty="0"/>
              <a:t>, the message would have been stored to the internal queue and potentially never received.</a:t>
            </a:r>
          </a:p>
          <a:p>
            <a:endParaRPr lang="en-IN" dirty="0"/>
          </a:p>
        </p:txBody>
      </p:sp>
    </p:spTree>
    <p:extLst>
      <p:ext uri="{BB962C8B-B14F-4D97-AF65-F5344CB8AC3E}">
        <p14:creationId xmlns:p14="http://schemas.microsoft.com/office/powerpoint/2010/main" val="26126808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25F83-4871-AB73-3AE4-7E27C24257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D42FD6-B028-FA42-0B89-FFFAF03A3A74}"/>
              </a:ext>
            </a:extLst>
          </p:cNvPr>
          <p:cNvSpPr>
            <a:spLocks noGrp="1"/>
          </p:cNvSpPr>
          <p:nvPr>
            <p:ph type="title"/>
          </p:nvPr>
        </p:nvSpPr>
        <p:spPr/>
        <p:txBody>
          <a:bodyPr/>
          <a:lstStyle/>
          <a:p>
            <a:r>
              <a:rPr lang="en-US" dirty="0" err="1"/>
              <a:t>RendezvousChannel</a:t>
            </a:r>
            <a:endParaRPr lang="en-IN" dirty="0"/>
          </a:p>
        </p:txBody>
      </p:sp>
      <p:sp>
        <p:nvSpPr>
          <p:cNvPr id="3" name="Content Placeholder 2">
            <a:extLst>
              <a:ext uri="{FF2B5EF4-FFF2-40B4-BE49-F238E27FC236}">
                <a16:creationId xmlns:a16="http://schemas.microsoft.com/office/drawing/2014/main" id="{DDEE7D45-6CC6-B634-AC41-4F7735E56AD2}"/>
              </a:ext>
            </a:extLst>
          </p:cNvPr>
          <p:cNvSpPr>
            <a:spLocks noGrp="1"/>
          </p:cNvSpPr>
          <p:nvPr>
            <p:ph idx="1"/>
          </p:nvPr>
        </p:nvSpPr>
        <p:spPr>
          <a:xfrm>
            <a:off x="1154954" y="2603500"/>
            <a:ext cx="10083768" cy="3741316"/>
          </a:xfrm>
        </p:spPr>
        <p:txBody>
          <a:bodyPr/>
          <a:lstStyle/>
          <a:p>
            <a:r>
              <a:rPr lang="en-US" dirty="0" err="1"/>
              <a:t>RendezvousChannel</a:t>
            </a:r>
            <a:r>
              <a:rPr lang="en-US" dirty="0"/>
              <a:t> is also useful for implementing request-reply operations. </a:t>
            </a:r>
          </a:p>
          <a:p>
            <a:r>
              <a:rPr lang="en-US" dirty="0"/>
              <a:t>Sender can create a temporary, anonymous instance of </a:t>
            </a:r>
            <a:r>
              <a:rPr lang="en-US" dirty="0" err="1"/>
              <a:t>RendezvousChannel</a:t>
            </a:r>
            <a:r>
              <a:rPr lang="en-US" dirty="0"/>
              <a:t>, which it then sets as the '</a:t>
            </a:r>
            <a:r>
              <a:rPr lang="en-US" dirty="0" err="1"/>
              <a:t>replyChannel</a:t>
            </a:r>
            <a:r>
              <a:rPr lang="en-US" dirty="0"/>
              <a:t>' header when building a Message. </a:t>
            </a:r>
          </a:p>
          <a:p>
            <a:r>
              <a:rPr lang="en-US" dirty="0"/>
              <a:t>After sending that Message, the sender can immediately call receive (optionally providing a timeout value) in order to block while waiting for a reply Message. </a:t>
            </a:r>
          </a:p>
          <a:p>
            <a:r>
              <a:rPr lang="en-US" dirty="0"/>
              <a:t>This is very similar to the implementation used internally by many of Spring Integration’s request-reply components.</a:t>
            </a:r>
            <a:endParaRPr lang="en-IN" dirty="0"/>
          </a:p>
        </p:txBody>
      </p:sp>
    </p:spTree>
    <p:extLst>
      <p:ext uri="{BB962C8B-B14F-4D97-AF65-F5344CB8AC3E}">
        <p14:creationId xmlns:p14="http://schemas.microsoft.com/office/powerpoint/2010/main" val="10238142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699C7-2B8E-43F9-8469-72027F412C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F796BA-A0AB-B1D7-3E4C-DC54FFD6C4D7}"/>
              </a:ext>
            </a:extLst>
          </p:cNvPr>
          <p:cNvSpPr>
            <a:spLocks noGrp="1"/>
          </p:cNvSpPr>
          <p:nvPr>
            <p:ph type="title"/>
          </p:nvPr>
        </p:nvSpPr>
        <p:spPr/>
        <p:txBody>
          <a:bodyPr/>
          <a:lstStyle/>
          <a:p>
            <a:r>
              <a:rPr lang="en-US" dirty="0" err="1"/>
              <a:t>RendezvousChannel</a:t>
            </a:r>
            <a:endParaRPr lang="en-IN" dirty="0"/>
          </a:p>
        </p:txBody>
      </p:sp>
      <p:sp>
        <p:nvSpPr>
          <p:cNvPr id="3" name="Content Placeholder 2">
            <a:extLst>
              <a:ext uri="{FF2B5EF4-FFF2-40B4-BE49-F238E27FC236}">
                <a16:creationId xmlns:a16="http://schemas.microsoft.com/office/drawing/2014/main" id="{6E89DD0E-871B-2FDA-EBBD-0B90FD23C84F}"/>
              </a:ext>
            </a:extLst>
          </p:cNvPr>
          <p:cNvSpPr>
            <a:spLocks noGrp="1"/>
          </p:cNvSpPr>
          <p:nvPr>
            <p:ph idx="1"/>
          </p:nvPr>
        </p:nvSpPr>
        <p:spPr>
          <a:xfrm>
            <a:off x="1154954" y="2603500"/>
            <a:ext cx="10083768" cy="3741316"/>
          </a:xfrm>
        </p:spPr>
        <p:txBody>
          <a:bodyPr/>
          <a:lstStyle/>
          <a:p>
            <a:r>
              <a:rPr lang="en-US" dirty="0"/>
              <a:t>Queue-based channels --store messages in-memory only by default. </a:t>
            </a:r>
          </a:p>
          <a:p>
            <a:r>
              <a:rPr lang="en-US" dirty="0"/>
              <a:t>When persistence is required, you can either provide a 'message-store' attribute within the 'queue' element to reference a persistent </a:t>
            </a:r>
            <a:r>
              <a:rPr lang="en-US" dirty="0" err="1"/>
              <a:t>MessageStore</a:t>
            </a:r>
            <a:r>
              <a:rPr lang="en-US" dirty="0"/>
              <a:t> implementation or you can replace the local channel with one that is backed by a persistent broker, such as a JMS-backed channel or channel adapter. </a:t>
            </a:r>
          </a:p>
          <a:p>
            <a:r>
              <a:rPr lang="en-US" dirty="0"/>
              <a:t>The latter option lets you take advantage of any JMS provider’s implementation for message persistence.</a:t>
            </a:r>
          </a:p>
          <a:p>
            <a:r>
              <a:rPr lang="en-US" dirty="0"/>
              <a:t> However, when buffering in a queue is not necessary, the simplest approach is to rely upon the </a:t>
            </a:r>
            <a:r>
              <a:rPr lang="en-US" dirty="0" err="1"/>
              <a:t>DirectChannel</a:t>
            </a:r>
            <a:endParaRPr lang="en-IN" dirty="0"/>
          </a:p>
        </p:txBody>
      </p:sp>
    </p:spTree>
    <p:extLst>
      <p:ext uri="{BB962C8B-B14F-4D97-AF65-F5344CB8AC3E}">
        <p14:creationId xmlns:p14="http://schemas.microsoft.com/office/powerpoint/2010/main" val="7182719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07423-429F-D8D6-62FF-2C73CF58BD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61D853-5668-07BF-C009-90B12B281B16}"/>
              </a:ext>
            </a:extLst>
          </p:cNvPr>
          <p:cNvSpPr>
            <a:spLocks noGrp="1"/>
          </p:cNvSpPr>
          <p:nvPr>
            <p:ph type="title"/>
          </p:nvPr>
        </p:nvSpPr>
        <p:spPr/>
        <p:txBody>
          <a:bodyPr/>
          <a:lstStyle/>
          <a:p>
            <a:r>
              <a:rPr lang="en-US" b="1" dirty="0" err="1"/>
              <a:t>DirectChannel</a:t>
            </a:r>
            <a:endParaRPr lang="en-IN" dirty="0"/>
          </a:p>
        </p:txBody>
      </p:sp>
      <p:sp>
        <p:nvSpPr>
          <p:cNvPr id="3" name="Content Placeholder 2">
            <a:extLst>
              <a:ext uri="{FF2B5EF4-FFF2-40B4-BE49-F238E27FC236}">
                <a16:creationId xmlns:a16="http://schemas.microsoft.com/office/drawing/2014/main" id="{2138787A-B93B-9FA2-A126-AAF2A88D20F7}"/>
              </a:ext>
            </a:extLst>
          </p:cNvPr>
          <p:cNvSpPr>
            <a:spLocks noGrp="1"/>
          </p:cNvSpPr>
          <p:nvPr>
            <p:ph idx="1"/>
          </p:nvPr>
        </p:nvSpPr>
        <p:spPr>
          <a:xfrm>
            <a:off x="1154954" y="2603500"/>
            <a:ext cx="10083768" cy="3741316"/>
          </a:xfrm>
        </p:spPr>
        <p:txBody>
          <a:bodyPr/>
          <a:lstStyle/>
          <a:p>
            <a:r>
              <a:rPr lang="en-US" dirty="0" err="1"/>
              <a:t>DirectChannel</a:t>
            </a:r>
            <a:r>
              <a:rPr lang="en-US" dirty="0"/>
              <a:t> has </a:t>
            </a:r>
            <a:r>
              <a:rPr lang="en-US" b="1" dirty="0"/>
              <a:t>point-to-point semantics</a:t>
            </a:r>
            <a:r>
              <a:rPr lang="en-US" dirty="0"/>
              <a:t> but otherwise is more similar to the </a:t>
            </a:r>
            <a:r>
              <a:rPr lang="en-US" dirty="0" err="1"/>
              <a:t>PublishSubscribeChannel</a:t>
            </a:r>
            <a:r>
              <a:rPr lang="en-US" dirty="0"/>
              <a:t> than any of the queue-based channel implementations </a:t>
            </a:r>
          </a:p>
          <a:p>
            <a:r>
              <a:rPr lang="en-US" dirty="0"/>
              <a:t>Implements the </a:t>
            </a:r>
            <a:r>
              <a:rPr lang="en-US" dirty="0" err="1"/>
              <a:t>SubscribableChannel</a:t>
            </a:r>
            <a:r>
              <a:rPr lang="en-US" dirty="0"/>
              <a:t> interface instead of the </a:t>
            </a:r>
            <a:r>
              <a:rPr lang="en-US" dirty="0" err="1"/>
              <a:t>PollableChannel</a:t>
            </a:r>
            <a:r>
              <a:rPr lang="en-US" dirty="0"/>
              <a:t> interface, so it dispatches messages directly to a subscriber. </a:t>
            </a:r>
          </a:p>
          <a:p>
            <a:r>
              <a:rPr lang="en-US" dirty="0"/>
              <a:t>As a point-to-point channel, however, it differs from the </a:t>
            </a:r>
            <a:r>
              <a:rPr lang="en-US" dirty="0" err="1"/>
              <a:t>PublishSubscribeChannel</a:t>
            </a:r>
            <a:r>
              <a:rPr lang="en-US" dirty="0"/>
              <a:t> in that it sends </a:t>
            </a:r>
            <a:r>
              <a:rPr lang="en-US" b="1" dirty="0"/>
              <a:t>each Message to a single subscribed MessageHandler</a:t>
            </a:r>
            <a:r>
              <a:rPr lang="en-US" dirty="0"/>
              <a:t>.</a:t>
            </a:r>
          </a:p>
          <a:p>
            <a:r>
              <a:rPr lang="en-US" dirty="0"/>
              <a:t>Simplest point-to-point channel option</a:t>
            </a:r>
          </a:p>
          <a:p>
            <a:endParaRPr lang="en-US" dirty="0"/>
          </a:p>
          <a:p>
            <a:endParaRPr lang="en-IN" dirty="0"/>
          </a:p>
        </p:txBody>
      </p:sp>
    </p:spTree>
    <p:extLst>
      <p:ext uri="{BB962C8B-B14F-4D97-AF65-F5344CB8AC3E}">
        <p14:creationId xmlns:p14="http://schemas.microsoft.com/office/powerpoint/2010/main" val="15105633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6D3F6A-810A-4EDC-A9A8-428EEA979B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F02BA5-EC9D-FC81-8A8A-B2191B7ADCF3}"/>
              </a:ext>
            </a:extLst>
          </p:cNvPr>
          <p:cNvSpPr>
            <a:spLocks noGrp="1"/>
          </p:cNvSpPr>
          <p:nvPr>
            <p:ph type="title"/>
          </p:nvPr>
        </p:nvSpPr>
        <p:spPr/>
        <p:txBody>
          <a:bodyPr/>
          <a:lstStyle/>
          <a:p>
            <a:r>
              <a:rPr lang="en-US" b="1" dirty="0" err="1"/>
              <a:t>DirectChannel</a:t>
            </a:r>
            <a:endParaRPr lang="en-IN" dirty="0"/>
          </a:p>
        </p:txBody>
      </p:sp>
      <p:sp>
        <p:nvSpPr>
          <p:cNvPr id="3" name="Content Placeholder 2">
            <a:extLst>
              <a:ext uri="{FF2B5EF4-FFF2-40B4-BE49-F238E27FC236}">
                <a16:creationId xmlns:a16="http://schemas.microsoft.com/office/drawing/2014/main" id="{36EFAD43-5A42-2C97-9148-ABA563CE8194}"/>
              </a:ext>
            </a:extLst>
          </p:cNvPr>
          <p:cNvSpPr>
            <a:spLocks noGrp="1"/>
          </p:cNvSpPr>
          <p:nvPr>
            <p:ph idx="1"/>
          </p:nvPr>
        </p:nvSpPr>
        <p:spPr>
          <a:xfrm>
            <a:off x="1154954" y="2603500"/>
            <a:ext cx="10083768" cy="3741316"/>
          </a:xfrm>
        </p:spPr>
        <p:txBody>
          <a:bodyPr/>
          <a:lstStyle/>
          <a:p>
            <a:r>
              <a:rPr lang="en-US" dirty="0"/>
              <a:t>Enables a </a:t>
            </a:r>
            <a:r>
              <a:rPr lang="en-US" b="1" dirty="0"/>
              <a:t>single thread</a:t>
            </a:r>
            <a:r>
              <a:rPr lang="en-US" dirty="0"/>
              <a:t> to perform the operations on “both sides” of the channel.</a:t>
            </a:r>
          </a:p>
          <a:p>
            <a:r>
              <a:rPr lang="en-US" dirty="0"/>
              <a:t> For example, if a handler subscribes to a </a:t>
            </a:r>
            <a:r>
              <a:rPr lang="en-US" dirty="0" err="1"/>
              <a:t>DirectChannel</a:t>
            </a:r>
            <a:r>
              <a:rPr lang="en-US" dirty="0"/>
              <a:t>, then sending a Message to that channel triggers invocation of that handler’s </a:t>
            </a:r>
            <a:r>
              <a:rPr lang="en-US" dirty="0" err="1"/>
              <a:t>handleMessage</a:t>
            </a:r>
            <a:r>
              <a:rPr lang="en-US" dirty="0"/>
              <a:t>(Message) method directly in the sender’s thread, before the send() method invocation can return.</a:t>
            </a:r>
          </a:p>
          <a:p>
            <a:r>
              <a:rPr lang="en-US" dirty="0"/>
              <a:t>Supports transactions that must span across the channel while still benefiting from the abstraction and loose coupling that the channel provides. </a:t>
            </a:r>
          </a:p>
          <a:p>
            <a:r>
              <a:rPr lang="en-US" dirty="0"/>
              <a:t>If the send() call is invoked within the scope of a transaction, the outcome of the handler’s invocation, (for example, updating a database record) plays a role in determining the ultimate result of that transaction (commit or rollback).</a:t>
            </a:r>
          </a:p>
          <a:p>
            <a:endParaRPr lang="en-IN" dirty="0"/>
          </a:p>
        </p:txBody>
      </p:sp>
    </p:spTree>
    <p:extLst>
      <p:ext uri="{BB962C8B-B14F-4D97-AF65-F5344CB8AC3E}">
        <p14:creationId xmlns:p14="http://schemas.microsoft.com/office/powerpoint/2010/main" val="16096867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D5C2C3-4FB3-7B2F-A0B7-A2203FDE09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7A5A88-1779-7FB3-EFEF-E1903473D6C2}"/>
              </a:ext>
            </a:extLst>
          </p:cNvPr>
          <p:cNvSpPr>
            <a:spLocks noGrp="1"/>
          </p:cNvSpPr>
          <p:nvPr>
            <p:ph type="title"/>
          </p:nvPr>
        </p:nvSpPr>
        <p:spPr/>
        <p:txBody>
          <a:bodyPr/>
          <a:lstStyle/>
          <a:p>
            <a:r>
              <a:rPr lang="en-US" b="1" dirty="0" err="1"/>
              <a:t>DirectChannel</a:t>
            </a:r>
            <a:endParaRPr lang="en-IN" dirty="0"/>
          </a:p>
        </p:txBody>
      </p:sp>
      <p:sp>
        <p:nvSpPr>
          <p:cNvPr id="3" name="Content Placeholder 2">
            <a:extLst>
              <a:ext uri="{FF2B5EF4-FFF2-40B4-BE49-F238E27FC236}">
                <a16:creationId xmlns:a16="http://schemas.microsoft.com/office/drawing/2014/main" id="{A1E8CAC8-A076-E58C-667F-598E8E59CE2F}"/>
              </a:ext>
            </a:extLst>
          </p:cNvPr>
          <p:cNvSpPr>
            <a:spLocks noGrp="1"/>
          </p:cNvSpPr>
          <p:nvPr>
            <p:ph idx="1"/>
          </p:nvPr>
        </p:nvSpPr>
        <p:spPr>
          <a:xfrm>
            <a:off x="1154954" y="2603500"/>
            <a:ext cx="10083768" cy="3741316"/>
          </a:xfrm>
        </p:spPr>
        <p:txBody>
          <a:bodyPr/>
          <a:lstStyle/>
          <a:p>
            <a:r>
              <a:rPr lang="en-US" dirty="0"/>
              <a:t>Does not add any additional overhead that would be required for scheduling and managing the threads of a </a:t>
            </a:r>
            <a:r>
              <a:rPr lang="en-US" dirty="0" err="1"/>
              <a:t>poller</a:t>
            </a:r>
            <a:r>
              <a:rPr lang="en-US" dirty="0"/>
              <a:t>, it is the </a:t>
            </a:r>
            <a:r>
              <a:rPr lang="en-US" b="1" dirty="0"/>
              <a:t>default channel type within Spring Integration. </a:t>
            </a:r>
          </a:p>
          <a:p>
            <a:r>
              <a:rPr lang="en-US" dirty="0"/>
              <a:t>Define the channels for an application, consider which of those need to provide buffering or to throttle input, and modify those to be queue-based </a:t>
            </a:r>
            <a:r>
              <a:rPr lang="en-US" dirty="0" err="1"/>
              <a:t>PollableChannels</a:t>
            </a:r>
            <a:r>
              <a:rPr lang="en-US" dirty="0"/>
              <a:t>.</a:t>
            </a:r>
          </a:p>
          <a:p>
            <a:r>
              <a:rPr lang="en-US" dirty="0"/>
              <a:t> Likewise, if a channel needs to broadcast messages, it should not be a </a:t>
            </a:r>
            <a:r>
              <a:rPr lang="en-US" dirty="0" err="1"/>
              <a:t>DirectChannel</a:t>
            </a:r>
            <a:r>
              <a:rPr lang="en-US" dirty="0"/>
              <a:t> but rather a </a:t>
            </a:r>
            <a:r>
              <a:rPr lang="en-US" dirty="0" err="1"/>
              <a:t>PublishSubscribeChannel</a:t>
            </a:r>
            <a:r>
              <a:rPr lang="en-US" dirty="0"/>
              <a:t>. </a:t>
            </a:r>
            <a:endParaRPr lang="en-IN" dirty="0"/>
          </a:p>
        </p:txBody>
      </p:sp>
    </p:spTree>
    <p:extLst>
      <p:ext uri="{BB962C8B-B14F-4D97-AF65-F5344CB8AC3E}">
        <p14:creationId xmlns:p14="http://schemas.microsoft.com/office/powerpoint/2010/main" val="37264079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A1113F-9E7A-2599-F3E1-1D7EE3E5D1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4F60D5-9A83-6EB1-7988-21121DBAB719}"/>
              </a:ext>
            </a:extLst>
          </p:cNvPr>
          <p:cNvSpPr>
            <a:spLocks noGrp="1"/>
          </p:cNvSpPr>
          <p:nvPr>
            <p:ph type="title"/>
          </p:nvPr>
        </p:nvSpPr>
        <p:spPr/>
        <p:txBody>
          <a:bodyPr/>
          <a:lstStyle/>
          <a:p>
            <a:r>
              <a:rPr lang="en-US" b="1" dirty="0" err="1"/>
              <a:t>DirectChannel</a:t>
            </a:r>
            <a:endParaRPr lang="en-IN" dirty="0"/>
          </a:p>
        </p:txBody>
      </p:sp>
      <p:sp>
        <p:nvSpPr>
          <p:cNvPr id="3" name="Content Placeholder 2">
            <a:extLst>
              <a:ext uri="{FF2B5EF4-FFF2-40B4-BE49-F238E27FC236}">
                <a16:creationId xmlns:a16="http://schemas.microsoft.com/office/drawing/2014/main" id="{CF486214-C861-272D-1217-CDBFDC640948}"/>
              </a:ext>
            </a:extLst>
          </p:cNvPr>
          <p:cNvSpPr>
            <a:spLocks noGrp="1"/>
          </p:cNvSpPr>
          <p:nvPr>
            <p:ph idx="1"/>
          </p:nvPr>
        </p:nvSpPr>
        <p:spPr>
          <a:xfrm>
            <a:off x="1154954" y="2603500"/>
            <a:ext cx="10083768" cy="3741316"/>
          </a:xfrm>
        </p:spPr>
        <p:txBody>
          <a:bodyPr/>
          <a:lstStyle/>
          <a:p>
            <a:r>
              <a:rPr lang="en-US" dirty="0" err="1"/>
              <a:t>DirectChannel</a:t>
            </a:r>
            <a:r>
              <a:rPr lang="en-US" dirty="0"/>
              <a:t> internally delegates to a message dispatcher to invoke its subscribed message handlers, and that dispatcher can have a </a:t>
            </a:r>
            <a:r>
              <a:rPr lang="en-US" b="1" dirty="0"/>
              <a:t>load-balancing strategy</a:t>
            </a:r>
            <a:r>
              <a:rPr lang="en-US" dirty="0"/>
              <a:t> exposed by load-balancer or load-balancer-ref attributes (mutually exclusive). </a:t>
            </a:r>
          </a:p>
          <a:p>
            <a:r>
              <a:rPr lang="en-US" dirty="0"/>
              <a:t>Load balancing strategy is used by the message dispatcher to help determine how </a:t>
            </a:r>
            <a:r>
              <a:rPr lang="en-US" b="1" dirty="0"/>
              <a:t>messages are distributed amongst message handlers when multiple message handlers subscribe to the same channel.</a:t>
            </a:r>
            <a:endParaRPr lang="en-IN" b="1" dirty="0"/>
          </a:p>
        </p:txBody>
      </p:sp>
    </p:spTree>
    <p:extLst>
      <p:ext uri="{BB962C8B-B14F-4D97-AF65-F5344CB8AC3E}">
        <p14:creationId xmlns:p14="http://schemas.microsoft.com/office/powerpoint/2010/main" val="27006831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EFB04B-B33C-0225-988E-AF5C456F0C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4C5739-0832-B4FB-CD07-EEDB382F6C91}"/>
              </a:ext>
            </a:extLst>
          </p:cNvPr>
          <p:cNvSpPr>
            <a:spLocks noGrp="1"/>
          </p:cNvSpPr>
          <p:nvPr>
            <p:ph type="title"/>
          </p:nvPr>
        </p:nvSpPr>
        <p:spPr/>
        <p:txBody>
          <a:bodyPr/>
          <a:lstStyle/>
          <a:p>
            <a:r>
              <a:rPr lang="en-US" b="1" dirty="0" err="1"/>
              <a:t>ExecutorChannel</a:t>
            </a:r>
            <a:endParaRPr lang="en-US" b="1" dirty="0"/>
          </a:p>
        </p:txBody>
      </p:sp>
      <p:sp>
        <p:nvSpPr>
          <p:cNvPr id="3" name="Content Placeholder 2">
            <a:extLst>
              <a:ext uri="{FF2B5EF4-FFF2-40B4-BE49-F238E27FC236}">
                <a16:creationId xmlns:a16="http://schemas.microsoft.com/office/drawing/2014/main" id="{75724D33-2B6F-1266-FEBF-F4B46409AC70}"/>
              </a:ext>
            </a:extLst>
          </p:cNvPr>
          <p:cNvSpPr>
            <a:spLocks noGrp="1"/>
          </p:cNvSpPr>
          <p:nvPr>
            <p:ph idx="1"/>
          </p:nvPr>
        </p:nvSpPr>
        <p:spPr>
          <a:xfrm>
            <a:off x="1154954" y="2603500"/>
            <a:ext cx="10083768" cy="3741316"/>
          </a:xfrm>
        </p:spPr>
        <p:txBody>
          <a:bodyPr/>
          <a:lstStyle/>
          <a:p>
            <a:r>
              <a:rPr lang="en-US" dirty="0" err="1"/>
              <a:t>ExecutorChannel</a:t>
            </a:r>
            <a:r>
              <a:rPr lang="en-US" dirty="0"/>
              <a:t> is a point-to-point channel that supports the same dispatcher configuration as </a:t>
            </a:r>
            <a:r>
              <a:rPr lang="en-US" dirty="0" err="1"/>
              <a:t>DirectChannel</a:t>
            </a:r>
            <a:r>
              <a:rPr lang="en-US" dirty="0"/>
              <a:t> (load-balancing strategy and the failover </a:t>
            </a:r>
            <a:r>
              <a:rPr lang="en-US" dirty="0" err="1"/>
              <a:t>boolean</a:t>
            </a:r>
            <a:r>
              <a:rPr lang="en-US" dirty="0"/>
              <a:t> property). </a:t>
            </a:r>
          </a:p>
          <a:p>
            <a:r>
              <a:rPr lang="en-US" dirty="0"/>
              <a:t>Key difference between these two dispatching channel types is that the </a:t>
            </a:r>
            <a:r>
              <a:rPr lang="en-US" dirty="0" err="1"/>
              <a:t>ExecutorChannel</a:t>
            </a:r>
            <a:r>
              <a:rPr lang="en-US" dirty="0"/>
              <a:t> </a:t>
            </a:r>
            <a:r>
              <a:rPr lang="en-US" b="1" dirty="0"/>
              <a:t>delegates to an instance of </a:t>
            </a:r>
            <a:r>
              <a:rPr lang="en-US" b="1" dirty="0" err="1"/>
              <a:t>TaskExecutor</a:t>
            </a:r>
            <a:r>
              <a:rPr lang="en-US" b="1" dirty="0"/>
              <a:t> to perform the dispatch. </a:t>
            </a:r>
          </a:p>
          <a:p>
            <a:r>
              <a:rPr lang="en-US" dirty="0"/>
              <a:t>This means that the send method typically </a:t>
            </a:r>
            <a:r>
              <a:rPr lang="en-US" b="1" dirty="0"/>
              <a:t>does not block</a:t>
            </a:r>
            <a:r>
              <a:rPr lang="en-US" dirty="0"/>
              <a:t>, but it also means that the handler invocation may not occur in the sender’s thread. </a:t>
            </a:r>
          </a:p>
          <a:p>
            <a:r>
              <a:rPr lang="en-US" dirty="0"/>
              <a:t>It therefore does not support transactions that span the sender and receiving handler.</a:t>
            </a:r>
          </a:p>
          <a:p>
            <a:endParaRPr lang="en-IN" dirty="0"/>
          </a:p>
        </p:txBody>
      </p:sp>
    </p:spTree>
    <p:extLst>
      <p:ext uri="{BB962C8B-B14F-4D97-AF65-F5344CB8AC3E}">
        <p14:creationId xmlns:p14="http://schemas.microsoft.com/office/powerpoint/2010/main" val="32876014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2B3441-CD75-10C5-F3D5-588B023F76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068386-EBCC-B2E2-8654-FB1567AADF52}"/>
              </a:ext>
            </a:extLst>
          </p:cNvPr>
          <p:cNvSpPr>
            <a:spLocks noGrp="1"/>
          </p:cNvSpPr>
          <p:nvPr>
            <p:ph type="title"/>
          </p:nvPr>
        </p:nvSpPr>
        <p:spPr/>
        <p:txBody>
          <a:bodyPr/>
          <a:lstStyle/>
          <a:p>
            <a:r>
              <a:rPr lang="en-US" b="1" dirty="0" err="1"/>
              <a:t>PartitionedChannel</a:t>
            </a:r>
            <a:endParaRPr lang="en-IN" dirty="0"/>
          </a:p>
        </p:txBody>
      </p:sp>
      <p:sp>
        <p:nvSpPr>
          <p:cNvPr id="3" name="Content Placeholder 2">
            <a:extLst>
              <a:ext uri="{FF2B5EF4-FFF2-40B4-BE49-F238E27FC236}">
                <a16:creationId xmlns:a16="http://schemas.microsoft.com/office/drawing/2014/main" id="{FD216DC9-C360-914E-5690-928FBF29CFA8}"/>
              </a:ext>
            </a:extLst>
          </p:cNvPr>
          <p:cNvSpPr>
            <a:spLocks noGrp="1"/>
          </p:cNvSpPr>
          <p:nvPr>
            <p:ph idx="1"/>
          </p:nvPr>
        </p:nvSpPr>
        <p:spPr>
          <a:xfrm>
            <a:off x="1154954" y="2603500"/>
            <a:ext cx="10083768" cy="3741316"/>
          </a:xfrm>
        </p:spPr>
        <p:txBody>
          <a:bodyPr>
            <a:normAutofit fontScale="92500" lnSpcReduction="10000"/>
          </a:bodyPr>
          <a:lstStyle/>
          <a:p>
            <a:r>
              <a:rPr lang="en-US" dirty="0"/>
              <a:t>Starting with version 6.1, a </a:t>
            </a:r>
            <a:r>
              <a:rPr lang="en-US" dirty="0" err="1"/>
              <a:t>PartitionedChannel</a:t>
            </a:r>
            <a:r>
              <a:rPr lang="en-US" dirty="0"/>
              <a:t> implementation is provided.</a:t>
            </a:r>
          </a:p>
          <a:p>
            <a:r>
              <a:rPr lang="en-US" dirty="0"/>
              <a:t>Extension of </a:t>
            </a:r>
            <a:r>
              <a:rPr lang="en-US" dirty="0" err="1"/>
              <a:t>AbstractExecutorChannel</a:t>
            </a:r>
            <a:r>
              <a:rPr lang="en-US" dirty="0"/>
              <a:t> and represents point-to-point dispatching logic where the actual consumption is processed on a specific thread, determined by the partition key evaluated from a message sent to this channel. </a:t>
            </a:r>
          </a:p>
          <a:p>
            <a:r>
              <a:rPr lang="en-US" dirty="0"/>
              <a:t>This channel is similar to the </a:t>
            </a:r>
            <a:r>
              <a:rPr lang="en-US" dirty="0" err="1"/>
              <a:t>ExecutorChannel</a:t>
            </a:r>
            <a:r>
              <a:rPr lang="en-US" dirty="0"/>
              <a:t>, but with the difference that messages with the same partition key are always handled in the same thread, preserving ordering. </a:t>
            </a:r>
          </a:p>
          <a:p>
            <a:r>
              <a:rPr lang="en-US" dirty="0"/>
              <a:t>Does not require an external </a:t>
            </a:r>
            <a:r>
              <a:rPr lang="en-US" dirty="0" err="1"/>
              <a:t>TaskExecutor</a:t>
            </a:r>
            <a:r>
              <a:rPr lang="en-US" dirty="0"/>
              <a:t>, but can be configured with a custom </a:t>
            </a:r>
            <a:r>
              <a:rPr lang="en-US" dirty="0" err="1"/>
              <a:t>ThreadFactory</a:t>
            </a:r>
            <a:r>
              <a:rPr lang="en-US" dirty="0"/>
              <a:t> (e.g. </a:t>
            </a:r>
            <a:r>
              <a:rPr lang="en-US" dirty="0" err="1"/>
              <a:t>Thread.ofVirtual</a:t>
            </a:r>
            <a:r>
              <a:rPr lang="en-US" dirty="0"/>
              <a:t>().name("partition-", 0).factory()). </a:t>
            </a:r>
          </a:p>
          <a:p>
            <a:r>
              <a:rPr lang="en-US" dirty="0"/>
              <a:t>This factory is used to populate single-thread executors into a </a:t>
            </a:r>
            <a:r>
              <a:rPr lang="en-US" dirty="0" err="1"/>
              <a:t>MessageDispatcher</a:t>
            </a:r>
            <a:r>
              <a:rPr lang="en-US" dirty="0"/>
              <a:t> delegate, per partition. </a:t>
            </a:r>
          </a:p>
          <a:p>
            <a:r>
              <a:rPr lang="en-US" dirty="0"/>
              <a:t>By default, the </a:t>
            </a:r>
            <a:r>
              <a:rPr lang="en-US" dirty="0" err="1"/>
              <a:t>IntegrationMessageHeaderAccessor.CORRELATION_ID</a:t>
            </a:r>
            <a:r>
              <a:rPr lang="en-US" dirty="0"/>
              <a:t> message header is used as the partition key. </a:t>
            </a:r>
          </a:p>
          <a:p>
            <a:endParaRPr lang="en-IN" dirty="0"/>
          </a:p>
        </p:txBody>
      </p:sp>
    </p:spTree>
    <p:extLst>
      <p:ext uri="{BB962C8B-B14F-4D97-AF65-F5344CB8AC3E}">
        <p14:creationId xmlns:p14="http://schemas.microsoft.com/office/powerpoint/2010/main" val="14410133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69C42-D303-6556-F969-8FFBB96EB3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20A45B-415E-13AA-9818-8ACD776AD06E}"/>
              </a:ext>
            </a:extLst>
          </p:cNvPr>
          <p:cNvSpPr>
            <a:spLocks noGrp="1"/>
          </p:cNvSpPr>
          <p:nvPr>
            <p:ph type="title"/>
          </p:nvPr>
        </p:nvSpPr>
        <p:spPr/>
        <p:txBody>
          <a:bodyPr/>
          <a:lstStyle/>
          <a:p>
            <a:r>
              <a:rPr lang="en-US" b="1" dirty="0" err="1"/>
              <a:t>PartitionedChannel</a:t>
            </a:r>
            <a:endParaRPr lang="en-IN" dirty="0"/>
          </a:p>
        </p:txBody>
      </p:sp>
      <p:sp>
        <p:nvSpPr>
          <p:cNvPr id="3" name="Content Placeholder 2">
            <a:extLst>
              <a:ext uri="{FF2B5EF4-FFF2-40B4-BE49-F238E27FC236}">
                <a16:creationId xmlns:a16="http://schemas.microsoft.com/office/drawing/2014/main" id="{791A5127-9C9B-612C-3242-FBB320CF3C94}"/>
              </a:ext>
            </a:extLst>
          </p:cNvPr>
          <p:cNvSpPr>
            <a:spLocks noGrp="1"/>
          </p:cNvSpPr>
          <p:nvPr>
            <p:ph idx="1"/>
          </p:nvPr>
        </p:nvSpPr>
        <p:spPr>
          <a:xfrm>
            <a:off x="1154954" y="2603500"/>
            <a:ext cx="10083768" cy="3741316"/>
          </a:xfrm>
        </p:spPr>
        <p:txBody>
          <a:bodyPr/>
          <a:lstStyle/>
          <a:p>
            <a:r>
              <a:rPr lang="en-US" dirty="0"/>
              <a:t>Channel can be configured as a simple bean:</a:t>
            </a:r>
          </a:p>
          <a:p>
            <a:pPr marL="0" indent="0">
              <a:buNone/>
            </a:pPr>
            <a:r>
              <a:rPr lang="en-US" b="1" dirty="0">
                <a:solidFill>
                  <a:srgbClr val="C00000"/>
                </a:solidFill>
              </a:rPr>
              <a:t>@Bean</a:t>
            </a:r>
          </a:p>
          <a:p>
            <a:pPr marL="0" indent="0">
              <a:buNone/>
            </a:pPr>
            <a:r>
              <a:rPr lang="en-US" b="1" dirty="0" err="1">
                <a:solidFill>
                  <a:srgbClr val="C00000"/>
                </a:solidFill>
              </a:rPr>
              <a:t>PartitionedChannel</a:t>
            </a:r>
            <a:r>
              <a:rPr lang="en-US" b="1" dirty="0">
                <a:solidFill>
                  <a:srgbClr val="C00000"/>
                </a:solidFill>
              </a:rPr>
              <a:t> </a:t>
            </a:r>
            <a:r>
              <a:rPr lang="en-US" b="1" dirty="0" err="1">
                <a:solidFill>
                  <a:srgbClr val="C00000"/>
                </a:solidFill>
              </a:rPr>
              <a:t>somePartitionedChannel</a:t>
            </a:r>
            <a:r>
              <a:rPr lang="en-US" b="1" dirty="0">
                <a:solidFill>
                  <a:srgbClr val="C00000"/>
                </a:solidFill>
              </a:rPr>
              <a:t>() {</a:t>
            </a:r>
          </a:p>
          <a:p>
            <a:pPr marL="0" indent="0">
              <a:buNone/>
            </a:pPr>
            <a:r>
              <a:rPr lang="en-US" b="1" dirty="0">
                <a:solidFill>
                  <a:srgbClr val="C00000"/>
                </a:solidFill>
              </a:rPr>
              <a:t>    return new </a:t>
            </a:r>
            <a:r>
              <a:rPr lang="en-US" b="1" dirty="0" err="1">
                <a:solidFill>
                  <a:srgbClr val="C00000"/>
                </a:solidFill>
              </a:rPr>
              <a:t>PartitionedChannel</a:t>
            </a:r>
            <a:r>
              <a:rPr lang="en-US" b="1" dirty="0">
                <a:solidFill>
                  <a:srgbClr val="C00000"/>
                </a:solidFill>
              </a:rPr>
              <a:t>(3, (message) -&gt; </a:t>
            </a:r>
            <a:r>
              <a:rPr lang="en-US" b="1" dirty="0" err="1">
                <a:solidFill>
                  <a:srgbClr val="C00000"/>
                </a:solidFill>
              </a:rPr>
              <a:t>message.getHeaders</a:t>
            </a:r>
            <a:r>
              <a:rPr lang="en-US" b="1" dirty="0">
                <a:solidFill>
                  <a:srgbClr val="C00000"/>
                </a:solidFill>
              </a:rPr>
              <a:t>().get("</a:t>
            </a:r>
            <a:r>
              <a:rPr lang="en-US" b="1" dirty="0" err="1">
                <a:solidFill>
                  <a:srgbClr val="C00000"/>
                </a:solidFill>
              </a:rPr>
              <a:t>partitionKey</a:t>
            </a:r>
            <a:r>
              <a:rPr lang="en-US" b="1" dirty="0">
                <a:solidFill>
                  <a:srgbClr val="C00000"/>
                </a:solidFill>
              </a:rPr>
              <a:t>"));</a:t>
            </a:r>
          </a:p>
          <a:p>
            <a:pPr marL="0" indent="0">
              <a:buNone/>
            </a:pPr>
            <a:r>
              <a:rPr lang="en-US" b="1" dirty="0">
                <a:solidFill>
                  <a:srgbClr val="C00000"/>
                </a:solidFill>
              </a:rPr>
              <a:t>}</a:t>
            </a:r>
          </a:p>
          <a:p>
            <a:r>
              <a:rPr lang="en-US" dirty="0"/>
              <a:t>The channel will have 3 partitions - dedicated threads; </a:t>
            </a:r>
          </a:p>
          <a:p>
            <a:r>
              <a:rPr lang="en-US" dirty="0"/>
              <a:t>will use the </a:t>
            </a:r>
            <a:r>
              <a:rPr lang="en-US" dirty="0" err="1"/>
              <a:t>partitionKey</a:t>
            </a:r>
            <a:r>
              <a:rPr lang="en-US" dirty="0"/>
              <a:t> header to determine in which partition the message will be handled. </a:t>
            </a:r>
            <a:endParaRPr lang="en-IN" dirty="0"/>
          </a:p>
        </p:txBody>
      </p:sp>
    </p:spTree>
    <p:extLst>
      <p:ext uri="{BB962C8B-B14F-4D97-AF65-F5344CB8AC3E}">
        <p14:creationId xmlns:p14="http://schemas.microsoft.com/office/powerpoint/2010/main" val="16955203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E70FCE-CD70-5467-431B-470B4FB850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ADD613-84E1-D216-3521-CCDD6FC5577A}"/>
              </a:ext>
            </a:extLst>
          </p:cNvPr>
          <p:cNvSpPr>
            <a:spLocks noGrp="1"/>
          </p:cNvSpPr>
          <p:nvPr>
            <p:ph type="title"/>
          </p:nvPr>
        </p:nvSpPr>
        <p:spPr/>
        <p:txBody>
          <a:bodyPr/>
          <a:lstStyle/>
          <a:p>
            <a:r>
              <a:rPr lang="en-US" b="1" dirty="0" err="1"/>
              <a:t>FluxMessageChannel</a:t>
            </a:r>
            <a:endParaRPr lang="en-IN" dirty="0"/>
          </a:p>
        </p:txBody>
      </p:sp>
      <p:sp>
        <p:nvSpPr>
          <p:cNvPr id="3" name="Content Placeholder 2">
            <a:extLst>
              <a:ext uri="{FF2B5EF4-FFF2-40B4-BE49-F238E27FC236}">
                <a16:creationId xmlns:a16="http://schemas.microsoft.com/office/drawing/2014/main" id="{B5029BD4-C109-7FCD-EDA6-60900526CABC}"/>
              </a:ext>
            </a:extLst>
          </p:cNvPr>
          <p:cNvSpPr>
            <a:spLocks noGrp="1"/>
          </p:cNvSpPr>
          <p:nvPr>
            <p:ph idx="1"/>
          </p:nvPr>
        </p:nvSpPr>
        <p:spPr>
          <a:xfrm>
            <a:off x="1154954" y="2603500"/>
            <a:ext cx="10083768" cy="3741316"/>
          </a:xfrm>
        </p:spPr>
        <p:txBody>
          <a:bodyPr/>
          <a:lstStyle/>
          <a:p>
            <a:r>
              <a:rPr lang="en-US" dirty="0" err="1"/>
              <a:t>FluxMessageChannel</a:t>
            </a:r>
            <a:r>
              <a:rPr lang="en-US" dirty="0"/>
              <a:t> is an </a:t>
            </a:r>
            <a:r>
              <a:rPr lang="en-US" dirty="0" err="1"/>
              <a:t>org.reactivestreams.Publisher</a:t>
            </a:r>
            <a:r>
              <a:rPr lang="en-US" dirty="0"/>
              <a:t> implementation for "sinking" sent messages into an internal </a:t>
            </a:r>
            <a:r>
              <a:rPr lang="en-US" dirty="0" err="1"/>
              <a:t>reactor.core.publisher.Flux</a:t>
            </a:r>
            <a:r>
              <a:rPr lang="en-US" dirty="0"/>
              <a:t> for on demand consumption by reactive subscribers downstream.</a:t>
            </a:r>
          </a:p>
          <a:p>
            <a:r>
              <a:rPr lang="en-US" dirty="0"/>
              <a:t> This channel implementation is neither a </a:t>
            </a:r>
            <a:r>
              <a:rPr lang="en-US" dirty="0" err="1"/>
              <a:t>SubscribableChannel</a:t>
            </a:r>
            <a:r>
              <a:rPr lang="en-US" dirty="0"/>
              <a:t>, nor a </a:t>
            </a:r>
            <a:r>
              <a:rPr lang="en-US" dirty="0" err="1"/>
              <a:t>PollableChannel</a:t>
            </a:r>
            <a:r>
              <a:rPr lang="en-US" dirty="0"/>
              <a:t>, so only </a:t>
            </a:r>
            <a:r>
              <a:rPr lang="en-US" dirty="0" err="1"/>
              <a:t>org.reactivestreams.Subscriber</a:t>
            </a:r>
            <a:r>
              <a:rPr lang="en-US" dirty="0"/>
              <a:t> instances can be used to consume from this channel honoring back-pressure nature of reactive streams. </a:t>
            </a:r>
          </a:p>
          <a:p>
            <a:r>
              <a:rPr lang="en-US" dirty="0" err="1"/>
              <a:t>FluxMessageChannel</a:t>
            </a:r>
            <a:r>
              <a:rPr lang="en-US" dirty="0"/>
              <a:t> implements a </a:t>
            </a:r>
            <a:r>
              <a:rPr lang="en-US" dirty="0" err="1"/>
              <a:t>ReactiveStreamsSubscribableChannel</a:t>
            </a:r>
            <a:r>
              <a:rPr lang="en-US" dirty="0"/>
              <a:t> with its </a:t>
            </a:r>
            <a:r>
              <a:rPr lang="en-US" dirty="0" err="1"/>
              <a:t>subscribeTo</a:t>
            </a:r>
            <a:r>
              <a:rPr lang="en-US" dirty="0"/>
              <a:t>(Publisher&lt;Message&lt;?&gt;&gt;) contract allowing receiving events from reactive source publishers, bridging a reactive stream into the integration flow. </a:t>
            </a:r>
          </a:p>
          <a:p>
            <a:r>
              <a:rPr lang="en-US" dirty="0"/>
              <a:t>To achieve fully reactive behavior for the whole integration flow, such a channel must be placed between all the endpoints in the flow.</a:t>
            </a:r>
          </a:p>
          <a:p>
            <a:endParaRPr lang="en-IN" dirty="0"/>
          </a:p>
        </p:txBody>
      </p:sp>
    </p:spTree>
    <p:extLst>
      <p:ext uri="{BB962C8B-B14F-4D97-AF65-F5344CB8AC3E}">
        <p14:creationId xmlns:p14="http://schemas.microsoft.com/office/powerpoint/2010/main" val="19853918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6572E-DCD1-F093-3113-68CC97EB8E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FB9D7A-5E13-548D-C64B-D72EFEE4BFA7}"/>
              </a:ext>
            </a:extLst>
          </p:cNvPr>
          <p:cNvSpPr>
            <a:spLocks noGrp="1"/>
          </p:cNvSpPr>
          <p:nvPr>
            <p:ph type="title"/>
          </p:nvPr>
        </p:nvSpPr>
        <p:spPr/>
        <p:txBody>
          <a:bodyPr/>
          <a:lstStyle/>
          <a:p>
            <a:r>
              <a:rPr lang="en-US" b="1" dirty="0"/>
              <a:t>Channel Interceptors</a:t>
            </a:r>
            <a:endParaRPr lang="en-IN" dirty="0"/>
          </a:p>
        </p:txBody>
      </p:sp>
      <p:sp>
        <p:nvSpPr>
          <p:cNvPr id="3" name="Content Placeholder 2">
            <a:extLst>
              <a:ext uri="{FF2B5EF4-FFF2-40B4-BE49-F238E27FC236}">
                <a16:creationId xmlns:a16="http://schemas.microsoft.com/office/drawing/2014/main" id="{98D0A22D-F049-4DE4-04DB-6C46246613E5}"/>
              </a:ext>
            </a:extLst>
          </p:cNvPr>
          <p:cNvSpPr>
            <a:spLocks noGrp="1"/>
          </p:cNvSpPr>
          <p:nvPr>
            <p:ph idx="1"/>
          </p:nvPr>
        </p:nvSpPr>
        <p:spPr>
          <a:xfrm>
            <a:off x="1154954" y="2603500"/>
            <a:ext cx="10083768" cy="3741316"/>
          </a:xfrm>
        </p:spPr>
        <p:txBody>
          <a:bodyPr/>
          <a:lstStyle/>
          <a:p>
            <a:r>
              <a:rPr lang="en-US" dirty="0"/>
              <a:t>One of the advantages of a messaging architecture is the ability to provide common behavior and capture meaningful information about the messages passing through the system in a non-invasive way. </a:t>
            </a:r>
          </a:p>
          <a:p>
            <a:r>
              <a:rPr lang="en-US" dirty="0"/>
              <a:t>Since the Message instances are sent to and received from </a:t>
            </a:r>
            <a:r>
              <a:rPr lang="en-US" dirty="0" err="1"/>
              <a:t>MessageChannel</a:t>
            </a:r>
            <a:r>
              <a:rPr lang="en-US" dirty="0"/>
              <a:t> instances, those channels provide an opportunity for intercepting the send and receive operations. </a:t>
            </a:r>
          </a:p>
          <a:p>
            <a:endParaRPr lang="en-IN" dirty="0"/>
          </a:p>
        </p:txBody>
      </p:sp>
    </p:spTree>
    <p:extLst>
      <p:ext uri="{BB962C8B-B14F-4D97-AF65-F5344CB8AC3E}">
        <p14:creationId xmlns:p14="http://schemas.microsoft.com/office/powerpoint/2010/main" val="37219649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3DF9EF-7CEB-3072-03A2-9A1734A88D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3100FE-C655-7B30-F4F2-A99C510C49CB}"/>
              </a:ext>
            </a:extLst>
          </p:cNvPr>
          <p:cNvSpPr>
            <a:spLocks noGrp="1"/>
          </p:cNvSpPr>
          <p:nvPr>
            <p:ph type="title"/>
          </p:nvPr>
        </p:nvSpPr>
        <p:spPr/>
        <p:txBody>
          <a:bodyPr/>
          <a:lstStyle/>
          <a:p>
            <a:r>
              <a:rPr lang="en-US" b="1" dirty="0"/>
              <a:t>Channel Interceptors</a:t>
            </a:r>
            <a:endParaRPr lang="en-IN" dirty="0"/>
          </a:p>
        </p:txBody>
      </p:sp>
      <p:sp>
        <p:nvSpPr>
          <p:cNvPr id="3" name="Content Placeholder 2">
            <a:extLst>
              <a:ext uri="{FF2B5EF4-FFF2-40B4-BE49-F238E27FC236}">
                <a16:creationId xmlns:a16="http://schemas.microsoft.com/office/drawing/2014/main" id="{614E8365-A457-9622-37B6-1054411E0A68}"/>
              </a:ext>
            </a:extLst>
          </p:cNvPr>
          <p:cNvSpPr>
            <a:spLocks noGrp="1"/>
          </p:cNvSpPr>
          <p:nvPr>
            <p:ph idx="1"/>
          </p:nvPr>
        </p:nvSpPr>
        <p:spPr>
          <a:xfrm>
            <a:off x="1154954" y="2603500"/>
            <a:ext cx="10083768" cy="3741316"/>
          </a:xfrm>
        </p:spPr>
        <p:txBody>
          <a:bodyPr>
            <a:normAutofit fontScale="92500" lnSpcReduction="20000"/>
          </a:bodyPr>
          <a:lstStyle/>
          <a:p>
            <a:r>
              <a:rPr lang="en-IN" dirty="0" err="1"/>
              <a:t>ChannelInterceptor</a:t>
            </a:r>
            <a:r>
              <a:rPr lang="en-IN" dirty="0"/>
              <a:t> strategy interface, shown in the following listing, provides methods for each of those operations:</a:t>
            </a:r>
          </a:p>
          <a:p>
            <a:pPr marL="0" indent="0">
              <a:buNone/>
            </a:pPr>
            <a:r>
              <a:rPr lang="en-IN" b="1" dirty="0">
                <a:solidFill>
                  <a:srgbClr val="C00000"/>
                </a:solidFill>
              </a:rPr>
              <a:t>public interface </a:t>
            </a:r>
            <a:r>
              <a:rPr lang="en-IN" b="1" dirty="0" err="1">
                <a:solidFill>
                  <a:srgbClr val="C00000"/>
                </a:solidFill>
              </a:rPr>
              <a:t>ChannelInterceptor</a:t>
            </a:r>
            <a:r>
              <a:rPr lang="en-IN" b="1" dirty="0">
                <a:solidFill>
                  <a:srgbClr val="C00000"/>
                </a:solidFill>
              </a:rPr>
              <a:t> {</a:t>
            </a:r>
          </a:p>
          <a:p>
            <a:pPr marL="0" indent="0">
              <a:buNone/>
            </a:pPr>
            <a:r>
              <a:rPr lang="en-IN" b="1" dirty="0">
                <a:solidFill>
                  <a:srgbClr val="C00000"/>
                </a:solidFill>
              </a:rPr>
              <a:t>    Message&lt;?&gt; </a:t>
            </a:r>
            <a:r>
              <a:rPr lang="en-IN" b="1" dirty="0" err="1">
                <a:solidFill>
                  <a:srgbClr val="C00000"/>
                </a:solidFill>
              </a:rPr>
              <a:t>preSend</a:t>
            </a:r>
            <a:r>
              <a:rPr lang="en-IN" b="1" dirty="0">
                <a:solidFill>
                  <a:srgbClr val="C00000"/>
                </a:solidFill>
              </a:rPr>
              <a:t>(Message&lt;?&gt; message, </a:t>
            </a:r>
            <a:r>
              <a:rPr lang="en-IN" b="1" dirty="0" err="1">
                <a:solidFill>
                  <a:srgbClr val="C00000"/>
                </a:solidFill>
              </a:rPr>
              <a:t>MessageChannel</a:t>
            </a:r>
            <a:r>
              <a:rPr lang="en-IN" b="1" dirty="0">
                <a:solidFill>
                  <a:srgbClr val="C00000"/>
                </a:solidFill>
              </a:rPr>
              <a:t> channel);</a:t>
            </a:r>
          </a:p>
          <a:p>
            <a:pPr marL="0" indent="0">
              <a:buNone/>
            </a:pPr>
            <a:r>
              <a:rPr lang="en-IN" b="1" dirty="0">
                <a:solidFill>
                  <a:srgbClr val="C00000"/>
                </a:solidFill>
              </a:rPr>
              <a:t>    void </a:t>
            </a:r>
            <a:r>
              <a:rPr lang="en-IN" b="1" dirty="0" err="1">
                <a:solidFill>
                  <a:srgbClr val="C00000"/>
                </a:solidFill>
              </a:rPr>
              <a:t>postSend</a:t>
            </a:r>
            <a:r>
              <a:rPr lang="en-IN" b="1" dirty="0">
                <a:solidFill>
                  <a:srgbClr val="C00000"/>
                </a:solidFill>
              </a:rPr>
              <a:t>(Message&lt;?&gt; message, </a:t>
            </a:r>
            <a:r>
              <a:rPr lang="en-IN" b="1" dirty="0" err="1">
                <a:solidFill>
                  <a:srgbClr val="C00000"/>
                </a:solidFill>
              </a:rPr>
              <a:t>MessageChannel</a:t>
            </a:r>
            <a:r>
              <a:rPr lang="en-IN" b="1" dirty="0">
                <a:solidFill>
                  <a:srgbClr val="C00000"/>
                </a:solidFill>
              </a:rPr>
              <a:t> channel, </a:t>
            </a:r>
            <a:r>
              <a:rPr lang="en-IN" b="1" dirty="0" err="1">
                <a:solidFill>
                  <a:srgbClr val="C00000"/>
                </a:solidFill>
              </a:rPr>
              <a:t>boolean</a:t>
            </a:r>
            <a:r>
              <a:rPr lang="en-IN" b="1" dirty="0">
                <a:solidFill>
                  <a:srgbClr val="C00000"/>
                </a:solidFill>
              </a:rPr>
              <a:t> sent);</a:t>
            </a:r>
          </a:p>
          <a:p>
            <a:pPr marL="0" indent="0">
              <a:buNone/>
            </a:pPr>
            <a:r>
              <a:rPr lang="en-IN" b="1" dirty="0">
                <a:solidFill>
                  <a:srgbClr val="C00000"/>
                </a:solidFill>
              </a:rPr>
              <a:t>    void </a:t>
            </a:r>
            <a:r>
              <a:rPr lang="en-IN" b="1" dirty="0" err="1">
                <a:solidFill>
                  <a:srgbClr val="C00000"/>
                </a:solidFill>
              </a:rPr>
              <a:t>afterSendCompletion</a:t>
            </a:r>
            <a:r>
              <a:rPr lang="en-IN" b="1" dirty="0">
                <a:solidFill>
                  <a:srgbClr val="C00000"/>
                </a:solidFill>
              </a:rPr>
              <a:t>(Message&lt;?&gt; message, </a:t>
            </a:r>
            <a:r>
              <a:rPr lang="en-IN" b="1" dirty="0" err="1">
                <a:solidFill>
                  <a:srgbClr val="C00000"/>
                </a:solidFill>
              </a:rPr>
              <a:t>MessageChannel</a:t>
            </a:r>
            <a:r>
              <a:rPr lang="en-IN" b="1" dirty="0">
                <a:solidFill>
                  <a:srgbClr val="C00000"/>
                </a:solidFill>
              </a:rPr>
              <a:t> channel, </a:t>
            </a:r>
            <a:r>
              <a:rPr lang="en-IN" b="1" dirty="0" err="1">
                <a:solidFill>
                  <a:srgbClr val="C00000"/>
                </a:solidFill>
              </a:rPr>
              <a:t>boolean</a:t>
            </a:r>
            <a:r>
              <a:rPr lang="en-IN" b="1" dirty="0">
                <a:solidFill>
                  <a:srgbClr val="C00000"/>
                </a:solidFill>
              </a:rPr>
              <a:t> sent, Exception ex);</a:t>
            </a:r>
          </a:p>
          <a:p>
            <a:pPr marL="0" indent="0">
              <a:buNone/>
            </a:pPr>
            <a:r>
              <a:rPr lang="en-IN" b="1" dirty="0">
                <a:solidFill>
                  <a:srgbClr val="C00000"/>
                </a:solidFill>
              </a:rPr>
              <a:t>    </a:t>
            </a:r>
            <a:r>
              <a:rPr lang="en-IN" b="1" dirty="0" err="1">
                <a:solidFill>
                  <a:srgbClr val="C00000"/>
                </a:solidFill>
              </a:rPr>
              <a:t>boolean</a:t>
            </a:r>
            <a:r>
              <a:rPr lang="en-IN" b="1" dirty="0">
                <a:solidFill>
                  <a:srgbClr val="C00000"/>
                </a:solidFill>
              </a:rPr>
              <a:t> </a:t>
            </a:r>
            <a:r>
              <a:rPr lang="en-IN" b="1" dirty="0" err="1">
                <a:solidFill>
                  <a:srgbClr val="C00000"/>
                </a:solidFill>
              </a:rPr>
              <a:t>preReceive</a:t>
            </a:r>
            <a:r>
              <a:rPr lang="en-IN" b="1" dirty="0">
                <a:solidFill>
                  <a:srgbClr val="C00000"/>
                </a:solidFill>
              </a:rPr>
              <a:t>(</a:t>
            </a:r>
            <a:r>
              <a:rPr lang="en-IN" b="1" dirty="0" err="1">
                <a:solidFill>
                  <a:srgbClr val="C00000"/>
                </a:solidFill>
              </a:rPr>
              <a:t>MessageChannel</a:t>
            </a:r>
            <a:r>
              <a:rPr lang="en-IN" b="1" dirty="0">
                <a:solidFill>
                  <a:srgbClr val="C00000"/>
                </a:solidFill>
              </a:rPr>
              <a:t> channel);</a:t>
            </a:r>
          </a:p>
          <a:p>
            <a:pPr marL="0" indent="0">
              <a:buNone/>
            </a:pPr>
            <a:r>
              <a:rPr lang="en-IN" b="1" dirty="0">
                <a:solidFill>
                  <a:srgbClr val="C00000"/>
                </a:solidFill>
              </a:rPr>
              <a:t>    Message&lt;?&gt; </a:t>
            </a:r>
            <a:r>
              <a:rPr lang="en-IN" b="1" dirty="0" err="1">
                <a:solidFill>
                  <a:srgbClr val="C00000"/>
                </a:solidFill>
              </a:rPr>
              <a:t>postReceive</a:t>
            </a:r>
            <a:r>
              <a:rPr lang="en-IN" b="1" dirty="0">
                <a:solidFill>
                  <a:srgbClr val="C00000"/>
                </a:solidFill>
              </a:rPr>
              <a:t>(Message&lt;?&gt; message, </a:t>
            </a:r>
            <a:r>
              <a:rPr lang="en-IN" b="1" dirty="0" err="1">
                <a:solidFill>
                  <a:srgbClr val="C00000"/>
                </a:solidFill>
              </a:rPr>
              <a:t>MessageChannel</a:t>
            </a:r>
            <a:r>
              <a:rPr lang="en-IN" b="1" dirty="0">
                <a:solidFill>
                  <a:srgbClr val="C00000"/>
                </a:solidFill>
              </a:rPr>
              <a:t> channel);</a:t>
            </a:r>
          </a:p>
          <a:p>
            <a:pPr marL="0" indent="0">
              <a:buNone/>
            </a:pPr>
            <a:r>
              <a:rPr lang="en-IN" b="1" dirty="0">
                <a:solidFill>
                  <a:srgbClr val="C00000"/>
                </a:solidFill>
              </a:rPr>
              <a:t>    void </a:t>
            </a:r>
            <a:r>
              <a:rPr lang="en-IN" b="1" dirty="0" err="1">
                <a:solidFill>
                  <a:srgbClr val="C00000"/>
                </a:solidFill>
              </a:rPr>
              <a:t>afterReceiveCompletion</a:t>
            </a:r>
            <a:r>
              <a:rPr lang="en-IN" b="1" dirty="0">
                <a:solidFill>
                  <a:srgbClr val="C00000"/>
                </a:solidFill>
              </a:rPr>
              <a:t>(Message&lt;?&gt; message, </a:t>
            </a:r>
            <a:r>
              <a:rPr lang="en-IN" b="1" dirty="0" err="1">
                <a:solidFill>
                  <a:srgbClr val="C00000"/>
                </a:solidFill>
              </a:rPr>
              <a:t>MessageChannel</a:t>
            </a:r>
            <a:r>
              <a:rPr lang="en-IN" b="1" dirty="0">
                <a:solidFill>
                  <a:srgbClr val="C00000"/>
                </a:solidFill>
              </a:rPr>
              <a:t> channel, Exception ex);</a:t>
            </a:r>
          </a:p>
          <a:p>
            <a:pPr marL="0" indent="0">
              <a:buNone/>
            </a:pPr>
            <a:r>
              <a:rPr lang="en-IN" b="1" dirty="0">
                <a:solidFill>
                  <a:srgbClr val="C00000"/>
                </a:solidFill>
              </a:rPr>
              <a:t>}</a:t>
            </a:r>
          </a:p>
          <a:p>
            <a:endParaRPr lang="en-IN" dirty="0"/>
          </a:p>
        </p:txBody>
      </p:sp>
    </p:spTree>
    <p:extLst>
      <p:ext uri="{BB962C8B-B14F-4D97-AF65-F5344CB8AC3E}">
        <p14:creationId xmlns:p14="http://schemas.microsoft.com/office/powerpoint/2010/main" val="350008545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D696AC-A509-1D35-29EE-3993CBA324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303F7D-8886-B771-D36F-171801A563CF}"/>
              </a:ext>
            </a:extLst>
          </p:cNvPr>
          <p:cNvSpPr>
            <a:spLocks noGrp="1"/>
          </p:cNvSpPr>
          <p:nvPr>
            <p:ph type="title"/>
          </p:nvPr>
        </p:nvSpPr>
        <p:spPr/>
        <p:txBody>
          <a:bodyPr/>
          <a:lstStyle/>
          <a:p>
            <a:r>
              <a:rPr lang="en-US" b="1" dirty="0"/>
              <a:t>Channel Interceptors</a:t>
            </a:r>
            <a:endParaRPr lang="en-IN" dirty="0"/>
          </a:p>
        </p:txBody>
      </p:sp>
      <p:sp>
        <p:nvSpPr>
          <p:cNvPr id="3" name="Content Placeholder 2">
            <a:extLst>
              <a:ext uri="{FF2B5EF4-FFF2-40B4-BE49-F238E27FC236}">
                <a16:creationId xmlns:a16="http://schemas.microsoft.com/office/drawing/2014/main" id="{082AAE5A-BA56-4598-ED06-D3243894943D}"/>
              </a:ext>
            </a:extLst>
          </p:cNvPr>
          <p:cNvSpPr>
            <a:spLocks noGrp="1"/>
          </p:cNvSpPr>
          <p:nvPr>
            <p:ph idx="1"/>
          </p:nvPr>
        </p:nvSpPr>
        <p:spPr>
          <a:xfrm>
            <a:off x="1154954" y="2603500"/>
            <a:ext cx="10083768" cy="3741316"/>
          </a:xfrm>
        </p:spPr>
        <p:txBody>
          <a:bodyPr/>
          <a:lstStyle/>
          <a:p>
            <a:r>
              <a:rPr lang="en-US" dirty="0"/>
              <a:t>After implementing the interface, registering the interceptor with a channel is just a matter of making the following call:</a:t>
            </a:r>
          </a:p>
          <a:p>
            <a:pPr marL="0" indent="0">
              <a:buNone/>
            </a:pPr>
            <a:r>
              <a:rPr lang="en-US" b="1" dirty="0" err="1">
                <a:solidFill>
                  <a:srgbClr val="C00000"/>
                </a:solidFill>
              </a:rPr>
              <a:t>channel.addInterceptor</a:t>
            </a:r>
            <a:r>
              <a:rPr lang="en-US" b="1" dirty="0">
                <a:solidFill>
                  <a:srgbClr val="C00000"/>
                </a:solidFill>
              </a:rPr>
              <a:t>(</a:t>
            </a:r>
            <a:r>
              <a:rPr lang="en-US" b="1" dirty="0" err="1">
                <a:solidFill>
                  <a:srgbClr val="C00000"/>
                </a:solidFill>
              </a:rPr>
              <a:t>someChannelInterceptor</a:t>
            </a:r>
            <a:r>
              <a:rPr lang="en-US" b="1" dirty="0">
                <a:solidFill>
                  <a:srgbClr val="C00000"/>
                </a:solidFill>
              </a:rPr>
              <a:t>);</a:t>
            </a:r>
          </a:p>
          <a:p>
            <a:r>
              <a:rPr lang="en-US" dirty="0"/>
              <a:t>The methods that return a Message instance can be used for transforming the Message or can return 'null' to prevent further processing </a:t>
            </a:r>
          </a:p>
          <a:p>
            <a:r>
              <a:rPr lang="en-US" dirty="0" err="1"/>
              <a:t>preReceive</a:t>
            </a:r>
            <a:r>
              <a:rPr lang="en-US" dirty="0"/>
              <a:t> method can return false to prevent the receive operation from proceeding.</a:t>
            </a:r>
          </a:p>
          <a:p>
            <a:endParaRPr lang="en-IN" dirty="0"/>
          </a:p>
        </p:txBody>
      </p:sp>
    </p:spTree>
    <p:extLst>
      <p:ext uri="{BB962C8B-B14F-4D97-AF65-F5344CB8AC3E}">
        <p14:creationId xmlns:p14="http://schemas.microsoft.com/office/powerpoint/2010/main" val="394885804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E44A0A-7EC7-88EE-0704-2A2C76DBED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FD6487-1963-B91A-8F34-9BA83FDF78AA}"/>
              </a:ext>
            </a:extLst>
          </p:cNvPr>
          <p:cNvSpPr>
            <a:spLocks noGrp="1"/>
          </p:cNvSpPr>
          <p:nvPr>
            <p:ph type="title"/>
          </p:nvPr>
        </p:nvSpPr>
        <p:spPr/>
        <p:txBody>
          <a:bodyPr/>
          <a:lstStyle/>
          <a:p>
            <a:r>
              <a:rPr lang="en-IN" dirty="0"/>
              <a:t>Points to remember</a:t>
            </a:r>
          </a:p>
        </p:txBody>
      </p:sp>
      <p:sp>
        <p:nvSpPr>
          <p:cNvPr id="3" name="Content Placeholder 2">
            <a:extLst>
              <a:ext uri="{FF2B5EF4-FFF2-40B4-BE49-F238E27FC236}">
                <a16:creationId xmlns:a16="http://schemas.microsoft.com/office/drawing/2014/main" id="{A70FE780-E897-967C-44F8-6CF9084DA114}"/>
              </a:ext>
            </a:extLst>
          </p:cNvPr>
          <p:cNvSpPr>
            <a:spLocks noGrp="1"/>
          </p:cNvSpPr>
          <p:nvPr>
            <p:ph idx="1"/>
          </p:nvPr>
        </p:nvSpPr>
        <p:spPr>
          <a:xfrm>
            <a:off x="1154954" y="2603500"/>
            <a:ext cx="10083768" cy="3741316"/>
          </a:xfrm>
        </p:spPr>
        <p:txBody>
          <a:bodyPr/>
          <a:lstStyle/>
          <a:p>
            <a:r>
              <a:rPr lang="en-US" dirty="0"/>
              <a:t>receive() calls are only relevant for </a:t>
            </a:r>
            <a:r>
              <a:rPr lang="en-US" dirty="0" err="1"/>
              <a:t>PollableChannels</a:t>
            </a:r>
            <a:r>
              <a:rPr lang="en-US" dirty="0"/>
              <a:t>. </a:t>
            </a:r>
          </a:p>
          <a:p>
            <a:r>
              <a:rPr lang="en-US" dirty="0" err="1"/>
              <a:t>SubscribableChannel</a:t>
            </a:r>
            <a:r>
              <a:rPr lang="en-US" dirty="0"/>
              <a:t> interface does not even define a receive() method. </a:t>
            </a:r>
          </a:p>
          <a:p>
            <a:r>
              <a:rPr lang="en-US" dirty="0"/>
              <a:t>Reason for this is that when a Message is sent to a </a:t>
            </a:r>
            <a:r>
              <a:rPr lang="en-US" dirty="0" err="1"/>
              <a:t>SubscribableChannel</a:t>
            </a:r>
            <a:r>
              <a:rPr lang="en-US" dirty="0"/>
              <a:t>, it is sent directly to zero or more subscribers, depending on the type of channel, (for example, a </a:t>
            </a:r>
            <a:r>
              <a:rPr lang="en-US" dirty="0" err="1"/>
              <a:t>PublishSubscribeChannel</a:t>
            </a:r>
            <a:r>
              <a:rPr lang="en-US" dirty="0"/>
              <a:t> sends to all of its subscribers). </a:t>
            </a:r>
          </a:p>
          <a:p>
            <a:r>
              <a:rPr lang="en-US" dirty="0" err="1"/>
              <a:t>preReceive</a:t>
            </a:r>
            <a:r>
              <a:rPr lang="en-US" dirty="0"/>
              <a:t>(…​), </a:t>
            </a:r>
            <a:r>
              <a:rPr lang="en-US" dirty="0" err="1"/>
              <a:t>postReceive</a:t>
            </a:r>
            <a:r>
              <a:rPr lang="en-US" dirty="0"/>
              <a:t>(…​), and </a:t>
            </a:r>
            <a:r>
              <a:rPr lang="en-US" dirty="0" err="1"/>
              <a:t>afterReceiveCompletion</a:t>
            </a:r>
            <a:r>
              <a:rPr lang="en-US" dirty="0"/>
              <a:t>(…​) interceptor methods are invoked only when the interceptor is applied to a </a:t>
            </a:r>
            <a:r>
              <a:rPr lang="en-US" dirty="0" err="1"/>
              <a:t>PollableChannel</a:t>
            </a:r>
            <a:r>
              <a:rPr lang="en-US" dirty="0"/>
              <a:t>.</a:t>
            </a:r>
            <a:endParaRPr lang="en-IN" dirty="0"/>
          </a:p>
        </p:txBody>
      </p:sp>
    </p:spTree>
    <p:extLst>
      <p:ext uri="{BB962C8B-B14F-4D97-AF65-F5344CB8AC3E}">
        <p14:creationId xmlns:p14="http://schemas.microsoft.com/office/powerpoint/2010/main" val="425455905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7B39D3-CB1C-F59F-30FA-3AE152D8D5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C961F4-C72D-FDFE-7AB7-E36C8426B23A}"/>
              </a:ext>
            </a:extLst>
          </p:cNvPr>
          <p:cNvSpPr>
            <a:spLocks noGrp="1"/>
          </p:cNvSpPr>
          <p:nvPr>
            <p:ph type="title"/>
          </p:nvPr>
        </p:nvSpPr>
        <p:spPr/>
        <p:txBody>
          <a:bodyPr/>
          <a:lstStyle/>
          <a:p>
            <a:r>
              <a:rPr lang="en-US" b="1" dirty="0"/>
              <a:t>Configuring Message Channels</a:t>
            </a:r>
            <a:endParaRPr lang="en-IN" dirty="0"/>
          </a:p>
        </p:txBody>
      </p:sp>
      <p:sp>
        <p:nvSpPr>
          <p:cNvPr id="3" name="Content Placeholder 2">
            <a:extLst>
              <a:ext uri="{FF2B5EF4-FFF2-40B4-BE49-F238E27FC236}">
                <a16:creationId xmlns:a16="http://schemas.microsoft.com/office/drawing/2014/main" id="{7E141B9C-5EA9-D7D8-E7C1-8C295EB14062}"/>
              </a:ext>
            </a:extLst>
          </p:cNvPr>
          <p:cNvSpPr>
            <a:spLocks noGrp="1"/>
          </p:cNvSpPr>
          <p:nvPr>
            <p:ph idx="1"/>
          </p:nvPr>
        </p:nvSpPr>
        <p:spPr>
          <a:xfrm>
            <a:off x="1154954" y="2603500"/>
            <a:ext cx="10083768" cy="3741316"/>
          </a:xfrm>
        </p:spPr>
        <p:txBody>
          <a:bodyPr/>
          <a:lstStyle/>
          <a:p>
            <a:r>
              <a:rPr lang="en-US" dirty="0"/>
              <a:t>To create a message channel instance, can use the &lt;channel/&gt; element for xml or </a:t>
            </a:r>
            <a:r>
              <a:rPr lang="en-US" dirty="0" err="1"/>
              <a:t>DirectChannel</a:t>
            </a:r>
            <a:r>
              <a:rPr lang="en-US" dirty="0"/>
              <a:t> instance for Java configuration.</a:t>
            </a:r>
          </a:p>
          <a:p>
            <a:pPr marL="0" indent="0">
              <a:buNone/>
            </a:pPr>
            <a:r>
              <a:rPr lang="en-US" b="1" dirty="0">
                <a:solidFill>
                  <a:srgbClr val="C00000"/>
                </a:solidFill>
              </a:rPr>
              <a:t>@Bean </a:t>
            </a:r>
          </a:p>
          <a:p>
            <a:pPr marL="0" indent="0">
              <a:buNone/>
            </a:pPr>
            <a:r>
              <a:rPr lang="en-US" b="1" dirty="0">
                <a:solidFill>
                  <a:srgbClr val="C00000"/>
                </a:solidFill>
              </a:rPr>
              <a:t>public </a:t>
            </a:r>
            <a:r>
              <a:rPr lang="en-US" b="1" dirty="0" err="1">
                <a:solidFill>
                  <a:srgbClr val="C00000"/>
                </a:solidFill>
              </a:rPr>
              <a:t>MessageChannel</a:t>
            </a:r>
            <a:r>
              <a:rPr lang="en-US" b="1" dirty="0">
                <a:solidFill>
                  <a:srgbClr val="C00000"/>
                </a:solidFill>
              </a:rPr>
              <a:t> </a:t>
            </a:r>
            <a:r>
              <a:rPr lang="en-US" b="1" dirty="0" err="1">
                <a:solidFill>
                  <a:srgbClr val="C00000"/>
                </a:solidFill>
              </a:rPr>
              <a:t>exampleChannel</a:t>
            </a:r>
            <a:r>
              <a:rPr lang="en-US" b="1" dirty="0">
                <a:solidFill>
                  <a:srgbClr val="C00000"/>
                </a:solidFill>
              </a:rPr>
              <a:t>() </a:t>
            </a:r>
          </a:p>
          <a:p>
            <a:pPr marL="0" indent="0">
              <a:buNone/>
            </a:pPr>
            <a:r>
              <a:rPr lang="en-US" b="1" dirty="0">
                <a:solidFill>
                  <a:srgbClr val="C00000"/>
                </a:solidFill>
              </a:rPr>
              <a:t>{ return new </a:t>
            </a:r>
            <a:r>
              <a:rPr lang="en-US" b="1" dirty="0" err="1">
                <a:solidFill>
                  <a:srgbClr val="C00000"/>
                </a:solidFill>
              </a:rPr>
              <a:t>DirectChannel</a:t>
            </a:r>
            <a:r>
              <a:rPr lang="en-US" b="1" dirty="0">
                <a:solidFill>
                  <a:srgbClr val="C00000"/>
                </a:solidFill>
              </a:rPr>
              <a:t>(); }</a:t>
            </a:r>
          </a:p>
          <a:p>
            <a:r>
              <a:rPr lang="en-US" dirty="0"/>
              <a:t>In Xml:</a:t>
            </a:r>
          </a:p>
          <a:p>
            <a:pPr marL="0" indent="0">
              <a:buNone/>
            </a:pPr>
            <a:r>
              <a:rPr lang="en-IN" b="1" dirty="0">
                <a:solidFill>
                  <a:srgbClr val="C00000"/>
                </a:solidFill>
              </a:rPr>
              <a:t>&lt;</a:t>
            </a:r>
            <a:r>
              <a:rPr lang="en-IN" b="1" dirty="0" err="1">
                <a:solidFill>
                  <a:srgbClr val="C00000"/>
                </a:solidFill>
              </a:rPr>
              <a:t>int:channel</a:t>
            </a:r>
            <a:r>
              <a:rPr lang="en-IN" b="1" dirty="0">
                <a:solidFill>
                  <a:srgbClr val="C00000"/>
                </a:solidFill>
              </a:rPr>
              <a:t> id="</a:t>
            </a:r>
            <a:r>
              <a:rPr lang="en-IN" b="1" dirty="0" err="1">
                <a:solidFill>
                  <a:srgbClr val="C00000"/>
                </a:solidFill>
              </a:rPr>
              <a:t>exampleChannel</a:t>
            </a:r>
            <a:r>
              <a:rPr lang="en-IN" b="1" dirty="0">
                <a:solidFill>
                  <a:srgbClr val="C00000"/>
                </a:solidFill>
              </a:rPr>
              <a:t>"/&gt;</a:t>
            </a:r>
          </a:p>
        </p:txBody>
      </p:sp>
    </p:spTree>
    <p:extLst>
      <p:ext uri="{BB962C8B-B14F-4D97-AF65-F5344CB8AC3E}">
        <p14:creationId xmlns:p14="http://schemas.microsoft.com/office/powerpoint/2010/main" val="21667558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3ADCA-C3C2-5FB5-6656-E9C3F819B6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F5EBC3-AC66-280B-3CE2-159CDE69DE58}"/>
              </a:ext>
            </a:extLst>
          </p:cNvPr>
          <p:cNvSpPr>
            <a:spLocks noGrp="1"/>
          </p:cNvSpPr>
          <p:nvPr>
            <p:ph type="title"/>
          </p:nvPr>
        </p:nvSpPr>
        <p:spPr/>
        <p:txBody>
          <a:bodyPr/>
          <a:lstStyle/>
          <a:p>
            <a:r>
              <a:rPr lang="en-US" b="1" dirty="0"/>
              <a:t>Configuring Message Channels</a:t>
            </a:r>
            <a:endParaRPr lang="en-IN" dirty="0"/>
          </a:p>
        </p:txBody>
      </p:sp>
      <p:sp>
        <p:nvSpPr>
          <p:cNvPr id="3" name="Content Placeholder 2">
            <a:extLst>
              <a:ext uri="{FF2B5EF4-FFF2-40B4-BE49-F238E27FC236}">
                <a16:creationId xmlns:a16="http://schemas.microsoft.com/office/drawing/2014/main" id="{E141E0CC-038C-D5E6-2ED1-6502DBCD5D75}"/>
              </a:ext>
            </a:extLst>
          </p:cNvPr>
          <p:cNvSpPr>
            <a:spLocks noGrp="1"/>
          </p:cNvSpPr>
          <p:nvPr>
            <p:ph idx="1"/>
          </p:nvPr>
        </p:nvSpPr>
        <p:spPr>
          <a:xfrm>
            <a:off x="1154954" y="2603500"/>
            <a:ext cx="10083768" cy="3741316"/>
          </a:xfrm>
        </p:spPr>
        <p:txBody>
          <a:bodyPr/>
          <a:lstStyle/>
          <a:p>
            <a:r>
              <a:rPr lang="en-US" dirty="0"/>
              <a:t>When you use the &lt;channel/&gt; element without any sub-elements, it creates a </a:t>
            </a:r>
            <a:r>
              <a:rPr lang="en-US" dirty="0" err="1"/>
              <a:t>DirectChannel</a:t>
            </a:r>
            <a:r>
              <a:rPr lang="en-US" dirty="0"/>
              <a:t> instance (a </a:t>
            </a:r>
            <a:r>
              <a:rPr lang="en-US" dirty="0" err="1"/>
              <a:t>SubscribableChannel</a:t>
            </a:r>
            <a:r>
              <a:rPr lang="en-US" dirty="0"/>
              <a:t>).</a:t>
            </a:r>
          </a:p>
          <a:p>
            <a:r>
              <a:rPr lang="en-US" dirty="0"/>
              <a:t>To create a publish-subscribe channel, use the &lt;publish-subscribe-channel/&gt; element (the </a:t>
            </a:r>
            <a:r>
              <a:rPr lang="en-US" dirty="0" err="1"/>
              <a:t>PublishSubscribeChannel</a:t>
            </a:r>
            <a:r>
              <a:rPr lang="en-US" dirty="0"/>
              <a:t> in Java), as follows:</a:t>
            </a:r>
          </a:p>
          <a:p>
            <a:pPr marL="0" indent="0">
              <a:buNone/>
            </a:pPr>
            <a:r>
              <a:rPr lang="en-US" b="1" dirty="0">
                <a:solidFill>
                  <a:srgbClr val="C00000"/>
                </a:solidFill>
              </a:rPr>
              <a:t>@Bean</a:t>
            </a:r>
          </a:p>
          <a:p>
            <a:pPr marL="0" indent="0">
              <a:buNone/>
            </a:pPr>
            <a:r>
              <a:rPr lang="en-US" b="1" dirty="0">
                <a:solidFill>
                  <a:srgbClr val="C00000"/>
                </a:solidFill>
              </a:rPr>
              <a:t>public </a:t>
            </a:r>
            <a:r>
              <a:rPr lang="en-US" b="1" dirty="0" err="1">
                <a:solidFill>
                  <a:srgbClr val="C00000"/>
                </a:solidFill>
              </a:rPr>
              <a:t>MessageChannel</a:t>
            </a:r>
            <a:r>
              <a:rPr lang="en-US" b="1" dirty="0">
                <a:solidFill>
                  <a:srgbClr val="C00000"/>
                </a:solidFill>
              </a:rPr>
              <a:t> </a:t>
            </a:r>
            <a:r>
              <a:rPr lang="en-US" b="1" dirty="0" err="1">
                <a:solidFill>
                  <a:srgbClr val="C00000"/>
                </a:solidFill>
              </a:rPr>
              <a:t>exampleChannel</a:t>
            </a:r>
            <a:r>
              <a:rPr lang="en-US" b="1" dirty="0">
                <a:solidFill>
                  <a:srgbClr val="C00000"/>
                </a:solidFill>
              </a:rPr>
              <a:t>() {</a:t>
            </a:r>
          </a:p>
          <a:p>
            <a:pPr marL="0" indent="0">
              <a:buNone/>
            </a:pPr>
            <a:r>
              <a:rPr lang="en-US" b="1" dirty="0">
                <a:solidFill>
                  <a:srgbClr val="C00000"/>
                </a:solidFill>
              </a:rPr>
              <a:t>    return new </a:t>
            </a:r>
            <a:r>
              <a:rPr lang="en-US" b="1" dirty="0" err="1">
                <a:solidFill>
                  <a:srgbClr val="C00000"/>
                </a:solidFill>
              </a:rPr>
              <a:t>PublishSubscribeChannel</a:t>
            </a:r>
            <a:r>
              <a:rPr lang="en-US" b="1" dirty="0">
                <a:solidFill>
                  <a:srgbClr val="C00000"/>
                </a:solidFill>
              </a:rPr>
              <a:t>();</a:t>
            </a:r>
          </a:p>
          <a:p>
            <a:pPr marL="0" indent="0">
              <a:buNone/>
            </a:pPr>
            <a:r>
              <a:rPr lang="en-US" b="1" dirty="0">
                <a:solidFill>
                  <a:srgbClr val="C00000"/>
                </a:solidFill>
              </a:rPr>
              <a:t>}</a:t>
            </a:r>
          </a:p>
          <a:p>
            <a:r>
              <a:rPr lang="en-US" dirty="0"/>
              <a:t>In XML:</a:t>
            </a:r>
          </a:p>
          <a:p>
            <a:pPr marL="0" indent="0">
              <a:buNone/>
            </a:pPr>
            <a:r>
              <a:rPr lang="en-IN" b="1" dirty="0">
                <a:solidFill>
                  <a:srgbClr val="C00000"/>
                </a:solidFill>
              </a:rPr>
              <a:t>&lt;</a:t>
            </a:r>
            <a:r>
              <a:rPr lang="en-IN" b="1" dirty="0" err="1">
                <a:solidFill>
                  <a:srgbClr val="C00000"/>
                </a:solidFill>
              </a:rPr>
              <a:t>int:publish-subscribe-channel</a:t>
            </a:r>
            <a:r>
              <a:rPr lang="en-IN" b="1" dirty="0">
                <a:solidFill>
                  <a:srgbClr val="C00000"/>
                </a:solidFill>
              </a:rPr>
              <a:t> id="</a:t>
            </a:r>
            <a:r>
              <a:rPr lang="en-IN" b="1" dirty="0" err="1">
                <a:solidFill>
                  <a:srgbClr val="C00000"/>
                </a:solidFill>
              </a:rPr>
              <a:t>exampleChannel</a:t>
            </a:r>
            <a:r>
              <a:rPr lang="en-IN" b="1" dirty="0">
                <a:solidFill>
                  <a:srgbClr val="C00000"/>
                </a:solidFill>
              </a:rPr>
              <a:t>"/&gt;</a:t>
            </a:r>
          </a:p>
        </p:txBody>
      </p:sp>
    </p:spTree>
    <p:extLst>
      <p:ext uri="{BB962C8B-B14F-4D97-AF65-F5344CB8AC3E}">
        <p14:creationId xmlns:p14="http://schemas.microsoft.com/office/powerpoint/2010/main" val="283733423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FB2085-BCA8-DBB0-4E7B-662D0051ED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7436CE-5286-8D77-52E2-A23C92A697A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81EE09D-F4CE-F513-E0A5-F8ADE615D22B}"/>
              </a:ext>
            </a:extLst>
          </p:cNvPr>
          <p:cNvSpPr>
            <a:spLocks noGrp="1"/>
          </p:cNvSpPr>
          <p:nvPr>
            <p:ph idx="1"/>
          </p:nvPr>
        </p:nvSpPr>
        <p:spPr>
          <a:xfrm>
            <a:off x="1154954" y="2603500"/>
            <a:ext cx="10083768" cy="3741316"/>
          </a:xfrm>
        </p:spPr>
        <p:txBody>
          <a:bodyPr/>
          <a:lstStyle/>
          <a:p>
            <a:endParaRPr lang="en-IN" dirty="0"/>
          </a:p>
        </p:txBody>
      </p:sp>
    </p:spTree>
    <p:extLst>
      <p:ext uri="{BB962C8B-B14F-4D97-AF65-F5344CB8AC3E}">
        <p14:creationId xmlns:p14="http://schemas.microsoft.com/office/powerpoint/2010/main" val="212709230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F399CF-8041-C26C-CBE3-5AB12BE37E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E27043-73B5-6CDD-8B4E-113884C922D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9C48DBA-3ED3-EEF3-6406-6FA1E2DE2EEF}"/>
              </a:ext>
            </a:extLst>
          </p:cNvPr>
          <p:cNvSpPr>
            <a:spLocks noGrp="1"/>
          </p:cNvSpPr>
          <p:nvPr>
            <p:ph idx="1"/>
          </p:nvPr>
        </p:nvSpPr>
        <p:spPr>
          <a:xfrm>
            <a:off x="1154954" y="2603500"/>
            <a:ext cx="10083768" cy="3741316"/>
          </a:xfrm>
        </p:spPr>
        <p:txBody>
          <a:bodyPr/>
          <a:lstStyle/>
          <a:p>
            <a:endParaRPr lang="en-IN" dirty="0"/>
          </a:p>
        </p:txBody>
      </p:sp>
    </p:spTree>
    <p:extLst>
      <p:ext uri="{BB962C8B-B14F-4D97-AF65-F5344CB8AC3E}">
        <p14:creationId xmlns:p14="http://schemas.microsoft.com/office/powerpoint/2010/main" val="379622387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72E045-7BDD-8375-79A8-BFC633C3BC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94D464-5B22-CDBC-E442-0A3C52FEBB9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0405365-5FB0-059F-6508-A282412E7BE4}"/>
              </a:ext>
            </a:extLst>
          </p:cNvPr>
          <p:cNvSpPr>
            <a:spLocks noGrp="1"/>
          </p:cNvSpPr>
          <p:nvPr>
            <p:ph idx="1"/>
          </p:nvPr>
        </p:nvSpPr>
        <p:spPr>
          <a:xfrm>
            <a:off x="1154954" y="2603500"/>
            <a:ext cx="10083768" cy="3741316"/>
          </a:xfrm>
        </p:spPr>
        <p:txBody>
          <a:bodyPr/>
          <a:lstStyle/>
          <a:p>
            <a:endParaRPr lang="en-IN" dirty="0"/>
          </a:p>
        </p:txBody>
      </p:sp>
    </p:spTree>
    <p:extLst>
      <p:ext uri="{BB962C8B-B14F-4D97-AF65-F5344CB8AC3E}">
        <p14:creationId xmlns:p14="http://schemas.microsoft.com/office/powerpoint/2010/main" val="42106474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287BF4-0AF9-3254-98AC-ADD6B41605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CFAE34-6FAE-74DE-E3E5-8F0F97BC872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0B01DDB-3EB0-0A81-2DD3-8F43228EF343}"/>
              </a:ext>
            </a:extLst>
          </p:cNvPr>
          <p:cNvSpPr>
            <a:spLocks noGrp="1"/>
          </p:cNvSpPr>
          <p:nvPr>
            <p:ph idx="1"/>
          </p:nvPr>
        </p:nvSpPr>
        <p:spPr>
          <a:xfrm>
            <a:off x="1154954" y="2603500"/>
            <a:ext cx="10083768" cy="3741316"/>
          </a:xfrm>
        </p:spPr>
        <p:txBody>
          <a:bodyPr/>
          <a:lstStyle/>
          <a:p>
            <a:endParaRPr lang="en-IN" dirty="0"/>
          </a:p>
        </p:txBody>
      </p:sp>
    </p:spTree>
    <p:extLst>
      <p:ext uri="{BB962C8B-B14F-4D97-AF65-F5344CB8AC3E}">
        <p14:creationId xmlns:p14="http://schemas.microsoft.com/office/powerpoint/2010/main" val="95187541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7CFDE9-1753-FE2A-17C2-58784C9C79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F69358-5190-8881-3E46-A13BBE5CEFC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618E8D6-3A40-1B73-6BBC-EDFC6AA99899}"/>
              </a:ext>
            </a:extLst>
          </p:cNvPr>
          <p:cNvSpPr>
            <a:spLocks noGrp="1"/>
          </p:cNvSpPr>
          <p:nvPr>
            <p:ph idx="1"/>
          </p:nvPr>
        </p:nvSpPr>
        <p:spPr>
          <a:xfrm>
            <a:off x="1154954" y="2603500"/>
            <a:ext cx="10083768" cy="3741316"/>
          </a:xfrm>
        </p:spPr>
        <p:txBody>
          <a:bodyPr/>
          <a:lstStyle/>
          <a:p>
            <a:endParaRPr lang="en-IN" dirty="0"/>
          </a:p>
        </p:txBody>
      </p:sp>
    </p:spTree>
    <p:extLst>
      <p:ext uri="{BB962C8B-B14F-4D97-AF65-F5344CB8AC3E}">
        <p14:creationId xmlns:p14="http://schemas.microsoft.com/office/powerpoint/2010/main" val="343483596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157258-EAFA-C1A0-562E-B68811851A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137642-2F72-AAD7-9624-579016042C2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F6C9712-0FE0-684C-A8B8-46B8A018D613}"/>
              </a:ext>
            </a:extLst>
          </p:cNvPr>
          <p:cNvSpPr>
            <a:spLocks noGrp="1"/>
          </p:cNvSpPr>
          <p:nvPr>
            <p:ph idx="1"/>
          </p:nvPr>
        </p:nvSpPr>
        <p:spPr>
          <a:xfrm>
            <a:off x="1154954" y="2603500"/>
            <a:ext cx="10083768" cy="3741316"/>
          </a:xfrm>
        </p:spPr>
        <p:txBody>
          <a:bodyPr/>
          <a:lstStyle/>
          <a:p>
            <a:endParaRPr lang="en-IN" dirty="0"/>
          </a:p>
        </p:txBody>
      </p:sp>
    </p:spTree>
    <p:extLst>
      <p:ext uri="{BB962C8B-B14F-4D97-AF65-F5344CB8AC3E}">
        <p14:creationId xmlns:p14="http://schemas.microsoft.com/office/powerpoint/2010/main" val="416950259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B56E32-A4C0-1D43-0A02-27E769FAC6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14E4A3-7A45-A6F8-67B8-2249AB77053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7854B5C-2ECC-8B4A-2D18-BA28FD14DDBC}"/>
              </a:ext>
            </a:extLst>
          </p:cNvPr>
          <p:cNvSpPr>
            <a:spLocks noGrp="1"/>
          </p:cNvSpPr>
          <p:nvPr>
            <p:ph idx="1"/>
          </p:nvPr>
        </p:nvSpPr>
        <p:spPr>
          <a:xfrm>
            <a:off x="1154954" y="2603500"/>
            <a:ext cx="10083768" cy="3741316"/>
          </a:xfrm>
        </p:spPr>
        <p:txBody>
          <a:bodyPr/>
          <a:lstStyle/>
          <a:p>
            <a:endParaRPr lang="en-IN" dirty="0"/>
          </a:p>
        </p:txBody>
      </p:sp>
    </p:spTree>
    <p:extLst>
      <p:ext uri="{BB962C8B-B14F-4D97-AF65-F5344CB8AC3E}">
        <p14:creationId xmlns:p14="http://schemas.microsoft.com/office/powerpoint/2010/main" val="67971099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2764</TotalTime>
  <Words>3585</Words>
  <Application>Microsoft Office PowerPoint</Application>
  <PresentationFormat>Widescreen</PresentationFormat>
  <Paragraphs>270</Paragraphs>
  <Slides>47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47</vt:i4>
      </vt:variant>
    </vt:vector>
  </HeadingPairs>
  <TitlesOfParts>
    <vt:vector size="52" baseType="lpstr">
      <vt:lpstr>Arial</vt:lpstr>
      <vt:lpstr>Century Gothic</vt:lpstr>
      <vt:lpstr>SFMono-Regular</vt:lpstr>
      <vt:lpstr>Wingdings 3</vt:lpstr>
      <vt:lpstr>Ion Boardroom</vt:lpstr>
      <vt:lpstr>Messages and Message Channels in Spring Integration</vt:lpstr>
      <vt:lpstr>Message</vt:lpstr>
      <vt:lpstr>Message Interface</vt:lpstr>
      <vt:lpstr>Message Headers</vt:lpstr>
      <vt:lpstr>Message Headers</vt:lpstr>
      <vt:lpstr>Message Headers</vt:lpstr>
      <vt:lpstr>Pre-defined Message Headers</vt:lpstr>
      <vt:lpstr>Header Propagation</vt:lpstr>
      <vt:lpstr>Message Implementations</vt:lpstr>
      <vt:lpstr>MessageBuilder Helper Class</vt:lpstr>
      <vt:lpstr>MessageBuilder Helper Class</vt:lpstr>
      <vt:lpstr>MessageBuilder Helper Class</vt:lpstr>
      <vt:lpstr>MessageBuilder Helper Class</vt:lpstr>
      <vt:lpstr>MessageBuilder Helper Class</vt:lpstr>
      <vt:lpstr>Message Channels</vt:lpstr>
      <vt:lpstr>MessageChannel Interface</vt:lpstr>
      <vt:lpstr>PollableChannel</vt:lpstr>
      <vt:lpstr>SubscribableChannel</vt:lpstr>
      <vt:lpstr>Message Channel Implementations</vt:lpstr>
      <vt:lpstr>PublishSubscribeChannel</vt:lpstr>
      <vt:lpstr>QueueChannel</vt:lpstr>
      <vt:lpstr>QueueChannel</vt:lpstr>
      <vt:lpstr>PriorityChannel</vt:lpstr>
      <vt:lpstr>RendezvousChannel</vt:lpstr>
      <vt:lpstr>RendezvousChannel</vt:lpstr>
      <vt:lpstr>RendezvousChannel</vt:lpstr>
      <vt:lpstr>DirectChannel</vt:lpstr>
      <vt:lpstr>DirectChannel</vt:lpstr>
      <vt:lpstr>DirectChannel</vt:lpstr>
      <vt:lpstr>DirectChannel</vt:lpstr>
      <vt:lpstr>ExecutorChannel</vt:lpstr>
      <vt:lpstr>PartitionedChannel</vt:lpstr>
      <vt:lpstr>PartitionedChannel</vt:lpstr>
      <vt:lpstr>FluxMessageChannel</vt:lpstr>
      <vt:lpstr>Channel Interceptors</vt:lpstr>
      <vt:lpstr>Channel Interceptors</vt:lpstr>
      <vt:lpstr>Channel Interceptors</vt:lpstr>
      <vt:lpstr>Points to remember</vt:lpstr>
      <vt:lpstr>Configuring Message Channels</vt:lpstr>
      <vt:lpstr>Configuring Message Channels</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anju munoth</dc:creator>
  <cp:lastModifiedBy>anju munoth</cp:lastModifiedBy>
  <cp:revision>53</cp:revision>
  <dcterms:created xsi:type="dcterms:W3CDTF">2026-03-20T03:16:20Z</dcterms:created>
  <dcterms:modified xsi:type="dcterms:W3CDTF">2026-03-23T03:48:03Z</dcterms:modified>
</cp:coreProperties>
</file>