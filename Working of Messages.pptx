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70" r:id="rId4"/>
    <p:sldId id="271" r:id="rId5"/>
    <p:sldId id="272" r:id="rId6"/>
    <p:sldId id="273" r:id="rId7"/>
    <p:sldId id="274" r:id="rId8"/>
    <p:sldId id="275" r:id="rId9"/>
    <p:sldId id="296" r:id="rId10"/>
    <p:sldId id="276" r:id="rId11"/>
    <p:sldId id="277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57" r:id="rId20"/>
    <p:sldId id="258" r:id="rId21"/>
    <p:sldId id="260" r:id="rId22"/>
    <p:sldId id="278" r:id="rId23"/>
    <p:sldId id="279" r:id="rId24"/>
    <p:sldId id="280" r:id="rId25"/>
    <p:sldId id="281" r:id="rId26"/>
    <p:sldId id="26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10ED-BBD5-6265-ADC7-630AF9186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Working of Messages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4F550-387B-B0A3-2369-EA03D7BCD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36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3E44-0422-343F-66A0-F8A084F4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31D9-C49F-E2B9-8E7F-284A5C19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Annotation-Based (No DSL)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E226D-3365-E91F-EC02-83F1B3EFD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Can wire channels and endpoints with annotations:</a:t>
            </a:r>
          </a:p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MessageChannel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return new </a:t>
            </a:r>
            <a:r>
              <a:rPr lang="en-IN" dirty="0" err="1"/>
              <a:t>DirectChannel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@ServiceActivator(inputChannel = "</a:t>
            </a:r>
            <a:r>
              <a:rPr lang="en-IN" dirty="0" err="1"/>
              <a:t>inputChannel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public MessageHandler </a:t>
            </a:r>
            <a:r>
              <a:rPr lang="en-IN" dirty="0" err="1"/>
              <a:t>printHandler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return message -&gt; </a:t>
            </a:r>
            <a:r>
              <a:rPr lang="en-IN" dirty="0" err="1"/>
              <a:t>System.out.println</a:t>
            </a:r>
            <a:r>
              <a:rPr lang="en-IN" dirty="0"/>
              <a:t>("Processed Message: " + </a:t>
            </a:r>
            <a:r>
              <a:rPr lang="en-IN" dirty="0" err="1"/>
              <a:t>message.getPayload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55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8980-1949-9CC0-4B04-9FA90397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3C84-1781-AEAD-3832-3D9F9309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Piece Does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5FA76-11AD-DA55-BDC1-E3F67868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MessageChannel</a:t>
            </a:r>
            <a:r>
              <a:rPr lang="en-US" dirty="0"/>
              <a:t> </a:t>
            </a:r>
            <a:r>
              <a:rPr lang="en-US" dirty="0" err="1"/>
              <a:t>inputChannel</a:t>
            </a:r>
            <a:r>
              <a:rPr lang="en-US" dirty="0"/>
              <a:t>()</a:t>
            </a:r>
          </a:p>
          <a:p>
            <a:r>
              <a:rPr lang="en-US" b="1" dirty="0"/>
              <a:t>Purpose:</a:t>
            </a:r>
            <a:r>
              <a:rPr lang="en-US" dirty="0"/>
              <a:t> Defines a communication pipeline where messages can be sent and received.</a:t>
            </a:r>
          </a:p>
          <a:p>
            <a:r>
              <a:rPr lang="en-US" b="1" dirty="0"/>
              <a:t>Type:</a:t>
            </a:r>
            <a:r>
              <a:rPr lang="en-US" dirty="0"/>
              <a:t> </a:t>
            </a:r>
            <a:r>
              <a:rPr lang="en-US" dirty="0" err="1"/>
              <a:t>DirectChannel</a:t>
            </a:r>
            <a:r>
              <a:rPr lang="en-US" dirty="0"/>
              <a:t> → synchronous, point-to-point channel.</a:t>
            </a:r>
          </a:p>
          <a:p>
            <a:r>
              <a:rPr lang="en-US" dirty="0"/>
              <a:t>When a message is sent, it immediately invokes the next subscriber in the same thread.</a:t>
            </a:r>
          </a:p>
          <a:p>
            <a:r>
              <a:rPr lang="en-US" dirty="0"/>
              <a:t>No queuing or async dispatch here — it’s direct and immediate.</a:t>
            </a:r>
          </a:p>
          <a:p>
            <a:r>
              <a:rPr lang="en-US" dirty="0"/>
              <a:t>Behind the scenes:</a:t>
            </a:r>
          </a:p>
          <a:p>
            <a:r>
              <a:rPr lang="en-US" dirty="0"/>
              <a:t>Spring registers this bean in the application context.</a:t>
            </a:r>
          </a:p>
          <a:p>
            <a:r>
              <a:rPr lang="en-US" dirty="0"/>
              <a:t>Any component that references "</a:t>
            </a:r>
            <a:r>
              <a:rPr lang="en-US" dirty="0" err="1"/>
              <a:t>inputChannel</a:t>
            </a:r>
            <a:r>
              <a:rPr lang="en-US" dirty="0"/>
              <a:t>" will be wired to this channel.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82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7CA2-1EE5-4C36-B32B-B731E12D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E037-4CB8-40A9-15B3-3E7C3D12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Piece Does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2281C-9E99-FD01-BA8A-87C7E0E26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@ServiceActivator(inputChannel = "</a:t>
            </a:r>
            <a:r>
              <a:rPr lang="en-US" dirty="0" err="1"/>
              <a:t>inputChannel</a:t>
            </a:r>
            <a:r>
              <a:rPr lang="en-US" dirty="0"/>
              <a:t>")</a:t>
            </a:r>
          </a:p>
          <a:p>
            <a:r>
              <a:rPr lang="en-US" b="1" dirty="0"/>
              <a:t>Purpose:</a:t>
            </a:r>
            <a:r>
              <a:rPr lang="en-US" dirty="0"/>
              <a:t> Connects a method or bean to a channel so it can consume messages.</a:t>
            </a:r>
          </a:p>
          <a:p>
            <a:r>
              <a:rPr lang="en-US" b="1" dirty="0"/>
              <a:t>Mechanism:</a:t>
            </a:r>
            <a:r>
              <a:rPr lang="en-US" dirty="0"/>
              <a:t> Spring Integration scans for @ServiceActivator annotations.</a:t>
            </a:r>
          </a:p>
          <a:p>
            <a:r>
              <a:rPr lang="en-US" dirty="0"/>
              <a:t>It sees that </a:t>
            </a:r>
            <a:r>
              <a:rPr lang="en-US" dirty="0" err="1"/>
              <a:t>printHandler</a:t>
            </a:r>
            <a:r>
              <a:rPr lang="en-US" dirty="0"/>
              <a:t>() should be invoked whenever a message arrives on </a:t>
            </a:r>
            <a:r>
              <a:rPr lang="en-US" dirty="0" err="1"/>
              <a:t>inputChannel</a:t>
            </a:r>
            <a:r>
              <a:rPr lang="en-US" dirty="0"/>
              <a:t>.</a:t>
            </a:r>
          </a:p>
          <a:p>
            <a:r>
              <a:rPr lang="en-US" dirty="0"/>
              <a:t>It wires the channel to this handler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05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9B1C-8C8F-9F27-09D3-0A8F276A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F861-D366-9372-F93C-74384C12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Piece Does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3429A-A2DE-10A0-52C8-22BCE0B4D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3. MessageHandler </a:t>
            </a:r>
            <a:r>
              <a:rPr lang="en-IN" dirty="0" err="1"/>
              <a:t>printHandler</a:t>
            </a:r>
            <a:r>
              <a:rPr lang="en-IN" dirty="0"/>
              <a:t>()</a:t>
            </a:r>
          </a:p>
          <a:p>
            <a:r>
              <a:rPr lang="en-IN" b="1" dirty="0"/>
              <a:t>Purpose:</a:t>
            </a:r>
            <a:r>
              <a:rPr lang="en-IN" dirty="0"/>
              <a:t> Defines the actual logic for handling messages.</a:t>
            </a:r>
          </a:p>
          <a:p>
            <a:r>
              <a:rPr lang="en-IN" b="1" dirty="0"/>
              <a:t>Implementation:</a:t>
            </a:r>
            <a:r>
              <a:rPr lang="en-IN" dirty="0"/>
              <a:t> A lambda that prints the payload.</a:t>
            </a:r>
          </a:p>
          <a:p>
            <a:r>
              <a:rPr lang="en-IN" b="1" dirty="0"/>
              <a:t>Lifecycle:</a:t>
            </a:r>
            <a:endParaRPr lang="en-IN" dirty="0"/>
          </a:p>
          <a:p>
            <a:r>
              <a:rPr lang="en-IN" dirty="0"/>
              <a:t>A message is sent into </a:t>
            </a:r>
            <a:r>
              <a:rPr lang="en-IN" dirty="0" err="1"/>
              <a:t>inputChannel</a:t>
            </a:r>
            <a:r>
              <a:rPr lang="en-IN" dirty="0"/>
              <a:t>.</a:t>
            </a:r>
          </a:p>
          <a:p>
            <a:r>
              <a:rPr lang="en-IN" dirty="0"/>
              <a:t>Spring Integration delivers it to the </a:t>
            </a:r>
            <a:r>
              <a:rPr lang="en-IN" dirty="0" err="1"/>
              <a:t>printHandler</a:t>
            </a:r>
            <a:r>
              <a:rPr lang="en-IN" dirty="0"/>
              <a:t>.</a:t>
            </a:r>
          </a:p>
          <a:p>
            <a:r>
              <a:rPr lang="en-IN" dirty="0"/>
              <a:t>The handler extracts the payload (</a:t>
            </a:r>
            <a:r>
              <a:rPr lang="en-IN" dirty="0" err="1"/>
              <a:t>message.getPayload</a:t>
            </a:r>
            <a:r>
              <a:rPr lang="en-IN" dirty="0"/>
              <a:t>()).</a:t>
            </a:r>
          </a:p>
          <a:p>
            <a:r>
              <a:rPr lang="en-IN" dirty="0"/>
              <a:t>It prints: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41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3B32-AF68-85F9-CBD7-CF594444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83FE-9CC4-5336-9185-04A3055C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7A0D-D0F9-6A9C-95C8-FA54CE253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US" b="1" dirty="0"/>
              <a:t>Message Object:</a:t>
            </a:r>
            <a:r>
              <a:rPr lang="en-US" dirty="0"/>
              <a:t> Every message is a Message with payload + headers.</a:t>
            </a:r>
          </a:p>
          <a:p>
            <a:r>
              <a:rPr lang="en-US" b="1" dirty="0"/>
              <a:t>Channel Dispatch:</a:t>
            </a:r>
            <a:r>
              <a:rPr lang="en-US" dirty="0"/>
              <a:t> </a:t>
            </a:r>
            <a:r>
              <a:rPr lang="en-US" dirty="0" err="1"/>
              <a:t>DirectChannel</a:t>
            </a:r>
            <a:r>
              <a:rPr lang="en-US" dirty="0"/>
              <a:t> synchronously invokes the handler.</a:t>
            </a:r>
          </a:p>
          <a:p>
            <a:r>
              <a:rPr lang="en-US" b="1" dirty="0"/>
              <a:t>Annotation Processing:</a:t>
            </a:r>
            <a:r>
              <a:rPr lang="en-US" dirty="0"/>
              <a:t> @ServiceActivator tells Spring Integration to register the handler as a subscriber to the channel.</a:t>
            </a:r>
          </a:p>
          <a:p>
            <a:r>
              <a:rPr lang="en-US" b="1" dirty="0"/>
              <a:t>Execution Flow:</a:t>
            </a:r>
            <a:endParaRPr lang="en-US" dirty="0"/>
          </a:p>
          <a:p>
            <a:r>
              <a:rPr lang="en-US" dirty="0"/>
              <a:t>You send a message → channel delivers → handler executes → output printed.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38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D6EF-319A-33E0-ACB3-2DC98082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1AE7-00E6-8006-3CAF-10E34475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250B6-C79B-6CA0-67C7-D5D22C89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US" dirty="0"/>
              <a:t>This is the simplest Spring Integration pattern:</a:t>
            </a:r>
          </a:p>
          <a:p>
            <a:r>
              <a:rPr lang="en-US" b="1" dirty="0"/>
              <a:t>Channel</a:t>
            </a:r>
            <a:r>
              <a:rPr lang="en-US" dirty="0"/>
              <a:t> → defines the pipeline.</a:t>
            </a:r>
          </a:p>
          <a:p>
            <a:r>
              <a:rPr lang="en-US" b="1" dirty="0" err="1"/>
              <a:t>ServiceActivator</a:t>
            </a:r>
            <a:r>
              <a:rPr lang="en-US" dirty="0"/>
              <a:t> → consumes messages from the channel.</a:t>
            </a:r>
          </a:p>
          <a:p>
            <a:r>
              <a:rPr lang="en-US" b="1" dirty="0"/>
              <a:t>Handler</a:t>
            </a:r>
            <a:r>
              <a:rPr lang="en-US" dirty="0"/>
              <a:t> → does the work (printing payload).</a:t>
            </a:r>
          </a:p>
          <a:p>
            <a:r>
              <a:rPr lang="en-US" dirty="0"/>
              <a:t>Wiring things explicitly with beans and annotations.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67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1B8A-8CA4-7A7A-9F16-A6E675E8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8C6A-9BD4-B941-7358-96D68A1D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 bean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8D18-2E39-9C7E-553C-21245A96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IN" dirty="0"/>
              <a:t>Adding a </a:t>
            </a:r>
            <a:r>
              <a:rPr lang="en-IN" b="1" dirty="0"/>
              <a:t>transformer bean</a:t>
            </a:r>
            <a:r>
              <a:rPr lang="en-IN" dirty="0"/>
              <a:t> so the message gets modified before reaching the handler.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23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F5C93B-46FE-5265-AD51-421A03356BB9}"/>
              </a:ext>
            </a:extLst>
          </p:cNvPr>
          <p:cNvSpPr txBox="1"/>
          <p:nvPr/>
        </p:nvSpPr>
        <p:spPr>
          <a:xfrm>
            <a:off x="620486" y="322151"/>
            <a:ext cx="1069288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@Configuration</a:t>
            </a:r>
          </a:p>
          <a:p>
            <a:r>
              <a:rPr lang="en-IN" dirty="0"/>
              <a:t>@EnableIntegration</a:t>
            </a:r>
          </a:p>
          <a:p>
            <a:r>
              <a:rPr lang="en-IN" dirty="0"/>
              <a:t>public class </a:t>
            </a:r>
            <a:r>
              <a:rPr lang="en-IN" dirty="0" err="1"/>
              <a:t>IntegrationConfig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</a:t>
            </a:r>
            <a:r>
              <a:rPr lang="en-IN" dirty="0" err="1"/>
              <a:t>MessageChannel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() {</a:t>
            </a:r>
          </a:p>
          <a:p>
            <a:r>
              <a:rPr lang="en-IN" dirty="0"/>
              <a:t>        return new </a:t>
            </a:r>
            <a:r>
              <a:rPr lang="en-IN" dirty="0" err="1"/>
              <a:t>DirectChannel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Transformer: converts payload to uppercase    @Bean</a:t>
            </a:r>
          </a:p>
          <a:p>
            <a:r>
              <a:rPr lang="en-IN" dirty="0"/>
              <a:t>    @Transformer(inputChannel = "</a:t>
            </a:r>
            <a:r>
              <a:rPr lang="en-IN" dirty="0" err="1"/>
              <a:t>inputChannel</a:t>
            </a:r>
            <a:r>
              <a:rPr lang="en-IN" dirty="0"/>
              <a:t>", </a:t>
            </a:r>
            <a:r>
              <a:rPr lang="en-IN" dirty="0" err="1"/>
              <a:t>outputChannel</a:t>
            </a:r>
            <a:r>
              <a:rPr lang="en-IN" dirty="0"/>
              <a:t> = "</a:t>
            </a:r>
            <a:r>
              <a:rPr lang="en-IN" dirty="0" err="1"/>
              <a:t>outputChannel</a:t>
            </a:r>
            <a:r>
              <a:rPr lang="en-IN" dirty="0"/>
              <a:t>")</a:t>
            </a:r>
          </a:p>
          <a:p>
            <a:r>
              <a:rPr lang="en-IN" dirty="0"/>
              <a:t>    public </a:t>
            </a:r>
            <a:r>
              <a:rPr lang="en-IN" dirty="0" err="1"/>
              <a:t>GenericTransformer</a:t>
            </a:r>
            <a:r>
              <a:rPr lang="en-IN" dirty="0"/>
              <a:t>&lt;String, String&gt; </a:t>
            </a:r>
            <a:r>
              <a:rPr lang="en-IN" dirty="0" err="1"/>
              <a:t>uppercaseTransformer</a:t>
            </a:r>
            <a:r>
              <a:rPr lang="en-IN" dirty="0"/>
              <a:t>() {</a:t>
            </a:r>
          </a:p>
          <a:p>
            <a:r>
              <a:rPr lang="en-IN" dirty="0"/>
              <a:t>        return text -&gt; </a:t>
            </a:r>
            <a:r>
              <a:rPr lang="en-IN" dirty="0" err="1"/>
              <a:t>text.toUpperCase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Service Activator: consumes transformed message    @Bean</a:t>
            </a:r>
          </a:p>
          <a:p>
            <a:r>
              <a:rPr lang="en-IN" dirty="0"/>
              <a:t>    @ServiceActivator(inputChannel = "</a:t>
            </a:r>
            <a:r>
              <a:rPr lang="en-IN" dirty="0" err="1"/>
              <a:t>outputChannel</a:t>
            </a:r>
            <a:r>
              <a:rPr lang="en-IN" dirty="0"/>
              <a:t>")</a:t>
            </a:r>
          </a:p>
          <a:p>
            <a:r>
              <a:rPr lang="en-IN" dirty="0"/>
              <a:t>    public MessageHandler </a:t>
            </a:r>
            <a:r>
              <a:rPr lang="en-IN" dirty="0" err="1"/>
              <a:t>printHandler</a:t>
            </a:r>
            <a:r>
              <a:rPr lang="en-IN" dirty="0"/>
              <a:t>() {</a:t>
            </a:r>
          </a:p>
          <a:p>
            <a:r>
              <a:rPr lang="en-IN" dirty="0"/>
              <a:t>        return message -&gt; </a:t>
            </a:r>
            <a:r>
              <a:rPr lang="en-IN" dirty="0" err="1"/>
              <a:t>System.out.println</a:t>
            </a:r>
            <a:r>
              <a:rPr lang="en-IN" dirty="0"/>
              <a:t>("Processed Message: " + </a:t>
            </a:r>
            <a:r>
              <a:rPr lang="en-IN" dirty="0" err="1"/>
              <a:t>message.getPayload</a:t>
            </a:r>
            <a:r>
              <a:rPr lang="en-IN" dirty="0"/>
              <a:t>());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796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E3E5-49A3-FA09-BFF7-D33598AE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FCC5-202E-276F-D9A6-5BD19CE7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 Behind the 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12FE1-6D3B-E90D-3532-33511495D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MessageChannel</a:t>
            </a:r>
            <a:r>
              <a:rPr lang="en-US" b="1" dirty="0"/>
              <a:t> (</a:t>
            </a:r>
            <a:r>
              <a:rPr lang="en-US" b="1" dirty="0" err="1"/>
              <a:t>inputChannel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Entry point for messages.</a:t>
            </a:r>
          </a:p>
          <a:p>
            <a:pPr lvl="1"/>
            <a:r>
              <a:rPr lang="en-US" dirty="0"/>
              <a:t>When you send a message here, Spring Integration starts the flow.</a:t>
            </a:r>
          </a:p>
          <a:p>
            <a:r>
              <a:rPr lang="en-US" b="1" dirty="0"/>
              <a:t>Transformer (</a:t>
            </a:r>
            <a:r>
              <a:rPr lang="en-US" b="1" dirty="0" err="1"/>
              <a:t>uppercaseTransformer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Listens on </a:t>
            </a:r>
            <a:r>
              <a:rPr lang="en-US" dirty="0" err="1"/>
              <a:t>inputChannel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Takes the payload (a String), converts it to uppercase.</a:t>
            </a:r>
          </a:p>
          <a:p>
            <a:pPr lvl="1"/>
            <a:r>
              <a:rPr lang="en-US" dirty="0"/>
              <a:t>Sends the new message into </a:t>
            </a:r>
            <a:r>
              <a:rPr lang="en-US" dirty="0" err="1"/>
              <a:t>outputChannel</a:t>
            </a:r>
            <a:r>
              <a:rPr lang="en-US" dirty="0"/>
              <a:t>.</a:t>
            </a:r>
          </a:p>
          <a:p>
            <a:r>
              <a:rPr lang="en-US" b="1" dirty="0" err="1"/>
              <a:t>ServiceActivator</a:t>
            </a:r>
            <a:r>
              <a:rPr lang="en-US" b="1" dirty="0"/>
              <a:t> (</a:t>
            </a:r>
            <a:r>
              <a:rPr lang="en-US" b="1" dirty="0" err="1"/>
              <a:t>printHandler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Subscribes to </a:t>
            </a:r>
            <a:r>
              <a:rPr lang="en-US" dirty="0" err="1"/>
              <a:t>outputChannel</a:t>
            </a:r>
            <a:r>
              <a:rPr lang="en-US" dirty="0"/>
              <a:t>.</a:t>
            </a:r>
          </a:p>
          <a:p>
            <a:r>
              <a:rPr lang="en-US" dirty="0"/>
              <a:t>Receives the transformed message.</a:t>
            </a:r>
          </a:p>
          <a:p>
            <a:r>
              <a:rPr lang="en-US" dirty="0"/>
              <a:t>Prints: Processed Message: HELLO SPRING INTEGRATION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329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CD13-62A4-30C0-E307-A30D9759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627C-D21C-A136-76E7-AD434748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44078-F0E5-E3A6-B54F-234A8828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US" dirty="0"/>
              <a:t>Spring Integration wires these beans together automatically based on the annotations.</a:t>
            </a:r>
          </a:p>
          <a:p>
            <a:r>
              <a:rPr lang="en-US" dirty="0"/>
              <a:t>The message lifecycle is:</a:t>
            </a:r>
            <a:br>
              <a:rPr lang="en-US" dirty="0"/>
            </a:br>
            <a:r>
              <a:rPr lang="en-US" b="1" dirty="0" err="1"/>
              <a:t>inputChannel</a:t>
            </a:r>
            <a:r>
              <a:rPr lang="en-US" b="1" dirty="0"/>
              <a:t> → transformer → </a:t>
            </a:r>
            <a:r>
              <a:rPr lang="en-US" b="1" dirty="0" err="1"/>
              <a:t>outputChannel</a:t>
            </a:r>
            <a:r>
              <a:rPr lang="en-US" b="1" dirty="0"/>
              <a:t> → handler</a:t>
            </a:r>
            <a:r>
              <a:rPr lang="en-US" dirty="0"/>
              <a:t>.</a:t>
            </a:r>
          </a:p>
          <a:p>
            <a:r>
              <a:rPr lang="en-US" dirty="0"/>
              <a:t>Each step creates a new Message object with payload + headers, ensuring immutability and traceability.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69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E9B32-03D7-1925-63B4-56F9DADC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8643-819F-5493-31B8-977F678B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Specific Language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70D5-F6EB-C816-2FEA-F6C6D6419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200" dirty="0"/>
              <a:t>@Configuration</a:t>
            </a:r>
          </a:p>
          <a:p>
            <a:pPr marL="0" indent="0">
              <a:buNone/>
            </a:pPr>
            <a:r>
              <a:rPr lang="en-IN" sz="1200" dirty="0"/>
              <a:t>public class </a:t>
            </a:r>
            <a:r>
              <a:rPr lang="en-IN" sz="1200" dirty="0" err="1"/>
              <a:t>IntegrationConfig</a:t>
            </a:r>
            <a:r>
              <a:rPr lang="en-IN" sz="1200" dirty="0"/>
              <a:t> {</a:t>
            </a:r>
          </a:p>
          <a:p>
            <a:pPr marL="0" indent="0">
              <a:buNone/>
            </a:pPr>
            <a:r>
              <a:rPr lang="en-IN" sz="1200" dirty="0"/>
              <a:t>    @Bean</a:t>
            </a:r>
          </a:p>
          <a:p>
            <a:pPr marL="0" indent="0">
              <a:buNone/>
            </a:pPr>
            <a:r>
              <a:rPr lang="en-IN" sz="1200" dirty="0"/>
              <a:t>    public </a:t>
            </a:r>
            <a:r>
              <a:rPr lang="en-IN" sz="1200" dirty="0" err="1"/>
              <a:t>IntegrationFlow</a:t>
            </a:r>
            <a:r>
              <a:rPr lang="en-IN" sz="1200" dirty="0"/>
              <a:t> </a:t>
            </a:r>
            <a:r>
              <a:rPr lang="en-IN" sz="1200" dirty="0" err="1"/>
              <a:t>helloWorldFlow</a:t>
            </a:r>
            <a:r>
              <a:rPr lang="en-IN" sz="1200" dirty="0"/>
              <a:t>() {</a:t>
            </a:r>
          </a:p>
          <a:p>
            <a:pPr marL="0" indent="0">
              <a:buNone/>
            </a:pPr>
            <a:r>
              <a:rPr lang="en-IN" sz="1200" dirty="0"/>
              <a:t>        return </a:t>
            </a:r>
            <a:r>
              <a:rPr lang="en-IN" sz="1200" dirty="0" err="1"/>
              <a:t>IntegrationFlows.from</a:t>
            </a:r>
            <a:r>
              <a:rPr lang="en-IN" sz="1200" dirty="0"/>
              <a:t>("</a:t>
            </a:r>
            <a:r>
              <a:rPr lang="en-IN" sz="1200" dirty="0" err="1"/>
              <a:t>inputChannel</a:t>
            </a:r>
            <a:r>
              <a:rPr lang="en-IN" sz="1200" dirty="0"/>
              <a:t>")</a:t>
            </a:r>
          </a:p>
          <a:p>
            <a:pPr marL="0" indent="0">
              <a:buNone/>
            </a:pPr>
            <a:r>
              <a:rPr lang="en-IN" sz="1200" dirty="0"/>
              <a:t>                .transform(String::</a:t>
            </a:r>
            <a:r>
              <a:rPr lang="en-IN" sz="1200" dirty="0" err="1"/>
              <a:t>toUpperCase</a:t>
            </a:r>
            <a:r>
              <a:rPr lang="en-IN" sz="1200" dirty="0"/>
              <a:t>)</a:t>
            </a:r>
          </a:p>
          <a:p>
            <a:pPr marL="0" indent="0">
              <a:buNone/>
            </a:pPr>
            <a:r>
              <a:rPr lang="en-IN" sz="1200" dirty="0"/>
              <a:t>                .handle(</a:t>
            </a:r>
            <a:r>
              <a:rPr lang="en-IN" sz="1200" dirty="0" err="1"/>
              <a:t>System.out</a:t>
            </a:r>
            <a:r>
              <a:rPr lang="en-IN" sz="1200" dirty="0"/>
              <a:t>::</a:t>
            </a:r>
            <a:r>
              <a:rPr lang="en-IN" sz="1200" dirty="0" err="1"/>
              <a:t>println</a:t>
            </a:r>
            <a:r>
              <a:rPr lang="en-IN" sz="1200" dirty="0"/>
              <a:t>)</a:t>
            </a:r>
          </a:p>
          <a:p>
            <a:pPr marL="0" indent="0">
              <a:buNone/>
            </a:pPr>
            <a:r>
              <a:rPr lang="en-IN" sz="1200" dirty="0"/>
              <a:t>                .get();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    @Bean</a:t>
            </a:r>
          </a:p>
          <a:p>
            <a:pPr marL="0" indent="0">
              <a:buNone/>
            </a:pPr>
            <a:r>
              <a:rPr lang="en-IN" sz="1200" dirty="0"/>
              <a:t>    public </a:t>
            </a:r>
            <a:r>
              <a:rPr lang="en-IN" sz="1200" dirty="0" err="1"/>
              <a:t>MessageChannel</a:t>
            </a:r>
            <a:r>
              <a:rPr lang="en-IN" sz="1200" dirty="0"/>
              <a:t> </a:t>
            </a:r>
            <a:r>
              <a:rPr lang="en-IN" sz="1200" dirty="0" err="1"/>
              <a:t>inputChannel</a:t>
            </a:r>
            <a:r>
              <a:rPr lang="en-IN" sz="1200" dirty="0"/>
              <a:t>() {</a:t>
            </a:r>
          </a:p>
          <a:p>
            <a:pPr marL="0" indent="0">
              <a:buNone/>
            </a:pPr>
            <a:r>
              <a:rPr lang="en-IN" sz="1200" dirty="0"/>
              <a:t>        return new </a:t>
            </a:r>
            <a:r>
              <a:rPr lang="en-IN" sz="1200" dirty="0" err="1"/>
              <a:t>DirectChannel</a:t>
            </a:r>
            <a:r>
              <a:rPr lang="en-IN" sz="1200" dirty="0"/>
              <a:t>();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4770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14B4-E051-CCA9-87A6-D8BBD944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12DF-0A0D-7910-9566-E1900485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Specific Language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DA694-AC83-E2C0-C3E8-CAA65C518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US" dirty="0"/>
              <a:t>And in your main app:</a:t>
            </a:r>
          </a:p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 err="1"/>
              <a:t>CommandLineRunner</a:t>
            </a:r>
            <a:r>
              <a:rPr lang="en-IN" dirty="0"/>
              <a:t> runner(</a:t>
            </a:r>
            <a:r>
              <a:rPr lang="en-IN" dirty="0" err="1"/>
              <a:t>MessageChannel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args</a:t>
            </a:r>
            <a:r>
              <a:rPr lang="en-IN" dirty="0"/>
              <a:t> -&gt; </a:t>
            </a:r>
            <a:r>
              <a:rPr lang="en-IN" dirty="0" err="1"/>
              <a:t>inputChannel.send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MessageBuilder.withPayload</a:t>
            </a:r>
            <a:r>
              <a:rPr lang="en-IN" dirty="0"/>
              <a:t>("Hello Spring Integration").build()</a:t>
            </a:r>
          </a:p>
          <a:p>
            <a:pPr marL="0" indent="0">
              <a:buNone/>
            </a:pPr>
            <a:r>
              <a:rPr lang="en-IN" dirty="0"/>
              <a:t>    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37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6DD2-B855-36B8-E145-E79E54D8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1709-62AF-562D-2AC5-501BB943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Execution – DSL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117C6-74F5-C124-B1BA-220939901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 </a:t>
            </a:r>
            <a:r>
              <a:rPr lang="en-IN" b="1" dirty="0" err="1"/>
              <a:t>MessageChannel</a:t>
            </a:r>
            <a:r>
              <a:rPr lang="en-IN" b="1" dirty="0"/>
              <a:t> (</a:t>
            </a:r>
            <a:r>
              <a:rPr lang="en-IN" b="1" dirty="0" err="1"/>
              <a:t>inputChannel</a:t>
            </a:r>
            <a:r>
              <a:rPr lang="en-IN" b="1" dirty="0"/>
              <a:t>)</a:t>
            </a:r>
            <a:endParaRPr lang="en-IN" dirty="0"/>
          </a:p>
          <a:p>
            <a:pPr lvl="0"/>
            <a:r>
              <a:rPr lang="en-IN" dirty="0"/>
              <a:t>A </a:t>
            </a:r>
            <a:r>
              <a:rPr lang="en-IN" dirty="0" err="1"/>
              <a:t>DirectChannel</a:t>
            </a:r>
            <a:r>
              <a:rPr lang="en-IN" dirty="0"/>
              <a:t> is created — it’s a synchronous channel that delivers messages directly to subscribers.</a:t>
            </a:r>
          </a:p>
          <a:p>
            <a:pPr lvl="0"/>
            <a:r>
              <a:rPr lang="en-IN" dirty="0"/>
              <a:t>Think of it as a “pipe” where messages enter the system.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 err="1"/>
              <a:t>IntegrationFlow</a:t>
            </a:r>
            <a:endParaRPr lang="en-IN" dirty="0"/>
          </a:p>
          <a:p>
            <a:pPr lvl="0"/>
            <a:r>
              <a:rPr lang="en-IN" dirty="0" err="1"/>
              <a:t>IntegrationFlows.from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 tells Spring Integration:</a:t>
            </a:r>
            <a:br>
              <a:rPr lang="en-IN" dirty="0"/>
            </a:br>
            <a:r>
              <a:rPr lang="en-IN" dirty="0"/>
              <a:t>“Whenever a message arrives on </a:t>
            </a:r>
            <a:r>
              <a:rPr lang="en-IN" dirty="0" err="1"/>
              <a:t>inputChannel</a:t>
            </a:r>
            <a:r>
              <a:rPr lang="en-IN" dirty="0"/>
              <a:t>, start this flow.”</a:t>
            </a:r>
          </a:p>
          <a:p>
            <a:pPr lvl="0"/>
            <a:r>
              <a:rPr lang="en-IN" dirty="0"/>
              <a:t>Spring registers this flow as a bean and wires it into the application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291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4D6E1-4B55-9D1D-E004-C7474BF7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CBD-C164-F1B3-49EC-9FB87410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Execution – DSL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129FF-5914-CFB8-CDFF-431BA05C4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3. </a:t>
            </a:r>
            <a:r>
              <a:rPr lang="en-IN" b="1" dirty="0"/>
              <a:t>Transformer</a:t>
            </a:r>
            <a:endParaRPr lang="en-IN" dirty="0"/>
          </a:p>
          <a:p>
            <a:pPr lvl="0"/>
            <a:r>
              <a:rPr lang="en-IN" dirty="0"/>
              <a:t>.transform(String::</a:t>
            </a:r>
            <a:r>
              <a:rPr lang="en-IN" dirty="0" err="1"/>
              <a:t>toUpperCase</a:t>
            </a:r>
            <a:r>
              <a:rPr lang="en-IN" dirty="0"/>
              <a:t>) applies a transformation to the message payload.</a:t>
            </a:r>
          </a:p>
          <a:p>
            <a:pPr lvl="0"/>
            <a:r>
              <a:rPr lang="en-IN" dirty="0"/>
              <a:t>Behind the scenes, Spring wraps your lambda into a </a:t>
            </a:r>
            <a:r>
              <a:rPr lang="en-IN" dirty="0" err="1"/>
              <a:t>GenericTransformer</a:t>
            </a:r>
            <a:r>
              <a:rPr lang="en-IN" dirty="0"/>
              <a:t> bean.</a:t>
            </a:r>
          </a:p>
          <a:p>
            <a:pPr lvl="0"/>
            <a:r>
              <a:rPr lang="en-IN" dirty="0"/>
              <a:t>When a message arrives, the payload is extracted, converted to uppercase, and a new Message object is created with the transformed payload.</a:t>
            </a:r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IN" b="1" dirty="0"/>
              <a:t>Handler</a:t>
            </a:r>
            <a:endParaRPr lang="en-IN" dirty="0"/>
          </a:p>
          <a:p>
            <a:pPr lvl="0"/>
            <a:r>
              <a:rPr lang="en-IN" dirty="0"/>
              <a:t>.handle(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 registers a </a:t>
            </a:r>
            <a:r>
              <a:rPr lang="en-IN" dirty="0" err="1"/>
              <a:t>GenericHandler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When the transformed message arrives here, Spring calls </a:t>
            </a:r>
            <a:r>
              <a:rPr lang="en-IN" dirty="0" err="1"/>
              <a:t>System.out.println</a:t>
            </a:r>
            <a:r>
              <a:rPr lang="en-IN" dirty="0"/>
              <a:t>(payload).</a:t>
            </a:r>
          </a:p>
          <a:p>
            <a:pPr lvl="0"/>
            <a:r>
              <a:rPr lang="en-IN" dirty="0"/>
              <a:t>This is the “terminal” step in the flow — the message is consumed.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77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8CF92-B75B-4F9A-A8BA-919E44FC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EE29F-9028-F25F-5AEB-7D03B046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Execution – DSL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7565-6762-A5C8-0594-F54A04C9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5. </a:t>
            </a:r>
            <a:r>
              <a:rPr lang="en-IN" b="1" dirty="0"/>
              <a:t>Runner</a:t>
            </a:r>
            <a:endParaRPr lang="en-IN" dirty="0"/>
          </a:p>
          <a:p>
            <a:pPr lvl="0"/>
            <a:r>
              <a:rPr lang="en-IN" dirty="0"/>
              <a:t>The </a:t>
            </a:r>
            <a:r>
              <a:rPr lang="en-IN" dirty="0" err="1"/>
              <a:t>CommandLineRunner</a:t>
            </a:r>
            <a:r>
              <a:rPr lang="en-IN" dirty="0"/>
              <a:t> runs after the application context is initialized.</a:t>
            </a:r>
          </a:p>
          <a:p>
            <a:pPr lvl="0"/>
            <a:r>
              <a:rPr lang="en-IN" dirty="0"/>
              <a:t>It sends a Message with payload "Hello Spring Integration" into the </a:t>
            </a:r>
            <a:r>
              <a:rPr lang="en-IN" dirty="0" err="1"/>
              <a:t>inputChannel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Spring Integration picks it up, runs it through the flow, and prints:</a:t>
            </a:r>
          </a:p>
          <a:p>
            <a:r>
              <a:rPr lang="en-IN" dirty="0"/>
              <a:t>HELLO SPRING INTEGRATION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349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0D02-219A-90E6-27C4-E7D80A215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882D-FBC0-98A5-73C0-2F308DF34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Behind the hood – DSL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C35A-A7DD-7D2F-0EA4-3644D2257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lvl="0"/>
            <a:r>
              <a:rPr lang="en-IN" b="1" dirty="0"/>
              <a:t>Message Lifecycle:</a:t>
            </a:r>
            <a:r>
              <a:rPr lang="en-IN" dirty="0"/>
              <a:t> Every message is a Message object with a payload and headers.</a:t>
            </a:r>
          </a:p>
          <a:p>
            <a:pPr lvl="0"/>
            <a:r>
              <a:rPr lang="en-IN" b="1" dirty="0"/>
              <a:t>Flow Registration:</a:t>
            </a:r>
            <a:r>
              <a:rPr lang="en-IN" dirty="0"/>
              <a:t> The DSL builds a chain of endpoints (transformer, handler) and registers them in the Spring context.</a:t>
            </a:r>
          </a:p>
          <a:p>
            <a:pPr lvl="0"/>
            <a:r>
              <a:rPr lang="en-IN" b="1" dirty="0"/>
              <a:t>Channel Dispatching:</a:t>
            </a:r>
            <a:r>
              <a:rPr lang="en-IN" dirty="0"/>
              <a:t> The </a:t>
            </a:r>
            <a:r>
              <a:rPr lang="en-IN" dirty="0" err="1"/>
              <a:t>DirectChannel</a:t>
            </a:r>
            <a:r>
              <a:rPr lang="en-IN" dirty="0"/>
              <a:t> synchronously invokes the next component in the chain.</a:t>
            </a:r>
          </a:p>
          <a:p>
            <a:pPr lvl="0"/>
            <a:r>
              <a:rPr lang="en-IN" b="1" dirty="0"/>
              <a:t>Threading:</a:t>
            </a:r>
            <a:r>
              <a:rPr lang="en-IN" dirty="0"/>
              <a:t> Since it’s a </a:t>
            </a:r>
            <a:r>
              <a:rPr lang="en-IN" dirty="0" err="1"/>
              <a:t>DirectChannel</a:t>
            </a:r>
            <a:r>
              <a:rPr lang="en-IN" dirty="0"/>
              <a:t>, everything runs in the same thread. If you used a </a:t>
            </a:r>
            <a:r>
              <a:rPr lang="en-IN" dirty="0" err="1"/>
              <a:t>QueueChannel</a:t>
            </a:r>
            <a:r>
              <a:rPr lang="en-IN" dirty="0"/>
              <a:t> or </a:t>
            </a:r>
            <a:r>
              <a:rPr lang="en-IN" dirty="0" err="1"/>
              <a:t>ExecutorChannel</a:t>
            </a:r>
            <a:r>
              <a:rPr lang="en-IN" dirty="0"/>
              <a:t>, Spring would dispatch asynchronously.</a:t>
            </a:r>
          </a:p>
          <a:p>
            <a:pPr lvl="0"/>
            <a:r>
              <a:rPr lang="en-IN" b="1" dirty="0"/>
              <a:t>Bean Wiring:</a:t>
            </a:r>
            <a:r>
              <a:rPr lang="en-IN" dirty="0"/>
              <a:t> Spring Boot auto-configures the integration infrastructure (message bus, channel registry, etc.), so you don’t need XML.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565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23B6-72CE-78F9-32EF-E172B9BF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7A60-A6AE-C235-6749-B4EC2E87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of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116B5-D4BF-74D2-F416-5B6B44A6D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lvl="0"/>
            <a:r>
              <a:rPr lang="en-IN" dirty="0"/>
              <a:t>You defined a </a:t>
            </a:r>
            <a:r>
              <a:rPr lang="en-IN" b="1" dirty="0"/>
              <a:t>pipeline</a:t>
            </a:r>
            <a:r>
              <a:rPr lang="en-IN" dirty="0"/>
              <a:t>: </a:t>
            </a:r>
            <a:r>
              <a:rPr lang="en-IN" dirty="0" err="1"/>
              <a:t>inputChannel</a:t>
            </a:r>
            <a:r>
              <a:rPr lang="en-IN" dirty="0"/>
              <a:t> → transformer → handler.</a:t>
            </a:r>
          </a:p>
          <a:p>
            <a:pPr lvl="0"/>
            <a:r>
              <a:rPr lang="en-IN" dirty="0"/>
              <a:t>Spring Integration wires it up automatically.</a:t>
            </a:r>
          </a:p>
          <a:p>
            <a:pPr lvl="0"/>
            <a:r>
              <a:rPr lang="en-IN" dirty="0"/>
              <a:t>When you send a message, it flows through the pipeline, gets transformed, and is consumed.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07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0829-DCC9-DC19-BE35-4E0B9EB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B199-3F7F-F922-6BFD-D8FCC055D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IN" dirty="0"/>
              <a:t>Create a file </a:t>
            </a:r>
            <a:r>
              <a:rPr lang="en-IN" dirty="0" err="1"/>
              <a:t>src</a:t>
            </a:r>
            <a:r>
              <a:rPr lang="en-IN" dirty="0"/>
              <a:t>/main/resources/integration-context.xml</a:t>
            </a:r>
          </a:p>
          <a:p>
            <a:pPr>
              <a:buNone/>
            </a:pP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&lt;</a:t>
            </a:r>
            <a:r>
              <a:rPr lang="en-IN" sz="1800" dirty="0" err="1">
                <a:solidFill>
                  <a:srgbClr val="C77DBB"/>
                </a:solidFill>
                <a:effectLst/>
                <a:latin typeface="JetBrains Mono"/>
              </a:rPr>
              <a:t>int</a:t>
            </a:r>
            <a:r>
              <a:rPr lang="en-IN" sz="1800" dirty="0" err="1">
                <a:solidFill>
                  <a:srgbClr val="D5B778"/>
                </a:solidFill>
                <a:effectLst/>
                <a:latin typeface="JetBrains Mono"/>
              </a:rPr>
              <a:t>:channel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id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inputChannel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endParaRPr lang="en-IN" dirty="0">
              <a:solidFill>
                <a:srgbClr val="D5B778"/>
              </a:solidFill>
              <a:latin typeface="JetBrains Mono"/>
            </a:endParaRPr>
          </a:p>
          <a:p>
            <a:pPr>
              <a:buNone/>
            </a:pPr>
            <a:endParaRPr lang="en-IN" sz="1800" dirty="0">
              <a:solidFill>
                <a:srgbClr val="D5B77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&lt;</a:t>
            </a:r>
            <a:r>
              <a:rPr lang="en-IN" sz="1800" dirty="0" err="1">
                <a:solidFill>
                  <a:srgbClr val="C77DBB"/>
                </a:solidFill>
                <a:effectLst/>
                <a:latin typeface="JetBrains Mono"/>
              </a:rPr>
              <a:t>int</a:t>
            </a:r>
            <a:r>
              <a:rPr lang="en-IN" sz="1800" dirty="0" err="1">
                <a:solidFill>
                  <a:srgbClr val="D5B778"/>
                </a:solidFill>
                <a:effectLst/>
                <a:latin typeface="JetBrains Mono"/>
              </a:rPr>
              <a:t>:transformer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input-channel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inputChannel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output-channel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outputChannel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                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expression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payload.toUpperCase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()"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endParaRPr lang="en-IN" dirty="0">
              <a:solidFill>
                <a:srgbClr val="D5B778"/>
              </a:solidFill>
              <a:latin typeface="JetBrains Mono"/>
            </a:endParaRPr>
          </a:p>
          <a:p>
            <a:pPr>
              <a:buNone/>
            </a:pPr>
            <a:endParaRPr lang="en-IN" sz="1800" dirty="0">
              <a:solidFill>
                <a:srgbClr val="D5B77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&lt;</a:t>
            </a:r>
            <a:r>
              <a:rPr lang="en-IN" sz="1800" dirty="0" err="1">
                <a:solidFill>
                  <a:srgbClr val="C77DBB"/>
                </a:solidFill>
                <a:effectLst/>
                <a:latin typeface="JetBrains Mono"/>
              </a:rPr>
              <a:t>int</a:t>
            </a:r>
            <a:r>
              <a:rPr lang="en-IN" sz="1800" dirty="0" err="1">
                <a:solidFill>
                  <a:srgbClr val="D5B778"/>
                </a:solidFill>
                <a:effectLst/>
                <a:latin typeface="JetBrains Mono"/>
              </a:rPr>
              <a:t>:service-activator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input-channel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outputChannel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ref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printService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method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="print"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endParaRPr lang="en-IN" dirty="0">
              <a:solidFill>
                <a:srgbClr val="D5B778"/>
              </a:solidFill>
              <a:latin typeface="JetBrains Mono"/>
            </a:endParaRPr>
          </a:p>
          <a:p>
            <a:pPr>
              <a:buNone/>
            </a:pPr>
            <a:endParaRPr lang="en-IN" sz="1800" dirty="0">
              <a:solidFill>
                <a:srgbClr val="D5B77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&lt;bean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id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printService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class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N" sz="1800" dirty="0" err="1">
                <a:solidFill>
                  <a:srgbClr val="6AAB73"/>
                </a:solidFill>
                <a:effectLst/>
                <a:latin typeface="JetBrains Mono"/>
              </a:rPr>
              <a:t>com.example.integration.PrintService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br>
              <a:rPr lang="en-IN" sz="1800" dirty="0">
                <a:solidFill>
                  <a:srgbClr val="D5B778"/>
                </a:solidFill>
                <a:effectLst/>
                <a:latin typeface="JetBrains Mono"/>
              </a:rPr>
            </a:br>
            <a:endParaRPr lang="en-IN" sz="1800" dirty="0">
              <a:solidFill>
                <a:srgbClr val="BCBEC4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987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8AE7-8ECB-B1FC-0BF4-B9930C29A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54DB-F03C-FA79-93F2-141D22D3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A54A-97A8-740C-E5A9-3112120F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>
            <a:normAutofit/>
          </a:bodyPr>
          <a:lstStyle/>
          <a:p>
            <a:r>
              <a:rPr lang="en-IN" dirty="0"/>
              <a:t>Define a simple service class: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PrintService</a:t>
            </a:r>
            <a:r>
              <a:rPr lang="en-IN" dirty="0"/>
              <a:t> { </a:t>
            </a:r>
          </a:p>
          <a:p>
            <a:pPr marL="0" indent="0">
              <a:buNone/>
            </a:pPr>
            <a:r>
              <a:rPr lang="en-IN" dirty="0"/>
              <a:t>	public void print(String message) {</a:t>
            </a:r>
          </a:p>
          <a:p>
            <a:pPr marL="0" indent="0">
              <a:buNone/>
            </a:pPr>
            <a:r>
              <a:rPr lang="en-IN" dirty="0"/>
              <a:t>	 </a:t>
            </a:r>
            <a:r>
              <a:rPr lang="en-IN" dirty="0" err="1"/>
              <a:t>System.out.println</a:t>
            </a:r>
            <a:r>
              <a:rPr lang="en-IN" dirty="0"/>
              <a:t>("Processed Message: " + message); </a:t>
            </a:r>
          </a:p>
          <a:p>
            <a:pPr marL="0" indent="0">
              <a:buNone/>
            </a:pPr>
            <a:r>
              <a:rPr lang="en-IN" dirty="0"/>
              <a:t>} } </a:t>
            </a:r>
          </a:p>
        </p:txBody>
      </p:sp>
    </p:spTree>
    <p:extLst>
      <p:ext uri="{BB962C8B-B14F-4D97-AF65-F5344CB8AC3E}">
        <p14:creationId xmlns:p14="http://schemas.microsoft.com/office/powerpoint/2010/main" val="331192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88A2-458C-6318-9E8E-D8EDFCE3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A52F-7A1B-1D08-2000-E6AF1610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2FB7-B82F-7716-3DB2-48E838275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And load the XML in your main app:</a:t>
            </a:r>
          </a:p>
          <a:p>
            <a:pPr marL="0" indent="0">
              <a:buNone/>
            </a:pPr>
            <a:r>
              <a:rPr lang="en-IN" dirty="0"/>
              <a:t>@SpringBootApplication</a:t>
            </a:r>
          </a:p>
          <a:p>
            <a:pPr marL="0" indent="0">
              <a:buNone/>
            </a:pPr>
            <a:r>
              <a:rPr lang="en-IN" dirty="0"/>
              <a:t>@ImportResource("classpath:integration-context.xml")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IntegrationApplication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SpringApplication.run</a:t>
            </a:r>
            <a:r>
              <a:rPr lang="en-IN" dirty="0"/>
              <a:t>(</a:t>
            </a:r>
            <a:r>
              <a:rPr lang="en-IN" dirty="0" err="1"/>
              <a:t>IntegrationApplication.class</a:t>
            </a:r>
            <a:r>
              <a:rPr lang="en-IN" dirty="0"/>
              <a:t>, 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@Bean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CommandLineRunner</a:t>
            </a:r>
            <a:r>
              <a:rPr lang="en-IN" dirty="0"/>
              <a:t> runner(</a:t>
            </a:r>
            <a:r>
              <a:rPr lang="en-IN" dirty="0" err="1"/>
              <a:t>MessageChannel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args</a:t>
            </a:r>
            <a:r>
              <a:rPr lang="en-IN" dirty="0"/>
              <a:t> -&gt; </a:t>
            </a:r>
            <a:r>
              <a:rPr lang="en-IN" dirty="0" err="1"/>
              <a:t>inputChannel.send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MessageBuilder.withPayload</a:t>
            </a:r>
            <a:r>
              <a:rPr lang="en-IN" dirty="0"/>
              <a:t>("Hello Spring Integration XML").build()</a:t>
            </a:r>
          </a:p>
          <a:p>
            <a:pPr marL="0" indent="0">
              <a:buNone/>
            </a:pPr>
            <a:r>
              <a:rPr lang="en-IN" dirty="0"/>
              <a:t>        );    }		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177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37A3-2CC0-9DA9-4A3C-6C719A01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7AF1-3202-E666-22B1-F277D850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0D54-22CB-EAD4-6483-B3A81CDF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b="1" dirty="0"/>
              <a:t>Channel ()</a:t>
            </a:r>
            <a:endParaRPr lang="en-IN" dirty="0"/>
          </a:p>
          <a:p>
            <a:pPr lvl="1"/>
            <a:r>
              <a:rPr lang="en-IN" dirty="0"/>
              <a:t>Defines a named pipeline (</a:t>
            </a:r>
            <a:r>
              <a:rPr lang="en-IN" dirty="0" err="1"/>
              <a:t>inputChannel</a:t>
            </a:r>
            <a:r>
              <a:rPr lang="en-IN" dirty="0"/>
              <a:t>) where messages enter.</a:t>
            </a:r>
          </a:p>
          <a:p>
            <a:pPr lvl="1"/>
            <a:r>
              <a:rPr lang="en-IN" dirty="0"/>
              <a:t>Equivalent to the @Bean public </a:t>
            </a:r>
            <a:r>
              <a:rPr lang="en-IN" dirty="0" err="1"/>
              <a:t>MessageChannel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() you wrote earlier.</a:t>
            </a:r>
          </a:p>
          <a:p>
            <a:pPr lvl="0"/>
            <a:r>
              <a:rPr lang="en-IN" b="1" dirty="0"/>
              <a:t>Transformer ()</a:t>
            </a:r>
            <a:endParaRPr lang="en-IN" dirty="0"/>
          </a:p>
          <a:p>
            <a:pPr lvl="1"/>
            <a:r>
              <a:rPr lang="en-IN" dirty="0"/>
              <a:t>Listens on </a:t>
            </a:r>
            <a:r>
              <a:rPr lang="en-IN" dirty="0" err="1"/>
              <a:t>inputChannel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Uses a </a:t>
            </a:r>
            <a:r>
              <a:rPr lang="en-IN" dirty="0" err="1"/>
              <a:t>SpEL</a:t>
            </a:r>
            <a:r>
              <a:rPr lang="en-IN" dirty="0"/>
              <a:t> expression (</a:t>
            </a:r>
            <a:r>
              <a:rPr lang="en-IN" dirty="0" err="1"/>
              <a:t>payload.toUpperCase</a:t>
            </a:r>
            <a:r>
              <a:rPr lang="en-IN" dirty="0"/>
              <a:t>()) to transform the message.</a:t>
            </a:r>
          </a:p>
          <a:p>
            <a:pPr lvl="1"/>
            <a:r>
              <a:rPr lang="en-IN" dirty="0"/>
              <a:t>Sends the transformed message to </a:t>
            </a:r>
            <a:r>
              <a:rPr lang="en-IN" dirty="0" err="1"/>
              <a:t>outputChannel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Service Activator ()</a:t>
            </a:r>
            <a:endParaRPr lang="en-IN" dirty="0"/>
          </a:p>
          <a:p>
            <a:pPr lvl="1"/>
            <a:r>
              <a:rPr lang="en-IN" dirty="0"/>
              <a:t>Subscribes to </a:t>
            </a:r>
            <a:r>
              <a:rPr lang="en-IN" dirty="0" err="1"/>
              <a:t>outputChannel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Calls the print method on the </a:t>
            </a:r>
            <a:r>
              <a:rPr lang="en-IN" dirty="0" err="1"/>
              <a:t>printService</a:t>
            </a:r>
            <a:r>
              <a:rPr lang="en-IN" dirty="0"/>
              <a:t> bean.</a:t>
            </a:r>
          </a:p>
          <a:p>
            <a:pPr lvl="1"/>
            <a:r>
              <a:rPr lang="en-IN" dirty="0"/>
              <a:t>Prints the payload to the console.</a:t>
            </a:r>
          </a:p>
          <a:p>
            <a:r>
              <a:rPr lang="en-IN" b="1" dirty="0"/>
              <a:t>Bean ()</a:t>
            </a:r>
            <a:endParaRPr lang="en-IN" dirty="0"/>
          </a:p>
          <a:p>
            <a:pPr lvl="0"/>
            <a:r>
              <a:rPr lang="en-IN" dirty="0"/>
              <a:t>Defines the actual Java class (</a:t>
            </a:r>
            <a:r>
              <a:rPr lang="en-IN" dirty="0" err="1"/>
              <a:t>PrintService</a:t>
            </a:r>
            <a:r>
              <a:rPr lang="en-IN" dirty="0"/>
              <a:t>) with a method:</a:t>
            </a:r>
          </a:p>
          <a:p>
            <a:r>
              <a:rPr lang="en-IN" dirty="0"/>
              <a:t>public void print(String message) { </a:t>
            </a:r>
            <a:r>
              <a:rPr lang="en-IN" dirty="0" err="1"/>
              <a:t>System.out.println</a:t>
            </a:r>
            <a:r>
              <a:rPr lang="en-IN" dirty="0"/>
              <a:t>("Processed Message: " + message); }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934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E5DF-A0DB-7CF2-70C3-557BAD85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582F-67C7-053F-4C09-915C33D3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Behind the 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CA71-ACB8-392B-5E7A-58191B253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lvl="0"/>
            <a:r>
              <a:rPr lang="en-IN" b="1" dirty="0"/>
              <a:t>Spring Context Loading:</a:t>
            </a:r>
            <a:br>
              <a:rPr lang="en-IN" dirty="0"/>
            </a:br>
            <a:r>
              <a:rPr lang="en-IN" dirty="0"/>
              <a:t>When your app starts, Spring parses the XML file and registers beans for channels, transformers, and service activators.</a:t>
            </a:r>
          </a:p>
          <a:p>
            <a:pPr lvl="0"/>
            <a:r>
              <a:rPr lang="en-IN" b="1" dirty="0"/>
              <a:t>Message Flow:</a:t>
            </a:r>
            <a:endParaRPr lang="en-IN" dirty="0"/>
          </a:p>
          <a:p>
            <a:pPr lvl="1"/>
            <a:r>
              <a:rPr lang="en-IN" dirty="0"/>
              <a:t>A message enters </a:t>
            </a:r>
            <a:r>
              <a:rPr lang="en-IN" dirty="0" err="1"/>
              <a:t>inputChannel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transformer modifies it and forwards it to </a:t>
            </a:r>
            <a:r>
              <a:rPr lang="en-IN" dirty="0" err="1"/>
              <a:t>outputChannel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service activator consumes it and calls the </a:t>
            </a:r>
            <a:r>
              <a:rPr lang="en-IN" dirty="0" err="1"/>
              <a:t>printService.print</a:t>
            </a:r>
            <a:r>
              <a:rPr lang="en-IN" dirty="0"/>
              <a:t>() method.</a:t>
            </a:r>
          </a:p>
          <a:p>
            <a:pPr lvl="0"/>
            <a:r>
              <a:rPr lang="en-IN" b="1" dirty="0"/>
              <a:t>Integration Bus:</a:t>
            </a:r>
            <a:br>
              <a:rPr lang="en-IN" dirty="0"/>
            </a:br>
            <a:r>
              <a:rPr lang="en-IN" dirty="0"/>
              <a:t>Spring Integration maintains a registry of channels and endpoints. The XML config wires them together declaratively, so you don’t need explicit Java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759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6EFB-D8BF-7021-014B-6E8E7B09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795-C2C7-62E9-4397-1A2F9A43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XML Configuration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76E01-328C-6EE8-B797-D551E0B4D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pPr lvl="0"/>
            <a:r>
              <a:rPr lang="en-IN" b="1" dirty="0"/>
              <a:t>Legacy Systems:</a:t>
            </a:r>
            <a:r>
              <a:rPr lang="en-IN" dirty="0"/>
              <a:t> Many enterprise projects still use XML for integration flows.</a:t>
            </a:r>
          </a:p>
          <a:p>
            <a:pPr lvl="0"/>
            <a:r>
              <a:rPr lang="en-IN" b="1" dirty="0"/>
              <a:t>Declarative Style:</a:t>
            </a:r>
            <a:r>
              <a:rPr lang="en-IN" dirty="0"/>
              <a:t> Easy to visualize and modify without touching Java code.</a:t>
            </a:r>
          </a:p>
          <a:p>
            <a:pPr lvl="0"/>
            <a:r>
              <a:rPr lang="en-IN" b="1" dirty="0"/>
              <a:t>Equivalent to DSL/Annotations:</a:t>
            </a:r>
            <a:r>
              <a:rPr lang="en-IN" dirty="0"/>
              <a:t> Everything you can do in DSL or annotations can also be expressed in XML.</a:t>
            </a:r>
          </a:p>
          <a:p>
            <a:r>
              <a:rPr lang="en-IN" dirty="0"/>
              <a:t>XML configuration is just another way of wiring </a:t>
            </a:r>
            <a:r>
              <a:rPr lang="en-IN" b="1" dirty="0"/>
              <a:t>channels → transformers → handlers</a:t>
            </a:r>
            <a:r>
              <a:rPr lang="en-IN" dirty="0"/>
              <a:t>. Instead of Java beans or DSL, you declare them in XML, and Spring Integration builds the flow at startup.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948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CCF0-E9BF-A24A-135E-FD4F311F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838D7-2A3B-A469-4A39-18AFE2776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831842" cy="706964"/>
          </a:xfrm>
        </p:spPr>
        <p:txBody>
          <a:bodyPr/>
          <a:lstStyle/>
          <a:p>
            <a:pPr lvl="0"/>
            <a:r>
              <a:rPr lang="en-IN" b="1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4D27AA-2754-8693-10FE-0B016C705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392586"/>
              </p:ext>
            </p:extLst>
          </p:nvPr>
        </p:nvGraphicFramePr>
        <p:xfrm>
          <a:off x="1155700" y="2603500"/>
          <a:ext cx="10097020" cy="3498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255">
                  <a:extLst>
                    <a:ext uri="{9D8B030D-6E8A-4147-A177-3AD203B41FA5}">
                      <a16:colId xmlns:a16="http://schemas.microsoft.com/office/drawing/2014/main" val="4100836839"/>
                    </a:ext>
                  </a:extLst>
                </a:gridCol>
                <a:gridCol w="2524255">
                  <a:extLst>
                    <a:ext uri="{9D8B030D-6E8A-4147-A177-3AD203B41FA5}">
                      <a16:colId xmlns:a16="http://schemas.microsoft.com/office/drawing/2014/main" val="3813897381"/>
                    </a:ext>
                  </a:extLst>
                </a:gridCol>
                <a:gridCol w="2524255">
                  <a:extLst>
                    <a:ext uri="{9D8B030D-6E8A-4147-A177-3AD203B41FA5}">
                      <a16:colId xmlns:a16="http://schemas.microsoft.com/office/drawing/2014/main" val="727889223"/>
                    </a:ext>
                  </a:extLst>
                </a:gridCol>
                <a:gridCol w="2524255">
                  <a:extLst>
                    <a:ext uri="{9D8B030D-6E8A-4147-A177-3AD203B41FA5}">
                      <a16:colId xmlns:a16="http://schemas.microsoft.com/office/drawing/2014/main" val="2874467773"/>
                    </a:ext>
                  </a:extLst>
                </a:gridCol>
              </a:tblGrid>
              <a:tr h="5541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Style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Definition Style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405686"/>
                  </a:ext>
                </a:extLst>
              </a:tr>
              <a:tr h="981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Declarative config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Easy to visualize, legacy-friendly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Verbose, less popular today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4651585"/>
                  </a:ext>
                </a:extLst>
              </a:tr>
              <a:tr h="981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Annotation-based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Bean + annotations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Lightweight, no DSL dependency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More boilerplate than DSL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1478587"/>
                  </a:ext>
                </a:extLst>
              </a:tr>
              <a:tr h="9815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Java DSL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Fluent API chain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Concise, modern, expressive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Requires DSL dependency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1572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759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59097-4403-D0A9-79FD-556D1A92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D82C-2DCF-B79E-425F-455D036D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CB2B-DCDC-5D55-4321-13EE7BE00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r>
              <a:rPr lang="en-IN" b="1" dirty="0"/>
              <a:t>Java DSL</a:t>
            </a:r>
            <a:r>
              <a:rPr lang="en-IN" dirty="0"/>
              <a:t> → Fluent, modern, concise.</a:t>
            </a:r>
          </a:p>
          <a:p>
            <a:r>
              <a:rPr lang="en-IN" b="1" dirty="0"/>
              <a:t>XML config</a:t>
            </a:r>
            <a:r>
              <a:rPr lang="en-IN" dirty="0"/>
              <a:t> → Traditional, declarative, useful for legacy projects.</a:t>
            </a:r>
          </a:p>
          <a:p>
            <a:r>
              <a:rPr lang="en-IN" b="1" dirty="0"/>
              <a:t>Annotation-based beans</a:t>
            </a:r>
            <a:r>
              <a:rPr lang="en-IN" dirty="0"/>
              <a:t> → Lightweight, no DSL dependency, good for simple flows.</a:t>
            </a:r>
          </a:p>
          <a:p>
            <a:r>
              <a:rPr lang="en-IN" dirty="0"/>
              <a:t>All three styles do the same thing: </a:t>
            </a:r>
            <a:r>
              <a:rPr lang="en-IN" b="1" dirty="0"/>
              <a:t>channel → transformer → handler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XML is declarative, annotations are explicit bean wiring, DSL is fluent and modern.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60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D6B6-00EE-5A4B-7161-1440CFCD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1F85-A1D3-8A9F-DBD7-8DA13112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1EB67-27D8-6E17-F7D7-8BFA958B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585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F1DE9-166F-91BC-FF92-0021EDD2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E082-D5D0-FE4E-BAB0-DE573EF7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ECA3C-A55B-1C5F-9F7B-CD620173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447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94A1F-F8D9-7079-E889-99B250A3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9DA8-E708-BD0D-683E-F80AC332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163E5-4273-2FEB-8C25-FCFC7731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881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761DF-1D70-3A48-9FD9-D04C63FD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7534-99CC-1930-9EB5-DFC9F9CE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513C7-C0D7-FB49-F07C-EA9A7A523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818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242F-7B1F-A0CB-BA2D-AE8B0344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FC80-A2FC-85CA-B97B-C6ACFB99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D328-D91B-59E0-2448-DF13C4A28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520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0A64-C50F-AE37-7AAB-D8495AC8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0A0F-BD91-2185-A7B3-B172B42E2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C41D-EA22-1CA0-4DB6-D4C8D0B65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258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7BF3-C807-20F0-FDCD-4375A166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9239-2DC1-D920-C07C-E7661BEA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62B9-9D87-1C9D-0153-E44DDA48B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447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3B76-FDAA-354F-AA31-CB96F686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0113-BD45-1539-994F-D771118B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98648-8404-35F9-395F-0EF93582B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634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C6D36-B3D6-7F63-28C4-5C855055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1790-B347-0CDA-68F5-B0ABD5E2B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6BF7-36A9-BE60-5EB3-B1B77DA50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127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11DC-4F83-7B71-1DB3-79FB1285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31B2-8A21-5664-3C1C-60BF5148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273E3-016D-2D75-6624-4FFAF8AD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585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0CF0A-84AD-9B6C-9179-1F71D519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1D04-F2E5-68AA-31B8-E58538C1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62F35-89A6-4723-DA02-968346C12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6755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41BD-AA19-62AA-3E38-05DEBBA5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9CD0-BD2E-16B9-2C5A-97FF7ABE9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E6D9-6E60-FC6D-4779-5D727D15F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49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96BF-D08C-3DE3-F7F6-920922EE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D6B3-185E-3AE6-8A87-BDE76531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E96AF-687D-7930-AF3D-C17F683A9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6789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2318-67D6-1041-1EAF-826DCD57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989B-3FC0-A908-602D-A922D5CA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63289-EBC5-E35C-94C0-E49ECE10D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31638" cy="385794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930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{13D5B1DF-9CDE-4E6B-B628-F19977F2C20E}TF229edf6a-8a49-49ee-a0a6-5037052947485fb3ca0c-bc27bf41d645</Template>
  <TotalTime>288</TotalTime>
  <Words>1738</Words>
  <Application>Microsoft Office PowerPoint</Application>
  <PresentationFormat>Widescreen</PresentationFormat>
  <Paragraphs>223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Century Gothic</vt:lpstr>
      <vt:lpstr>JetBrains Mono</vt:lpstr>
      <vt:lpstr>Wingdings 3</vt:lpstr>
      <vt:lpstr>Ion Boardroom</vt:lpstr>
      <vt:lpstr>Working of Messages</vt:lpstr>
      <vt:lpstr>Annotation-Based (No DSL)</vt:lpstr>
      <vt:lpstr>What Each Piece Does</vt:lpstr>
      <vt:lpstr>What Each Piece Does</vt:lpstr>
      <vt:lpstr>What Each Piece Does</vt:lpstr>
      <vt:lpstr>Behind the Hood</vt:lpstr>
      <vt:lpstr>Summary</vt:lpstr>
      <vt:lpstr>Transformer bean</vt:lpstr>
      <vt:lpstr>PowerPoint Presentation</vt:lpstr>
      <vt:lpstr>How It Works Behind the Hood</vt:lpstr>
      <vt:lpstr>Behind the Scenes</vt:lpstr>
      <vt:lpstr>Domain Specific Language DSL</vt:lpstr>
      <vt:lpstr>Domain Specific Language DSL</vt:lpstr>
      <vt:lpstr>Step-by-Step Execution – DSL </vt:lpstr>
      <vt:lpstr>Step-by-Step Execution – DSL </vt:lpstr>
      <vt:lpstr>Step-by-Step Execution – DSL </vt:lpstr>
      <vt:lpstr>Behind the hood – DSL </vt:lpstr>
      <vt:lpstr>Summary of DSL</vt:lpstr>
      <vt:lpstr>XML CONFIGURATION</vt:lpstr>
      <vt:lpstr>XML CONFIGURATION</vt:lpstr>
      <vt:lpstr>XML CONFIGURATION</vt:lpstr>
      <vt:lpstr>How it works?</vt:lpstr>
      <vt:lpstr>Behind the Hood</vt:lpstr>
      <vt:lpstr>Why XML Configuration Matters</vt:lpstr>
      <vt:lpstr>Comparison</vt:lpstr>
      <vt:lpstr>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18</cp:revision>
  <dcterms:created xsi:type="dcterms:W3CDTF">2026-03-20T11:24:06Z</dcterms:created>
  <dcterms:modified xsi:type="dcterms:W3CDTF">2026-03-20T16:12:54Z</dcterms:modified>
</cp:coreProperties>
</file>