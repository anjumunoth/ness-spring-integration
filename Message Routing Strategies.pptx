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9"/>
  </p:notesMasterIdLst>
  <p:sldIdLst>
    <p:sldId id="256" r:id="rId2"/>
    <p:sldId id="257" r:id="rId3"/>
    <p:sldId id="310" r:id="rId4"/>
    <p:sldId id="258" r:id="rId5"/>
    <p:sldId id="318" r:id="rId6"/>
    <p:sldId id="319" r:id="rId7"/>
    <p:sldId id="320" r:id="rId8"/>
    <p:sldId id="321" r:id="rId9"/>
    <p:sldId id="322" r:id="rId10"/>
    <p:sldId id="323" r:id="rId11"/>
    <p:sldId id="324" r:id="rId12"/>
    <p:sldId id="259" r:id="rId13"/>
    <p:sldId id="260" r:id="rId14"/>
    <p:sldId id="261" r:id="rId15"/>
    <p:sldId id="262" r:id="rId16"/>
    <p:sldId id="311" r:id="rId17"/>
    <p:sldId id="312" r:id="rId18"/>
    <p:sldId id="313" r:id="rId19"/>
    <p:sldId id="263" r:id="rId20"/>
    <p:sldId id="314" r:id="rId21"/>
    <p:sldId id="315" r:id="rId22"/>
    <p:sldId id="316" r:id="rId23"/>
    <p:sldId id="317" r:id="rId24"/>
    <p:sldId id="264" r:id="rId25"/>
    <p:sldId id="265" r:id="rId26"/>
    <p:sldId id="266" r:id="rId27"/>
    <p:sldId id="267" r:id="rId28"/>
    <p:sldId id="268" r:id="rId29"/>
    <p:sldId id="325" r:id="rId30"/>
    <p:sldId id="269" r:id="rId31"/>
    <p:sldId id="270" r:id="rId32"/>
    <p:sldId id="271" r:id="rId33"/>
    <p:sldId id="272" r:id="rId34"/>
    <p:sldId id="273" r:id="rId35"/>
    <p:sldId id="274" r:id="rId36"/>
    <p:sldId id="275" r:id="rId37"/>
    <p:sldId id="276" r:id="rId38"/>
    <p:sldId id="277" r:id="rId39"/>
    <p:sldId id="278" r:id="rId40"/>
    <p:sldId id="279" r:id="rId41"/>
    <p:sldId id="280" r:id="rId42"/>
    <p:sldId id="281" r:id="rId43"/>
    <p:sldId id="282" r:id="rId44"/>
    <p:sldId id="283" r:id="rId45"/>
    <p:sldId id="284" r:id="rId46"/>
    <p:sldId id="326" r:id="rId47"/>
    <p:sldId id="327" r:id="rId48"/>
    <p:sldId id="328" r:id="rId49"/>
    <p:sldId id="285" r:id="rId50"/>
    <p:sldId id="286" r:id="rId51"/>
    <p:sldId id="287" r:id="rId52"/>
    <p:sldId id="288" r:id="rId53"/>
    <p:sldId id="289" r:id="rId54"/>
    <p:sldId id="329" r:id="rId55"/>
    <p:sldId id="301" r:id="rId56"/>
    <p:sldId id="302" r:id="rId57"/>
    <p:sldId id="303" r:id="rId58"/>
    <p:sldId id="304" r:id="rId59"/>
    <p:sldId id="305" r:id="rId60"/>
    <p:sldId id="306" r:id="rId61"/>
    <p:sldId id="307" r:id="rId62"/>
    <p:sldId id="290" r:id="rId63"/>
    <p:sldId id="291" r:id="rId64"/>
    <p:sldId id="292" r:id="rId65"/>
    <p:sldId id="293" r:id="rId66"/>
    <p:sldId id="294" r:id="rId67"/>
    <p:sldId id="295" r:id="rId68"/>
    <p:sldId id="296" r:id="rId69"/>
    <p:sldId id="297" r:id="rId70"/>
    <p:sldId id="298" r:id="rId71"/>
    <p:sldId id="299" r:id="rId72"/>
    <p:sldId id="300" r:id="rId73"/>
    <p:sldId id="309" r:id="rId74"/>
    <p:sldId id="330" r:id="rId75"/>
    <p:sldId id="338" r:id="rId76"/>
    <p:sldId id="339" r:id="rId77"/>
    <p:sldId id="340" r:id="rId78"/>
    <p:sldId id="341" r:id="rId79"/>
    <p:sldId id="372" r:id="rId80"/>
    <p:sldId id="342" r:id="rId81"/>
    <p:sldId id="343" r:id="rId82"/>
    <p:sldId id="331" r:id="rId83"/>
    <p:sldId id="332" r:id="rId84"/>
    <p:sldId id="333" r:id="rId85"/>
    <p:sldId id="334" r:id="rId86"/>
    <p:sldId id="335" r:id="rId87"/>
    <p:sldId id="336" r:id="rId88"/>
    <p:sldId id="337" r:id="rId89"/>
    <p:sldId id="308"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4660"/>
  </p:normalViewPr>
  <p:slideViewPr>
    <p:cSldViewPr snapToGrid="0">
      <p:cViewPr>
        <p:scale>
          <a:sx n="75" d="100"/>
          <a:sy n="75" d="100"/>
        </p:scale>
        <p:origin x="547" y="18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notesMaster" Target="notesMasters/notesMaster1.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C4871-3C12-4775-8EFC-86C67B0A3357}" type="datetimeFigureOut">
              <a:rPr lang="en-IN" smtClean="0"/>
              <a:t>22-03-2026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73808-CBEE-486B-8D08-214CE9875464}" type="slidenum">
              <a:rPr lang="en-IN" smtClean="0"/>
              <a:t>‹#›</a:t>
            </a:fld>
            <a:endParaRPr lang="en-IN"/>
          </a:p>
        </p:txBody>
      </p:sp>
    </p:spTree>
    <p:extLst>
      <p:ext uri="{BB962C8B-B14F-4D97-AF65-F5344CB8AC3E}">
        <p14:creationId xmlns:p14="http://schemas.microsoft.com/office/powerpoint/2010/main" val="27756322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exact error thrown is usually a </a:t>
            </a:r>
            <a:r>
              <a:rPr lang="en-US" sz="1200" b="0" i="0" kern="1200" dirty="0" err="1">
                <a:solidFill>
                  <a:schemeClr val="tx1"/>
                </a:solidFill>
                <a:effectLst/>
                <a:latin typeface="+mn-lt"/>
                <a:ea typeface="+mn-ea"/>
                <a:cs typeface="+mn-cs"/>
              </a:rPr>
              <a:t>MessageDeliveryException</a:t>
            </a:r>
            <a:r>
              <a:rPr lang="en-US" sz="1200" b="0" i="0" kern="1200" dirty="0">
                <a:solidFill>
                  <a:schemeClr val="tx1"/>
                </a:solidFill>
                <a:effectLst/>
                <a:latin typeface="+mn-lt"/>
                <a:ea typeface="+mn-ea"/>
                <a:cs typeface="+mn-cs"/>
              </a:rPr>
              <a:t> saying that the router "failed to resolve at least one output channel."</a:t>
            </a:r>
            <a:endParaRPr lang="en-IN" dirty="0"/>
          </a:p>
        </p:txBody>
      </p:sp>
      <p:sp>
        <p:nvSpPr>
          <p:cNvPr id="4" name="Slide Number Placeholder 3"/>
          <p:cNvSpPr>
            <a:spLocks noGrp="1"/>
          </p:cNvSpPr>
          <p:nvPr>
            <p:ph type="sldNum" sz="quarter" idx="5"/>
          </p:nvPr>
        </p:nvSpPr>
        <p:spPr/>
        <p:txBody>
          <a:bodyPr/>
          <a:lstStyle/>
          <a:p>
            <a:fld id="{5AA73808-CBEE-486B-8D08-214CE9875464}" type="slidenum">
              <a:rPr lang="en-IN" smtClean="0"/>
              <a:t>92</a:t>
            </a:fld>
            <a:endParaRPr lang="en-IN"/>
          </a:p>
        </p:txBody>
      </p:sp>
    </p:spTree>
    <p:extLst>
      <p:ext uri="{BB962C8B-B14F-4D97-AF65-F5344CB8AC3E}">
        <p14:creationId xmlns:p14="http://schemas.microsoft.com/office/powerpoint/2010/main" val="2715029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Since the send() method returns as soon as the message is handed to the thread pool, the sender has already moved on to the next line of code by the time the subscriber actually crashes. This is why we need the </a:t>
            </a:r>
            <a:r>
              <a:rPr lang="en-US" sz="1200" b="0" i="0" kern="1200" dirty="0" err="1">
                <a:solidFill>
                  <a:schemeClr val="tx1"/>
                </a:solidFill>
                <a:effectLst/>
                <a:latin typeface="+mn-lt"/>
                <a:ea typeface="+mn-ea"/>
                <a:cs typeface="+mn-cs"/>
              </a:rPr>
              <a:t>errorChannel</a:t>
            </a:r>
            <a:r>
              <a:rPr lang="en-US" sz="1200" b="0" i="0" kern="1200" dirty="0">
                <a:solidFill>
                  <a:schemeClr val="tx1"/>
                </a:solidFill>
                <a:effectLst/>
                <a:latin typeface="+mn-lt"/>
                <a:ea typeface="+mn-ea"/>
                <a:cs typeface="+mn-cs"/>
              </a:rPr>
              <a:t> or an </a:t>
            </a:r>
            <a:r>
              <a:rPr lang="en-US" sz="1200" b="0" i="0" kern="1200" dirty="0" err="1">
                <a:solidFill>
                  <a:schemeClr val="tx1"/>
                </a:solidFill>
                <a:effectLst/>
                <a:latin typeface="+mn-lt"/>
                <a:ea typeface="+mn-ea"/>
                <a:cs typeface="+mn-cs"/>
              </a:rPr>
              <a:t>ErrorHandler</a:t>
            </a:r>
            <a:r>
              <a:rPr lang="en-US" sz="1200" b="0" i="0" kern="1200" dirty="0">
                <a:solidFill>
                  <a:schemeClr val="tx1"/>
                </a:solidFill>
                <a:effectLst/>
                <a:latin typeface="+mn-lt"/>
                <a:ea typeface="+mn-ea"/>
                <a:cs typeface="+mn-cs"/>
              </a:rPr>
              <a:t> as a "safety net."</a:t>
            </a:r>
            <a:endParaRPr lang="en-IN" dirty="0"/>
          </a:p>
        </p:txBody>
      </p:sp>
      <p:sp>
        <p:nvSpPr>
          <p:cNvPr id="4" name="Slide Number Placeholder 3"/>
          <p:cNvSpPr>
            <a:spLocks noGrp="1"/>
          </p:cNvSpPr>
          <p:nvPr>
            <p:ph type="sldNum" sz="quarter" idx="5"/>
          </p:nvPr>
        </p:nvSpPr>
        <p:spPr/>
        <p:txBody>
          <a:bodyPr/>
          <a:lstStyle/>
          <a:p>
            <a:fld id="{5AA73808-CBEE-486B-8D08-214CE9875464}" type="slidenum">
              <a:rPr lang="en-IN" smtClean="0"/>
              <a:t>95</a:t>
            </a:fld>
            <a:endParaRPr lang="en-IN"/>
          </a:p>
        </p:txBody>
      </p:sp>
    </p:spTree>
    <p:extLst>
      <p:ext uri="{BB962C8B-B14F-4D97-AF65-F5344CB8AC3E}">
        <p14:creationId xmlns:p14="http://schemas.microsoft.com/office/powerpoint/2010/main" val="36795232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3/22/2026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3/22/2026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3/22/2026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3/22/2026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3/22/2026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3/22/2026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3/22/2026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E2811-2466-170E-4C49-CAB41190D761}"/>
              </a:ext>
            </a:extLst>
          </p:cNvPr>
          <p:cNvSpPr>
            <a:spLocks noGrp="1"/>
          </p:cNvSpPr>
          <p:nvPr>
            <p:ph type="ctrTitle"/>
          </p:nvPr>
        </p:nvSpPr>
        <p:spPr/>
        <p:txBody>
          <a:bodyPr/>
          <a:lstStyle/>
          <a:p>
            <a:r>
              <a:rPr lang="en-IN" dirty="0"/>
              <a:t>Message Routing Strategies</a:t>
            </a:r>
          </a:p>
        </p:txBody>
      </p:sp>
      <p:sp>
        <p:nvSpPr>
          <p:cNvPr id="3" name="Subtitle 2">
            <a:extLst>
              <a:ext uri="{FF2B5EF4-FFF2-40B4-BE49-F238E27FC236}">
                <a16:creationId xmlns:a16="http://schemas.microsoft.com/office/drawing/2014/main" id="{847CDDFA-4080-48A7-F643-E53F50CD3D42}"/>
              </a:ext>
            </a:extLst>
          </p:cNvPr>
          <p:cNvSpPr>
            <a:spLocks noGrp="1"/>
          </p:cNvSpPr>
          <p:nvPr>
            <p:ph type="subTitle" idx="1"/>
          </p:nvPr>
        </p:nvSpPr>
        <p:spPr/>
        <p:txBody>
          <a:bodyPr/>
          <a:lstStyle/>
          <a:p>
            <a:r>
              <a:rPr lang="en-IN" dirty="0"/>
              <a:t>Anju munoth</a:t>
            </a:r>
          </a:p>
        </p:txBody>
      </p:sp>
    </p:spTree>
    <p:extLst>
      <p:ext uri="{BB962C8B-B14F-4D97-AF65-F5344CB8AC3E}">
        <p14:creationId xmlns:p14="http://schemas.microsoft.com/office/powerpoint/2010/main" val="1535162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1C3CE-8553-21BF-D5CF-C36271A51E68}"/>
              </a:ext>
            </a:extLst>
          </p:cNvPr>
          <p:cNvSpPr>
            <a:spLocks noGrp="1"/>
          </p:cNvSpPr>
          <p:nvPr>
            <p:ph type="title"/>
          </p:nvPr>
        </p:nvSpPr>
        <p:spPr/>
        <p:txBody>
          <a:bodyPr/>
          <a:lstStyle/>
          <a:p>
            <a:r>
              <a:rPr lang="en-US" dirty="0"/>
              <a:t>"Trinity" of Spring Integration:</a:t>
            </a:r>
            <a:endParaRPr lang="en-IN" dirty="0"/>
          </a:p>
        </p:txBody>
      </p:sp>
      <p:sp>
        <p:nvSpPr>
          <p:cNvPr id="3" name="Content Placeholder 2">
            <a:extLst>
              <a:ext uri="{FF2B5EF4-FFF2-40B4-BE49-F238E27FC236}">
                <a16:creationId xmlns:a16="http://schemas.microsoft.com/office/drawing/2014/main" id="{6B22D367-1EC1-99BA-612E-ECAEB35A2694}"/>
              </a:ext>
            </a:extLst>
          </p:cNvPr>
          <p:cNvSpPr>
            <a:spLocks noGrp="1"/>
          </p:cNvSpPr>
          <p:nvPr>
            <p:ph idx="1"/>
          </p:nvPr>
        </p:nvSpPr>
        <p:spPr/>
        <p:txBody>
          <a:bodyPr/>
          <a:lstStyle/>
          <a:p>
            <a:r>
              <a:rPr lang="en-US" b="1" dirty="0"/>
              <a:t>Message</a:t>
            </a:r>
            <a:r>
              <a:rPr lang="en-US" dirty="0"/>
              <a:t>: The data (Payload + Headers).</a:t>
            </a:r>
          </a:p>
          <a:p>
            <a:r>
              <a:rPr lang="en-US" b="1" dirty="0"/>
              <a:t>Message Channel</a:t>
            </a:r>
            <a:r>
              <a:rPr lang="en-US" dirty="0"/>
              <a:t>: The pipe that carries the message.</a:t>
            </a:r>
          </a:p>
          <a:p>
            <a:r>
              <a:rPr lang="en-US" b="1" dirty="0"/>
              <a:t>Message Endpoint</a:t>
            </a:r>
            <a:r>
              <a:rPr lang="en-US" dirty="0"/>
              <a:t>: The logic (Filters, Transformers, Routers).</a:t>
            </a:r>
          </a:p>
          <a:p>
            <a:endParaRPr lang="en-IN" dirty="0"/>
          </a:p>
        </p:txBody>
      </p:sp>
    </p:spTree>
    <p:extLst>
      <p:ext uri="{BB962C8B-B14F-4D97-AF65-F5344CB8AC3E}">
        <p14:creationId xmlns:p14="http://schemas.microsoft.com/office/powerpoint/2010/main" val="1326856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161F8-F24C-7AFA-E667-3930E7245DE3}"/>
              </a:ext>
            </a:extLst>
          </p:cNvPr>
          <p:cNvSpPr>
            <a:spLocks noGrp="1"/>
          </p:cNvSpPr>
          <p:nvPr>
            <p:ph type="title"/>
          </p:nvPr>
        </p:nvSpPr>
        <p:spPr/>
        <p:txBody>
          <a:bodyPr/>
          <a:lstStyle/>
          <a:p>
            <a:r>
              <a:rPr lang="en-US" b="1" dirty="0"/>
              <a:t>Message</a:t>
            </a:r>
            <a:endParaRPr lang="en-IN" dirty="0"/>
          </a:p>
        </p:txBody>
      </p:sp>
      <p:sp>
        <p:nvSpPr>
          <p:cNvPr id="3" name="Content Placeholder 2">
            <a:extLst>
              <a:ext uri="{FF2B5EF4-FFF2-40B4-BE49-F238E27FC236}">
                <a16:creationId xmlns:a16="http://schemas.microsoft.com/office/drawing/2014/main" id="{7195DDF6-CE17-B47D-E851-AEBC1535F987}"/>
              </a:ext>
            </a:extLst>
          </p:cNvPr>
          <p:cNvSpPr>
            <a:spLocks noGrp="1"/>
          </p:cNvSpPr>
          <p:nvPr>
            <p:ph idx="1"/>
          </p:nvPr>
        </p:nvSpPr>
        <p:spPr>
          <a:xfrm>
            <a:off x="1154954" y="2603499"/>
            <a:ext cx="10205066" cy="3899937"/>
          </a:xfrm>
        </p:spPr>
        <p:txBody>
          <a:bodyPr>
            <a:normAutofit fontScale="92500" lnSpcReduction="20000"/>
          </a:bodyPr>
          <a:lstStyle/>
          <a:p>
            <a:r>
              <a:rPr lang="en-US" dirty="0"/>
              <a:t>Message need not always be a simple String. But a Message in Spring Integration is actually a "Container":</a:t>
            </a:r>
          </a:p>
          <a:p>
            <a:r>
              <a:rPr lang="en-US" b="1" dirty="0"/>
              <a:t>Payload:</a:t>
            </a:r>
            <a:r>
              <a:rPr lang="en-US" dirty="0"/>
              <a:t> The data (e.g.,  News object, a String, or a Byte[]).</a:t>
            </a:r>
          </a:p>
          <a:p>
            <a:r>
              <a:rPr lang="en-US" b="1" dirty="0"/>
              <a:t>Headers:</a:t>
            </a:r>
            <a:r>
              <a:rPr lang="en-US" dirty="0"/>
              <a:t> Metadata. Think of these as "Post-it notes" stuck to the data.</a:t>
            </a:r>
          </a:p>
          <a:p>
            <a:pPr lvl="1"/>
            <a:r>
              <a:rPr lang="en-US" dirty="0"/>
              <a:t>id: Unique ID for the message.</a:t>
            </a:r>
          </a:p>
          <a:p>
            <a:pPr lvl="1"/>
            <a:r>
              <a:rPr lang="en-US" dirty="0"/>
              <a:t>timestamp: When it was created.</a:t>
            </a:r>
          </a:p>
          <a:p>
            <a:pPr lvl="1"/>
            <a:r>
              <a:rPr lang="en-US" i="1" dirty="0"/>
              <a:t>Custom Headers</a:t>
            </a:r>
            <a:r>
              <a:rPr lang="en-US" dirty="0"/>
              <a:t>: can add your own like priority: "high".</a:t>
            </a:r>
          </a:p>
          <a:p>
            <a:pPr marL="0" indent="0">
              <a:buNone/>
            </a:pPr>
            <a:r>
              <a:rPr lang="en-US" b="1" dirty="0">
                <a:solidFill>
                  <a:srgbClr val="C00000"/>
                </a:solidFill>
              </a:rPr>
              <a:t>Message&lt;String&gt; message = </a:t>
            </a:r>
            <a:r>
              <a:rPr lang="en-US" b="1" dirty="0" err="1">
                <a:solidFill>
                  <a:srgbClr val="C00000"/>
                </a:solidFill>
              </a:rPr>
              <a:t>MessageBuilder.withPayload</a:t>
            </a:r>
            <a:r>
              <a:rPr lang="en-US" b="1" dirty="0">
                <a:solidFill>
                  <a:srgbClr val="C00000"/>
                </a:solidFill>
              </a:rPr>
              <a:t>("Breaking News!")</a:t>
            </a:r>
          </a:p>
          <a:p>
            <a:pPr marL="0" indent="0">
              <a:buNone/>
            </a:pPr>
            <a:r>
              <a:rPr lang="en-US" b="1" dirty="0">
                <a:solidFill>
                  <a:srgbClr val="C00000"/>
                </a:solidFill>
              </a:rPr>
              <a:t>    .</a:t>
            </a:r>
            <a:r>
              <a:rPr lang="en-US" b="1" dirty="0" err="1">
                <a:solidFill>
                  <a:srgbClr val="C00000"/>
                </a:solidFill>
              </a:rPr>
              <a:t>setHeader</a:t>
            </a:r>
            <a:r>
              <a:rPr lang="en-US" b="1" dirty="0">
                <a:solidFill>
                  <a:srgbClr val="C00000"/>
                </a:solidFill>
              </a:rPr>
              <a:t>("author", "John Doe")</a:t>
            </a:r>
          </a:p>
          <a:p>
            <a:pPr marL="0" indent="0">
              <a:buNone/>
            </a:pPr>
            <a:r>
              <a:rPr lang="en-US" b="1" dirty="0">
                <a:solidFill>
                  <a:srgbClr val="C00000"/>
                </a:solidFill>
              </a:rPr>
              <a:t>    .</a:t>
            </a:r>
            <a:r>
              <a:rPr lang="en-US" b="1" dirty="0" err="1">
                <a:solidFill>
                  <a:srgbClr val="C00000"/>
                </a:solidFill>
              </a:rPr>
              <a:t>setHeader</a:t>
            </a:r>
            <a:r>
              <a:rPr lang="en-US" b="1" dirty="0">
                <a:solidFill>
                  <a:srgbClr val="C00000"/>
                </a:solidFill>
              </a:rPr>
              <a:t>("category", "Tech")</a:t>
            </a:r>
          </a:p>
          <a:p>
            <a:pPr marL="0" indent="0">
              <a:buNone/>
            </a:pPr>
            <a:r>
              <a:rPr lang="en-US" b="1" dirty="0">
                <a:solidFill>
                  <a:srgbClr val="C00000"/>
                </a:solidFill>
              </a:rPr>
              <a:t>    .build();</a:t>
            </a:r>
          </a:p>
          <a:p>
            <a:pPr marL="0" indent="0">
              <a:buNone/>
            </a:pPr>
            <a:r>
              <a:rPr lang="en-US" b="1" dirty="0" err="1">
                <a:solidFill>
                  <a:srgbClr val="C00000"/>
                </a:solidFill>
              </a:rPr>
              <a:t>newsChannel.send</a:t>
            </a:r>
            <a:r>
              <a:rPr lang="en-US" b="1" dirty="0">
                <a:solidFill>
                  <a:srgbClr val="C00000"/>
                </a:solidFill>
              </a:rPr>
              <a:t>(message);</a:t>
            </a:r>
          </a:p>
          <a:p>
            <a:endParaRPr lang="en-IN" dirty="0"/>
          </a:p>
        </p:txBody>
      </p:sp>
    </p:spTree>
    <p:extLst>
      <p:ext uri="{BB962C8B-B14F-4D97-AF65-F5344CB8AC3E}">
        <p14:creationId xmlns:p14="http://schemas.microsoft.com/office/powerpoint/2010/main" val="2086993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E1C74-2824-DBEA-DAA0-961B178575A4}"/>
              </a:ext>
            </a:extLst>
          </p:cNvPr>
          <p:cNvSpPr>
            <a:spLocks noGrp="1"/>
          </p:cNvSpPr>
          <p:nvPr>
            <p:ph type="title"/>
          </p:nvPr>
        </p:nvSpPr>
        <p:spPr/>
        <p:txBody>
          <a:bodyPr/>
          <a:lstStyle/>
          <a:p>
            <a:r>
              <a:rPr lang="en-US" dirty="0" err="1"/>
              <a:t>DirectChannel</a:t>
            </a:r>
            <a:endParaRPr lang="en-IN" dirty="0"/>
          </a:p>
        </p:txBody>
      </p:sp>
      <p:sp>
        <p:nvSpPr>
          <p:cNvPr id="3" name="Content Placeholder 2">
            <a:extLst>
              <a:ext uri="{FF2B5EF4-FFF2-40B4-BE49-F238E27FC236}">
                <a16:creationId xmlns:a16="http://schemas.microsoft.com/office/drawing/2014/main" id="{D5260493-1564-B650-15E3-4DBB44CE7A19}"/>
              </a:ext>
            </a:extLst>
          </p:cNvPr>
          <p:cNvSpPr>
            <a:spLocks noGrp="1"/>
          </p:cNvSpPr>
          <p:nvPr>
            <p:ph idx="1"/>
          </p:nvPr>
        </p:nvSpPr>
        <p:spPr>
          <a:xfrm>
            <a:off x="1154954" y="2603499"/>
            <a:ext cx="10690258" cy="3871945"/>
          </a:xfrm>
        </p:spPr>
        <p:txBody>
          <a:bodyPr/>
          <a:lstStyle/>
          <a:p>
            <a:r>
              <a:rPr lang="en-US" dirty="0"/>
              <a:t>Only </a:t>
            </a:r>
            <a:r>
              <a:rPr lang="en-US" b="1" dirty="0"/>
              <a:t>one</a:t>
            </a:r>
            <a:r>
              <a:rPr lang="en-US" dirty="0"/>
              <a:t> consumer gets the message</a:t>
            </a:r>
          </a:p>
          <a:p>
            <a:r>
              <a:rPr lang="en-US" dirty="0"/>
              <a:t>If there are two listeners, they take turns (Round Robin). Only one gets the message.</a:t>
            </a:r>
          </a:p>
          <a:p>
            <a:r>
              <a:rPr lang="en-US" dirty="0" err="1"/>
              <a:t>DirectChannel</a:t>
            </a:r>
            <a:r>
              <a:rPr lang="en-US" dirty="0"/>
              <a:t> is the </a:t>
            </a:r>
            <a:r>
              <a:rPr lang="en-US" b="1" dirty="0"/>
              <a:t>default</a:t>
            </a:r>
            <a:r>
              <a:rPr lang="en-US" dirty="0"/>
              <a:t> channel type in Spring Integration.</a:t>
            </a:r>
          </a:p>
          <a:p>
            <a:r>
              <a:rPr lang="en-US" b="1" dirty="0"/>
              <a:t>Point-to-Point:</a:t>
            </a:r>
            <a:r>
              <a:rPr lang="en-US" dirty="0"/>
              <a:t> Message sent to a Direct Channel goes to </a:t>
            </a:r>
            <a:r>
              <a:rPr lang="en-US" b="1" dirty="0"/>
              <a:t>exactly one</a:t>
            </a:r>
            <a:r>
              <a:rPr lang="en-US" dirty="0"/>
              <a:t> subscriber.</a:t>
            </a:r>
          </a:p>
          <a:p>
            <a:r>
              <a:rPr lang="en-US" b="1" dirty="0"/>
              <a:t>Synchronous:</a:t>
            </a:r>
            <a:r>
              <a:rPr lang="en-US" dirty="0"/>
              <a:t> The sender thread pushes the message through the channel and into the subscriber's logic. The sender </a:t>
            </a:r>
            <a:r>
              <a:rPr lang="en-US" b="1" dirty="0"/>
              <a:t>waits</a:t>
            </a:r>
            <a:r>
              <a:rPr lang="en-US" dirty="0"/>
              <a:t> for the subscriber to finish.</a:t>
            </a:r>
          </a:p>
          <a:p>
            <a:r>
              <a:rPr lang="en-US" b="1" dirty="0"/>
              <a:t>Load Balancing:</a:t>
            </a:r>
            <a:r>
              <a:rPr lang="en-US" dirty="0"/>
              <a:t> If you have multiple subscribers listening to the same Direct Channel, it uses a "Round Robin" strategy (Subscriber A gets message 1, Subscriber B gets message 2).</a:t>
            </a:r>
          </a:p>
          <a:p>
            <a:endParaRPr lang="en-IN" dirty="0"/>
          </a:p>
        </p:txBody>
      </p:sp>
    </p:spTree>
    <p:extLst>
      <p:ext uri="{BB962C8B-B14F-4D97-AF65-F5344CB8AC3E}">
        <p14:creationId xmlns:p14="http://schemas.microsoft.com/office/powerpoint/2010/main" val="3814597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2A4FA-F984-3018-56E9-15DFB80DEA8B}"/>
              </a:ext>
            </a:extLst>
          </p:cNvPr>
          <p:cNvSpPr>
            <a:spLocks noGrp="1"/>
          </p:cNvSpPr>
          <p:nvPr>
            <p:ph type="title"/>
          </p:nvPr>
        </p:nvSpPr>
        <p:spPr/>
        <p:txBody>
          <a:bodyPr/>
          <a:lstStyle/>
          <a:p>
            <a:r>
              <a:rPr lang="en-US" b="1" dirty="0"/>
              <a:t>Error Handling in Direct Channel</a:t>
            </a:r>
            <a:endParaRPr lang="en-IN" dirty="0"/>
          </a:p>
        </p:txBody>
      </p:sp>
      <p:sp>
        <p:nvSpPr>
          <p:cNvPr id="3" name="Content Placeholder 2">
            <a:extLst>
              <a:ext uri="{FF2B5EF4-FFF2-40B4-BE49-F238E27FC236}">
                <a16:creationId xmlns:a16="http://schemas.microsoft.com/office/drawing/2014/main" id="{99A6E87A-5947-5E8A-A024-521229C3554D}"/>
              </a:ext>
            </a:extLst>
          </p:cNvPr>
          <p:cNvSpPr>
            <a:spLocks noGrp="1"/>
          </p:cNvSpPr>
          <p:nvPr>
            <p:ph idx="1"/>
          </p:nvPr>
        </p:nvSpPr>
        <p:spPr>
          <a:xfrm>
            <a:off x="1154954" y="2603500"/>
            <a:ext cx="10680928" cy="3946590"/>
          </a:xfrm>
        </p:spPr>
        <p:txBody>
          <a:bodyPr/>
          <a:lstStyle/>
          <a:p>
            <a:r>
              <a:rPr lang="en-US" dirty="0"/>
              <a:t>Because it is synchronous and runs on the </a:t>
            </a:r>
            <a:r>
              <a:rPr lang="en-US" b="1" dirty="0"/>
              <a:t>sender's thread</a:t>
            </a:r>
            <a:r>
              <a:rPr lang="en-US" dirty="0"/>
              <a:t>, the error handling is very direct</a:t>
            </a:r>
          </a:p>
          <a:p>
            <a:pPr marL="0" indent="0">
              <a:buNone/>
            </a:pPr>
            <a:r>
              <a:rPr lang="en-US" b="1" dirty="0"/>
              <a:t>1. The "Bubble Up" Effect</a:t>
            </a:r>
          </a:p>
          <a:p>
            <a:r>
              <a:rPr lang="en-US" dirty="0"/>
              <a:t>If the subscriber (the @ServiceActivator or .handle()) throws an exception, that exception is not caught by the channel. </a:t>
            </a:r>
          </a:p>
          <a:p>
            <a:r>
              <a:rPr lang="en-US" dirty="0"/>
              <a:t>It travels straight back up the call stack to the person who called </a:t>
            </a:r>
            <a:r>
              <a:rPr lang="en-US" dirty="0" err="1"/>
              <a:t>channel.send</a:t>
            </a:r>
            <a:r>
              <a:rPr lang="en-US" dirty="0"/>
              <a:t>(message).</a:t>
            </a:r>
          </a:p>
          <a:p>
            <a:endParaRPr lang="en-IN" dirty="0"/>
          </a:p>
        </p:txBody>
      </p:sp>
    </p:spTree>
    <p:extLst>
      <p:ext uri="{BB962C8B-B14F-4D97-AF65-F5344CB8AC3E}">
        <p14:creationId xmlns:p14="http://schemas.microsoft.com/office/powerpoint/2010/main" val="3110302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FABF50A-0588-721C-5EB8-79CBB7A1757F}"/>
              </a:ext>
            </a:extLst>
          </p:cNvPr>
          <p:cNvSpPr txBox="1"/>
          <p:nvPr/>
        </p:nvSpPr>
        <p:spPr>
          <a:xfrm>
            <a:off x="747615" y="266769"/>
            <a:ext cx="5765152" cy="5078313"/>
          </a:xfrm>
          <a:prstGeom prst="rect">
            <a:avLst/>
          </a:prstGeom>
          <a:noFill/>
          <a:ln>
            <a:solidFill>
              <a:schemeClr val="accent1"/>
            </a:solidFill>
          </a:ln>
        </p:spPr>
        <p:txBody>
          <a:bodyPr wrap="square">
            <a:spAutoFit/>
          </a:bodyPr>
          <a:lstStyle/>
          <a:p>
            <a:r>
              <a:rPr lang="en-IN" dirty="0"/>
              <a:t>@Service</a:t>
            </a:r>
          </a:p>
          <a:p>
            <a:r>
              <a:rPr lang="en-IN" dirty="0"/>
              <a:t>public class </a:t>
            </a:r>
            <a:r>
              <a:rPr lang="en-IN" dirty="0" err="1"/>
              <a:t>MySender</a:t>
            </a:r>
            <a:r>
              <a:rPr lang="en-IN" dirty="0"/>
              <a:t> {</a:t>
            </a:r>
          </a:p>
          <a:p>
            <a:r>
              <a:rPr lang="en-IN" dirty="0"/>
              <a:t>    @Autowired</a:t>
            </a:r>
          </a:p>
          <a:p>
            <a:r>
              <a:rPr lang="en-IN" dirty="0"/>
              <a:t>    private </a:t>
            </a:r>
            <a:r>
              <a:rPr lang="en-IN" dirty="0" err="1"/>
              <a:t>MessageChannel</a:t>
            </a:r>
            <a:r>
              <a:rPr lang="en-IN" dirty="0"/>
              <a:t> </a:t>
            </a:r>
            <a:r>
              <a:rPr lang="en-IN" dirty="0" err="1"/>
              <a:t>directInput</a:t>
            </a:r>
            <a:r>
              <a:rPr lang="en-IN" dirty="0"/>
              <a:t>;</a:t>
            </a:r>
          </a:p>
          <a:p>
            <a:endParaRPr lang="en-IN" dirty="0"/>
          </a:p>
          <a:p>
            <a:r>
              <a:rPr lang="en-IN" dirty="0"/>
              <a:t>    public void </a:t>
            </a:r>
            <a:r>
              <a:rPr lang="en-IN" dirty="0" err="1"/>
              <a:t>sendData</a:t>
            </a:r>
            <a:r>
              <a:rPr lang="en-IN" dirty="0"/>
              <a:t>(String data) {</a:t>
            </a:r>
          </a:p>
          <a:p>
            <a:r>
              <a:rPr lang="en-IN" dirty="0"/>
              <a:t>        </a:t>
            </a:r>
            <a:r>
              <a:rPr lang="en-IN" b="1" dirty="0"/>
              <a:t>try {</a:t>
            </a:r>
          </a:p>
          <a:p>
            <a:r>
              <a:rPr lang="en-IN" b="1" dirty="0"/>
              <a:t>            </a:t>
            </a:r>
            <a:r>
              <a:rPr lang="en-IN" b="1" dirty="0" err="1"/>
              <a:t>directInput.send</a:t>
            </a:r>
            <a:r>
              <a:rPr lang="en-IN" b="1" dirty="0"/>
              <a:t>(</a:t>
            </a:r>
            <a:r>
              <a:rPr lang="en-IN" b="1" dirty="0" err="1"/>
              <a:t>MessageBuilder.withPayload</a:t>
            </a:r>
            <a:r>
              <a:rPr lang="en-IN" b="1" dirty="0"/>
              <a:t>(data).build());</a:t>
            </a:r>
          </a:p>
          <a:p>
            <a:r>
              <a:rPr lang="en-IN" b="1" dirty="0"/>
              <a:t>        } catch (</a:t>
            </a:r>
            <a:r>
              <a:rPr lang="en-IN" b="1" dirty="0" err="1"/>
              <a:t>MessagingException</a:t>
            </a:r>
            <a:r>
              <a:rPr lang="en-IN" b="1" dirty="0"/>
              <a:t> e) {</a:t>
            </a:r>
          </a:p>
          <a:p>
            <a:r>
              <a:rPr lang="en-IN" b="1" dirty="0"/>
              <a:t>            // THE ERROR LANDS HERE</a:t>
            </a:r>
          </a:p>
          <a:p>
            <a:r>
              <a:rPr lang="en-IN" b="1" dirty="0"/>
              <a:t>        </a:t>
            </a:r>
            <a:r>
              <a:rPr lang="en-IN" dirty="0"/>
              <a:t>    </a:t>
            </a:r>
            <a:r>
              <a:rPr lang="en-IN" dirty="0" err="1"/>
              <a:t>System.out.println</a:t>
            </a:r>
            <a:r>
              <a:rPr lang="en-IN" dirty="0"/>
              <a:t>("The subscriber failed: " + </a:t>
            </a:r>
            <a:r>
              <a:rPr lang="en-IN" dirty="0" err="1"/>
              <a:t>e.getCause</a:t>
            </a:r>
            <a:r>
              <a:rPr lang="en-IN" dirty="0"/>
              <a:t>().</a:t>
            </a:r>
            <a:r>
              <a:rPr lang="en-IN" dirty="0" err="1"/>
              <a:t>getMessage</a:t>
            </a:r>
            <a:r>
              <a:rPr lang="en-IN" dirty="0"/>
              <a:t>());</a:t>
            </a:r>
          </a:p>
          <a:p>
            <a:r>
              <a:rPr lang="en-IN" dirty="0"/>
              <a:t>        }</a:t>
            </a:r>
          </a:p>
          <a:p>
            <a:r>
              <a:rPr lang="en-IN" dirty="0"/>
              <a:t>    }</a:t>
            </a:r>
          </a:p>
          <a:p>
            <a:r>
              <a:rPr lang="en-IN" dirty="0"/>
              <a:t>}</a:t>
            </a:r>
          </a:p>
          <a:p>
            <a:endParaRPr lang="en-IN" dirty="0"/>
          </a:p>
        </p:txBody>
      </p:sp>
      <p:sp>
        <p:nvSpPr>
          <p:cNvPr id="7" name="TextBox 6">
            <a:extLst>
              <a:ext uri="{FF2B5EF4-FFF2-40B4-BE49-F238E27FC236}">
                <a16:creationId xmlns:a16="http://schemas.microsoft.com/office/drawing/2014/main" id="{D68E9186-775A-3C14-994E-93DA1CA0A188}"/>
              </a:ext>
            </a:extLst>
          </p:cNvPr>
          <p:cNvSpPr txBox="1"/>
          <p:nvPr/>
        </p:nvSpPr>
        <p:spPr>
          <a:xfrm>
            <a:off x="6806682" y="1467468"/>
            <a:ext cx="5385318" cy="5632311"/>
          </a:xfrm>
          <a:prstGeom prst="rect">
            <a:avLst/>
          </a:prstGeom>
          <a:solidFill>
            <a:schemeClr val="accent2"/>
          </a:solidFill>
        </p:spPr>
        <p:txBody>
          <a:bodyPr wrap="square">
            <a:spAutoFit/>
          </a:bodyPr>
          <a:lstStyle/>
          <a:p>
            <a:r>
              <a:rPr lang="en-IN" dirty="0">
                <a:solidFill>
                  <a:schemeClr val="accent5">
                    <a:lumMod val="20000"/>
                    <a:lumOff val="80000"/>
                  </a:schemeClr>
                </a:solidFill>
              </a:rPr>
              <a:t>@Configuration</a:t>
            </a:r>
          </a:p>
          <a:p>
            <a:r>
              <a:rPr lang="en-IN" dirty="0">
                <a:solidFill>
                  <a:schemeClr val="accent5">
                    <a:lumMod val="20000"/>
                    <a:lumOff val="80000"/>
                  </a:schemeClr>
                </a:solidFill>
              </a:rPr>
              <a:t>public class </a:t>
            </a:r>
            <a:r>
              <a:rPr lang="en-IN" dirty="0" err="1">
                <a:solidFill>
                  <a:schemeClr val="accent5">
                    <a:lumMod val="20000"/>
                    <a:lumOff val="80000"/>
                  </a:schemeClr>
                </a:solidFill>
              </a:rPr>
              <a:t>DirectChannelConfig</a:t>
            </a:r>
            <a:r>
              <a:rPr lang="en-IN" dirty="0">
                <a:solidFill>
                  <a:schemeClr val="accent5">
                    <a:lumMod val="20000"/>
                    <a:lumOff val="80000"/>
                  </a:schemeClr>
                </a:solidFill>
              </a:rPr>
              <a:t> {</a:t>
            </a:r>
          </a:p>
          <a:p>
            <a:r>
              <a:rPr lang="en-IN" dirty="0">
                <a:solidFill>
                  <a:schemeClr val="accent5">
                    <a:lumMod val="20000"/>
                    <a:lumOff val="80000"/>
                  </a:schemeClr>
                </a:solidFill>
              </a:rPr>
              <a:t>    @Bean</a:t>
            </a:r>
          </a:p>
          <a:p>
            <a:r>
              <a:rPr lang="en-IN" dirty="0">
                <a:solidFill>
                  <a:schemeClr val="accent5">
                    <a:lumMod val="20000"/>
                    <a:lumOff val="80000"/>
                  </a:schemeClr>
                </a:solidFill>
              </a:rPr>
              <a:t>    public </a:t>
            </a:r>
            <a:r>
              <a:rPr lang="en-IN" dirty="0" err="1">
                <a:solidFill>
                  <a:schemeClr val="accent5">
                    <a:lumMod val="20000"/>
                    <a:lumOff val="80000"/>
                  </a:schemeClr>
                </a:solidFill>
              </a:rPr>
              <a:t>MessageChannel</a:t>
            </a:r>
            <a:r>
              <a:rPr lang="en-IN" dirty="0">
                <a:solidFill>
                  <a:schemeClr val="accent5">
                    <a:lumMod val="20000"/>
                    <a:lumOff val="80000"/>
                  </a:schemeClr>
                </a:solidFill>
              </a:rPr>
              <a:t> </a:t>
            </a:r>
            <a:r>
              <a:rPr lang="en-IN" dirty="0" err="1">
                <a:solidFill>
                  <a:schemeClr val="accent5">
                    <a:lumMod val="20000"/>
                    <a:lumOff val="80000"/>
                  </a:schemeClr>
                </a:solidFill>
              </a:rPr>
              <a:t>directInput</a:t>
            </a:r>
            <a:r>
              <a:rPr lang="en-IN" dirty="0">
                <a:solidFill>
                  <a:schemeClr val="accent5">
                    <a:lumMod val="20000"/>
                    <a:lumOff val="80000"/>
                  </a:schemeClr>
                </a:solidFill>
              </a:rPr>
              <a:t>() {</a:t>
            </a:r>
          </a:p>
          <a:p>
            <a:r>
              <a:rPr lang="en-IN" dirty="0">
                <a:solidFill>
                  <a:schemeClr val="accent5">
                    <a:lumMod val="20000"/>
                    <a:lumOff val="80000"/>
                  </a:schemeClr>
                </a:solidFill>
              </a:rPr>
              <a:t>        return new </a:t>
            </a:r>
            <a:r>
              <a:rPr lang="en-IN" dirty="0" err="1">
                <a:solidFill>
                  <a:schemeClr val="accent5">
                    <a:lumMod val="20000"/>
                    <a:lumOff val="80000"/>
                  </a:schemeClr>
                </a:solidFill>
              </a:rPr>
              <a:t>DirectChannel</a:t>
            </a:r>
            <a:r>
              <a:rPr lang="en-IN" dirty="0">
                <a:solidFill>
                  <a:schemeClr val="accent5">
                    <a:lumMod val="20000"/>
                    <a:lumOff val="80000"/>
                  </a:schemeClr>
                </a:solidFill>
              </a:rPr>
              <a:t>(); // Point-to-Point</a:t>
            </a:r>
          </a:p>
          <a:p>
            <a:r>
              <a:rPr lang="en-IN" dirty="0">
                <a:solidFill>
                  <a:schemeClr val="accent5">
                    <a:lumMod val="20000"/>
                    <a:lumOff val="80000"/>
                  </a:schemeClr>
                </a:solidFill>
              </a:rPr>
              <a:t>    }</a:t>
            </a:r>
          </a:p>
          <a:p>
            <a:endParaRPr lang="en-IN" dirty="0">
              <a:solidFill>
                <a:schemeClr val="accent5">
                  <a:lumMod val="20000"/>
                  <a:lumOff val="80000"/>
                </a:schemeClr>
              </a:solidFill>
            </a:endParaRPr>
          </a:p>
          <a:p>
            <a:r>
              <a:rPr lang="en-IN" dirty="0">
                <a:solidFill>
                  <a:schemeClr val="accent5">
                    <a:lumMod val="20000"/>
                    <a:lumOff val="80000"/>
                  </a:schemeClr>
                </a:solidFill>
              </a:rPr>
              <a:t>    @Bean</a:t>
            </a:r>
          </a:p>
          <a:p>
            <a:r>
              <a:rPr lang="en-IN" dirty="0">
                <a:solidFill>
                  <a:schemeClr val="accent5">
                    <a:lumMod val="20000"/>
                    <a:lumOff val="80000"/>
                  </a:schemeClr>
                </a:solidFill>
              </a:rPr>
              <a:t>    public </a:t>
            </a:r>
            <a:r>
              <a:rPr lang="en-IN" dirty="0" err="1">
                <a:solidFill>
                  <a:schemeClr val="accent5">
                    <a:lumMod val="20000"/>
                    <a:lumOff val="80000"/>
                  </a:schemeClr>
                </a:solidFill>
              </a:rPr>
              <a:t>IntegrationFlow</a:t>
            </a:r>
            <a:r>
              <a:rPr lang="en-IN" dirty="0">
                <a:solidFill>
                  <a:schemeClr val="accent5">
                    <a:lumMod val="20000"/>
                    <a:lumOff val="80000"/>
                  </a:schemeClr>
                </a:solidFill>
              </a:rPr>
              <a:t> </a:t>
            </a:r>
            <a:r>
              <a:rPr lang="en-IN" dirty="0" err="1">
                <a:solidFill>
                  <a:schemeClr val="accent5">
                    <a:lumMod val="20000"/>
                    <a:lumOff val="80000"/>
                  </a:schemeClr>
                </a:solidFill>
              </a:rPr>
              <a:t>subscriberFlow</a:t>
            </a:r>
            <a:r>
              <a:rPr lang="en-IN" dirty="0">
                <a:solidFill>
                  <a:schemeClr val="accent5">
                    <a:lumMod val="20000"/>
                    <a:lumOff val="80000"/>
                  </a:schemeClr>
                </a:solidFill>
              </a:rPr>
              <a:t>() {</a:t>
            </a:r>
          </a:p>
          <a:p>
            <a:r>
              <a:rPr lang="en-IN" dirty="0">
                <a:solidFill>
                  <a:schemeClr val="accent5">
                    <a:lumMod val="20000"/>
                    <a:lumOff val="80000"/>
                  </a:schemeClr>
                </a:solidFill>
              </a:rPr>
              <a:t>        return </a:t>
            </a:r>
            <a:r>
              <a:rPr lang="en-IN" dirty="0" err="1">
                <a:solidFill>
                  <a:schemeClr val="accent5">
                    <a:lumMod val="20000"/>
                    <a:lumOff val="80000"/>
                  </a:schemeClr>
                </a:solidFill>
              </a:rPr>
              <a:t>IntegrationFlow.from</a:t>
            </a:r>
            <a:r>
              <a:rPr lang="en-IN" dirty="0">
                <a:solidFill>
                  <a:schemeClr val="accent5">
                    <a:lumMod val="20000"/>
                    <a:lumOff val="80000"/>
                  </a:schemeClr>
                </a:solidFill>
              </a:rPr>
              <a:t>("</a:t>
            </a:r>
            <a:r>
              <a:rPr lang="en-IN" dirty="0" err="1">
                <a:solidFill>
                  <a:schemeClr val="accent5">
                    <a:lumMod val="20000"/>
                    <a:lumOff val="80000"/>
                  </a:schemeClr>
                </a:solidFill>
              </a:rPr>
              <a:t>directInput</a:t>
            </a:r>
            <a:r>
              <a:rPr lang="en-IN" dirty="0">
                <a:solidFill>
                  <a:schemeClr val="accent5">
                    <a:lumMod val="20000"/>
                    <a:lumOff val="80000"/>
                  </a:schemeClr>
                </a:solidFill>
              </a:rPr>
              <a:t>")</a:t>
            </a:r>
          </a:p>
          <a:p>
            <a:r>
              <a:rPr lang="en-IN" dirty="0">
                <a:solidFill>
                  <a:schemeClr val="accent5">
                    <a:lumMod val="20000"/>
                    <a:lumOff val="80000"/>
                  </a:schemeClr>
                </a:solidFill>
              </a:rPr>
              <a:t>                .handle(m -&gt; {</a:t>
            </a:r>
          </a:p>
          <a:p>
            <a:r>
              <a:rPr lang="en-IN" dirty="0">
                <a:solidFill>
                  <a:schemeClr val="accent5">
                    <a:lumMod val="20000"/>
                    <a:lumOff val="80000"/>
                  </a:schemeClr>
                </a:solidFill>
              </a:rPr>
              <a:t>                    </a:t>
            </a:r>
            <a:r>
              <a:rPr lang="en-IN" dirty="0" err="1">
                <a:solidFill>
                  <a:schemeClr val="accent5">
                    <a:lumMod val="20000"/>
                    <a:lumOff val="80000"/>
                  </a:schemeClr>
                </a:solidFill>
              </a:rPr>
              <a:t>System.out.println</a:t>
            </a:r>
            <a:r>
              <a:rPr lang="en-IN" dirty="0">
                <a:solidFill>
                  <a:schemeClr val="accent5">
                    <a:lumMod val="20000"/>
                    <a:lumOff val="80000"/>
                  </a:schemeClr>
                </a:solidFill>
              </a:rPr>
              <a:t>("Subscriber processing...");</a:t>
            </a:r>
          </a:p>
          <a:p>
            <a:r>
              <a:rPr lang="en-IN" dirty="0">
                <a:solidFill>
                  <a:schemeClr val="accent5">
                    <a:lumMod val="20000"/>
                    <a:lumOff val="80000"/>
                  </a:schemeClr>
                </a:solidFill>
              </a:rPr>
              <a:t>                    throw new </a:t>
            </a:r>
            <a:r>
              <a:rPr lang="en-IN" dirty="0" err="1">
                <a:solidFill>
                  <a:schemeClr val="accent5">
                    <a:lumMod val="20000"/>
                    <a:lumOff val="80000"/>
                  </a:schemeClr>
                </a:solidFill>
              </a:rPr>
              <a:t>RuntimeException</a:t>
            </a:r>
            <a:r>
              <a:rPr lang="en-IN" dirty="0">
                <a:solidFill>
                  <a:schemeClr val="accent5">
                    <a:lumMod val="20000"/>
                    <a:lumOff val="80000"/>
                  </a:schemeClr>
                </a:solidFill>
              </a:rPr>
              <a:t>("Database Down!");</a:t>
            </a:r>
          </a:p>
          <a:p>
            <a:r>
              <a:rPr lang="en-IN" dirty="0">
                <a:solidFill>
                  <a:schemeClr val="accent5">
                    <a:lumMod val="20000"/>
                    <a:lumOff val="80000"/>
                  </a:schemeClr>
                </a:solidFill>
              </a:rPr>
              <a:t>                })</a:t>
            </a:r>
          </a:p>
          <a:p>
            <a:r>
              <a:rPr lang="en-IN" dirty="0">
                <a:solidFill>
                  <a:schemeClr val="accent5">
                    <a:lumMod val="20000"/>
                    <a:lumOff val="80000"/>
                  </a:schemeClr>
                </a:solidFill>
              </a:rPr>
              <a:t>                .get();</a:t>
            </a:r>
          </a:p>
          <a:p>
            <a:r>
              <a:rPr lang="en-IN" dirty="0">
                <a:solidFill>
                  <a:schemeClr val="accent5">
                    <a:lumMod val="20000"/>
                    <a:lumOff val="80000"/>
                  </a:schemeClr>
                </a:solidFill>
              </a:rPr>
              <a:t>    }</a:t>
            </a:r>
          </a:p>
          <a:p>
            <a:r>
              <a:rPr lang="en-IN" dirty="0">
                <a:solidFill>
                  <a:schemeClr val="accent5">
                    <a:lumMod val="20000"/>
                    <a:lumOff val="80000"/>
                  </a:schemeClr>
                </a:solidFill>
              </a:rPr>
              <a:t>}</a:t>
            </a:r>
          </a:p>
        </p:txBody>
      </p:sp>
    </p:spTree>
    <p:extLst>
      <p:ext uri="{BB962C8B-B14F-4D97-AF65-F5344CB8AC3E}">
        <p14:creationId xmlns:p14="http://schemas.microsoft.com/office/powerpoint/2010/main" val="1670174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ED84D-718F-232C-3306-CD1D8751B8C8}"/>
              </a:ext>
            </a:extLst>
          </p:cNvPr>
          <p:cNvSpPr>
            <a:spLocks noGrp="1"/>
          </p:cNvSpPr>
          <p:nvPr>
            <p:ph type="title"/>
          </p:nvPr>
        </p:nvSpPr>
        <p:spPr/>
        <p:txBody>
          <a:bodyPr/>
          <a:lstStyle/>
          <a:p>
            <a:r>
              <a:rPr lang="en-US" b="1" dirty="0"/>
              <a:t>"Load Balancer" Nuance</a:t>
            </a:r>
            <a:endParaRPr lang="en-IN" dirty="0"/>
          </a:p>
        </p:txBody>
      </p:sp>
      <p:sp>
        <p:nvSpPr>
          <p:cNvPr id="3" name="Content Placeholder 2">
            <a:extLst>
              <a:ext uri="{FF2B5EF4-FFF2-40B4-BE49-F238E27FC236}">
                <a16:creationId xmlns:a16="http://schemas.microsoft.com/office/drawing/2014/main" id="{DD736F35-44C0-110D-CD40-075721E11BB9}"/>
              </a:ext>
            </a:extLst>
          </p:cNvPr>
          <p:cNvSpPr>
            <a:spLocks noGrp="1"/>
          </p:cNvSpPr>
          <p:nvPr>
            <p:ph idx="1"/>
          </p:nvPr>
        </p:nvSpPr>
        <p:spPr>
          <a:xfrm>
            <a:off x="1154954" y="2603499"/>
            <a:ext cx="10582956" cy="3843953"/>
          </a:xfrm>
        </p:spPr>
        <p:txBody>
          <a:bodyPr>
            <a:normAutofit/>
          </a:bodyPr>
          <a:lstStyle/>
          <a:p>
            <a:r>
              <a:rPr lang="en-US" dirty="0"/>
              <a:t>If you have </a:t>
            </a:r>
            <a:r>
              <a:rPr lang="en-US" b="1" dirty="0"/>
              <a:t>two</a:t>
            </a:r>
            <a:r>
              <a:rPr lang="en-US" dirty="0"/>
              <a:t> subscribers on a Direct Channel and Subscriber A fails, does the message automatically go to Subscriber B?</a:t>
            </a:r>
          </a:p>
          <a:p>
            <a:r>
              <a:rPr lang="en-US" b="1" dirty="0"/>
              <a:t>Answer: No.</a:t>
            </a:r>
            <a:r>
              <a:rPr lang="en-US" dirty="0"/>
              <a:t> By default, if Subscriber A fails, the exception is thrown back to the sender. The message is </a:t>
            </a:r>
            <a:r>
              <a:rPr lang="en-US" b="1" dirty="0"/>
              <a:t>lost</a:t>
            </a:r>
            <a:r>
              <a:rPr lang="en-US" dirty="0"/>
              <a:t> (unless you have a retry mechanism or a transaction).</a:t>
            </a:r>
          </a:p>
          <a:p>
            <a:r>
              <a:rPr lang="en-US" b="1" dirty="0"/>
              <a:t>The Failover feature:</a:t>
            </a:r>
            <a:br>
              <a:rPr lang="en-US" dirty="0"/>
            </a:br>
            <a:r>
              <a:rPr lang="en-US" dirty="0"/>
              <a:t>You can configure a Direct Channel to "failover." If Subscriber A fails, it will immediately try Subscriber B before throwing an exception back to the sender.</a:t>
            </a:r>
          </a:p>
          <a:p>
            <a:endParaRPr lang="en-IN" dirty="0"/>
          </a:p>
        </p:txBody>
      </p:sp>
      <p:sp>
        <p:nvSpPr>
          <p:cNvPr id="5" name="TextBox 4">
            <a:extLst>
              <a:ext uri="{FF2B5EF4-FFF2-40B4-BE49-F238E27FC236}">
                <a16:creationId xmlns:a16="http://schemas.microsoft.com/office/drawing/2014/main" id="{C931EBF1-51D4-76F9-BA8C-15D153EA62D5}"/>
              </a:ext>
            </a:extLst>
          </p:cNvPr>
          <p:cNvSpPr txBox="1"/>
          <p:nvPr/>
        </p:nvSpPr>
        <p:spPr>
          <a:xfrm>
            <a:off x="1237473" y="5007169"/>
            <a:ext cx="10131878" cy="1754326"/>
          </a:xfrm>
          <a:prstGeom prst="rect">
            <a:avLst/>
          </a:prstGeom>
          <a:solidFill>
            <a:schemeClr val="accent2"/>
          </a:solidFill>
        </p:spPr>
        <p:txBody>
          <a:bodyPr wrap="square">
            <a:spAutoFit/>
          </a:bodyPr>
          <a:lstStyle/>
          <a:p>
            <a:r>
              <a:rPr lang="en-IN" dirty="0">
                <a:solidFill>
                  <a:schemeClr val="accent5">
                    <a:lumMod val="20000"/>
                    <a:lumOff val="80000"/>
                  </a:schemeClr>
                </a:solidFill>
              </a:rPr>
              <a:t>@Bean</a:t>
            </a:r>
          </a:p>
          <a:p>
            <a:r>
              <a:rPr lang="en-IN" dirty="0">
                <a:solidFill>
                  <a:schemeClr val="accent5">
                    <a:lumMod val="20000"/>
                    <a:lumOff val="80000"/>
                  </a:schemeClr>
                </a:solidFill>
              </a:rPr>
              <a:t>public </a:t>
            </a:r>
            <a:r>
              <a:rPr lang="en-IN" dirty="0" err="1">
                <a:solidFill>
                  <a:schemeClr val="accent5">
                    <a:lumMod val="20000"/>
                    <a:lumOff val="80000"/>
                  </a:schemeClr>
                </a:solidFill>
              </a:rPr>
              <a:t>MessageChannel</a:t>
            </a:r>
            <a:r>
              <a:rPr lang="en-IN" dirty="0">
                <a:solidFill>
                  <a:schemeClr val="accent5">
                    <a:lumMod val="20000"/>
                    <a:lumOff val="80000"/>
                  </a:schemeClr>
                </a:solidFill>
              </a:rPr>
              <a:t> </a:t>
            </a:r>
            <a:r>
              <a:rPr lang="en-IN" dirty="0" err="1">
                <a:solidFill>
                  <a:schemeClr val="accent5">
                    <a:lumMod val="20000"/>
                    <a:lumOff val="80000"/>
                  </a:schemeClr>
                </a:solidFill>
              </a:rPr>
              <a:t>directInput</a:t>
            </a:r>
            <a:r>
              <a:rPr lang="en-IN" dirty="0">
                <a:solidFill>
                  <a:schemeClr val="accent5">
                    <a:lumMod val="20000"/>
                    <a:lumOff val="80000"/>
                  </a:schemeClr>
                </a:solidFill>
              </a:rPr>
              <a:t>() {</a:t>
            </a:r>
          </a:p>
          <a:p>
            <a:r>
              <a:rPr lang="en-IN" dirty="0">
                <a:solidFill>
                  <a:schemeClr val="accent5">
                    <a:lumMod val="20000"/>
                    <a:lumOff val="80000"/>
                  </a:schemeClr>
                </a:solidFill>
              </a:rPr>
              <a:t>    // true = enable failover (default is true)</a:t>
            </a:r>
          </a:p>
          <a:p>
            <a:r>
              <a:rPr lang="en-IN" dirty="0">
                <a:solidFill>
                  <a:schemeClr val="accent5">
                    <a:lumMod val="20000"/>
                    <a:lumOff val="80000"/>
                  </a:schemeClr>
                </a:solidFill>
              </a:rPr>
              <a:t>    // true = load balance (default is true)</a:t>
            </a:r>
          </a:p>
          <a:p>
            <a:r>
              <a:rPr lang="en-IN" dirty="0">
                <a:solidFill>
                  <a:schemeClr val="accent5">
                    <a:lumMod val="20000"/>
                    <a:lumOff val="80000"/>
                  </a:schemeClr>
                </a:solidFill>
              </a:rPr>
              <a:t>    return new </a:t>
            </a:r>
            <a:r>
              <a:rPr lang="en-IN" dirty="0" err="1">
                <a:solidFill>
                  <a:schemeClr val="accent5">
                    <a:lumMod val="20000"/>
                    <a:lumOff val="80000"/>
                  </a:schemeClr>
                </a:solidFill>
              </a:rPr>
              <a:t>DirectChannel</a:t>
            </a:r>
            <a:r>
              <a:rPr lang="en-IN" dirty="0">
                <a:solidFill>
                  <a:schemeClr val="accent5">
                    <a:lumMod val="20000"/>
                    <a:lumOff val="80000"/>
                  </a:schemeClr>
                </a:solidFill>
              </a:rPr>
              <a:t>(new </a:t>
            </a:r>
            <a:r>
              <a:rPr lang="en-IN" dirty="0" err="1">
                <a:solidFill>
                  <a:schemeClr val="accent5">
                    <a:lumMod val="20000"/>
                    <a:lumOff val="80000"/>
                  </a:schemeClr>
                </a:solidFill>
              </a:rPr>
              <a:t>RoundRobinLoadBalancingStrategy</a:t>
            </a:r>
            <a:r>
              <a:rPr lang="en-IN" dirty="0">
                <a:solidFill>
                  <a:schemeClr val="accent5">
                    <a:lumMod val="20000"/>
                    <a:lumOff val="80000"/>
                  </a:schemeClr>
                </a:solidFill>
              </a:rPr>
              <a:t>(), true);</a:t>
            </a:r>
          </a:p>
          <a:p>
            <a:r>
              <a:rPr lang="en-IN" dirty="0">
                <a:solidFill>
                  <a:schemeClr val="accent5">
                    <a:lumMod val="20000"/>
                    <a:lumOff val="80000"/>
                  </a:schemeClr>
                </a:solidFill>
              </a:rPr>
              <a:t>}</a:t>
            </a:r>
          </a:p>
        </p:txBody>
      </p:sp>
    </p:spTree>
    <p:extLst>
      <p:ext uri="{BB962C8B-B14F-4D97-AF65-F5344CB8AC3E}">
        <p14:creationId xmlns:p14="http://schemas.microsoft.com/office/powerpoint/2010/main" val="2607453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D09BB-C3A3-4019-CE6F-3F0BA73B4236}"/>
              </a:ext>
            </a:extLst>
          </p:cNvPr>
          <p:cNvSpPr>
            <a:spLocks noGrp="1"/>
          </p:cNvSpPr>
          <p:nvPr>
            <p:ph type="title"/>
          </p:nvPr>
        </p:nvSpPr>
        <p:spPr>
          <a:xfrm>
            <a:off x="1154954" y="973668"/>
            <a:ext cx="10596952" cy="706964"/>
          </a:xfrm>
        </p:spPr>
        <p:txBody>
          <a:bodyPr/>
          <a:lstStyle/>
          <a:p>
            <a:r>
              <a:rPr lang="en-US" b="1" dirty="0"/>
              <a:t>Error Handling with "Advice" (The Proper Way)</a:t>
            </a:r>
            <a:endParaRPr lang="en-IN" dirty="0"/>
          </a:p>
        </p:txBody>
      </p:sp>
      <p:sp>
        <p:nvSpPr>
          <p:cNvPr id="3" name="Content Placeholder 2">
            <a:extLst>
              <a:ext uri="{FF2B5EF4-FFF2-40B4-BE49-F238E27FC236}">
                <a16:creationId xmlns:a16="http://schemas.microsoft.com/office/drawing/2014/main" id="{CCBD1E3D-D928-6794-FD1E-F9A6F844F7AD}"/>
              </a:ext>
            </a:extLst>
          </p:cNvPr>
          <p:cNvSpPr>
            <a:spLocks noGrp="1"/>
          </p:cNvSpPr>
          <p:nvPr>
            <p:ph idx="1"/>
          </p:nvPr>
        </p:nvSpPr>
        <p:spPr>
          <a:xfrm>
            <a:off x="688424" y="2323581"/>
            <a:ext cx="10335695" cy="3717990"/>
          </a:xfrm>
        </p:spPr>
        <p:txBody>
          <a:bodyPr/>
          <a:lstStyle/>
          <a:p>
            <a:r>
              <a:rPr lang="en-US" dirty="0"/>
              <a:t>Instead of putting a messy try-catch block in your Java code, you can use a </a:t>
            </a:r>
            <a:r>
              <a:rPr lang="en-US" b="1" dirty="0" err="1"/>
              <a:t>RequestHandlerRetryAdvice</a:t>
            </a:r>
            <a:r>
              <a:rPr lang="en-US" dirty="0"/>
              <a:t>. </a:t>
            </a:r>
          </a:p>
          <a:p>
            <a:r>
              <a:rPr lang="en-US" dirty="0"/>
              <a:t>This intercepts the error at the subscriber level and tries to fix it (or retry) before the sender even knows anything went wrong.</a:t>
            </a:r>
          </a:p>
          <a:p>
            <a:endParaRPr lang="en-IN" dirty="0"/>
          </a:p>
        </p:txBody>
      </p:sp>
    </p:spTree>
    <p:extLst>
      <p:ext uri="{BB962C8B-B14F-4D97-AF65-F5344CB8AC3E}">
        <p14:creationId xmlns:p14="http://schemas.microsoft.com/office/powerpoint/2010/main" val="1827385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05352-F1C0-4D41-9334-65B8879BB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24095-E6D6-3CD4-B5B6-05C9DFEA20F7}"/>
              </a:ext>
            </a:extLst>
          </p:cNvPr>
          <p:cNvSpPr>
            <a:spLocks noGrp="1"/>
          </p:cNvSpPr>
          <p:nvPr>
            <p:ph type="title"/>
          </p:nvPr>
        </p:nvSpPr>
        <p:spPr>
          <a:xfrm>
            <a:off x="1154954" y="973668"/>
            <a:ext cx="10596952" cy="706964"/>
          </a:xfrm>
        </p:spPr>
        <p:txBody>
          <a:bodyPr/>
          <a:lstStyle/>
          <a:p>
            <a:r>
              <a:rPr lang="en-US" b="1" dirty="0"/>
              <a:t>Error Handling with "Advice" (The Proper Way)</a:t>
            </a:r>
            <a:endParaRPr lang="en-IN" dirty="0"/>
          </a:p>
        </p:txBody>
      </p:sp>
      <p:sp>
        <p:nvSpPr>
          <p:cNvPr id="7" name="TextBox 6">
            <a:extLst>
              <a:ext uri="{FF2B5EF4-FFF2-40B4-BE49-F238E27FC236}">
                <a16:creationId xmlns:a16="http://schemas.microsoft.com/office/drawing/2014/main" id="{7E3029BA-6E88-BC53-7724-F8BCE114BD25}"/>
              </a:ext>
            </a:extLst>
          </p:cNvPr>
          <p:cNvSpPr txBox="1"/>
          <p:nvPr/>
        </p:nvSpPr>
        <p:spPr>
          <a:xfrm>
            <a:off x="952888" y="2424070"/>
            <a:ext cx="8704295" cy="4247317"/>
          </a:xfrm>
          <a:prstGeom prst="rect">
            <a:avLst/>
          </a:prstGeom>
          <a:noFill/>
        </p:spPr>
        <p:txBody>
          <a:bodyPr wrap="square">
            <a:spAutoFit/>
          </a:bodyPr>
          <a:lstStyle/>
          <a:p>
            <a:r>
              <a:rPr lang="en-IN" dirty="0"/>
              <a:t>@Bean</a:t>
            </a:r>
          </a:p>
          <a:p>
            <a:r>
              <a:rPr lang="en-IN" dirty="0"/>
              <a:t>public </a:t>
            </a:r>
            <a:r>
              <a:rPr lang="en-IN" dirty="0" err="1"/>
              <a:t>IntegrationFlow</a:t>
            </a:r>
            <a:r>
              <a:rPr lang="en-IN" dirty="0"/>
              <a:t> </a:t>
            </a:r>
            <a:r>
              <a:rPr lang="en-IN" dirty="0" err="1"/>
              <a:t>subscriberFlow</a:t>
            </a:r>
            <a:r>
              <a:rPr lang="en-IN" dirty="0"/>
              <a:t>() {</a:t>
            </a:r>
          </a:p>
          <a:p>
            <a:r>
              <a:rPr lang="en-IN" dirty="0"/>
              <a:t>    return </a:t>
            </a:r>
            <a:r>
              <a:rPr lang="en-IN" dirty="0" err="1"/>
              <a:t>IntegrationFlow.from</a:t>
            </a:r>
            <a:r>
              <a:rPr lang="en-IN" dirty="0"/>
              <a:t>("</a:t>
            </a:r>
            <a:r>
              <a:rPr lang="en-IN" dirty="0" err="1"/>
              <a:t>directInput</a:t>
            </a:r>
            <a:r>
              <a:rPr lang="en-IN" dirty="0"/>
              <a:t>")</a:t>
            </a:r>
          </a:p>
          <a:p>
            <a:r>
              <a:rPr lang="en-IN" dirty="0"/>
              <a:t>            .handle(m -&gt; {</a:t>
            </a:r>
          </a:p>
          <a:p>
            <a:r>
              <a:rPr lang="en-IN" dirty="0"/>
              <a:t>                // Some risky logic</a:t>
            </a:r>
          </a:p>
          <a:p>
            <a:r>
              <a:rPr lang="en-IN" dirty="0"/>
              <a:t>            }, e -&gt; </a:t>
            </a:r>
            <a:r>
              <a:rPr lang="en-IN" dirty="0" err="1"/>
              <a:t>e.advice</a:t>
            </a:r>
            <a:r>
              <a:rPr lang="en-IN" dirty="0"/>
              <a:t>(</a:t>
            </a:r>
            <a:r>
              <a:rPr lang="en-IN" dirty="0" err="1"/>
              <a:t>retryAdvice</a:t>
            </a:r>
            <a:r>
              <a:rPr lang="en-IN" dirty="0"/>
              <a:t>())) // Apply the "safety net" here</a:t>
            </a:r>
          </a:p>
          <a:p>
            <a:r>
              <a:rPr lang="en-IN" dirty="0"/>
              <a:t>            .get();</a:t>
            </a:r>
          </a:p>
          <a:p>
            <a:r>
              <a:rPr lang="en-IN" dirty="0"/>
              <a:t>}</a:t>
            </a:r>
          </a:p>
          <a:p>
            <a:endParaRPr lang="en-IN" dirty="0"/>
          </a:p>
          <a:p>
            <a:r>
              <a:rPr lang="en-IN" dirty="0"/>
              <a:t>@Bean</a:t>
            </a:r>
          </a:p>
          <a:p>
            <a:r>
              <a:rPr lang="en-IN" dirty="0"/>
              <a:t>public </a:t>
            </a:r>
            <a:r>
              <a:rPr lang="en-IN" dirty="0" err="1"/>
              <a:t>RequestHandlerRetryAdvice</a:t>
            </a:r>
            <a:r>
              <a:rPr lang="en-IN" dirty="0"/>
              <a:t> </a:t>
            </a:r>
            <a:r>
              <a:rPr lang="en-IN" dirty="0" err="1"/>
              <a:t>retryAdvice</a:t>
            </a:r>
            <a:r>
              <a:rPr lang="en-IN" dirty="0"/>
              <a:t>() {</a:t>
            </a:r>
          </a:p>
          <a:p>
            <a:r>
              <a:rPr lang="en-IN" dirty="0"/>
              <a:t>    </a:t>
            </a:r>
            <a:r>
              <a:rPr lang="en-IN" dirty="0" err="1"/>
              <a:t>RequestHandlerRetryAdvice</a:t>
            </a:r>
            <a:r>
              <a:rPr lang="en-IN" dirty="0"/>
              <a:t> advice = new </a:t>
            </a:r>
            <a:r>
              <a:rPr lang="en-IN" dirty="0" err="1"/>
              <a:t>RequestHandlerRetryAdvice</a:t>
            </a:r>
            <a:r>
              <a:rPr lang="en-IN" dirty="0"/>
              <a:t>();</a:t>
            </a:r>
          </a:p>
          <a:p>
            <a:r>
              <a:rPr lang="en-IN" dirty="0"/>
              <a:t>    // It will try 3 times before finally giving up and throwing the exception</a:t>
            </a:r>
          </a:p>
          <a:p>
            <a:r>
              <a:rPr lang="en-IN" dirty="0"/>
              <a:t>    return advice;</a:t>
            </a:r>
          </a:p>
          <a:p>
            <a:r>
              <a:rPr lang="en-IN" dirty="0"/>
              <a:t>}</a:t>
            </a:r>
          </a:p>
        </p:txBody>
      </p:sp>
    </p:spTree>
    <p:extLst>
      <p:ext uri="{BB962C8B-B14F-4D97-AF65-F5344CB8AC3E}">
        <p14:creationId xmlns:p14="http://schemas.microsoft.com/office/powerpoint/2010/main" val="200038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A1093-866D-4BBE-CB09-ABDC9E17E847}"/>
              </a:ext>
            </a:extLst>
          </p:cNvPr>
          <p:cNvSpPr>
            <a:spLocks noGrp="1"/>
          </p:cNvSpPr>
          <p:nvPr>
            <p:ph type="title"/>
          </p:nvPr>
        </p:nvSpPr>
        <p:spPr/>
        <p:txBody>
          <a:bodyPr/>
          <a:lstStyle/>
          <a:p>
            <a:r>
              <a:rPr lang="en-US" b="1" dirty="0" err="1"/>
              <a:t>errorChannel</a:t>
            </a:r>
            <a:r>
              <a:rPr lang="en-US" b="1" dirty="0"/>
              <a:t> Header</a:t>
            </a:r>
            <a:endParaRPr lang="en-IN" dirty="0"/>
          </a:p>
        </p:txBody>
      </p:sp>
      <p:sp>
        <p:nvSpPr>
          <p:cNvPr id="3" name="Content Placeholder 2">
            <a:extLst>
              <a:ext uri="{FF2B5EF4-FFF2-40B4-BE49-F238E27FC236}">
                <a16:creationId xmlns:a16="http://schemas.microsoft.com/office/drawing/2014/main" id="{A4484215-75F8-FD0A-5B88-AC95FD7952B1}"/>
              </a:ext>
            </a:extLst>
          </p:cNvPr>
          <p:cNvSpPr>
            <a:spLocks noGrp="1"/>
          </p:cNvSpPr>
          <p:nvPr>
            <p:ph idx="1"/>
          </p:nvPr>
        </p:nvSpPr>
        <p:spPr>
          <a:xfrm>
            <a:off x="1154954" y="2603500"/>
            <a:ext cx="10825552" cy="3703994"/>
          </a:xfrm>
        </p:spPr>
        <p:txBody>
          <a:bodyPr/>
          <a:lstStyle/>
          <a:p>
            <a:r>
              <a:rPr lang="en-US" dirty="0"/>
              <a:t>In a Direct Channel, can use the "Error Channel Header.“</a:t>
            </a:r>
          </a:p>
          <a:p>
            <a:r>
              <a:rPr lang="en-US" dirty="0"/>
              <a:t>If the sender attaches an </a:t>
            </a:r>
            <a:r>
              <a:rPr lang="en-US" dirty="0" err="1"/>
              <a:t>errorChannel</a:t>
            </a:r>
            <a:r>
              <a:rPr lang="en-US" dirty="0"/>
              <a:t> header to the message, Spring Integration will catch the exception and send a </a:t>
            </a:r>
            <a:r>
              <a:rPr lang="en-US" dirty="0" err="1"/>
              <a:t>ErrorMessage</a:t>
            </a:r>
            <a:r>
              <a:rPr lang="en-US" dirty="0"/>
              <a:t> to that specific channel instead of crashing the sender's thread.</a:t>
            </a:r>
          </a:p>
          <a:p>
            <a:endParaRPr lang="en-IN" dirty="0"/>
          </a:p>
        </p:txBody>
      </p:sp>
      <p:sp>
        <p:nvSpPr>
          <p:cNvPr id="5" name="TextBox 4">
            <a:extLst>
              <a:ext uri="{FF2B5EF4-FFF2-40B4-BE49-F238E27FC236}">
                <a16:creationId xmlns:a16="http://schemas.microsoft.com/office/drawing/2014/main" id="{F4205916-B91E-F871-491C-A61F61F82219}"/>
              </a:ext>
            </a:extLst>
          </p:cNvPr>
          <p:cNvSpPr txBox="1"/>
          <p:nvPr/>
        </p:nvSpPr>
        <p:spPr>
          <a:xfrm>
            <a:off x="1377430" y="4130006"/>
            <a:ext cx="9208149" cy="1477328"/>
          </a:xfrm>
          <a:prstGeom prst="rect">
            <a:avLst/>
          </a:prstGeom>
          <a:solidFill>
            <a:schemeClr val="accent2"/>
          </a:solidFill>
        </p:spPr>
        <p:txBody>
          <a:bodyPr wrap="square">
            <a:spAutoFit/>
          </a:bodyPr>
          <a:lstStyle/>
          <a:p>
            <a:r>
              <a:rPr lang="en-IN" dirty="0">
                <a:solidFill>
                  <a:schemeClr val="accent5">
                    <a:lumMod val="20000"/>
                    <a:lumOff val="80000"/>
                  </a:schemeClr>
                </a:solidFill>
              </a:rPr>
              <a:t>// Inside the Sender</a:t>
            </a:r>
          </a:p>
          <a:p>
            <a:r>
              <a:rPr lang="en-IN" dirty="0">
                <a:solidFill>
                  <a:schemeClr val="accent5">
                    <a:lumMod val="20000"/>
                    <a:lumOff val="80000"/>
                  </a:schemeClr>
                </a:solidFill>
              </a:rPr>
              <a:t>Message&lt;String&gt; message = </a:t>
            </a:r>
            <a:r>
              <a:rPr lang="en-IN" dirty="0" err="1">
                <a:solidFill>
                  <a:schemeClr val="accent5">
                    <a:lumMod val="20000"/>
                    <a:lumOff val="80000"/>
                  </a:schemeClr>
                </a:solidFill>
              </a:rPr>
              <a:t>MessageBuilder.withPayload</a:t>
            </a:r>
            <a:r>
              <a:rPr lang="en-IN" dirty="0">
                <a:solidFill>
                  <a:schemeClr val="accent5">
                    <a:lumMod val="20000"/>
                    <a:lumOff val="80000"/>
                  </a:schemeClr>
                </a:solidFill>
              </a:rPr>
              <a:t>("Hello")</a:t>
            </a:r>
          </a:p>
          <a:p>
            <a:r>
              <a:rPr lang="en-IN" dirty="0">
                <a:solidFill>
                  <a:schemeClr val="accent5">
                    <a:lumMod val="20000"/>
                    <a:lumOff val="80000"/>
                  </a:schemeClr>
                </a:solidFill>
              </a:rPr>
              <a:t>        .</a:t>
            </a:r>
            <a:r>
              <a:rPr lang="en-IN" dirty="0" err="1">
                <a:solidFill>
                  <a:schemeClr val="accent5">
                    <a:lumMod val="20000"/>
                    <a:lumOff val="80000"/>
                  </a:schemeClr>
                </a:solidFill>
              </a:rPr>
              <a:t>setErrorChannelName</a:t>
            </a:r>
            <a:r>
              <a:rPr lang="en-IN" dirty="0">
                <a:solidFill>
                  <a:schemeClr val="accent5">
                    <a:lumMod val="20000"/>
                    <a:lumOff val="80000"/>
                  </a:schemeClr>
                </a:solidFill>
              </a:rPr>
              <a:t>("</a:t>
            </a:r>
            <a:r>
              <a:rPr lang="en-IN" dirty="0" err="1">
                <a:solidFill>
                  <a:schemeClr val="accent5">
                    <a:lumMod val="20000"/>
                    <a:lumOff val="80000"/>
                  </a:schemeClr>
                </a:solidFill>
              </a:rPr>
              <a:t>recoveryChannel</a:t>
            </a:r>
            <a:r>
              <a:rPr lang="en-IN" dirty="0">
                <a:solidFill>
                  <a:schemeClr val="accent5">
                    <a:lumMod val="20000"/>
                    <a:lumOff val="80000"/>
                  </a:schemeClr>
                </a:solidFill>
              </a:rPr>
              <a:t>") </a:t>
            </a:r>
          </a:p>
          <a:p>
            <a:r>
              <a:rPr lang="en-IN" dirty="0">
                <a:solidFill>
                  <a:schemeClr val="accent5">
                    <a:lumMod val="20000"/>
                    <a:lumOff val="80000"/>
                  </a:schemeClr>
                </a:solidFill>
              </a:rPr>
              <a:t>        .build();</a:t>
            </a:r>
          </a:p>
          <a:p>
            <a:r>
              <a:rPr lang="en-IN" dirty="0" err="1">
                <a:solidFill>
                  <a:schemeClr val="accent5">
                    <a:lumMod val="20000"/>
                    <a:lumOff val="80000"/>
                  </a:schemeClr>
                </a:solidFill>
              </a:rPr>
              <a:t>directInput.send</a:t>
            </a:r>
            <a:r>
              <a:rPr lang="en-IN" dirty="0">
                <a:solidFill>
                  <a:schemeClr val="accent5">
                    <a:lumMod val="20000"/>
                    <a:lumOff val="80000"/>
                  </a:schemeClr>
                </a:solidFill>
              </a:rPr>
              <a:t>(message);</a:t>
            </a:r>
          </a:p>
        </p:txBody>
      </p:sp>
    </p:spTree>
    <p:extLst>
      <p:ext uri="{BB962C8B-B14F-4D97-AF65-F5344CB8AC3E}">
        <p14:creationId xmlns:p14="http://schemas.microsoft.com/office/powerpoint/2010/main" val="3326875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513EF-1302-66B4-DB55-2CDFB69E6097}"/>
              </a:ext>
            </a:extLst>
          </p:cNvPr>
          <p:cNvSpPr>
            <a:spLocks noGrp="1"/>
          </p:cNvSpPr>
          <p:nvPr>
            <p:ph type="title"/>
          </p:nvPr>
        </p:nvSpPr>
        <p:spPr/>
        <p:txBody>
          <a:bodyPr/>
          <a:lstStyle/>
          <a:p>
            <a:r>
              <a:rPr lang="en-US" b="1" dirty="0"/>
              <a:t>Summary Checklist for Direct Channel</a:t>
            </a:r>
            <a:endParaRPr lang="en-IN" dirty="0"/>
          </a:p>
        </p:txBody>
      </p:sp>
      <p:graphicFrame>
        <p:nvGraphicFramePr>
          <p:cNvPr id="4" name="Content Placeholder 3">
            <a:extLst>
              <a:ext uri="{FF2B5EF4-FFF2-40B4-BE49-F238E27FC236}">
                <a16:creationId xmlns:a16="http://schemas.microsoft.com/office/drawing/2014/main" id="{6C3F3487-5BD5-8A38-7403-C2B03E8D0131}"/>
              </a:ext>
            </a:extLst>
          </p:cNvPr>
          <p:cNvGraphicFramePr>
            <a:graphicFrameLocks noGrp="1"/>
          </p:cNvGraphicFramePr>
          <p:nvPr>
            <p:ph idx="1"/>
            <p:extLst>
              <p:ext uri="{D42A27DB-BD31-4B8C-83A1-F6EECF244321}">
                <p14:modId xmlns:p14="http://schemas.microsoft.com/office/powerpoint/2010/main" val="3315804924"/>
              </p:ext>
            </p:extLst>
          </p:nvPr>
        </p:nvGraphicFramePr>
        <p:xfrm>
          <a:off x="1155699" y="2920482"/>
          <a:ext cx="10250974" cy="3251718"/>
        </p:xfrm>
        <a:graphic>
          <a:graphicData uri="http://schemas.openxmlformats.org/drawingml/2006/table">
            <a:tbl>
              <a:tblPr firstRow="1" bandRow="1">
                <a:tableStyleId>{5C22544A-7EE6-4342-B048-85BDC9FD1C3A}</a:tableStyleId>
              </a:tblPr>
              <a:tblGrid>
                <a:gridCol w="2931109">
                  <a:extLst>
                    <a:ext uri="{9D8B030D-6E8A-4147-A177-3AD203B41FA5}">
                      <a16:colId xmlns:a16="http://schemas.microsoft.com/office/drawing/2014/main" val="642205935"/>
                    </a:ext>
                  </a:extLst>
                </a:gridCol>
                <a:gridCol w="7319865">
                  <a:extLst>
                    <a:ext uri="{9D8B030D-6E8A-4147-A177-3AD203B41FA5}">
                      <a16:colId xmlns:a16="http://schemas.microsoft.com/office/drawing/2014/main" val="1172460197"/>
                    </a:ext>
                  </a:extLst>
                </a:gridCol>
              </a:tblGrid>
              <a:tr h="567036">
                <a:tc>
                  <a:txBody>
                    <a:bodyPr/>
                    <a:lstStyle/>
                    <a:p>
                      <a:pPr>
                        <a:lnSpc>
                          <a:spcPts val="1575"/>
                        </a:lnSpc>
                        <a:buNone/>
                      </a:pPr>
                      <a:r>
                        <a:rPr lang="en-IN" b="1" dirty="0">
                          <a:effectLst/>
                          <a:latin typeface="Inter"/>
                        </a:rPr>
                        <a:t>Feature</a:t>
                      </a:r>
                    </a:p>
                  </a:txBody>
                  <a:tcPr marL="45720" marR="45720" marT="22860" marB="22860" anchor="ctr"/>
                </a:tc>
                <a:tc>
                  <a:txBody>
                    <a:bodyPr/>
                    <a:lstStyle/>
                    <a:p>
                      <a:pPr>
                        <a:lnSpc>
                          <a:spcPts val="1575"/>
                        </a:lnSpc>
                        <a:buNone/>
                      </a:pPr>
                      <a:r>
                        <a:rPr lang="en-IN" b="1" dirty="0" err="1">
                          <a:effectLst/>
                          <a:latin typeface="Inter"/>
                        </a:rPr>
                        <a:t>Behavior</a:t>
                      </a:r>
                      <a:endParaRPr lang="en-IN" b="1" dirty="0">
                        <a:effectLst/>
                        <a:latin typeface="Inter"/>
                      </a:endParaRPr>
                    </a:p>
                  </a:txBody>
                  <a:tcPr marL="45720" marR="45720" marT="22860" marB="22860" anchor="ctr"/>
                </a:tc>
                <a:extLst>
                  <a:ext uri="{0D108BD9-81ED-4DB2-BD59-A6C34878D82A}">
                    <a16:rowId xmlns:a16="http://schemas.microsoft.com/office/drawing/2014/main" val="1036635636"/>
                  </a:ext>
                </a:extLst>
              </a:tr>
              <a:tr h="567036">
                <a:tc>
                  <a:txBody>
                    <a:bodyPr/>
                    <a:lstStyle/>
                    <a:p>
                      <a:pPr>
                        <a:lnSpc>
                          <a:spcPts val="1575"/>
                        </a:lnSpc>
                        <a:buNone/>
                      </a:pPr>
                      <a:r>
                        <a:rPr lang="en-IN" b="1">
                          <a:effectLst/>
                          <a:latin typeface="Inter"/>
                        </a:rPr>
                        <a:t>Thread</a:t>
                      </a:r>
                      <a:endParaRPr lang="en-IN" b="0">
                        <a:effectLst/>
                        <a:latin typeface="Inter"/>
                      </a:endParaRPr>
                    </a:p>
                  </a:txBody>
                  <a:tcPr marL="45720" marR="45720" marT="22860" marB="22860" anchor="ctr"/>
                </a:tc>
                <a:tc>
                  <a:txBody>
                    <a:bodyPr/>
                    <a:lstStyle/>
                    <a:p>
                      <a:pPr>
                        <a:lnSpc>
                          <a:spcPts val="1575"/>
                        </a:lnSpc>
                        <a:buNone/>
                      </a:pPr>
                      <a:r>
                        <a:rPr lang="en-IN" b="0" dirty="0">
                          <a:effectLst/>
                          <a:latin typeface="Inter"/>
                        </a:rPr>
                        <a:t>Same thread as sender.</a:t>
                      </a:r>
                    </a:p>
                  </a:txBody>
                  <a:tcPr marL="45720" marR="45720" marT="22860" marB="22860" anchor="ctr"/>
                </a:tc>
                <a:extLst>
                  <a:ext uri="{0D108BD9-81ED-4DB2-BD59-A6C34878D82A}">
                    <a16:rowId xmlns:a16="http://schemas.microsoft.com/office/drawing/2014/main" val="568638494"/>
                  </a:ext>
                </a:extLst>
              </a:tr>
              <a:tr h="705882">
                <a:tc>
                  <a:txBody>
                    <a:bodyPr/>
                    <a:lstStyle/>
                    <a:p>
                      <a:pPr>
                        <a:lnSpc>
                          <a:spcPts val="1575"/>
                        </a:lnSpc>
                        <a:buNone/>
                      </a:pPr>
                      <a:r>
                        <a:rPr lang="en-IN" b="1">
                          <a:effectLst/>
                          <a:latin typeface="Inter"/>
                        </a:rPr>
                        <a:t>Where is exception caught?</a:t>
                      </a:r>
                      <a:endParaRPr lang="en-IN" b="0">
                        <a:effectLst/>
                        <a:latin typeface="Inter"/>
                      </a:endParaRPr>
                    </a:p>
                  </a:txBody>
                  <a:tcPr marL="45720" marR="45720" marT="22860" marB="22860" anchor="ctr"/>
                </a:tc>
                <a:tc>
                  <a:txBody>
                    <a:bodyPr/>
                    <a:lstStyle/>
                    <a:p>
                      <a:pPr>
                        <a:lnSpc>
                          <a:spcPts val="1575"/>
                        </a:lnSpc>
                        <a:buNone/>
                      </a:pPr>
                      <a:r>
                        <a:rPr lang="en-US" b="0" dirty="0">
                          <a:effectLst/>
                          <a:latin typeface="Inter"/>
                        </a:rPr>
                        <a:t>In the sender's code (via </a:t>
                      </a:r>
                      <a:r>
                        <a:rPr lang="en-US" b="0" dirty="0">
                          <a:solidFill>
                            <a:schemeClr val="tx1"/>
                          </a:solidFill>
                          <a:effectLst/>
                          <a:latin typeface="DM Mono" panose="020B0509040201040103" pitchFamily="49" charset="0"/>
                        </a:rPr>
                        <a:t>try-catch</a:t>
                      </a:r>
                      <a:r>
                        <a:rPr lang="en-US" b="0" dirty="0">
                          <a:effectLst/>
                          <a:latin typeface="Inter"/>
                        </a:rPr>
                        <a:t>) or an Advice wrapper.</a:t>
                      </a:r>
                    </a:p>
                  </a:txBody>
                  <a:tcPr marL="45720" marR="45720" marT="22860" marB="22860" anchor="ctr"/>
                </a:tc>
                <a:extLst>
                  <a:ext uri="{0D108BD9-81ED-4DB2-BD59-A6C34878D82A}">
                    <a16:rowId xmlns:a16="http://schemas.microsoft.com/office/drawing/2014/main" val="1046448420"/>
                  </a:ext>
                </a:extLst>
              </a:tr>
              <a:tr h="705882">
                <a:tc>
                  <a:txBody>
                    <a:bodyPr/>
                    <a:lstStyle/>
                    <a:p>
                      <a:pPr>
                        <a:lnSpc>
                          <a:spcPts val="1575"/>
                        </a:lnSpc>
                        <a:buNone/>
                      </a:pPr>
                      <a:r>
                        <a:rPr lang="en-IN" b="1">
                          <a:effectLst/>
                          <a:latin typeface="Inter"/>
                        </a:rPr>
                        <a:t>Transaction</a:t>
                      </a:r>
                      <a:endParaRPr lang="en-IN" b="0">
                        <a:effectLst/>
                        <a:latin typeface="Inter"/>
                      </a:endParaRPr>
                    </a:p>
                  </a:txBody>
                  <a:tcPr marL="45720" marR="45720" marT="22860" marB="22860" anchor="ctr"/>
                </a:tc>
                <a:tc>
                  <a:txBody>
                    <a:bodyPr/>
                    <a:lstStyle/>
                    <a:p>
                      <a:pPr>
                        <a:lnSpc>
                          <a:spcPts val="1575"/>
                        </a:lnSpc>
                        <a:buNone/>
                      </a:pPr>
                      <a:r>
                        <a:rPr lang="en-US" b="0" dirty="0">
                          <a:effectLst/>
                          <a:latin typeface="Inter"/>
                        </a:rPr>
                        <a:t>If the sender is </a:t>
                      </a:r>
                      <a:r>
                        <a:rPr lang="en-US" b="0" dirty="0">
                          <a:solidFill>
                            <a:srgbClr val="FCFCFC"/>
                          </a:solidFill>
                          <a:effectLst/>
                          <a:latin typeface="DM Mono" panose="020B0509040201040103" pitchFamily="49" charset="0"/>
                        </a:rPr>
                        <a:t>@</a:t>
                      </a:r>
                      <a:r>
                        <a:rPr lang="en-US" b="0" dirty="0">
                          <a:solidFill>
                            <a:schemeClr val="tx1"/>
                          </a:solidFill>
                          <a:effectLst/>
                          <a:latin typeface="DM Mono" panose="020B0509040201040103" pitchFamily="49" charset="0"/>
                        </a:rPr>
                        <a:t>Transactional</a:t>
                      </a:r>
                      <a:r>
                        <a:rPr lang="en-US" b="0" dirty="0">
                          <a:effectLst/>
                          <a:latin typeface="Inter"/>
                        </a:rPr>
                        <a:t>, the subscriber is part of it.</a:t>
                      </a:r>
                    </a:p>
                  </a:txBody>
                  <a:tcPr marL="45720" marR="45720" marT="22860" marB="22860" anchor="ctr"/>
                </a:tc>
                <a:extLst>
                  <a:ext uri="{0D108BD9-81ED-4DB2-BD59-A6C34878D82A}">
                    <a16:rowId xmlns:a16="http://schemas.microsoft.com/office/drawing/2014/main" val="3070449511"/>
                  </a:ext>
                </a:extLst>
              </a:tr>
              <a:tr h="705882">
                <a:tc>
                  <a:txBody>
                    <a:bodyPr/>
                    <a:lstStyle/>
                    <a:p>
                      <a:pPr>
                        <a:lnSpc>
                          <a:spcPts val="1575"/>
                        </a:lnSpc>
                        <a:buNone/>
                      </a:pPr>
                      <a:r>
                        <a:rPr lang="en-IN" b="1">
                          <a:effectLst/>
                          <a:latin typeface="Inter"/>
                        </a:rPr>
                        <a:t>Load Balancing</a:t>
                      </a:r>
                      <a:endParaRPr lang="en-IN" b="0">
                        <a:effectLst/>
                        <a:latin typeface="Inter"/>
                      </a:endParaRPr>
                    </a:p>
                  </a:txBody>
                  <a:tcPr marL="45720" marR="45720" marT="22860" marB="22860" anchor="ctr"/>
                </a:tc>
                <a:tc>
                  <a:txBody>
                    <a:bodyPr/>
                    <a:lstStyle/>
                    <a:p>
                      <a:pPr>
                        <a:lnSpc>
                          <a:spcPts val="1575"/>
                        </a:lnSpc>
                        <a:buNone/>
                      </a:pPr>
                      <a:r>
                        <a:rPr lang="en-US" b="0" dirty="0">
                          <a:effectLst/>
                          <a:latin typeface="Inter"/>
                        </a:rPr>
                        <a:t>If a subscriber fails, the message can failover to the next one if configured.</a:t>
                      </a:r>
                    </a:p>
                  </a:txBody>
                  <a:tcPr marL="45720" marR="45720" marT="22860" marB="22860" anchor="ctr"/>
                </a:tc>
                <a:extLst>
                  <a:ext uri="{0D108BD9-81ED-4DB2-BD59-A6C34878D82A}">
                    <a16:rowId xmlns:a16="http://schemas.microsoft.com/office/drawing/2014/main" val="1046048952"/>
                  </a:ext>
                </a:extLst>
              </a:tr>
            </a:tbl>
          </a:graphicData>
        </a:graphic>
      </p:graphicFrame>
    </p:spTree>
    <p:extLst>
      <p:ext uri="{BB962C8B-B14F-4D97-AF65-F5344CB8AC3E}">
        <p14:creationId xmlns:p14="http://schemas.microsoft.com/office/powerpoint/2010/main" val="3306384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365DF-1F16-1625-ADBB-5E87268AA5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B48A2-8C87-6C4A-92D6-6FFF17284FDF}"/>
              </a:ext>
            </a:extLst>
          </p:cNvPr>
          <p:cNvSpPr>
            <a:spLocks noGrp="1"/>
          </p:cNvSpPr>
          <p:nvPr>
            <p:ph type="title"/>
          </p:nvPr>
        </p:nvSpPr>
        <p:spPr/>
        <p:txBody>
          <a:bodyPr/>
          <a:lstStyle/>
          <a:p>
            <a:r>
              <a:rPr lang="en-US" b="1" dirty="0"/>
              <a:t>Publish-Subscribe (One-to-Many)</a:t>
            </a:r>
            <a:endParaRPr lang="en-IN" dirty="0"/>
          </a:p>
        </p:txBody>
      </p:sp>
      <p:sp>
        <p:nvSpPr>
          <p:cNvPr id="3" name="Content Placeholder 2">
            <a:extLst>
              <a:ext uri="{FF2B5EF4-FFF2-40B4-BE49-F238E27FC236}">
                <a16:creationId xmlns:a16="http://schemas.microsoft.com/office/drawing/2014/main" id="{AFFC501A-A9DF-657D-3334-C0F10FC9ECA0}"/>
              </a:ext>
            </a:extLst>
          </p:cNvPr>
          <p:cNvSpPr>
            <a:spLocks noGrp="1"/>
          </p:cNvSpPr>
          <p:nvPr>
            <p:ph idx="1"/>
          </p:nvPr>
        </p:nvSpPr>
        <p:spPr>
          <a:xfrm>
            <a:off x="1154954" y="2603499"/>
            <a:ext cx="10690258" cy="3871945"/>
          </a:xfrm>
        </p:spPr>
        <p:txBody>
          <a:bodyPr/>
          <a:lstStyle/>
          <a:p>
            <a:r>
              <a:rPr lang="en-US" dirty="0"/>
              <a:t>Every subscriber to that channel receives the same message.</a:t>
            </a:r>
          </a:p>
          <a:p>
            <a:r>
              <a:rPr lang="en-US" b="1" dirty="0"/>
              <a:t>Use Case:</a:t>
            </a:r>
            <a:r>
              <a:rPr lang="en-US" dirty="0"/>
              <a:t> Sending a "User Created" event to both an Email Service and a Logging Service simultaneously.</a:t>
            </a:r>
          </a:p>
          <a:p>
            <a:r>
              <a:rPr lang="en-US" dirty="0"/>
              <a:t>To understand </a:t>
            </a:r>
            <a:r>
              <a:rPr lang="en-US" b="1" dirty="0"/>
              <a:t>Publish-Subscribe (Pub-Sub)</a:t>
            </a:r>
            <a:r>
              <a:rPr lang="en-US" dirty="0"/>
              <a:t> deeply, think of it as a </a:t>
            </a:r>
            <a:r>
              <a:rPr lang="en-US" b="1" dirty="0"/>
              <a:t>Radio Station</a:t>
            </a:r>
            <a:r>
              <a:rPr lang="en-US" dirty="0"/>
              <a:t>.</a:t>
            </a:r>
          </a:p>
          <a:p>
            <a:r>
              <a:rPr lang="en-US" dirty="0"/>
              <a:t>The Radio Station (the </a:t>
            </a:r>
            <a:r>
              <a:rPr lang="en-US" b="1" dirty="0"/>
              <a:t>Publisher</a:t>
            </a:r>
            <a:r>
              <a:rPr lang="en-US" dirty="0"/>
              <a:t>) broadcasts a signal. It doesn't know how many people are listening. It doesn't care if 0 people are listening or 1,000. It just sends the signal out. Anyone with a radio tuned to that frequency (the </a:t>
            </a:r>
            <a:r>
              <a:rPr lang="en-US" b="1" dirty="0"/>
              <a:t>Subscribers</a:t>
            </a:r>
            <a:r>
              <a:rPr lang="en-US" dirty="0"/>
              <a:t>) will hear the exact same message at the same time.</a:t>
            </a:r>
          </a:p>
          <a:p>
            <a:r>
              <a:rPr lang="en-US" dirty="0"/>
              <a:t>In Spring Integration, this is called the </a:t>
            </a:r>
            <a:r>
              <a:rPr lang="en-US" b="1" dirty="0"/>
              <a:t>Fan-out</a:t>
            </a:r>
            <a:r>
              <a:rPr lang="en-US" dirty="0"/>
              <a:t> pattern.</a:t>
            </a:r>
          </a:p>
          <a:p>
            <a:endParaRPr lang="en-US" dirty="0"/>
          </a:p>
          <a:p>
            <a:endParaRPr lang="en-IN" dirty="0"/>
          </a:p>
        </p:txBody>
      </p:sp>
    </p:spTree>
    <p:extLst>
      <p:ext uri="{BB962C8B-B14F-4D97-AF65-F5344CB8AC3E}">
        <p14:creationId xmlns:p14="http://schemas.microsoft.com/office/powerpoint/2010/main" val="1950401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86A63-FF6D-5B08-B2B9-1B19E44CF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8362F-6A04-3664-785F-AC5A676B4251}"/>
              </a:ext>
            </a:extLst>
          </p:cNvPr>
          <p:cNvSpPr>
            <a:spLocks noGrp="1"/>
          </p:cNvSpPr>
          <p:nvPr>
            <p:ph type="title"/>
          </p:nvPr>
        </p:nvSpPr>
        <p:spPr>
          <a:xfrm>
            <a:off x="1154954" y="973668"/>
            <a:ext cx="10433666" cy="706964"/>
          </a:xfrm>
        </p:spPr>
        <p:txBody>
          <a:bodyPr/>
          <a:lstStyle/>
          <a:p>
            <a:br>
              <a:rPr lang="en-US" b="1" dirty="0"/>
            </a:br>
            <a:r>
              <a:rPr lang="en-US" b="1" dirty="0"/>
              <a:t>Core Component: </a:t>
            </a:r>
            <a:r>
              <a:rPr lang="en-US" b="1" dirty="0" err="1"/>
              <a:t>PublishSubscribeChannel</a:t>
            </a:r>
            <a:br>
              <a:rPr lang="en-US" b="1" dirty="0"/>
            </a:br>
            <a:endParaRPr lang="en-IN" dirty="0"/>
          </a:p>
        </p:txBody>
      </p:sp>
      <p:sp>
        <p:nvSpPr>
          <p:cNvPr id="3" name="Content Placeholder 2">
            <a:extLst>
              <a:ext uri="{FF2B5EF4-FFF2-40B4-BE49-F238E27FC236}">
                <a16:creationId xmlns:a16="http://schemas.microsoft.com/office/drawing/2014/main" id="{C8C1B890-D46F-8F6A-B983-69E99B5896AB}"/>
              </a:ext>
            </a:extLst>
          </p:cNvPr>
          <p:cNvSpPr>
            <a:spLocks noGrp="1"/>
          </p:cNvSpPr>
          <p:nvPr>
            <p:ph idx="1"/>
          </p:nvPr>
        </p:nvSpPr>
        <p:spPr>
          <a:xfrm>
            <a:off x="1154954" y="2603499"/>
            <a:ext cx="10690258" cy="3871945"/>
          </a:xfrm>
        </p:spPr>
        <p:txBody>
          <a:bodyPr/>
          <a:lstStyle/>
          <a:p>
            <a:r>
              <a:rPr lang="en-US" dirty="0"/>
              <a:t>In Spring Integration, every "pipe" (channel) has a specific behavior.</a:t>
            </a:r>
          </a:p>
          <a:p>
            <a:r>
              <a:rPr lang="en-US" b="1" dirty="0" err="1"/>
              <a:t>DirectChannel</a:t>
            </a:r>
            <a:r>
              <a:rPr lang="en-US" b="1" dirty="0"/>
              <a:t> (Default):</a:t>
            </a:r>
            <a:r>
              <a:rPr lang="en-US" dirty="0"/>
              <a:t> Point-to-Point. If you have two listeners, they take turns (Round Robin). Only one gets the message.</a:t>
            </a:r>
          </a:p>
          <a:p>
            <a:r>
              <a:rPr lang="en-US" b="1" dirty="0" err="1"/>
              <a:t>PublishSubscribeChannel</a:t>
            </a:r>
            <a:r>
              <a:rPr lang="en-US" b="1" dirty="0"/>
              <a:t>:</a:t>
            </a:r>
            <a:r>
              <a:rPr lang="en-US" dirty="0"/>
              <a:t> Broadcast. If you have two listeners, </a:t>
            </a:r>
            <a:r>
              <a:rPr lang="en-US" b="1" dirty="0"/>
              <a:t>both</a:t>
            </a:r>
            <a:r>
              <a:rPr lang="en-US" dirty="0"/>
              <a:t> get the message.</a:t>
            </a:r>
          </a:p>
          <a:p>
            <a:endParaRPr lang="en-IN" dirty="0"/>
          </a:p>
        </p:txBody>
      </p:sp>
    </p:spTree>
    <p:extLst>
      <p:ext uri="{BB962C8B-B14F-4D97-AF65-F5344CB8AC3E}">
        <p14:creationId xmlns:p14="http://schemas.microsoft.com/office/powerpoint/2010/main" val="1227483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818AC-2385-992C-691F-E6698B2F95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69F0DE-39EB-886E-DB03-129E2C05D6B6}"/>
              </a:ext>
            </a:extLst>
          </p:cNvPr>
          <p:cNvSpPr>
            <a:spLocks noGrp="1"/>
          </p:cNvSpPr>
          <p:nvPr>
            <p:ph type="title"/>
          </p:nvPr>
        </p:nvSpPr>
        <p:spPr/>
        <p:txBody>
          <a:bodyPr/>
          <a:lstStyle/>
          <a:p>
            <a:r>
              <a:rPr lang="en-US" b="1" dirty="0"/>
              <a:t>Synchronous vs. Asynchronous</a:t>
            </a:r>
            <a:endParaRPr lang="en-IN" dirty="0"/>
          </a:p>
        </p:txBody>
      </p:sp>
      <p:sp>
        <p:nvSpPr>
          <p:cNvPr id="3" name="Content Placeholder 2">
            <a:extLst>
              <a:ext uri="{FF2B5EF4-FFF2-40B4-BE49-F238E27FC236}">
                <a16:creationId xmlns:a16="http://schemas.microsoft.com/office/drawing/2014/main" id="{4214B869-A9C8-4E8A-DCAE-2F02338514B7}"/>
              </a:ext>
            </a:extLst>
          </p:cNvPr>
          <p:cNvSpPr>
            <a:spLocks noGrp="1"/>
          </p:cNvSpPr>
          <p:nvPr>
            <p:ph idx="1"/>
          </p:nvPr>
        </p:nvSpPr>
        <p:spPr>
          <a:xfrm>
            <a:off x="1154954" y="2603499"/>
            <a:ext cx="10690258" cy="3871945"/>
          </a:xfrm>
        </p:spPr>
        <p:txBody>
          <a:bodyPr/>
          <a:lstStyle/>
          <a:p>
            <a:r>
              <a:rPr lang="en-US" dirty="0"/>
              <a:t>By default, Pub-Sub in Spring Integration is </a:t>
            </a:r>
            <a:r>
              <a:rPr lang="en-US" b="1" dirty="0"/>
              <a:t>Synchronous</a:t>
            </a:r>
            <a:r>
              <a:rPr lang="en-US" dirty="0"/>
              <a:t>.</a:t>
            </a:r>
          </a:p>
          <a:p>
            <a:pPr marL="0" indent="0">
              <a:buNone/>
            </a:pPr>
            <a:r>
              <a:rPr lang="en-US" b="1" dirty="0"/>
              <a:t>A. Synchronous Pub-Sub (Default)</a:t>
            </a:r>
          </a:p>
          <a:p>
            <a:r>
              <a:rPr lang="en-US" dirty="0"/>
              <a:t>When the Publisher sends a message:</a:t>
            </a:r>
          </a:p>
          <a:p>
            <a:r>
              <a:rPr lang="en-US" dirty="0"/>
              <a:t>The thread </a:t>
            </a:r>
            <a:r>
              <a:rPr lang="en-US" b="1" dirty="0"/>
              <a:t>waits</a:t>
            </a:r>
            <a:r>
              <a:rPr lang="en-US" dirty="0"/>
              <a:t>.</a:t>
            </a:r>
          </a:p>
          <a:p>
            <a:r>
              <a:rPr lang="en-US" dirty="0"/>
              <a:t>The message goes to Subscriber 1. Subscriber 1 finishes its work.</a:t>
            </a:r>
          </a:p>
          <a:p>
            <a:r>
              <a:rPr lang="en-US" dirty="0"/>
              <a:t>The message goes to Subscriber 2. Subscriber 2 finishes its work.</a:t>
            </a:r>
          </a:p>
          <a:p>
            <a:r>
              <a:rPr lang="en-US" dirty="0"/>
              <a:t>Only then does the Publisher thread continue.</a:t>
            </a:r>
          </a:p>
          <a:p>
            <a:r>
              <a:rPr lang="en-US" b="1" dirty="0"/>
              <a:t>Why use this?</a:t>
            </a:r>
            <a:r>
              <a:rPr lang="en-US" dirty="0"/>
              <a:t> If you want to ensure all subscribers finish before the next step of your program starts.</a:t>
            </a:r>
          </a:p>
          <a:p>
            <a:endParaRPr lang="en-IN" dirty="0"/>
          </a:p>
        </p:txBody>
      </p:sp>
    </p:spTree>
    <p:extLst>
      <p:ext uri="{BB962C8B-B14F-4D97-AF65-F5344CB8AC3E}">
        <p14:creationId xmlns:p14="http://schemas.microsoft.com/office/powerpoint/2010/main" val="652764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9EDDD-2FC2-1A69-1BB4-682C9E63E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6C4A16-CB81-AE55-5053-51D0AA4A1689}"/>
              </a:ext>
            </a:extLst>
          </p:cNvPr>
          <p:cNvSpPr>
            <a:spLocks noGrp="1"/>
          </p:cNvSpPr>
          <p:nvPr>
            <p:ph type="title"/>
          </p:nvPr>
        </p:nvSpPr>
        <p:spPr/>
        <p:txBody>
          <a:bodyPr/>
          <a:lstStyle/>
          <a:p>
            <a:r>
              <a:rPr lang="en-US" b="1" dirty="0"/>
              <a:t>Synchronous vs. Asynchronous</a:t>
            </a:r>
            <a:endParaRPr lang="en-IN" dirty="0"/>
          </a:p>
        </p:txBody>
      </p:sp>
      <p:sp>
        <p:nvSpPr>
          <p:cNvPr id="3" name="Content Placeholder 2">
            <a:extLst>
              <a:ext uri="{FF2B5EF4-FFF2-40B4-BE49-F238E27FC236}">
                <a16:creationId xmlns:a16="http://schemas.microsoft.com/office/drawing/2014/main" id="{909B5D12-06CB-4B62-EAC6-EC95EC6DDA5B}"/>
              </a:ext>
            </a:extLst>
          </p:cNvPr>
          <p:cNvSpPr>
            <a:spLocks noGrp="1"/>
          </p:cNvSpPr>
          <p:nvPr>
            <p:ph idx="1"/>
          </p:nvPr>
        </p:nvSpPr>
        <p:spPr>
          <a:xfrm>
            <a:off x="1154954" y="2603499"/>
            <a:ext cx="10690258" cy="3871945"/>
          </a:xfrm>
        </p:spPr>
        <p:txBody>
          <a:bodyPr>
            <a:normAutofit lnSpcReduction="10000"/>
          </a:bodyPr>
          <a:lstStyle/>
          <a:p>
            <a:r>
              <a:rPr lang="en-US" b="1" dirty="0"/>
              <a:t>Asynchronous Pub-Sub (With </a:t>
            </a:r>
            <a:r>
              <a:rPr lang="en-US" b="1" dirty="0" err="1"/>
              <a:t>TaskExecutor</a:t>
            </a:r>
            <a:r>
              <a:rPr lang="en-US" b="1" dirty="0"/>
              <a:t>)</a:t>
            </a:r>
          </a:p>
          <a:p>
            <a:r>
              <a:rPr lang="en-US" dirty="0"/>
              <a:t>Can provide an Executor (a thread pool) to the channel.</a:t>
            </a:r>
          </a:p>
          <a:p>
            <a:r>
              <a:rPr lang="en-US" dirty="0"/>
              <a:t>The Publisher sends a message and </a:t>
            </a:r>
            <a:r>
              <a:rPr lang="en-US" b="1" dirty="0"/>
              <a:t>immediately</a:t>
            </a:r>
            <a:r>
              <a:rPr lang="en-US" dirty="0"/>
              <a:t> continues its own work.</a:t>
            </a:r>
          </a:p>
          <a:p>
            <a:r>
              <a:rPr lang="en-US" dirty="0"/>
              <a:t>Subscriber 1 and Subscriber 2 run </a:t>
            </a:r>
            <a:r>
              <a:rPr lang="en-US" b="1" dirty="0"/>
              <a:t>at the same time</a:t>
            </a:r>
            <a:r>
              <a:rPr lang="en-US" dirty="0"/>
              <a:t> on different threads.</a:t>
            </a:r>
          </a:p>
          <a:p>
            <a:r>
              <a:rPr lang="en-IN" b="1" dirty="0"/>
              <a:t>Code for Asynchronous Pub-Sub:</a:t>
            </a:r>
          </a:p>
          <a:p>
            <a:pPr marL="0" indent="0">
              <a:buNone/>
            </a:pPr>
            <a:r>
              <a:rPr lang="en-US" dirty="0"/>
              <a:t>@Bean</a:t>
            </a:r>
          </a:p>
          <a:p>
            <a:pPr marL="0" indent="0">
              <a:buNone/>
            </a:pPr>
            <a:r>
              <a:rPr lang="en-US" dirty="0"/>
              <a:t>public </a:t>
            </a:r>
            <a:r>
              <a:rPr lang="en-US" dirty="0" err="1"/>
              <a:t>MessageChannel</a:t>
            </a:r>
            <a:r>
              <a:rPr lang="en-US" dirty="0"/>
              <a:t> </a:t>
            </a:r>
            <a:r>
              <a:rPr lang="en-US" dirty="0" err="1"/>
              <a:t>newsChannel</a:t>
            </a:r>
            <a:r>
              <a:rPr lang="en-US" dirty="0"/>
              <a:t>() {</a:t>
            </a:r>
          </a:p>
          <a:p>
            <a:pPr marL="0" indent="0">
              <a:buNone/>
            </a:pPr>
            <a:r>
              <a:rPr lang="en-US" dirty="0"/>
              <a:t>    // By adding a </a:t>
            </a:r>
            <a:r>
              <a:rPr lang="en-US" dirty="0" err="1"/>
              <a:t>TaskExecutor</a:t>
            </a:r>
            <a:r>
              <a:rPr lang="en-US" dirty="0"/>
              <a:t>, it becomes Asynchronous</a:t>
            </a:r>
          </a:p>
          <a:p>
            <a:pPr marL="0" indent="0">
              <a:buNone/>
            </a:pPr>
            <a:r>
              <a:rPr lang="en-US" dirty="0"/>
              <a:t>    return new </a:t>
            </a:r>
            <a:r>
              <a:rPr lang="en-US" dirty="0" err="1"/>
              <a:t>PublishSubscribeChannel</a:t>
            </a:r>
            <a:r>
              <a:rPr lang="en-US" dirty="0"/>
              <a:t>(</a:t>
            </a:r>
            <a:r>
              <a:rPr lang="en-US" dirty="0" err="1"/>
              <a:t>Executors.newFixedThreadPool</a:t>
            </a:r>
            <a:r>
              <a:rPr lang="en-US" dirty="0"/>
              <a:t>(5));</a:t>
            </a:r>
          </a:p>
          <a:p>
            <a:pPr marL="0" indent="0">
              <a:buNone/>
            </a:pPr>
            <a:r>
              <a:rPr lang="en-US" dirty="0"/>
              <a:t>}</a:t>
            </a:r>
            <a:endParaRPr lang="en-IN" dirty="0"/>
          </a:p>
        </p:txBody>
      </p:sp>
    </p:spTree>
    <p:extLst>
      <p:ext uri="{BB962C8B-B14F-4D97-AF65-F5344CB8AC3E}">
        <p14:creationId xmlns:p14="http://schemas.microsoft.com/office/powerpoint/2010/main" val="10754183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EDEB3-6908-8E21-0EAF-A4204F5C8C5E}"/>
              </a:ext>
            </a:extLst>
          </p:cNvPr>
          <p:cNvSpPr>
            <a:spLocks noGrp="1"/>
          </p:cNvSpPr>
          <p:nvPr>
            <p:ph type="title"/>
          </p:nvPr>
        </p:nvSpPr>
        <p:spPr/>
        <p:txBody>
          <a:bodyPr/>
          <a:lstStyle/>
          <a:p>
            <a:r>
              <a:rPr lang="en-US" b="1" dirty="0"/>
              <a:t>Synchronous vs. Asynchronous</a:t>
            </a:r>
            <a:endParaRPr lang="en-IN" dirty="0"/>
          </a:p>
        </p:txBody>
      </p:sp>
      <p:sp>
        <p:nvSpPr>
          <p:cNvPr id="3" name="Content Placeholder 2">
            <a:extLst>
              <a:ext uri="{FF2B5EF4-FFF2-40B4-BE49-F238E27FC236}">
                <a16:creationId xmlns:a16="http://schemas.microsoft.com/office/drawing/2014/main" id="{5AD1C8C8-F45B-675D-613B-457EF3A0C936}"/>
              </a:ext>
            </a:extLst>
          </p:cNvPr>
          <p:cNvSpPr>
            <a:spLocks noGrp="1"/>
          </p:cNvSpPr>
          <p:nvPr>
            <p:ph idx="1"/>
          </p:nvPr>
        </p:nvSpPr>
        <p:spPr/>
        <p:txBody>
          <a:bodyPr/>
          <a:lstStyle/>
          <a:p>
            <a:r>
              <a:rPr lang="en-US" dirty="0"/>
              <a:t>In a </a:t>
            </a:r>
            <a:r>
              <a:rPr lang="en-US" b="1" dirty="0"/>
              <a:t>Synchronous</a:t>
            </a:r>
            <a:r>
              <a:rPr lang="en-US" dirty="0"/>
              <a:t> Pub-Sub, the sender (caller) is "blocked." It waits for Subscriber A to finish, then waits for Subscriber B to finish, and only then moves to the next line of code.</a:t>
            </a:r>
          </a:p>
          <a:p>
            <a:r>
              <a:rPr lang="en-US" dirty="0"/>
              <a:t>In </a:t>
            </a:r>
            <a:r>
              <a:rPr lang="en-US" b="1" dirty="0"/>
              <a:t>Asynchronous</a:t>
            </a:r>
            <a:r>
              <a:rPr lang="en-US" dirty="0"/>
              <a:t> Pub-Sub, the sender "drops" the message into the channel and immediately moves on. The subscribers pick up the message and process it on </a:t>
            </a:r>
            <a:r>
              <a:rPr lang="en-US" b="1" dirty="0"/>
              <a:t>their own separate threads</a:t>
            </a:r>
            <a:r>
              <a:rPr lang="en-US" dirty="0"/>
              <a:t>.</a:t>
            </a:r>
          </a:p>
          <a:p>
            <a:endParaRPr lang="en-IN" dirty="0"/>
          </a:p>
        </p:txBody>
      </p:sp>
    </p:spTree>
    <p:extLst>
      <p:ext uri="{BB962C8B-B14F-4D97-AF65-F5344CB8AC3E}">
        <p14:creationId xmlns:p14="http://schemas.microsoft.com/office/powerpoint/2010/main" val="23499608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32664-47E9-AFB2-0AC8-282045B74A01}"/>
              </a:ext>
            </a:extLst>
          </p:cNvPr>
          <p:cNvSpPr>
            <a:spLocks noGrp="1"/>
          </p:cNvSpPr>
          <p:nvPr>
            <p:ph type="title"/>
          </p:nvPr>
        </p:nvSpPr>
        <p:spPr/>
        <p:txBody>
          <a:bodyPr/>
          <a:lstStyle/>
          <a:p>
            <a:r>
              <a:rPr lang="en-US" b="1" dirty="0"/>
              <a:t>Engine: </a:t>
            </a:r>
            <a:r>
              <a:rPr lang="en-US" b="1" dirty="0" err="1"/>
              <a:t>TaskExecutor</a:t>
            </a:r>
            <a:endParaRPr lang="en-IN" dirty="0"/>
          </a:p>
        </p:txBody>
      </p:sp>
      <p:sp>
        <p:nvSpPr>
          <p:cNvPr id="3" name="Content Placeholder 2">
            <a:extLst>
              <a:ext uri="{FF2B5EF4-FFF2-40B4-BE49-F238E27FC236}">
                <a16:creationId xmlns:a16="http://schemas.microsoft.com/office/drawing/2014/main" id="{BA40FDF2-F7B1-AE62-36DC-8A1A6E7FA917}"/>
              </a:ext>
            </a:extLst>
          </p:cNvPr>
          <p:cNvSpPr>
            <a:spLocks noGrp="1"/>
          </p:cNvSpPr>
          <p:nvPr>
            <p:ph idx="1"/>
          </p:nvPr>
        </p:nvSpPr>
        <p:spPr/>
        <p:txBody>
          <a:bodyPr/>
          <a:lstStyle/>
          <a:p>
            <a:r>
              <a:rPr lang="en-US" dirty="0"/>
              <a:t>To make a </a:t>
            </a:r>
            <a:r>
              <a:rPr lang="en-US" dirty="0" err="1"/>
              <a:t>PublishSubscribeChannel</a:t>
            </a:r>
            <a:r>
              <a:rPr lang="en-US" dirty="0"/>
              <a:t> asynchronous, you must provide it with a </a:t>
            </a:r>
            <a:r>
              <a:rPr lang="en-US" dirty="0" err="1"/>
              <a:t>TaskExecutor</a:t>
            </a:r>
            <a:r>
              <a:rPr lang="en-US" dirty="0"/>
              <a:t> (a thread pool).</a:t>
            </a:r>
          </a:p>
          <a:p>
            <a:r>
              <a:rPr lang="en-US" dirty="0"/>
              <a:t>Without an executor, the channel simply loops through subscribers on the </a:t>
            </a:r>
            <a:r>
              <a:rPr lang="en-US" b="1" dirty="0"/>
              <a:t>caller's thread</a:t>
            </a:r>
            <a:r>
              <a:rPr lang="en-US" dirty="0"/>
              <a:t>. </a:t>
            </a:r>
          </a:p>
          <a:p>
            <a:r>
              <a:rPr lang="en-US" dirty="0"/>
              <a:t>With an executor, it hands the message to the thread pool for each subscriber.</a:t>
            </a:r>
          </a:p>
          <a:p>
            <a:endParaRPr lang="en-IN" dirty="0"/>
          </a:p>
        </p:txBody>
      </p:sp>
    </p:spTree>
    <p:extLst>
      <p:ext uri="{BB962C8B-B14F-4D97-AF65-F5344CB8AC3E}">
        <p14:creationId xmlns:p14="http://schemas.microsoft.com/office/powerpoint/2010/main" val="42784187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CC67C-1910-01B7-FCFF-C9BE062C1713}"/>
              </a:ext>
            </a:extLst>
          </p:cNvPr>
          <p:cNvSpPr>
            <a:spLocks noGrp="1"/>
          </p:cNvSpPr>
          <p:nvPr>
            <p:ph type="title"/>
          </p:nvPr>
        </p:nvSpPr>
        <p:spPr/>
        <p:txBody>
          <a:bodyPr/>
          <a:lstStyle/>
          <a:p>
            <a:r>
              <a:rPr lang="en-US" b="1" dirty="0"/>
              <a:t>Asynchronous</a:t>
            </a:r>
            <a:endParaRPr lang="en-IN" dirty="0"/>
          </a:p>
        </p:txBody>
      </p:sp>
      <p:sp>
        <p:nvSpPr>
          <p:cNvPr id="3" name="Content Placeholder 2">
            <a:extLst>
              <a:ext uri="{FF2B5EF4-FFF2-40B4-BE49-F238E27FC236}">
                <a16:creationId xmlns:a16="http://schemas.microsoft.com/office/drawing/2014/main" id="{58F560B8-7F07-C8E0-9FE2-B912B6D4F6D1}"/>
              </a:ext>
            </a:extLst>
          </p:cNvPr>
          <p:cNvSpPr>
            <a:spLocks noGrp="1"/>
          </p:cNvSpPr>
          <p:nvPr>
            <p:ph idx="1"/>
          </p:nvPr>
        </p:nvSpPr>
        <p:spPr>
          <a:xfrm>
            <a:off x="1154954" y="2603500"/>
            <a:ext cx="10088434" cy="3797300"/>
          </a:xfrm>
        </p:spPr>
        <p:txBody>
          <a:bodyPr/>
          <a:lstStyle/>
          <a:p>
            <a:r>
              <a:rPr lang="en-US" dirty="0"/>
              <a:t>In a  </a:t>
            </a:r>
            <a:r>
              <a:rPr lang="en-US" b="1" dirty="0"/>
              <a:t>"Heavy Processing"</a:t>
            </a:r>
            <a:r>
              <a:rPr lang="en-US" dirty="0"/>
              <a:t> system. </a:t>
            </a:r>
          </a:p>
          <a:p>
            <a:pPr marL="0" indent="0">
              <a:buNone/>
            </a:pPr>
            <a:r>
              <a:rPr lang="en-US" dirty="0"/>
              <a:t>We have a "Report Generated" event. We want to:</a:t>
            </a:r>
          </a:p>
          <a:p>
            <a:r>
              <a:rPr lang="en-US" b="1" dirty="0"/>
              <a:t>Generate a PDF</a:t>
            </a:r>
            <a:r>
              <a:rPr lang="en-US" dirty="0"/>
              <a:t> (Takes 3 seconds)</a:t>
            </a:r>
          </a:p>
          <a:p>
            <a:r>
              <a:rPr lang="en-US" b="1" dirty="0"/>
              <a:t>Upload to Cloud</a:t>
            </a:r>
            <a:r>
              <a:rPr lang="en-US" dirty="0"/>
              <a:t> (Takes 5 seconds)</a:t>
            </a:r>
          </a:p>
          <a:p>
            <a:r>
              <a:rPr lang="en-US" b="1" dirty="0"/>
              <a:t>Notify Admin</a:t>
            </a:r>
            <a:r>
              <a:rPr lang="en-US" dirty="0"/>
              <a:t> (Takes 1 second)</a:t>
            </a:r>
          </a:p>
          <a:p>
            <a:r>
              <a:rPr lang="en-US" dirty="0"/>
              <a:t>If this were synchronous, the user would wait </a:t>
            </a:r>
            <a:r>
              <a:rPr lang="en-US" b="1" dirty="0"/>
              <a:t>9 seconds</a:t>
            </a:r>
            <a:r>
              <a:rPr lang="en-US" dirty="0"/>
              <a:t>. </a:t>
            </a:r>
          </a:p>
          <a:p>
            <a:r>
              <a:rPr lang="en-US" dirty="0"/>
              <a:t>With Async Pub-Sub, the user waits </a:t>
            </a:r>
            <a:r>
              <a:rPr lang="en-US" b="1" dirty="0"/>
              <a:t>0 seconds</a:t>
            </a:r>
            <a:r>
              <a:rPr lang="en-US" dirty="0"/>
              <a:t>.</a:t>
            </a:r>
          </a:p>
          <a:p>
            <a:endParaRPr lang="en-IN" dirty="0"/>
          </a:p>
        </p:txBody>
      </p:sp>
    </p:spTree>
    <p:extLst>
      <p:ext uri="{BB962C8B-B14F-4D97-AF65-F5344CB8AC3E}">
        <p14:creationId xmlns:p14="http://schemas.microsoft.com/office/powerpoint/2010/main" val="4155679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FD531-96AB-42E5-694F-E52E1A2FA4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AA717-E68A-D3D0-0FF6-4E5DE19FDD4F}"/>
              </a:ext>
            </a:extLst>
          </p:cNvPr>
          <p:cNvSpPr>
            <a:spLocks noGrp="1"/>
          </p:cNvSpPr>
          <p:nvPr>
            <p:ph type="title"/>
          </p:nvPr>
        </p:nvSpPr>
        <p:spPr/>
        <p:txBody>
          <a:bodyPr/>
          <a:lstStyle/>
          <a:p>
            <a:r>
              <a:rPr lang="en-US" b="1" dirty="0"/>
              <a:t>Error Handling in Pub-Sub</a:t>
            </a:r>
            <a:endParaRPr lang="en-IN" dirty="0"/>
          </a:p>
        </p:txBody>
      </p:sp>
      <p:sp>
        <p:nvSpPr>
          <p:cNvPr id="3" name="Content Placeholder 2">
            <a:extLst>
              <a:ext uri="{FF2B5EF4-FFF2-40B4-BE49-F238E27FC236}">
                <a16:creationId xmlns:a16="http://schemas.microsoft.com/office/drawing/2014/main" id="{E56025B6-2B95-F849-BE4D-D1AD7BCB0C8E}"/>
              </a:ext>
            </a:extLst>
          </p:cNvPr>
          <p:cNvSpPr>
            <a:spLocks noGrp="1"/>
          </p:cNvSpPr>
          <p:nvPr>
            <p:ph idx="1"/>
          </p:nvPr>
        </p:nvSpPr>
        <p:spPr>
          <a:xfrm>
            <a:off x="1154954" y="2603499"/>
            <a:ext cx="10690258" cy="3871945"/>
          </a:xfrm>
        </p:spPr>
        <p:txBody>
          <a:bodyPr>
            <a:normAutofit/>
          </a:bodyPr>
          <a:lstStyle/>
          <a:p>
            <a:r>
              <a:rPr lang="en-US" dirty="0"/>
              <a:t>In a standard "Point-to-Point" channel, if a subscriber fails, the error goes back to the sender.</a:t>
            </a:r>
            <a:br>
              <a:rPr lang="en-US" dirty="0"/>
            </a:br>
            <a:r>
              <a:rPr lang="en-US" dirty="0"/>
              <a:t>In </a:t>
            </a:r>
            <a:r>
              <a:rPr lang="en-US" b="1" dirty="0"/>
              <a:t>Pub-Sub</a:t>
            </a:r>
            <a:r>
              <a:rPr lang="en-US" dirty="0"/>
              <a:t>, it's tricky because there are multiple subscribers.</a:t>
            </a:r>
          </a:p>
          <a:p>
            <a:r>
              <a:rPr lang="en-US" b="1" dirty="0"/>
              <a:t>In Synchronous mode:</a:t>
            </a:r>
            <a:r>
              <a:rPr lang="en-US" dirty="0"/>
              <a:t> If Subscriber 1 throws an exception, Subscriber 2 </a:t>
            </a:r>
            <a:r>
              <a:rPr lang="en-US" b="1" dirty="0"/>
              <a:t>might never receive the message</a:t>
            </a:r>
            <a:r>
              <a:rPr lang="en-US" dirty="0"/>
              <a:t> because the whole thread crashed.</a:t>
            </a:r>
          </a:p>
          <a:p>
            <a:r>
              <a:rPr lang="en-US" b="1" dirty="0"/>
              <a:t>In Asynchronous mode:</a:t>
            </a:r>
            <a:r>
              <a:rPr lang="en-US" dirty="0"/>
              <a:t> If Subscriber 1 crashes, Subscriber 2 is on a different thread and is </a:t>
            </a:r>
            <a:r>
              <a:rPr lang="en-US" b="1" dirty="0"/>
              <a:t>unaffected</a:t>
            </a:r>
            <a:r>
              <a:rPr lang="en-US" dirty="0"/>
              <a:t>.</a:t>
            </a:r>
          </a:p>
          <a:p>
            <a:r>
              <a:rPr lang="en-US" dirty="0"/>
              <a:t>In </a:t>
            </a:r>
            <a:r>
              <a:rPr lang="en-US" b="1" dirty="0"/>
              <a:t>Synchronous</a:t>
            </a:r>
            <a:r>
              <a:rPr lang="en-US" dirty="0"/>
              <a:t> mode, if a subscriber throws an exception, the sender gets that exception.</a:t>
            </a:r>
          </a:p>
          <a:p>
            <a:r>
              <a:rPr lang="en-US" dirty="0"/>
              <a:t>In </a:t>
            </a:r>
            <a:r>
              <a:rPr lang="en-US" b="1" dirty="0"/>
              <a:t>Asynchronous</a:t>
            </a:r>
            <a:r>
              <a:rPr lang="en-US" dirty="0"/>
              <a:t> mode, the exception happens on a background thread. The sender will </a:t>
            </a:r>
            <a:r>
              <a:rPr lang="en-US" b="1" dirty="0"/>
              <a:t>never know</a:t>
            </a:r>
            <a:r>
              <a:rPr lang="en-US" dirty="0"/>
              <a:t> that the PDF generation failed.</a:t>
            </a:r>
          </a:p>
          <a:p>
            <a:r>
              <a:rPr lang="en-US" b="1" dirty="0"/>
              <a:t>Solution:</a:t>
            </a:r>
            <a:r>
              <a:rPr lang="en-US" dirty="0"/>
              <a:t> Must define an </a:t>
            </a:r>
            <a:r>
              <a:rPr lang="en-US" dirty="0" err="1"/>
              <a:t>ErrorHandler</a:t>
            </a:r>
            <a:r>
              <a:rPr lang="en-US" dirty="0"/>
              <a:t> on the channel to know when the broadcast fails or use an </a:t>
            </a:r>
            <a:r>
              <a:rPr lang="en-US" dirty="0" err="1"/>
              <a:t>ErrorChannel</a:t>
            </a:r>
            <a:r>
              <a:rPr lang="en-US" dirty="0"/>
              <a:t> to catch background failures.</a:t>
            </a:r>
          </a:p>
          <a:p>
            <a:endParaRPr lang="en-US" dirty="0"/>
          </a:p>
          <a:p>
            <a:endParaRPr lang="en-IN" dirty="0"/>
          </a:p>
        </p:txBody>
      </p:sp>
    </p:spTree>
    <p:extLst>
      <p:ext uri="{BB962C8B-B14F-4D97-AF65-F5344CB8AC3E}">
        <p14:creationId xmlns:p14="http://schemas.microsoft.com/office/powerpoint/2010/main" val="2017375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0369-6232-1B23-716D-5C79C274E2C4}"/>
              </a:ext>
            </a:extLst>
          </p:cNvPr>
          <p:cNvSpPr>
            <a:spLocks noGrp="1"/>
          </p:cNvSpPr>
          <p:nvPr>
            <p:ph type="title"/>
          </p:nvPr>
        </p:nvSpPr>
        <p:spPr/>
        <p:txBody>
          <a:bodyPr/>
          <a:lstStyle/>
          <a:p>
            <a:r>
              <a:rPr lang="en-US" b="1" dirty="0"/>
              <a:t>Transaction Management</a:t>
            </a:r>
            <a:endParaRPr lang="en-IN" dirty="0"/>
          </a:p>
        </p:txBody>
      </p:sp>
      <p:sp>
        <p:nvSpPr>
          <p:cNvPr id="3" name="Content Placeholder 2">
            <a:extLst>
              <a:ext uri="{FF2B5EF4-FFF2-40B4-BE49-F238E27FC236}">
                <a16:creationId xmlns:a16="http://schemas.microsoft.com/office/drawing/2014/main" id="{E3566056-A035-AA7C-2EA9-16B39D1422C6}"/>
              </a:ext>
            </a:extLst>
          </p:cNvPr>
          <p:cNvSpPr>
            <a:spLocks noGrp="1"/>
          </p:cNvSpPr>
          <p:nvPr>
            <p:ph idx="1"/>
          </p:nvPr>
        </p:nvSpPr>
        <p:spPr/>
        <p:txBody>
          <a:bodyPr>
            <a:normAutofit/>
          </a:bodyPr>
          <a:lstStyle/>
          <a:p>
            <a:r>
              <a:rPr lang="en-US" dirty="0"/>
              <a:t>If you are using @Transactional:</a:t>
            </a:r>
          </a:p>
          <a:p>
            <a:r>
              <a:rPr lang="en-US" b="1" dirty="0"/>
              <a:t>Synchronous:</a:t>
            </a:r>
            <a:r>
              <a:rPr lang="en-US" dirty="0"/>
              <a:t> If Subscriber B fails and rolls back, the whole transaction (including Subscriber A and the Sender) rolls back.</a:t>
            </a:r>
          </a:p>
          <a:p>
            <a:r>
              <a:rPr lang="en-US" b="1" dirty="0"/>
              <a:t>Asynchronous:</a:t>
            </a:r>
            <a:r>
              <a:rPr lang="en-US" dirty="0"/>
              <a:t> The transaction </a:t>
            </a:r>
            <a:r>
              <a:rPr lang="en-US" b="1" dirty="0"/>
              <a:t>does not cross threads</a:t>
            </a:r>
            <a:r>
              <a:rPr lang="en-US" dirty="0"/>
              <a:t>. Subscriber A might commit its work while Subscriber B fails in the background. They are independent.</a:t>
            </a:r>
          </a:p>
          <a:p>
            <a:endParaRPr lang="en-IN" dirty="0"/>
          </a:p>
        </p:txBody>
      </p:sp>
    </p:spTree>
    <p:extLst>
      <p:ext uri="{BB962C8B-B14F-4D97-AF65-F5344CB8AC3E}">
        <p14:creationId xmlns:p14="http://schemas.microsoft.com/office/powerpoint/2010/main" val="16508865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03D71-50C9-F603-C221-0B80CC4E66DC}"/>
              </a:ext>
            </a:extLst>
          </p:cNvPr>
          <p:cNvSpPr>
            <a:spLocks noGrp="1"/>
          </p:cNvSpPr>
          <p:nvPr>
            <p:ph type="title"/>
          </p:nvPr>
        </p:nvSpPr>
        <p:spPr/>
        <p:txBody>
          <a:bodyPr/>
          <a:lstStyle/>
          <a:p>
            <a:r>
              <a:rPr lang="en-US" b="1" dirty="0"/>
              <a:t> Order of Execution</a:t>
            </a:r>
            <a:endParaRPr lang="en-IN" dirty="0"/>
          </a:p>
        </p:txBody>
      </p:sp>
      <p:sp>
        <p:nvSpPr>
          <p:cNvPr id="3" name="Content Placeholder 2">
            <a:extLst>
              <a:ext uri="{FF2B5EF4-FFF2-40B4-BE49-F238E27FC236}">
                <a16:creationId xmlns:a16="http://schemas.microsoft.com/office/drawing/2014/main" id="{E24511C3-B70D-6095-EF0C-FB95C9E1F6A0}"/>
              </a:ext>
            </a:extLst>
          </p:cNvPr>
          <p:cNvSpPr>
            <a:spLocks noGrp="1"/>
          </p:cNvSpPr>
          <p:nvPr>
            <p:ph idx="1"/>
          </p:nvPr>
        </p:nvSpPr>
        <p:spPr/>
        <p:txBody>
          <a:bodyPr/>
          <a:lstStyle/>
          <a:p>
            <a:r>
              <a:rPr lang="en-US" b="1" dirty="0"/>
              <a:t>Synchronous:</a:t>
            </a:r>
            <a:r>
              <a:rPr lang="en-US" dirty="0"/>
              <a:t> Subscribers are usually called in order (though you shouldn't rely on it).</a:t>
            </a:r>
          </a:p>
          <a:p>
            <a:r>
              <a:rPr lang="en-US" b="1" dirty="0"/>
              <a:t>Asynchronous:</a:t>
            </a:r>
            <a:r>
              <a:rPr lang="en-US" dirty="0"/>
              <a:t> It is a race. The 1-second task (Notify Admin) will finish long before the 5-second task (Cloud Upload), even if the Cloud Upload started first.</a:t>
            </a:r>
          </a:p>
          <a:p>
            <a:endParaRPr lang="en-IN" dirty="0"/>
          </a:p>
        </p:txBody>
      </p:sp>
    </p:spTree>
    <p:extLst>
      <p:ext uri="{BB962C8B-B14F-4D97-AF65-F5344CB8AC3E}">
        <p14:creationId xmlns:p14="http://schemas.microsoft.com/office/powerpoint/2010/main" val="2089390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4BC8-8BB4-D85E-6234-8A9D057F9589}"/>
              </a:ext>
            </a:extLst>
          </p:cNvPr>
          <p:cNvSpPr>
            <a:spLocks noGrp="1"/>
          </p:cNvSpPr>
          <p:nvPr>
            <p:ph type="title"/>
          </p:nvPr>
        </p:nvSpPr>
        <p:spPr/>
        <p:txBody>
          <a:bodyPr/>
          <a:lstStyle/>
          <a:p>
            <a:r>
              <a:rPr lang="en-US" b="1" dirty="0"/>
              <a:t>When to use Async Pub-Sub?</a:t>
            </a:r>
            <a:endParaRPr lang="en-IN" dirty="0"/>
          </a:p>
        </p:txBody>
      </p:sp>
      <p:graphicFrame>
        <p:nvGraphicFramePr>
          <p:cNvPr id="4" name="Content Placeholder 3">
            <a:extLst>
              <a:ext uri="{FF2B5EF4-FFF2-40B4-BE49-F238E27FC236}">
                <a16:creationId xmlns:a16="http://schemas.microsoft.com/office/drawing/2014/main" id="{4F6B2C22-98B7-990A-3B5D-2E10887A1446}"/>
              </a:ext>
            </a:extLst>
          </p:cNvPr>
          <p:cNvGraphicFramePr>
            <a:graphicFrameLocks noGrp="1"/>
          </p:cNvGraphicFramePr>
          <p:nvPr>
            <p:ph idx="1"/>
            <p:extLst>
              <p:ext uri="{D42A27DB-BD31-4B8C-83A1-F6EECF244321}">
                <p14:modId xmlns:p14="http://schemas.microsoft.com/office/powerpoint/2010/main" val="2233598682"/>
              </p:ext>
            </p:extLst>
          </p:nvPr>
        </p:nvGraphicFramePr>
        <p:xfrm>
          <a:off x="1155700" y="2603500"/>
          <a:ext cx="8824911" cy="2217420"/>
        </p:xfrm>
        <a:graphic>
          <a:graphicData uri="http://schemas.openxmlformats.org/drawingml/2006/table">
            <a:tbl>
              <a:tblPr firstRow="1" bandRow="1">
                <a:tableStyleId>{5C22544A-7EE6-4342-B048-85BDC9FD1C3A}</a:tableStyleId>
              </a:tblPr>
              <a:tblGrid>
                <a:gridCol w="2941637">
                  <a:extLst>
                    <a:ext uri="{9D8B030D-6E8A-4147-A177-3AD203B41FA5}">
                      <a16:colId xmlns:a16="http://schemas.microsoft.com/office/drawing/2014/main" val="3839667459"/>
                    </a:ext>
                  </a:extLst>
                </a:gridCol>
                <a:gridCol w="1216447">
                  <a:extLst>
                    <a:ext uri="{9D8B030D-6E8A-4147-A177-3AD203B41FA5}">
                      <a16:colId xmlns:a16="http://schemas.microsoft.com/office/drawing/2014/main" val="2908254088"/>
                    </a:ext>
                  </a:extLst>
                </a:gridCol>
                <a:gridCol w="4666827">
                  <a:extLst>
                    <a:ext uri="{9D8B030D-6E8A-4147-A177-3AD203B41FA5}">
                      <a16:colId xmlns:a16="http://schemas.microsoft.com/office/drawing/2014/main" val="3519237935"/>
                    </a:ext>
                  </a:extLst>
                </a:gridCol>
              </a:tblGrid>
              <a:tr h="370840">
                <a:tc>
                  <a:txBody>
                    <a:bodyPr/>
                    <a:lstStyle/>
                    <a:p>
                      <a:pPr>
                        <a:lnSpc>
                          <a:spcPts val="1575"/>
                        </a:lnSpc>
                        <a:buNone/>
                      </a:pPr>
                      <a:r>
                        <a:rPr lang="en-IN" b="1" dirty="0">
                          <a:effectLst/>
                          <a:latin typeface="Inter"/>
                        </a:rPr>
                        <a:t>Scenario</a:t>
                      </a:r>
                    </a:p>
                  </a:txBody>
                  <a:tcPr marL="45720" marR="45720" marT="22860" marB="22860" anchor="ctr"/>
                </a:tc>
                <a:tc>
                  <a:txBody>
                    <a:bodyPr/>
                    <a:lstStyle/>
                    <a:p>
                      <a:pPr>
                        <a:lnSpc>
                          <a:spcPts val="1575"/>
                        </a:lnSpc>
                        <a:buNone/>
                      </a:pPr>
                      <a:r>
                        <a:rPr lang="en-IN" b="1">
                          <a:effectLst/>
                          <a:latin typeface="Inter"/>
                        </a:rPr>
                        <a:t>Use Async?</a:t>
                      </a:r>
                    </a:p>
                  </a:txBody>
                  <a:tcPr marL="45720" marR="45720" marT="22860" marB="22860" anchor="ctr"/>
                </a:tc>
                <a:tc>
                  <a:txBody>
                    <a:bodyPr/>
                    <a:lstStyle/>
                    <a:p>
                      <a:pPr>
                        <a:lnSpc>
                          <a:spcPts val="1575"/>
                        </a:lnSpc>
                        <a:buNone/>
                      </a:pPr>
                      <a:r>
                        <a:rPr lang="en-IN" b="1">
                          <a:effectLst/>
                          <a:latin typeface="Inter"/>
                        </a:rPr>
                        <a:t>Reason</a:t>
                      </a:r>
                    </a:p>
                  </a:txBody>
                  <a:tcPr marL="45720" marR="45720" marT="22860" marB="22860" anchor="ctr"/>
                </a:tc>
                <a:extLst>
                  <a:ext uri="{0D108BD9-81ED-4DB2-BD59-A6C34878D82A}">
                    <a16:rowId xmlns:a16="http://schemas.microsoft.com/office/drawing/2014/main" val="2873575516"/>
                  </a:ext>
                </a:extLst>
              </a:tr>
              <a:tr h="370840">
                <a:tc>
                  <a:txBody>
                    <a:bodyPr/>
                    <a:lstStyle/>
                    <a:p>
                      <a:pPr>
                        <a:lnSpc>
                          <a:spcPts val="1575"/>
                        </a:lnSpc>
                        <a:buNone/>
                      </a:pPr>
                      <a:r>
                        <a:rPr lang="en-IN" b="1">
                          <a:effectLst/>
                          <a:latin typeface="Inter"/>
                        </a:rPr>
                        <a:t>Sending Emails</a:t>
                      </a:r>
                      <a:endParaRPr lang="en-IN" b="0">
                        <a:effectLst/>
                        <a:latin typeface="Inter"/>
                      </a:endParaRPr>
                    </a:p>
                  </a:txBody>
                  <a:tcPr marL="45720" marR="45720" marT="22860" marB="22860" anchor="ctr"/>
                </a:tc>
                <a:tc>
                  <a:txBody>
                    <a:bodyPr/>
                    <a:lstStyle/>
                    <a:p>
                      <a:pPr>
                        <a:lnSpc>
                          <a:spcPts val="1575"/>
                        </a:lnSpc>
                        <a:buNone/>
                      </a:pPr>
                      <a:r>
                        <a:rPr lang="en-IN" b="1">
                          <a:effectLst/>
                          <a:latin typeface="Inter"/>
                        </a:rPr>
                        <a:t>YES</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You don't want the user to wait for the SMTP server.</a:t>
                      </a:r>
                    </a:p>
                  </a:txBody>
                  <a:tcPr marL="45720" marR="45720" marT="22860" marB="22860" anchor="ctr"/>
                </a:tc>
                <a:extLst>
                  <a:ext uri="{0D108BD9-81ED-4DB2-BD59-A6C34878D82A}">
                    <a16:rowId xmlns:a16="http://schemas.microsoft.com/office/drawing/2014/main" val="1821877221"/>
                  </a:ext>
                </a:extLst>
              </a:tr>
              <a:tr h="370840">
                <a:tc>
                  <a:txBody>
                    <a:bodyPr/>
                    <a:lstStyle/>
                    <a:p>
                      <a:pPr>
                        <a:lnSpc>
                          <a:spcPts val="1575"/>
                        </a:lnSpc>
                        <a:buNone/>
                      </a:pPr>
                      <a:r>
                        <a:rPr lang="en-IN" b="1">
                          <a:effectLst/>
                          <a:latin typeface="Inter"/>
                        </a:rPr>
                        <a:t>Updating Database</a:t>
                      </a:r>
                      <a:endParaRPr lang="en-IN" b="0">
                        <a:effectLst/>
                        <a:latin typeface="Inter"/>
                      </a:endParaRPr>
                    </a:p>
                  </a:txBody>
                  <a:tcPr marL="45720" marR="45720" marT="22860" marB="22860" anchor="ctr"/>
                </a:tc>
                <a:tc>
                  <a:txBody>
                    <a:bodyPr/>
                    <a:lstStyle/>
                    <a:p>
                      <a:pPr>
                        <a:lnSpc>
                          <a:spcPts val="1575"/>
                        </a:lnSpc>
                        <a:buNone/>
                      </a:pPr>
                      <a:r>
                        <a:rPr lang="en-IN" b="1">
                          <a:effectLst/>
                          <a:latin typeface="Inter"/>
                        </a:rPr>
                        <a:t>NO</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You usually want to know if the save was successful before continuing.</a:t>
                      </a:r>
                    </a:p>
                  </a:txBody>
                  <a:tcPr marL="45720" marR="45720" marT="22860" marB="22860" anchor="ctr"/>
                </a:tc>
                <a:extLst>
                  <a:ext uri="{0D108BD9-81ED-4DB2-BD59-A6C34878D82A}">
                    <a16:rowId xmlns:a16="http://schemas.microsoft.com/office/drawing/2014/main" val="797286927"/>
                  </a:ext>
                </a:extLst>
              </a:tr>
              <a:tr h="370840">
                <a:tc>
                  <a:txBody>
                    <a:bodyPr/>
                    <a:lstStyle/>
                    <a:p>
                      <a:pPr>
                        <a:lnSpc>
                          <a:spcPts val="1575"/>
                        </a:lnSpc>
                        <a:buNone/>
                      </a:pPr>
                      <a:r>
                        <a:rPr lang="en-IN" b="1">
                          <a:effectLst/>
                          <a:latin typeface="Inter"/>
                        </a:rPr>
                        <a:t>Logging/Analytics</a:t>
                      </a:r>
                      <a:endParaRPr lang="en-IN" b="0">
                        <a:effectLst/>
                        <a:latin typeface="Inter"/>
                      </a:endParaRPr>
                    </a:p>
                  </a:txBody>
                  <a:tcPr marL="45720" marR="45720" marT="22860" marB="22860" anchor="ctr"/>
                </a:tc>
                <a:tc>
                  <a:txBody>
                    <a:bodyPr/>
                    <a:lstStyle/>
                    <a:p>
                      <a:pPr>
                        <a:lnSpc>
                          <a:spcPts val="1575"/>
                        </a:lnSpc>
                        <a:buNone/>
                      </a:pPr>
                      <a:r>
                        <a:rPr lang="en-IN" b="1">
                          <a:effectLst/>
                          <a:latin typeface="Inter"/>
                        </a:rPr>
                        <a:t>YES</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Analytics shouldn't slow down the main business logic.</a:t>
                      </a:r>
                    </a:p>
                  </a:txBody>
                  <a:tcPr marL="45720" marR="45720" marT="22860" marB="22860" anchor="ctr"/>
                </a:tc>
                <a:extLst>
                  <a:ext uri="{0D108BD9-81ED-4DB2-BD59-A6C34878D82A}">
                    <a16:rowId xmlns:a16="http://schemas.microsoft.com/office/drawing/2014/main" val="3041588529"/>
                  </a:ext>
                </a:extLst>
              </a:tr>
              <a:tr h="370840">
                <a:tc>
                  <a:txBody>
                    <a:bodyPr/>
                    <a:lstStyle/>
                    <a:p>
                      <a:pPr>
                        <a:lnSpc>
                          <a:spcPts val="1575"/>
                        </a:lnSpc>
                        <a:buNone/>
                      </a:pPr>
                      <a:r>
                        <a:rPr lang="en-IN" b="1">
                          <a:effectLst/>
                          <a:latin typeface="Inter"/>
                        </a:rPr>
                        <a:t>Calculating a Total</a:t>
                      </a:r>
                      <a:endParaRPr lang="en-IN" b="0">
                        <a:effectLst/>
                        <a:latin typeface="Inter"/>
                      </a:endParaRPr>
                    </a:p>
                  </a:txBody>
                  <a:tcPr marL="45720" marR="45720" marT="22860" marB="22860" anchor="ctr"/>
                </a:tc>
                <a:tc>
                  <a:txBody>
                    <a:bodyPr/>
                    <a:lstStyle/>
                    <a:p>
                      <a:pPr>
                        <a:lnSpc>
                          <a:spcPts val="1575"/>
                        </a:lnSpc>
                        <a:buNone/>
                      </a:pPr>
                      <a:r>
                        <a:rPr lang="en-IN" b="1">
                          <a:effectLst/>
                          <a:latin typeface="Inter"/>
                        </a:rPr>
                        <a:t>NO</a:t>
                      </a:r>
                      <a:endParaRPr lang="en-IN" b="0">
                        <a:effectLst/>
                        <a:latin typeface="Inter"/>
                      </a:endParaRPr>
                    </a:p>
                  </a:txBody>
                  <a:tcPr marL="45720" marR="45720" marT="22860" marB="22860" anchor="ctr"/>
                </a:tc>
                <a:tc>
                  <a:txBody>
                    <a:bodyPr/>
                    <a:lstStyle/>
                    <a:p>
                      <a:pPr>
                        <a:lnSpc>
                          <a:spcPts val="1575"/>
                        </a:lnSpc>
                        <a:buNone/>
                      </a:pPr>
                      <a:r>
                        <a:rPr lang="en-US" b="0" dirty="0">
                          <a:effectLst/>
                          <a:latin typeface="Inter"/>
                        </a:rPr>
                        <a:t>You need the result immediately to show the user.</a:t>
                      </a:r>
                    </a:p>
                  </a:txBody>
                  <a:tcPr marL="45720" marR="45720" marT="22860" marB="22860" anchor="ctr"/>
                </a:tc>
                <a:extLst>
                  <a:ext uri="{0D108BD9-81ED-4DB2-BD59-A6C34878D82A}">
                    <a16:rowId xmlns:a16="http://schemas.microsoft.com/office/drawing/2014/main" val="705995063"/>
                  </a:ext>
                </a:extLst>
              </a:tr>
            </a:tbl>
          </a:graphicData>
        </a:graphic>
      </p:graphicFrame>
    </p:spTree>
    <p:extLst>
      <p:ext uri="{BB962C8B-B14F-4D97-AF65-F5344CB8AC3E}">
        <p14:creationId xmlns:p14="http://schemas.microsoft.com/office/powerpoint/2010/main" val="1658202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F8295-FD27-7293-5378-D6ED2412D2A2}"/>
              </a:ext>
            </a:extLst>
          </p:cNvPr>
          <p:cNvSpPr>
            <a:spLocks noGrp="1"/>
          </p:cNvSpPr>
          <p:nvPr>
            <p:ph type="title"/>
          </p:nvPr>
        </p:nvSpPr>
        <p:spPr/>
        <p:txBody>
          <a:bodyPr/>
          <a:lstStyle/>
          <a:p>
            <a:r>
              <a:rPr lang="en-IN" dirty="0"/>
              <a:t>Synchronous vs Asynchronous</a:t>
            </a:r>
          </a:p>
        </p:txBody>
      </p:sp>
      <p:graphicFrame>
        <p:nvGraphicFramePr>
          <p:cNvPr id="4" name="Content Placeholder 3">
            <a:extLst>
              <a:ext uri="{FF2B5EF4-FFF2-40B4-BE49-F238E27FC236}">
                <a16:creationId xmlns:a16="http://schemas.microsoft.com/office/drawing/2014/main" id="{0F45CE1C-9604-18E6-ED76-44059EE93A01}"/>
              </a:ext>
            </a:extLst>
          </p:cNvPr>
          <p:cNvGraphicFramePr>
            <a:graphicFrameLocks noGrp="1"/>
          </p:cNvGraphicFramePr>
          <p:nvPr>
            <p:ph idx="1"/>
            <p:extLst>
              <p:ext uri="{D42A27DB-BD31-4B8C-83A1-F6EECF244321}">
                <p14:modId xmlns:p14="http://schemas.microsoft.com/office/powerpoint/2010/main" val="1395145987"/>
              </p:ext>
            </p:extLst>
          </p:nvPr>
        </p:nvGraphicFramePr>
        <p:xfrm>
          <a:off x="1155700" y="2603500"/>
          <a:ext cx="9443877" cy="3181481"/>
        </p:xfrm>
        <a:graphic>
          <a:graphicData uri="http://schemas.openxmlformats.org/drawingml/2006/table">
            <a:tbl>
              <a:tblPr firstRow="1" bandRow="1">
                <a:tableStyleId>{5C22544A-7EE6-4342-B048-85BDC9FD1C3A}</a:tableStyleId>
              </a:tblPr>
              <a:tblGrid>
                <a:gridCol w="3147959">
                  <a:extLst>
                    <a:ext uri="{9D8B030D-6E8A-4147-A177-3AD203B41FA5}">
                      <a16:colId xmlns:a16="http://schemas.microsoft.com/office/drawing/2014/main" val="1037034185"/>
                    </a:ext>
                  </a:extLst>
                </a:gridCol>
                <a:gridCol w="3147959">
                  <a:extLst>
                    <a:ext uri="{9D8B030D-6E8A-4147-A177-3AD203B41FA5}">
                      <a16:colId xmlns:a16="http://schemas.microsoft.com/office/drawing/2014/main" val="1814665012"/>
                    </a:ext>
                  </a:extLst>
                </a:gridCol>
                <a:gridCol w="3147959">
                  <a:extLst>
                    <a:ext uri="{9D8B030D-6E8A-4147-A177-3AD203B41FA5}">
                      <a16:colId xmlns:a16="http://schemas.microsoft.com/office/drawing/2014/main" val="2046526584"/>
                    </a:ext>
                  </a:extLst>
                </a:gridCol>
              </a:tblGrid>
              <a:tr h="578433">
                <a:tc>
                  <a:txBody>
                    <a:bodyPr/>
                    <a:lstStyle/>
                    <a:p>
                      <a:pPr>
                        <a:lnSpc>
                          <a:spcPts val="1575"/>
                        </a:lnSpc>
                        <a:buNone/>
                      </a:pPr>
                      <a:r>
                        <a:rPr lang="en-IN" b="1" dirty="0">
                          <a:effectLst/>
                          <a:latin typeface="Inter"/>
                        </a:rPr>
                        <a:t>Feature</a:t>
                      </a:r>
                    </a:p>
                  </a:txBody>
                  <a:tcPr marL="45720" marR="45720" marT="22860" marB="22860" anchor="ctr"/>
                </a:tc>
                <a:tc>
                  <a:txBody>
                    <a:bodyPr/>
                    <a:lstStyle/>
                    <a:p>
                      <a:pPr>
                        <a:lnSpc>
                          <a:spcPts val="1575"/>
                        </a:lnSpc>
                        <a:buNone/>
                      </a:pPr>
                      <a:r>
                        <a:rPr lang="en-IN" b="1">
                          <a:effectLst/>
                          <a:latin typeface="Inter"/>
                        </a:rPr>
                        <a:t>Synchronous Pub-Sub</a:t>
                      </a:r>
                    </a:p>
                  </a:txBody>
                  <a:tcPr marL="45720" marR="45720" marT="22860" marB="22860" anchor="ctr"/>
                </a:tc>
                <a:tc>
                  <a:txBody>
                    <a:bodyPr/>
                    <a:lstStyle/>
                    <a:p>
                      <a:pPr>
                        <a:lnSpc>
                          <a:spcPts val="1575"/>
                        </a:lnSpc>
                        <a:buNone/>
                      </a:pPr>
                      <a:r>
                        <a:rPr lang="en-IN" b="1">
                          <a:effectLst/>
                          <a:latin typeface="Inter"/>
                        </a:rPr>
                        <a:t>Asynchronous Pub-Sub</a:t>
                      </a:r>
                    </a:p>
                  </a:txBody>
                  <a:tcPr marL="45720" marR="45720" marT="22860" marB="22860" anchor="ctr"/>
                </a:tc>
                <a:extLst>
                  <a:ext uri="{0D108BD9-81ED-4DB2-BD59-A6C34878D82A}">
                    <a16:rowId xmlns:a16="http://schemas.microsoft.com/office/drawing/2014/main" val="2748281908"/>
                  </a:ext>
                </a:extLst>
              </a:tr>
              <a:tr h="726112">
                <a:tc>
                  <a:txBody>
                    <a:bodyPr/>
                    <a:lstStyle/>
                    <a:p>
                      <a:pPr>
                        <a:lnSpc>
                          <a:spcPts val="1575"/>
                        </a:lnSpc>
                        <a:buNone/>
                      </a:pPr>
                      <a:r>
                        <a:rPr lang="en-IN" b="1">
                          <a:effectLst/>
                          <a:latin typeface="Inter"/>
                        </a:rPr>
                        <a:t>Threads</a:t>
                      </a:r>
                      <a:endParaRPr lang="en-IN" b="0">
                        <a:effectLst/>
                        <a:latin typeface="Inter"/>
                      </a:endParaRPr>
                    </a:p>
                  </a:txBody>
                  <a:tcPr marL="45720" marR="45720" marT="22860" marB="22860" anchor="ctr"/>
                </a:tc>
                <a:tc>
                  <a:txBody>
                    <a:bodyPr/>
                    <a:lstStyle/>
                    <a:p>
                      <a:pPr>
                        <a:lnSpc>
                          <a:spcPts val="1575"/>
                        </a:lnSpc>
                        <a:buNone/>
                      </a:pPr>
                      <a:r>
                        <a:rPr lang="en-IN" b="0">
                          <a:effectLst/>
                          <a:latin typeface="Inter"/>
                        </a:rPr>
                        <a:t>Uses the Caller's thread.</a:t>
                      </a:r>
                    </a:p>
                  </a:txBody>
                  <a:tcPr marL="45720" marR="45720" marT="22860" marB="22860" anchor="ctr"/>
                </a:tc>
                <a:tc>
                  <a:txBody>
                    <a:bodyPr/>
                    <a:lstStyle/>
                    <a:p>
                      <a:pPr>
                        <a:lnSpc>
                          <a:spcPts val="1575"/>
                        </a:lnSpc>
                        <a:buNone/>
                      </a:pPr>
                      <a:r>
                        <a:rPr lang="en-US" b="0" dirty="0">
                          <a:effectLst/>
                          <a:latin typeface="Inter"/>
                        </a:rPr>
                        <a:t>Uses a Thread Pool (</a:t>
                      </a:r>
                      <a:r>
                        <a:rPr lang="en-US" b="0" dirty="0" err="1">
                          <a:solidFill>
                            <a:srgbClr val="C00000"/>
                          </a:solidFill>
                          <a:effectLst/>
                          <a:latin typeface="DM Mono" panose="020B0509040201040103" pitchFamily="49" charset="0"/>
                        </a:rPr>
                        <a:t>TaskExecutor</a:t>
                      </a:r>
                      <a:r>
                        <a:rPr lang="en-US" b="0" dirty="0">
                          <a:effectLst/>
                          <a:latin typeface="Inter"/>
                        </a:rPr>
                        <a:t>).</a:t>
                      </a:r>
                    </a:p>
                  </a:txBody>
                  <a:tcPr marL="45720" marR="45720" marT="22860" marB="22860" anchor="ctr"/>
                </a:tc>
                <a:extLst>
                  <a:ext uri="{0D108BD9-81ED-4DB2-BD59-A6C34878D82A}">
                    <a16:rowId xmlns:a16="http://schemas.microsoft.com/office/drawing/2014/main" val="1269757778"/>
                  </a:ext>
                </a:extLst>
              </a:tr>
              <a:tr h="578433">
                <a:tc>
                  <a:txBody>
                    <a:bodyPr/>
                    <a:lstStyle/>
                    <a:p>
                      <a:pPr>
                        <a:lnSpc>
                          <a:spcPts val="1575"/>
                        </a:lnSpc>
                        <a:buNone/>
                      </a:pPr>
                      <a:r>
                        <a:rPr lang="en-IN" b="1">
                          <a:effectLst/>
                          <a:latin typeface="Inter"/>
                        </a:rPr>
                        <a:t>Sender Wait</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Yes, waits for all subs.</a:t>
                      </a:r>
                    </a:p>
                  </a:txBody>
                  <a:tcPr marL="45720" marR="45720" marT="22860" marB="22860" anchor="ctr"/>
                </a:tc>
                <a:tc>
                  <a:txBody>
                    <a:bodyPr/>
                    <a:lstStyle/>
                    <a:p>
                      <a:pPr>
                        <a:lnSpc>
                          <a:spcPts val="1575"/>
                        </a:lnSpc>
                        <a:buNone/>
                      </a:pPr>
                      <a:r>
                        <a:rPr lang="en-IN" b="0">
                          <a:effectLst/>
                          <a:latin typeface="Inter"/>
                        </a:rPr>
                        <a:t>No, "Fire and Forget."</a:t>
                      </a:r>
                    </a:p>
                  </a:txBody>
                  <a:tcPr marL="45720" marR="45720" marT="22860" marB="22860" anchor="ctr"/>
                </a:tc>
                <a:extLst>
                  <a:ext uri="{0D108BD9-81ED-4DB2-BD59-A6C34878D82A}">
                    <a16:rowId xmlns:a16="http://schemas.microsoft.com/office/drawing/2014/main" val="1978620214"/>
                  </a:ext>
                </a:extLst>
              </a:tr>
              <a:tr h="578433">
                <a:tc>
                  <a:txBody>
                    <a:bodyPr/>
                    <a:lstStyle/>
                    <a:p>
                      <a:pPr>
                        <a:lnSpc>
                          <a:spcPts val="1575"/>
                        </a:lnSpc>
                        <a:buNone/>
                      </a:pPr>
                      <a:r>
                        <a:rPr lang="en-IN" b="1">
                          <a:effectLst/>
                          <a:latin typeface="Inter"/>
                        </a:rPr>
                        <a:t>Performance</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Slow (Sum of all subs).</a:t>
                      </a:r>
                    </a:p>
                  </a:txBody>
                  <a:tcPr marL="45720" marR="45720" marT="22860" marB="22860" anchor="ctr"/>
                </a:tc>
                <a:tc>
                  <a:txBody>
                    <a:bodyPr/>
                    <a:lstStyle/>
                    <a:p>
                      <a:pPr>
                        <a:lnSpc>
                          <a:spcPts val="1575"/>
                        </a:lnSpc>
                        <a:buNone/>
                      </a:pPr>
                      <a:r>
                        <a:rPr lang="en-US" b="0">
                          <a:effectLst/>
                          <a:latin typeface="Inter"/>
                        </a:rPr>
                        <a:t>Fast (Max of sub time).</a:t>
                      </a:r>
                    </a:p>
                  </a:txBody>
                  <a:tcPr marL="45720" marR="45720" marT="22860" marB="22860" anchor="ctr"/>
                </a:tc>
                <a:extLst>
                  <a:ext uri="{0D108BD9-81ED-4DB2-BD59-A6C34878D82A}">
                    <a16:rowId xmlns:a16="http://schemas.microsoft.com/office/drawing/2014/main" val="1269704449"/>
                  </a:ext>
                </a:extLst>
              </a:tr>
              <a:tr h="720070">
                <a:tc>
                  <a:txBody>
                    <a:bodyPr/>
                    <a:lstStyle/>
                    <a:p>
                      <a:pPr>
                        <a:lnSpc>
                          <a:spcPts val="1575"/>
                        </a:lnSpc>
                        <a:buNone/>
                      </a:pPr>
                      <a:r>
                        <a:rPr lang="en-IN" b="1">
                          <a:effectLst/>
                          <a:latin typeface="Inter"/>
                        </a:rPr>
                        <a:t>Failures</a:t>
                      </a:r>
                      <a:endParaRPr lang="en-IN" b="0">
                        <a:effectLst/>
                        <a:latin typeface="Inter"/>
                      </a:endParaRPr>
                    </a:p>
                  </a:txBody>
                  <a:tcPr marL="45720" marR="45720" marT="22860" marB="22860" anchor="ctr"/>
                </a:tc>
                <a:tc>
                  <a:txBody>
                    <a:bodyPr/>
                    <a:lstStyle/>
                    <a:p>
                      <a:pPr>
                        <a:lnSpc>
                          <a:spcPts val="1575"/>
                        </a:lnSpc>
                        <a:buNone/>
                      </a:pPr>
                      <a:r>
                        <a:rPr lang="en-IN" b="0">
                          <a:effectLst/>
                          <a:latin typeface="Inter"/>
                        </a:rPr>
                        <a:t>Caught by the Sender.</a:t>
                      </a:r>
                    </a:p>
                  </a:txBody>
                  <a:tcPr marL="45720" marR="45720" marT="22860" marB="22860" anchor="ctr"/>
                </a:tc>
                <a:tc>
                  <a:txBody>
                    <a:bodyPr/>
                    <a:lstStyle/>
                    <a:p>
                      <a:pPr>
                        <a:lnSpc>
                          <a:spcPts val="1575"/>
                        </a:lnSpc>
                        <a:buNone/>
                      </a:pPr>
                      <a:r>
                        <a:rPr lang="en-IN" b="0" dirty="0">
                          <a:effectLst/>
                          <a:latin typeface="Inter"/>
                        </a:rPr>
                        <a:t>Disappear (unless handled specifically).</a:t>
                      </a:r>
                    </a:p>
                  </a:txBody>
                  <a:tcPr marL="45720" marR="45720" marT="22860" marB="22860" anchor="ctr"/>
                </a:tc>
                <a:extLst>
                  <a:ext uri="{0D108BD9-81ED-4DB2-BD59-A6C34878D82A}">
                    <a16:rowId xmlns:a16="http://schemas.microsoft.com/office/drawing/2014/main" val="2220511286"/>
                  </a:ext>
                </a:extLst>
              </a:tr>
            </a:tbl>
          </a:graphicData>
        </a:graphic>
      </p:graphicFrame>
    </p:spTree>
    <p:extLst>
      <p:ext uri="{BB962C8B-B14F-4D97-AF65-F5344CB8AC3E}">
        <p14:creationId xmlns:p14="http://schemas.microsoft.com/office/powerpoint/2010/main" val="606681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B6077-981A-1CB7-9418-782778672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8C29E-4BE2-BE2F-7B30-51F7E9C78FD0}"/>
              </a:ext>
            </a:extLst>
          </p:cNvPr>
          <p:cNvSpPr>
            <a:spLocks noGrp="1"/>
          </p:cNvSpPr>
          <p:nvPr>
            <p:ph type="title"/>
          </p:nvPr>
        </p:nvSpPr>
        <p:spPr/>
        <p:txBody>
          <a:bodyPr/>
          <a:lstStyle/>
          <a:p>
            <a:r>
              <a:rPr lang="en-IN" dirty="0"/>
              <a:t>Why </a:t>
            </a:r>
            <a:r>
              <a:rPr lang="en-IN" dirty="0" err="1"/>
              <a:t>pubsub</a:t>
            </a:r>
            <a:endParaRPr lang="en-IN" dirty="0"/>
          </a:p>
        </p:txBody>
      </p:sp>
      <p:sp>
        <p:nvSpPr>
          <p:cNvPr id="3" name="Content Placeholder 2">
            <a:extLst>
              <a:ext uri="{FF2B5EF4-FFF2-40B4-BE49-F238E27FC236}">
                <a16:creationId xmlns:a16="http://schemas.microsoft.com/office/drawing/2014/main" id="{70B2A925-C070-8FD5-4EDF-B2207792B690}"/>
              </a:ext>
            </a:extLst>
          </p:cNvPr>
          <p:cNvSpPr>
            <a:spLocks noGrp="1"/>
          </p:cNvSpPr>
          <p:nvPr>
            <p:ph idx="1"/>
          </p:nvPr>
        </p:nvSpPr>
        <p:spPr>
          <a:xfrm>
            <a:off x="1154954" y="2603499"/>
            <a:ext cx="10690258" cy="3871945"/>
          </a:xfrm>
        </p:spPr>
        <p:txBody>
          <a:bodyPr/>
          <a:lstStyle/>
          <a:p>
            <a:r>
              <a:rPr lang="en-US" b="1" dirty="0"/>
              <a:t>Why use Pub-Sub instead of just calling two methods?</a:t>
            </a:r>
          </a:p>
          <a:p>
            <a:r>
              <a:rPr lang="en-US" dirty="0"/>
              <a:t>You might ask: </a:t>
            </a:r>
            <a:r>
              <a:rPr lang="en-US" i="1" dirty="0"/>
              <a:t>"Why not just call </a:t>
            </a:r>
            <a:r>
              <a:rPr lang="en-US" i="1" dirty="0" err="1"/>
              <a:t>emailService.send</a:t>
            </a:r>
            <a:r>
              <a:rPr lang="en-US" i="1" dirty="0"/>
              <a:t>() and </a:t>
            </a:r>
            <a:r>
              <a:rPr lang="en-US" i="1" dirty="0" err="1"/>
              <a:t>smsService.send</a:t>
            </a:r>
            <a:r>
              <a:rPr lang="en-US" i="1" dirty="0"/>
              <a:t>() in a regular Java class?"</a:t>
            </a:r>
            <a:endParaRPr lang="en-US" dirty="0"/>
          </a:p>
          <a:p>
            <a:r>
              <a:rPr lang="en-US" b="1" dirty="0"/>
              <a:t>Decoupling:</a:t>
            </a:r>
            <a:r>
              <a:rPr lang="en-US" dirty="0"/>
              <a:t> The class sending the news doesn't need to know the </a:t>
            </a:r>
            <a:r>
              <a:rPr lang="en-US" dirty="0" err="1"/>
              <a:t>EmailService</a:t>
            </a:r>
            <a:r>
              <a:rPr lang="en-US" dirty="0"/>
              <a:t> or </a:t>
            </a:r>
            <a:r>
              <a:rPr lang="en-US" dirty="0" err="1"/>
              <a:t>SmsService</a:t>
            </a:r>
            <a:r>
              <a:rPr lang="en-US" dirty="0"/>
              <a:t> exist. Can add a </a:t>
            </a:r>
            <a:r>
              <a:rPr lang="en-US" dirty="0" err="1"/>
              <a:t>SlackService</a:t>
            </a:r>
            <a:r>
              <a:rPr lang="en-US" dirty="0"/>
              <a:t> later just by adding a new @Bean flow. You don't have to change the original code.</a:t>
            </a:r>
          </a:p>
          <a:p>
            <a:r>
              <a:rPr lang="en-US" b="1" dirty="0"/>
              <a:t>Flexibility:</a:t>
            </a:r>
            <a:r>
              <a:rPr lang="en-US" dirty="0"/>
              <a:t>  Can turn subscribers on/off using Spring Profiles.</a:t>
            </a:r>
          </a:p>
          <a:p>
            <a:r>
              <a:rPr lang="en-US" b="1" dirty="0"/>
              <a:t>Metrics:</a:t>
            </a:r>
            <a:r>
              <a:rPr lang="en-US" dirty="0"/>
              <a:t> Spring Integration automatically tracks how many messages passed through the channel, how long subscribers took, etc.</a:t>
            </a:r>
          </a:p>
          <a:p>
            <a:endParaRPr lang="en-IN" dirty="0"/>
          </a:p>
        </p:txBody>
      </p:sp>
    </p:spTree>
    <p:extLst>
      <p:ext uri="{BB962C8B-B14F-4D97-AF65-F5344CB8AC3E}">
        <p14:creationId xmlns:p14="http://schemas.microsoft.com/office/powerpoint/2010/main" val="2799621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D10C5-A4D5-7C23-D851-F23406FF4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2FFA9-2FA0-64C7-BF33-3EF5E3D4020C}"/>
              </a:ext>
            </a:extLst>
          </p:cNvPr>
          <p:cNvSpPr>
            <a:spLocks noGrp="1"/>
          </p:cNvSpPr>
          <p:nvPr>
            <p:ph type="title"/>
          </p:nvPr>
        </p:nvSpPr>
        <p:spPr/>
        <p:txBody>
          <a:bodyPr/>
          <a:lstStyle/>
          <a:p>
            <a:r>
              <a:rPr lang="en-IN" b="1" dirty="0"/>
              <a:t>Summary Checklist for Pub-Sub:</a:t>
            </a:r>
            <a:endParaRPr lang="en-IN" dirty="0"/>
          </a:p>
        </p:txBody>
      </p:sp>
      <p:graphicFrame>
        <p:nvGraphicFramePr>
          <p:cNvPr id="6" name="Content Placeholder 5">
            <a:extLst>
              <a:ext uri="{FF2B5EF4-FFF2-40B4-BE49-F238E27FC236}">
                <a16:creationId xmlns:a16="http://schemas.microsoft.com/office/drawing/2014/main" id="{09841D6D-7E5F-6082-C3E7-7E27C81AA0EA}"/>
              </a:ext>
            </a:extLst>
          </p:cNvPr>
          <p:cNvGraphicFramePr>
            <a:graphicFrameLocks noGrp="1"/>
          </p:cNvGraphicFramePr>
          <p:nvPr>
            <p:ph idx="1"/>
            <p:extLst>
              <p:ext uri="{D42A27DB-BD31-4B8C-83A1-F6EECF244321}">
                <p14:modId xmlns:p14="http://schemas.microsoft.com/office/powerpoint/2010/main" val="667068299"/>
              </p:ext>
            </p:extLst>
          </p:nvPr>
        </p:nvGraphicFramePr>
        <p:xfrm>
          <a:off x="1155700" y="2603500"/>
          <a:ext cx="8824912" cy="2239010"/>
        </p:xfrm>
        <a:graphic>
          <a:graphicData uri="http://schemas.openxmlformats.org/drawingml/2006/table">
            <a:tbl>
              <a:tblPr firstRow="1" bandRow="1">
                <a:tableStyleId>{5C22544A-7EE6-4342-B048-85BDC9FD1C3A}</a:tableStyleId>
              </a:tblPr>
              <a:tblGrid>
                <a:gridCol w="4412456">
                  <a:extLst>
                    <a:ext uri="{9D8B030D-6E8A-4147-A177-3AD203B41FA5}">
                      <a16:colId xmlns:a16="http://schemas.microsoft.com/office/drawing/2014/main" val="2296294268"/>
                    </a:ext>
                  </a:extLst>
                </a:gridCol>
                <a:gridCol w="4412456">
                  <a:extLst>
                    <a:ext uri="{9D8B030D-6E8A-4147-A177-3AD203B41FA5}">
                      <a16:colId xmlns:a16="http://schemas.microsoft.com/office/drawing/2014/main" val="1113082492"/>
                    </a:ext>
                  </a:extLst>
                </a:gridCol>
              </a:tblGrid>
              <a:tr h="370840">
                <a:tc>
                  <a:txBody>
                    <a:bodyPr/>
                    <a:lstStyle/>
                    <a:p>
                      <a:pPr>
                        <a:lnSpc>
                          <a:spcPts val="1575"/>
                        </a:lnSpc>
                        <a:buNone/>
                      </a:pPr>
                      <a:r>
                        <a:rPr lang="en-IN" b="1" dirty="0">
                          <a:effectLst/>
                          <a:latin typeface="Inter"/>
                        </a:rPr>
                        <a:t>Feature</a:t>
                      </a:r>
                    </a:p>
                  </a:txBody>
                  <a:tcPr marL="45720" marR="45720" marT="22860" marB="22860" anchor="ctr"/>
                </a:tc>
                <a:tc>
                  <a:txBody>
                    <a:bodyPr/>
                    <a:lstStyle/>
                    <a:p>
                      <a:pPr>
                        <a:lnSpc>
                          <a:spcPts val="1575"/>
                        </a:lnSpc>
                        <a:buNone/>
                      </a:pPr>
                      <a:r>
                        <a:rPr lang="en-IN" b="1">
                          <a:effectLst/>
                          <a:latin typeface="Inter"/>
                        </a:rPr>
                        <a:t>Description</a:t>
                      </a:r>
                    </a:p>
                  </a:txBody>
                  <a:tcPr marL="45720" marR="45720" marT="22860" marB="22860" anchor="ctr"/>
                </a:tc>
                <a:extLst>
                  <a:ext uri="{0D108BD9-81ED-4DB2-BD59-A6C34878D82A}">
                    <a16:rowId xmlns:a16="http://schemas.microsoft.com/office/drawing/2014/main" val="223149127"/>
                  </a:ext>
                </a:extLst>
              </a:tr>
              <a:tr h="370840">
                <a:tc>
                  <a:txBody>
                    <a:bodyPr/>
                    <a:lstStyle/>
                    <a:p>
                      <a:pPr>
                        <a:lnSpc>
                          <a:spcPts val="1575"/>
                        </a:lnSpc>
                        <a:buNone/>
                      </a:pPr>
                      <a:r>
                        <a:rPr lang="en-IN" b="1">
                          <a:effectLst/>
                          <a:latin typeface="Inter"/>
                        </a:rPr>
                        <a:t>Logic</a:t>
                      </a:r>
                      <a:endParaRPr lang="en-IN" b="0">
                        <a:effectLst/>
                        <a:latin typeface="Inter"/>
                      </a:endParaRPr>
                    </a:p>
                  </a:txBody>
                  <a:tcPr marL="45720" marR="45720" marT="22860" marB="22860" anchor="ctr"/>
                </a:tc>
                <a:tc>
                  <a:txBody>
                    <a:bodyPr/>
                    <a:lstStyle/>
                    <a:p>
                      <a:pPr>
                        <a:lnSpc>
                          <a:spcPts val="1575"/>
                        </a:lnSpc>
                        <a:buNone/>
                      </a:pPr>
                      <a:r>
                        <a:rPr lang="en-IN" b="0">
                          <a:effectLst/>
                          <a:latin typeface="Inter"/>
                        </a:rPr>
                        <a:t>One-to-Many (Broadcast).</a:t>
                      </a:r>
                    </a:p>
                  </a:txBody>
                  <a:tcPr marL="45720" marR="45720" marT="22860" marB="22860" anchor="ctr"/>
                </a:tc>
                <a:extLst>
                  <a:ext uri="{0D108BD9-81ED-4DB2-BD59-A6C34878D82A}">
                    <a16:rowId xmlns:a16="http://schemas.microsoft.com/office/drawing/2014/main" val="1482059314"/>
                  </a:ext>
                </a:extLst>
              </a:tr>
              <a:tr h="370840">
                <a:tc>
                  <a:txBody>
                    <a:bodyPr/>
                    <a:lstStyle/>
                    <a:p>
                      <a:pPr>
                        <a:lnSpc>
                          <a:spcPts val="1575"/>
                        </a:lnSpc>
                        <a:buNone/>
                      </a:pPr>
                      <a:r>
                        <a:rPr lang="en-IN" b="1">
                          <a:effectLst/>
                          <a:latin typeface="Inter"/>
                        </a:rPr>
                        <a:t>Channel Class</a:t>
                      </a:r>
                      <a:endParaRPr lang="en-IN" b="0">
                        <a:effectLst/>
                        <a:latin typeface="Inter"/>
                      </a:endParaRPr>
                    </a:p>
                  </a:txBody>
                  <a:tcPr marL="45720" marR="45720" marT="22860" marB="22860" anchor="ctr"/>
                </a:tc>
                <a:tc>
                  <a:txBody>
                    <a:bodyPr/>
                    <a:lstStyle/>
                    <a:p>
                      <a:pPr>
                        <a:lnSpc>
                          <a:spcPts val="1575"/>
                        </a:lnSpc>
                        <a:buNone/>
                      </a:pPr>
                      <a:r>
                        <a:rPr lang="en-IN" b="0" dirty="0" err="1">
                          <a:solidFill>
                            <a:srgbClr val="C00000"/>
                          </a:solidFill>
                          <a:effectLst/>
                          <a:latin typeface="DM Mono" panose="020B0509040201040103" pitchFamily="49" charset="0"/>
                        </a:rPr>
                        <a:t>PublishSubscribeChannel</a:t>
                      </a:r>
                      <a:r>
                        <a:rPr lang="en-IN" b="0" dirty="0">
                          <a:effectLst/>
                          <a:latin typeface="Inter"/>
                        </a:rPr>
                        <a:t>.</a:t>
                      </a:r>
                    </a:p>
                  </a:txBody>
                  <a:tcPr marL="45720" marR="45720" marT="22860" marB="22860" anchor="ctr"/>
                </a:tc>
                <a:extLst>
                  <a:ext uri="{0D108BD9-81ED-4DB2-BD59-A6C34878D82A}">
                    <a16:rowId xmlns:a16="http://schemas.microsoft.com/office/drawing/2014/main" val="400539305"/>
                  </a:ext>
                </a:extLst>
              </a:tr>
              <a:tr h="370840">
                <a:tc>
                  <a:txBody>
                    <a:bodyPr/>
                    <a:lstStyle/>
                    <a:p>
                      <a:pPr>
                        <a:lnSpc>
                          <a:spcPts val="1575"/>
                        </a:lnSpc>
                        <a:buNone/>
                      </a:pPr>
                      <a:r>
                        <a:rPr lang="en-IN" b="1">
                          <a:effectLst/>
                          <a:latin typeface="Inter"/>
                        </a:rPr>
                        <a:t>Ordering</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In Sync mode, subscribers are called sequentially. In Async mode, they run in parallel.</a:t>
                      </a:r>
                    </a:p>
                  </a:txBody>
                  <a:tcPr marL="45720" marR="45720" marT="22860" marB="22860" anchor="ctr"/>
                </a:tc>
                <a:extLst>
                  <a:ext uri="{0D108BD9-81ED-4DB2-BD59-A6C34878D82A}">
                    <a16:rowId xmlns:a16="http://schemas.microsoft.com/office/drawing/2014/main" val="4061456177"/>
                  </a:ext>
                </a:extLst>
              </a:tr>
              <a:tr h="370840">
                <a:tc>
                  <a:txBody>
                    <a:bodyPr/>
                    <a:lstStyle/>
                    <a:p>
                      <a:pPr>
                        <a:lnSpc>
                          <a:spcPts val="1575"/>
                        </a:lnSpc>
                        <a:buNone/>
                      </a:pPr>
                      <a:r>
                        <a:rPr lang="en-IN" b="1">
                          <a:effectLst/>
                          <a:latin typeface="Inter"/>
                        </a:rPr>
                        <a:t>Use Case</a:t>
                      </a:r>
                      <a:endParaRPr lang="en-IN" b="0">
                        <a:effectLst/>
                        <a:latin typeface="Inter"/>
                      </a:endParaRPr>
                    </a:p>
                  </a:txBody>
                  <a:tcPr marL="45720" marR="45720" marT="22860" marB="22860" anchor="ctr"/>
                </a:tc>
                <a:tc>
                  <a:txBody>
                    <a:bodyPr/>
                    <a:lstStyle/>
                    <a:p>
                      <a:pPr>
                        <a:lnSpc>
                          <a:spcPts val="1575"/>
                        </a:lnSpc>
                        <a:buNone/>
                      </a:pPr>
                      <a:r>
                        <a:rPr lang="en-US" b="0" dirty="0">
                          <a:effectLst/>
                          <a:latin typeface="Inter"/>
                        </a:rPr>
                        <a:t>Logging, Auditing, sending multiple notifications for one event.</a:t>
                      </a:r>
                    </a:p>
                  </a:txBody>
                  <a:tcPr marL="45720" marR="45720" marT="22860" marB="22860" anchor="ctr"/>
                </a:tc>
                <a:extLst>
                  <a:ext uri="{0D108BD9-81ED-4DB2-BD59-A6C34878D82A}">
                    <a16:rowId xmlns:a16="http://schemas.microsoft.com/office/drawing/2014/main" val="1821835398"/>
                  </a:ext>
                </a:extLst>
              </a:tr>
            </a:tbl>
          </a:graphicData>
        </a:graphic>
      </p:graphicFrame>
    </p:spTree>
    <p:extLst>
      <p:ext uri="{BB962C8B-B14F-4D97-AF65-F5344CB8AC3E}">
        <p14:creationId xmlns:p14="http://schemas.microsoft.com/office/powerpoint/2010/main" val="1646859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F9BCE-E377-B67C-29C1-AC52F9920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CE4402-B9DE-CF32-F0C2-0E38488C6338}"/>
              </a:ext>
            </a:extLst>
          </p:cNvPr>
          <p:cNvSpPr>
            <a:spLocks noGrp="1"/>
          </p:cNvSpPr>
          <p:nvPr>
            <p:ph type="title"/>
          </p:nvPr>
        </p:nvSpPr>
        <p:spPr>
          <a:xfrm>
            <a:off x="1154954" y="973668"/>
            <a:ext cx="9836507" cy="706964"/>
          </a:xfrm>
        </p:spPr>
        <p:txBody>
          <a:bodyPr/>
          <a:lstStyle/>
          <a:p>
            <a:r>
              <a:rPr lang="en-IN" dirty="0"/>
              <a:t>Error handling in </a:t>
            </a:r>
            <a:r>
              <a:rPr lang="en-IN" dirty="0" err="1"/>
              <a:t>pubsub</a:t>
            </a:r>
            <a:r>
              <a:rPr lang="en-IN" dirty="0"/>
              <a:t> -- synchronous</a:t>
            </a:r>
          </a:p>
        </p:txBody>
      </p:sp>
      <p:sp>
        <p:nvSpPr>
          <p:cNvPr id="3" name="Content Placeholder 2">
            <a:extLst>
              <a:ext uri="{FF2B5EF4-FFF2-40B4-BE49-F238E27FC236}">
                <a16:creationId xmlns:a16="http://schemas.microsoft.com/office/drawing/2014/main" id="{F037ABDF-B0BD-6BF7-F929-291E08425407}"/>
              </a:ext>
            </a:extLst>
          </p:cNvPr>
          <p:cNvSpPr>
            <a:spLocks noGrp="1"/>
          </p:cNvSpPr>
          <p:nvPr>
            <p:ph idx="1"/>
          </p:nvPr>
        </p:nvSpPr>
        <p:spPr>
          <a:xfrm>
            <a:off x="1154954" y="2603499"/>
            <a:ext cx="10690258" cy="3871945"/>
          </a:xfrm>
        </p:spPr>
        <p:txBody>
          <a:bodyPr>
            <a:normAutofit/>
          </a:bodyPr>
          <a:lstStyle/>
          <a:p>
            <a:r>
              <a:rPr lang="en-US" dirty="0"/>
              <a:t>In </a:t>
            </a:r>
            <a:r>
              <a:rPr lang="en-US" b="1" dirty="0"/>
              <a:t>Synchronous Mode</a:t>
            </a:r>
            <a:r>
              <a:rPr lang="en-US" dirty="0"/>
              <a:t>, everything happens on the </a:t>
            </a:r>
            <a:r>
              <a:rPr lang="en-US" b="1" dirty="0"/>
              <a:t>same thread</a:t>
            </a:r>
            <a:r>
              <a:rPr lang="en-US" dirty="0"/>
              <a:t>. </a:t>
            </a:r>
          </a:p>
          <a:p>
            <a:r>
              <a:rPr lang="en-US" dirty="0"/>
              <a:t>This makes error handling much more like traditional Java programming, but with some "Spring Integration" twists.</a:t>
            </a:r>
          </a:p>
          <a:p>
            <a:r>
              <a:rPr lang="en-US" dirty="0"/>
              <a:t>Because the sender and the subscriber are on the same thread, when a subscriber throws an exception, it </a:t>
            </a:r>
            <a:r>
              <a:rPr lang="en-US" b="1" dirty="0"/>
              <a:t>bubbles up</a:t>
            </a:r>
            <a:r>
              <a:rPr lang="en-US" dirty="0"/>
              <a:t> the call stack directly back to the sender.</a:t>
            </a:r>
          </a:p>
          <a:p>
            <a:r>
              <a:rPr lang="en-US" dirty="0"/>
              <a:t>Here are the 4 ways to handle errors in Synchronous mode:</a:t>
            </a:r>
          </a:p>
          <a:p>
            <a:r>
              <a:rPr lang="en-US" b="1" dirty="0"/>
              <a:t>Simple "Try-Catch" (At the Sender)</a:t>
            </a:r>
          </a:p>
          <a:p>
            <a:r>
              <a:rPr lang="en-US" b="1" dirty="0" err="1"/>
              <a:t>ExpressionEvaluatingRequestHandlerAdvice</a:t>
            </a:r>
            <a:r>
              <a:rPr lang="en-US" b="1" dirty="0"/>
              <a:t> (The "Logic" Way)</a:t>
            </a:r>
          </a:p>
          <a:p>
            <a:r>
              <a:rPr lang="en-US" b="1" dirty="0" err="1"/>
              <a:t>errorChannel</a:t>
            </a:r>
            <a:r>
              <a:rPr lang="en-US" b="1" dirty="0"/>
              <a:t> Header (The "Dynamic" Way)</a:t>
            </a:r>
          </a:p>
          <a:p>
            <a:r>
              <a:rPr lang="en-US" b="1" dirty="0"/>
              <a:t>Transactional Rollback</a:t>
            </a:r>
          </a:p>
          <a:p>
            <a:pPr marL="0" indent="0">
              <a:buNone/>
            </a:pPr>
            <a:endParaRPr lang="en-US" b="1" dirty="0"/>
          </a:p>
        </p:txBody>
      </p:sp>
    </p:spTree>
    <p:extLst>
      <p:ext uri="{BB962C8B-B14F-4D97-AF65-F5344CB8AC3E}">
        <p14:creationId xmlns:p14="http://schemas.microsoft.com/office/powerpoint/2010/main" val="2611667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2A5AC-AF77-C0A8-C43E-4EFEA2A0C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547C3A-D398-294B-D07A-68DD698EFC1A}"/>
              </a:ext>
            </a:extLst>
          </p:cNvPr>
          <p:cNvSpPr>
            <a:spLocks noGrp="1"/>
          </p:cNvSpPr>
          <p:nvPr>
            <p:ph type="title"/>
          </p:nvPr>
        </p:nvSpPr>
        <p:spPr/>
        <p:txBody>
          <a:bodyPr/>
          <a:lstStyle/>
          <a:p>
            <a:r>
              <a:rPr lang="en-US" b="1" dirty="0"/>
              <a:t>Simple "Try-Catch" (At the Sender)</a:t>
            </a:r>
            <a:endParaRPr lang="en-IN" dirty="0"/>
          </a:p>
        </p:txBody>
      </p:sp>
      <p:sp>
        <p:nvSpPr>
          <p:cNvPr id="3" name="Content Placeholder 2">
            <a:extLst>
              <a:ext uri="{FF2B5EF4-FFF2-40B4-BE49-F238E27FC236}">
                <a16:creationId xmlns:a16="http://schemas.microsoft.com/office/drawing/2014/main" id="{EE7975B9-86BB-9A3C-E37F-EC9FCFB42FF5}"/>
              </a:ext>
            </a:extLst>
          </p:cNvPr>
          <p:cNvSpPr>
            <a:spLocks noGrp="1"/>
          </p:cNvSpPr>
          <p:nvPr>
            <p:ph idx="1"/>
          </p:nvPr>
        </p:nvSpPr>
        <p:spPr>
          <a:xfrm>
            <a:off x="1154954" y="2603499"/>
            <a:ext cx="10690258" cy="3871945"/>
          </a:xfrm>
        </p:spPr>
        <p:txBody>
          <a:bodyPr/>
          <a:lstStyle/>
          <a:p>
            <a:r>
              <a:rPr lang="en-US" dirty="0"/>
              <a:t>Since it's the same thread, you can literally wrap your send() call in a standard Java try-catch block</a:t>
            </a:r>
            <a:endParaRPr lang="en-IN" dirty="0"/>
          </a:p>
        </p:txBody>
      </p:sp>
      <p:sp>
        <p:nvSpPr>
          <p:cNvPr id="5" name="TextBox 4">
            <a:extLst>
              <a:ext uri="{FF2B5EF4-FFF2-40B4-BE49-F238E27FC236}">
                <a16:creationId xmlns:a16="http://schemas.microsoft.com/office/drawing/2014/main" id="{FD8B7860-07DF-4577-87C8-30278ABC36E2}"/>
              </a:ext>
            </a:extLst>
          </p:cNvPr>
          <p:cNvSpPr txBox="1"/>
          <p:nvPr/>
        </p:nvSpPr>
        <p:spPr>
          <a:xfrm>
            <a:off x="1368101" y="3575586"/>
            <a:ext cx="9530054" cy="1754326"/>
          </a:xfrm>
          <a:prstGeom prst="rect">
            <a:avLst/>
          </a:prstGeom>
          <a:solidFill>
            <a:schemeClr val="accent2"/>
          </a:solidFill>
        </p:spPr>
        <p:txBody>
          <a:bodyPr wrap="square">
            <a:spAutoFit/>
          </a:bodyPr>
          <a:lstStyle/>
          <a:p>
            <a:r>
              <a:rPr lang="en-IN" dirty="0">
                <a:solidFill>
                  <a:schemeClr val="accent5">
                    <a:lumMod val="20000"/>
                    <a:lumOff val="80000"/>
                  </a:schemeClr>
                </a:solidFill>
              </a:rPr>
              <a:t>try {</a:t>
            </a:r>
          </a:p>
          <a:p>
            <a:r>
              <a:rPr lang="en-IN" dirty="0">
                <a:solidFill>
                  <a:schemeClr val="accent5">
                    <a:lumMod val="20000"/>
                    <a:lumOff val="80000"/>
                  </a:schemeClr>
                </a:solidFill>
              </a:rPr>
              <a:t>    </a:t>
            </a:r>
            <a:r>
              <a:rPr lang="en-IN" dirty="0" err="1">
                <a:solidFill>
                  <a:schemeClr val="accent5">
                    <a:lumMod val="20000"/>
                    <a:lumOff val="80000"/>
                  </a:schemeClr>
                </a:solidFill>
              </a:rPr>
              <a:t>myChannel.send</a:t>
            </a:r>
            <a:r>
              <a:rPr lang="en-IN" dirty="0">
                <a:solidFill>
                  <a:schemeClr val="accent5">
                    <a:lumMod val="20000"/>
                    <a:lumOff val="80000"/>
                  </a:schemeClr>
                </a:solidFill>
              </a:rPr>
              <a:t>(</a:t>
            </a:r>
            <a:r>
              <a:rPr lang="en-IN" dirty="0" err="1">
                <a:solidFill>
                  <a:schemeClr val="accent5">
                    <a:lumMod val="20000"/>
                    <a:lumOff val="80000"/>
                  </a:schemeClr>
                </a:solidFill>
              </a:rPr>
              <a:t>MessageBuilder.withPayload</a:t>
            </a:r>
            <a:r>
              <a:rPr lang="en-IN" dirty="0">
                <a:solidFill>
                  <a:schemeClr val="accent5">
                    <a:lumMod val="20000"/>
                    <a:lumOff val="80000"/>
                  </a:schemeClr>
                </a:solidFill>
              </a:rPr>
              <a:t>("Hello").build());</a:t>
            </a:r>
          </a:p>
          <a:p>
            <a:r>
              <a:rPr lang="en-IN" dirty="0">
                <a:solidFill>
                  <a:schemeClr val="accent5">
                    <a:lumMod val="20000"/>
                    <a:lumOff val="80000"/>
                  </a:schemeClr>
                </a:solidFill>
              </a:rPr>
              <a:t>} catch (</a:t>
            </a:r>
            <a:r>
              <a:rPr lang="en-IN" dirty="0" err="1">
                <a:solidFill>
                  <a:schemeClr val="accent5">
                    <a:lumMod val="20000"/>
                    <a:lumOff val="80000"/>
                  </a:schemeClr>
                </a:solidFill>
              </a:rPr>
              <a:t>MessagingException</a:t>
            </a:r>
            <a:r>
              <a:rPr lang="en-IN" dirty="0">
                <a:solidFill>
                  <a:schemeClr val="accent5">
                    <a:lumMod val="20000"/>
                    <a:lumOff val="80000"/>
                  </a:schemeClr>
                </a:solidFill>
              </a:rPr>
              <a:t> e) {</a:t>
            </a:r>
          </a:p>
          <a:p>
            <a:r>
              <a:rPr lang="en-IN" dirty="0">
                <a:solidFill>
                  <a:schemeClr val="accent5">
                    <a:lumMod val="20000"/>
                    <a:lumOff val="80000"/>
                  </a:schemeClr>
                </a:solidFill>
              </a:rPr>
              <a:t>    </a:t>
            </a:r>
            <a:r>
              <a:rPr lang="en-IN" dirty="0" err="1">
                <a:solidFill>
                  <a:schemeClr val="accent5">
                    <a:lumMod val="20000"/>
                    <a:lumOff val="80000"/>
                  </a:schemeClr>
                </a:solidFill>
              </a:rPr>
              <a:t>System.out.println</a:t>
            </a:r>
            <a:r>
              <a:rPr lang="en-IN" dirty="0">
                <a:solidFill>
                  <a:schemeClr val="accent5">
                    <a:lumMod val="20000"/>
                    <a:lumOff val="80000"/>
                  </a:schemeClr>
                </a:solidFill>
              </a:rPr>
              <a:t>("The subscriber failed: " + </a:t>
            </a:r>
            <a:r>
              <a:rPr lang="en-IN" dirty="0" err="1">
                <a:solidFill>
                  <a:schemeClr val="accent5">
                    <a:lumMod val="20000"/>
                    <a:lumOff val="80000"/>
                  </a:schemeClr>
                </a:solidFill>
              </a:rPr>
              <a:t>e.getCause</a:t>
            </a:r>
            <a:r>
              <a:rPr lang="en-IN" dirty="0">
                <a:solidFill>
                  <a:schemeClr val="accent5">
                    <a:lumMod val="20000"/>
                    <a:lumOff val="80000"/>
                  </a:schemeClr>
                </a:solidFill>
              </a:rPr>
              <a:t>().</a:t>
            </a:r>
            <a:r>
              <a:rPr lang="en-IN" dirty="0" err="1">
                <a:solidFill>
                  <a:schemeClr val="accent5">
                    <a:lumMod val="20000"/>
                    <a:lumOff val="80000"/>
                  </a:schemeClr>
                </a:solidFill>
              </a:rPr>
              <a:t>getMessage</a:t>
            </a:r>
            <a:r>
              <a:rPr lang="en-IN" dirty="0">
                <a:solidFill>
                  <a:schemeClr val="accent5">
                    <a:lumMod val="20000"/>
                    <a:lumOff val="80000"/>
                  </a:schemeClr>
                </a:solidFill>
              </a:rPr>
              <a:t>());</a:t>
            </a:r>
          </a:p>
          <a:p>
            <a:r>
              <a:rPr lang="en-IN" dirty="0">
                <a:solidFill>
                  <a:schemeClr val="accent5">
                    <a:lumMod val="20000"/>
                    <a:lumOff val="80000"/>
                  </a:schemeClr>
                </a:solidFill>
              </a:rPr>
              <a:t>    // You can handle the error right here</a:t>
            </a:r>
          </a:p>
          <a:p>
            <a:r>
              <a:rPr lang="en-IN" dirty="0">
                <a:solidFill>
                  <a:schemeClr val="accent5">
                    <a:lumMod val="20000"/>
                    <a:lumOff val="80000"/>
                  </a:schemeClr>
                </a:solidFill>
              </a:rPr>
              <a:t>}</a:t>
            </a:r>
          </a:p>
        </p:txBody>
      </p:sp>
    </p:spTree>
    <p:extLst>
      <p:ext uri="{BB962C8B-B14F-4D97-AF65-F5344CB8AC3E}">
        <p14:creationId xmlns:p14="http://schemas.microsoft.com/office/powerpoint/2010/main" val="76906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803F0-91FA-1331-070A-7529EC2F89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57AB43-0019-CA5E-D989-C24F3C28C376}"/>
              </a:ext>
            </a:extLst>
          </p:cNvPr>
          <p:cNvSpPr>
            <a:spLocks noGrp="1"/>
          </p:cNvSpPr>
          <p:nvPr>
            <p:ph type="title"/>
          </p:nvPr>
        </p:nvSpPr>
        <p:spPr>
          <a:xfrm>
            <a:off x="1154954" y="973668"/>
            <a:ext cx="10186405" cy="706964"/>
          </a:xfrm>
        </p:spPr>
        <p:txBody>
          <a:bodyPr/>
          <a:lstStyle/>
          <a:p>
            <a:r>
              <a:rPr lang="en-US" b="1" dirty="0" err="1"/>
              <a:t>ExpressionEvaluatingRequestHandlerAdvice</a:t>
            </a:r>
            <a:r>
              <a:rPr lang="en-US" b="1" dirty="0"/>
              <a:t> (The "Logic" Way)</a:t>
            </a:r>
            <a:endParaRPr lang="en-IN" dirty="0"/>
          </a:p>
        </p:txBody>
      </p:sp>
      <p:sp>
        <p:nvSpPr>
          <p:cNvPr id="3" name="Content Placeholder 2">
            <a:extLst>
              <a:ext uri="{FF2B5EF4-FFF2-40B4-BE49-F238E27FC236}">
                <a16:creationId xmlns:a16="http://schemas.microsoft.com/office/drawing/2014/main" id="{742C0919-39AA-9FD2-03A3-CDA3E560ED87}"/>
              </a:ext>
            </a:extLst>
          </p:cNvPr>
          <p:cNvSpPr>
            <a:spLocks noGrp="1"/>
          </p:cNvSpPr>
          <p:nvPr>
            <p:ph idx="1"/>
          </p:nvPr>
        </p:nvSpPr>
        <p:spPr>
          <a:xfrm>
            <a:off x="1154954" y="2603499"/>
            <a:ext cx="10690258" cy="3871945"/>
          </a:xfrm>
        </p:spPr>
        <p:txBody>
          <a:bodyPr/>
          <a:lstStyle/>
          <a:p>
            <a:r>
              <a:rPr lang="en-US" dirty="0"/>
              <a:t>This is a more "Spring-style" way to handle errors within the flow itself. </a:t>
            </a:r>
          </a:p>
          <a:p>
            <a:pPr marL="0" indent="0">
              <a:buNone/>
            </a:pPr>
            <a:r>
              <a:rPr lang="en-US" dirty="0"/>
              <a:t>It allows you to define:</a:t>
            </a:r>
          </a:p>
          <a:p>
            <a:r>
              <a:rPr lang="en-US" dirty="0"/>
              <a:t>What to do if it </a:t>
            </a:r>
            <a:r>
              <a:rPr lang="en-US" b="1" dirty="0"/>
              <a:t>succeeds</a:t>
            </a:r>
            <a:r>
              <a:rPr lang="en-US" dirty="0"/>
              <a:t>.</a:t>
            </a:r>
          </a:p>
          <a:p>
            <a:r>
              <a:rPr lang="en-US" dirty="0"/>
              <a:t>What to do if it </a:t>
            </a:r>
            <a:r>
              <a:rPr lang="en-US" b="1" dirty="0"/>
              <a:t>fails</a:t>
            </a:r>
            <a:r>
              <a:rPr lang="en-US" dirty="0"/>
              <a:t>.</a:t>
            </a:r>
          </a:p>
          <a:p>
            <a:endParaRPr lang="en-IN" dirty="0"/>
          </a:p>
        </p:txBody>
      </p:sp>
    </p:spTree>
    <p:extLst>
      <p:ext uri="{BB962C8B-B14F-4D97-AF65-F5344CB8AC3E}">
        <p14:creationId xmlns:p14="http://schemas.microsoft.com/office/powerpoint/2010/main" val="26555821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223D07A-56C6-8EEF-7D46-D2646A4FE2CE}"/>
              </a:ext>
            </a:extLst>
          </p:cNvPr>
          <p:cNvSpPr txBox="1"/>
          <p:nvPr/>
        </p:nvSpPr>
        <p:spPr>
          <a:xfrm>
            <a:off x="472362" y="307553"/>
            <a:ext cx="11172242" cy="3693319"/>
          </a:xfrm>
          <a:prstGeom prst="rect">
            <a:avLst/>
          </a:prstGeom>
          <a:solidFill>
            <a:schemeClr val="accent2"/>
          </a:solidFill>
        </p:spPr>
        <p:txBody>
          <a:bodyPr wrap="square">
            <a:spAutoFit/>
          </a:bodyPr>
          <a:lstStyle/>
          <a:p>
            <a:r>
              <a:rPr lang="en-IN" dirty="0">
                <a:solidFill>
                  <a:schemeClr val="accent5">
                    <a:lumMod val="20000"/>
                    <a:lumOff val="80000"/>
                  </a:schemeClr>
                </a:solidFill>
              </a:rPr>
              <a:t>@Bean</a:t>
            </a:r>
          </a:p>
          <a:p>
            <a:r>
              <a:rPr lang="en-IN" dirty="0">
                <a:solidFill>
                  <a:schemeClr val="accent5">
                    <a:lumMod val="20000"/>
                    <a:lumOff val="80000"/>
                  </a:schemeClr>
                </a:solidFill>
              </a:rPr>
              <a:t>public </a:t>
            </a:r>
            <a:r>
              <a:rPr lang="en-IN" dirty="0" err="1">
                <a:solidFill>
                  <a:schemeClr val="accent5">
                    <a:lumMod val="20000"/>
                    <a:lumOff val="80000"/>
                  </a:schemeClr>
                </a:solidFill>
              </a:rPr>
              <a:t>ExpressionEvaluatingRequestHandlerAdvice</a:t>
            </a:r>
            <a:r>
              <a:rPr lang="en-IN" dirty="0">
                <a:solidFill>
                  <a:schemeClr val="accent5">
                    <a:lumMod val="20000"/>
                    <a:lumOff val="80000"/>
                  </a:schemeClr>
                </a:solidFill>
              </a:rPr>
              <a:t> </a:t>
            </a:r>
            <a:r>
              <a:rPr lang="en-IN" dirty="0" err="1">
                <a:solidFill>
                  <a:schemeClr val="accent5">
                    <a:lumMod val="20000"/>
                    <a:lumOff val="80000"/>
                  </a:schemeClr>
                </a:solidFill>
              </a:rPr>
              <a:t>myErrorAdvice</a:t>
            </a:r>
            <a:r>
              <a:rPr lang="en-IN" dirty="0">
                <a:solidFill>
                  <a:schemeClr val="accent5">
                    <a:lumMod val="20000"/>
                    <a:lumOff val="80000"/>
                  </a:schemeClr>
                </a:solidFill>
              </a:rPr>
              <a:t>() {</a:t>
            </a:r>
          </a:p>
          <a:p>
            <a:r>
              <a:rPr lang="en-IN" dirty="0">
                <a:solidFill>
                  <a:schemeClr val="accent5">
                    <a:lumMod val="20000"/>
                    <a:lumOff val="80000"/>
                  </a:schemeClr>
                </a:solidFill>
              </a:rPr>
              <a:t>    </a:t>
            </a:r>
            <a:r>
              <a:rPr lang="en-IN" dirty="0" err="1">
                <a:solidFill>
                  <a:schemeClr val="accent5">
                    <a:lumMod val="20000"/>
                    <a:lumOff val="80000"/>
                  </a:schemeClr>
                </a:solidFill>
              </a:rPr>
              <a:t>ExpressionEvaluatingRequestHandlerAdvice</a:t>
            </a:r>
            <a:r>
              <a:rPr lang="en-IN" dirty="0">
                <a:solidFill>
                  <a:schemeClr val="accent5">
                    <a:lumMod val="20000"/>
                    <a:lumOff val="80000"/>
                  </a:schemeClr>
                </a:solidFill>
              </a:rPr>
              <a:t> advice = new </a:t>
            </a:r>
            <a:r>
              <a:rPr lang="en-IN" dirty="0" err="1">
                <a:solidFill>
                  <a:schemeClr val="accent5">
                    <a:lumMod val="20000"/>
                    <a:lumOff val="80000"/>
                  </a:schemeClr>
                </a:solidFill>
              </a:rPr>
              <a:t>ExpressionEvaluatingRequestHandlerAdvice</a:t>
            </a:r>
            <a:r>
              <a:rPr lang="en-IN" dirty="0">
                <a:solidFill>
                  <a:schemeClr val="accent5">
                    <a:lumMod val="20000"/>
                    <a:lumOff val="80000"/>
                  </a:schemeClr>
                </a:solidFill>
              </a:rPr>
              <a:t>();</a:t>
            </a:r>
          </a:p>
          <a:p>
            <a:r>
              <a:rPr lang="en-IN" dirty="0">
                <a:solidFill>
                  <a:schemeClr val="accent5">
                    <a:lumMod val="20000"/>
                    <a:lumOff val="80000"/>
                  </a:schemeClr>
                </a:solidFill>
              </a:rPr>
              <a:t>    </a:t>
            </a:r>
          </a:p>
          <a:p>
            <a:r>
              <a:rPr lang="en-IN" dirty="0">
                <a:solidFill>
                  <a:schemeClr val="accent5">
                    <a:lumMod val="20000"/>
                    <a:lumOff val="80000"/>
                  </a:schemeClr>
                </a:solidFill>
              </a:rPr>
              <a:t>    // If it fails, send the error to this channel</a:t>
            </a:r>
          </a:p>
          <a:p>
            <a:r>
              <a:rPr lang="en-IN" dirty="0">
                <a:solidFill>
                  <a:schemeClr val="accent5">
                    <a:lumMod val="20000"/>
                    <a:lumOff val="80000"/>
                  </a:schemeClr>
                </a:solidFill>
              </a:rPr>
              <a:t>    </a:t>
            </a:r>
            <a:r>
              <a:rPr lang="en-IN" dirty="0" err="1">
                <a:solidFill>
                  <a:schemeClr val="accent5">
                    <a:lumMod val="20000"/>
                    <a:lumOff val="80000"/>
                  </a:schemeClr>
                </a:solidFill>
              </a:rPr>
              <a:t>advice.setFailureChannelName</a:t>
            </a:r>
            <a:r>
              <a:rPr lang="en-IN" dirty="0">
                <a:solidFill>
                  <a:schemeClr val="accent5">
                    <a:lumMod val="20000"/>
                    <a:lumOff val="80000"/>
                  </a:schemeClr>
                </a:solidFill>
              </a:rPr>
              <a:t>("</a:t>
            </a:r>
            <a:r>
              <a:rPr lang="en-IN" dirty="0" err="1">
                <a:solidFill>
                  <a:schemeClr val="accent5">
                    <a:lumMod val="20000"/>
                    <a:lumOff val="80000"/>
                  </a:schemeClr>
                </a:solidFill>
              </a:rPr>
              <a:t>recoveryChannel</a:t>
            </a:r>
            <a:r>
              <a:rPr lang="en-IN" dirty="0">
                <a:solidFill>
                  <a:schemeClr val="accent5">
                    <a:lumMod val="20000"/>
                    <a:lumOff val="80000"/>
                  </a:schemeClr>
                </a:solidFill>
              </a:rPr>
              <a:t>");</a:t>
            </a:r>
          </a:p>
          <a:p>
            <a:r>
              <a:rPr lang="en-IN" dirty="0">
                <a:solidFill>
                  <a:schemeClr val="accent5">
                    <a:lumMod val="20000"/>
                    <a:lumOff val="80000"/>
                  </a:schemeClr>
                </a:solidFill>
              </a:rPr>
              <a:t>    </a:t>
            </a:r>
          </a:p>
          <a:p>
            <a:r>
              <a:rPr lang="en-IN" dirty="0">
                <a:solidFill>
                  <a:schemeClr val="accent5">
                    <a:lumMod val="20000"/>
                    <a:lumOff val="80000"/>
                  </a:schemeClr>
                </a:solidFill>
              </a:rPr>
              <a:t>    // If you want to "swallow" the error so it doesn't crash the sender:</a:t>
            </a:r>
          </a:p>
          <a:p>
            <a:r>
              <a:rPr lang="en-IN" dirty="0">
                <a:solidFill>
                  <a:schemeClr val="accent5">
                    <a:lumMod val="20000"/>
                    <a:lumOff val="80000"/>
                  </a:schemeClr>
                </a:solidFill>
              </a:rPr>
              <a:t>    </a:t>
            </a:r>
            <a:r>
              <a:rPr lang="en-IN" dirty="0" err="1">
                <a:solidFill>
                  <a:schemeClr val="accent5">
                    <a:lumMod val="20000"/>
                    <a:lumOff val="80000"/>
                  </a:schemeClr>
                </a:solidFill>
              </a:rPr>
              <a:t>advice.setReturnFailureExpressionResult</a:t>
            </a:r>
            <a:r>
              <a:rPr lang="en-IN" dirty="0">
                <a:solidFill>
                  <a:schemeClr val="accent5">
                    <a:lumMod val="20000"/>
                    <a:lumOff val="80000"/>
                  </a:schemeClr>
                </a:solidFill>
              </a:rPr>
              <a:t>(true); </a:t>
            </a:r>
          </a:p>
          <a:p>
            <a:r>
              <a:rPr lang="en-IN" dirty="0">
                <a:solidFill>
                  <a:schemeClr val="accent5">
                    <a:lumMod val="20000"/>
                    <a:lumOff val="80000"/>
                  </a:schemeClr>
                </a:solidFill>
              </a:rPr>
              <a:t>    </a:t>
            </a:r>
          </a:p>
          <a:p>
            <a:r>
              <a:rPr lang="en-IN" dirty="0">
                <a:solidFill>
                  <a:schemeClr val="accent5">
                    <a:lumMod val="20000"/>
                    <a:lumOff val="80000"/>
                  </a:schemeClr>
                </a:solidFill>
              </a:rPr>
              <a:t>    return advice;</a:t>
            </a:r>
          </a:p>
          <a:p>
            <a:r>
              <a:rPr lang="en-IN" dirty="0">
                <a:solidFill>
                  <a:schemeClr val="accent5">
                    <a:lumMod val="20000"/>
                    <a:lumOff val="80000"/>
                  </a:schemeClr>
                </a:solidFill>
              </a:rPr>
              <a:t>}</a:t>
            </a:r>
          </a:p>
        </p:txBody>
      </p:sp>
      <p:sp>
        <p:nvSpPr>
          <p:cNvPr id="11" name="TextBox 10">
            <a:extLst>
              <a:ext uri="{FF2B5EF4-FFF2-40B4-BE49-F238E27FC236}">
                <a16:creationId xmlns:a16="http://schemas.microsoft.com/office/drawing/2014/main" id="{0128763A-40C8-DA3F-8760-F769F6042490}"/>
              </a:ext>
            </a:extLst>
          </p:cNvPr>
          <p:cNvSpPr txBox="1"/>
          <p:nvPr/>
        </p:nvSpPr>
        <p:spPr>
          <a:xfrm>
            <a:off x="3430165" y="4121427"/>
            <a:ext cx="8289083" cy="2308324"/>
          </a:xfrm>
          <a:prstGeom prst="rect">
            <a:avLst/>
          </a:prstGeom>
          <a:noFill/>
        </p:spPr>
        <p:txBody>
          <a:bodyPr wrap="square">
            <a:spAutoFit/>
          </a:bodyPr>
          <a:lstStyle/>
          <a:p>
            <a:r>
              <a:rPr lang="en-IN" dirty="0"/>
              <a:t>@Bean</a:t>
            </a:r>
          </a:p>
          <a:p>
            <a:r>
              <a:rPr lang="en-IN" dirty="0"/>
              <a:t>public </a:t>
            </a:r>
            <a:r>
              <a:rPr lang="en-IN" dirty="0" err="1"/>
              <a:t>IntegrationFlow</a:t>
            </a:r>
            <a:r>
              <a:rPr lang="en-IN" dirty="0"/>
              <a:t> </a:t>
            </a:r>
            <a:r>
              <a:rPr lang="en-IN" dirty="0" err="1"/>
              <a:t>syncFlow</a:t>
            </a:r>
            <a:r>
              <a:rPr lang="en-IN" dirty="0"/>
              <a:t>() {</a:t>
            </a:r>
          </a:p>
          <a:p>
            <a:r>
              <a:rPr lang="en-IN" dirty="0"/>
              <a:t>    return </a:t>
            </a:r>
            <a:r>
              <a:rPr lang="en-IN" dirty="0" err="1"/>
              <a:t>IntegrationFlow.from</a:t>
            </a:r>
            <a:r>
              <a:rPr lang="en-IN" dirty="0"/>
              <a:t>("</a:t>
            </a:r>
            <a:r>
              <a:rPr lang="en-IN" dirty="0" err="1"/>
              <a:t>inputChannel</a:t>
            </a:r>
            <a:r>
              <a:rPr lang="en-IN" dirty="0"/>
              <a:t>")</a:t>
            </a:r>
          </a:p>
          <a:p>
            <a:r>
              <a:rPr lang="en-IN" dirty="0"/>
              <a:t>            .handle(m -&gt; {</a:t>
            </a:r>
          </a:p>
          <a:p>
            <a:r>
              <a:rPr lang="en-IN" dirty="0"/>
              <a:t>                throw new </a:t>
            </a:r>
            <a:r>
              <a:rPr lang="en-IN" dirty="0" err="1"/>
              <a:t>RuntimeException</a:t>
            </a:r>
            <a:r>
              <a:rPr lang="en-IN" dirty="0"/>
              <a:t>("Something went wrong!");</a:t>
            </a:r>
          </a:p>
          <a:p>
            <a:r>
              <a:rPr lang="en-IN" dirty="0"/>
              <a:t>            }, e -&gt; </a:t>
            </a:r>
            <a:r>
              <a:rPr lang="en-IN" dirty="0" err="1"/>
              <a:t>e.advice</a:t>
            </a:r>
            <a:r>
              <a:rPr lang="en-IN" dirty="0"/>
              <a:t>(</a:t>
            </a:r>
            <a:r>
              <a:rPr lang="en-IN" dirty="0" err="1"/>
              <a:t>myErrorAdvice</a:t>
            </a:r>
            <a:r>
              <a:rPr lang="en-IN" dirty="0"/>
              <a:t>())) </a:t>
            </a:r>
          </a:p>
          <a:p>
            <a:r>
              <a:rPr lang="en-IN" dirty="0"/>
              <a:t>            .get();</a:t>
            </a:r>
          </a:p>
          <a:p>
            <a:r>
              <a:rPr lang="en-IN" dirty="0"/>
              <a:t>}</a:t>
            </a:r>
          </a:p>
        </p:txBody>
      </p:sp>
    </p:spTree>
    <p:extLst>
      <p:ext uri="{BB962C8B-B14F-4D97-AF65-F5344CB8AC3E}">
        <p14:creationId xmlns:p14="http://schemas.microsoft.com/office/powerpoint/2010/main" val="22917950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EA246-34B1-655F-BAC7-3B7985451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2FB236-8D8C-5CEF-3CEC-336B30F9391D}"/>
              </a:ext>
            </a:extLst>
          </p:cNvPr>
          <p:cNvSpPr>
            <a:spLocks noGrp="1"/>
          </p:cNvSpPr>
          <p:nvPr>
            <p:ph type="title"/>
          </p:nvPr>
        </p:nvSpPr>
        <p:spPr>
          <a:xfrm>
            <a:off x="1154954" y="973668"/>
            <a:ext cx="10237724" cy="706964"/>
          </a:xfrm>
        </p:spPr>
        <p:txBody>
          <a:bodyPr/>
          <a:lstStyle/>
          <a:p>
            <a:r>
              <a:rPr lang="en-US" b="1" dirty="0" err="1"/>
              <a:t>errorChannel</a:t>
            </a:r>
            <a:r>
              <a:rPr lang="en-US" b="1" dirty="0"/>
              <a:t> Header (The "Dynamic" Way)</a:t>
            </a:r>
            <a:endParaRPr lang="en-IN" dirty="0"/>
          </a:p>
        </p:txBody>
      </p:sp>
      <p:sp>
        <p:nvSpPr>
          <p:cNvPr id="3" name="Content Placeholder 2">
            <a:extLst>
              <a:ext uri="{FF2B5EF4-FFF2-40B4-BE49-F238E27FC236}">
                <a16:creationId xmlns:a16="http://schemas.microsoft.com/office/drawing/2014/main" id="{1CCA27E5-3013-A523-6ED4-7B78DF5E321E}"/>
              </a:ext>
            </a:extLst>
          </p:cNvPr>
          <p:cNvSpPr>
            <a:spLocks noGrp="1"/>
          </p:cNvSpPr>
          <p:nvPr>
            <p:ph idx="1"/>
          </p:nvPr>
        </p:nvSpPr>
        <p:spPr>
          <a:xfrm>
            <a:off x="249885" y="2267840"/>
            <a:ext cx="10690258" cy="3871945"/>
          </a:xfrm>
        </p:spPr>
        <p:txBody>
          <a:bodyPr/>
          <a:lstStyle/>
          <a:p>
            <a:r>
              <a:rPr lang="en-US" dirty="0"/>
              <a:t>Very powerful feature. </a:t>
            </a:r>
          </a:p>
          <a:p>
            <a:r>
              <a:rPr lang="en-US" dirty="0"/>
              <a:t>Can tell the message where its own error should go by attaching a header. </a:t>
            </a:r>
          </a:p>
          <a:p>
            <a:r>
              <a:rPr lang="en-US" dirty="0"/>
              <a:t>If any component in the synchronous chain fails, Spring looks for this header and sends the error there.</a:t>
            </a:r>
          </a:p>
          <a:p>
            <a:endParaRPr lang="en-IN" dirty="0"/>
          </a:p>
        </p:txBody>
      </p:sp>
      <p:sp>
        <p:nvSpPr>
          <p:cNvPr id="7" name="TextBox 6">
            <a:extLst>
              <a:ext uri="{FF2B5EF4-FFF2-40B4-BE49-F238E27FC236}">
                <a16:creationId xmlns:a16="http://schemas.microsoft.com/office/drawing/2014/main" id="{2DCE5983-02D6-0B69-FF47-446EFE13937E}"/>
              </a:ext>
            </a:extLst>
          </p:cNvPr>
          <p:cNvSpPr txBox="1"/>
          <p:nvPr/>
        </p:nvSpPr>
        <p:spPr>
          <a:xfrm>
            <a:off x="2389803" y="3465148"/>
            <a:ext cx="8624985" cy="1477328"/>
          </a:xfrm>
          <a:prstGeom prst="rect">
            <a:avLst/>
          </a:prstGeom>
          <a:solidFill>
            <a:schemeClr val="accent2"/>
          </a:solidFill>
        </p:spPr>
        <p:txBody>
          <a:bodyPr wrap="square">
            <a:spAutoFit/>
          </a:bodyPr>
          <a:lstStyle/>
          <a:p>
            <a:r>
              <a:rPr lang="en-IN" dirty="0">
                <a:solidFill>
                  <a:schemeClr val="accent5">
                    <a:lumMod val="20000"/>
                    <a:lumOff val="80000"/>
                  </a:schemeClr>
                </a:solidFill>
              </a:rPr>
              <a:t>// SENDER SIDE</a:t>
            </a:r>
          </a:p>
          <a:p>
            <a:r>
              <a:rPr lang="en-IN" dirty="0">
                <a:solidFill>
                  <a:schemeClr val="accent5">
                    <a:lumMod val="20000"/>
                    <a:lumOff val="80000"/>
                  </a:schemeClr>
                </a:solidFill>
              </a:rPr>
              <a:t>Message&lt;String&gt; message = </a:t>
            </a:r>
            <a:r>
              <a:rPr lang="en-IN" dirty="0" err="1">
                <a:solidFill>
                  <a:schemeClr val="accent5">
                    <a:lumMod val="20000"/>
                    <a:lumOff val="80000"/>
                  </a:schemeClr>
                </a:solidFill>
              </a:rPr>
              <a:t>MessageBuilder.withPayload</a:t>
            </a:r>
            <a:r>
              <a:rPr lang="en-IN" dirty="0">
                <a:solidFill>
                  <a:schemeClr val="accent5">
                    <a:lumMod val="20000"/>
                    <a:lumOff val="80000"/>
                  </a:schemeClr>
                </a:solidFill>
              </a:rPr>
              <a:t>("Data")</a:t>
            </a:r>
          </a:p>
          <a:p>
            <a:r>
              <a:rPr lang="en-IN" dirty="0">
                <a:solidFill>
                  <a:schemeClr val="accent5">
                    <a:lumMod val="20000"/>
                    <a:lumOff val="80000"/>
                  </a:schemeClr>
                </a:solidFill>
              </a:rPr>
              <a:t>       </a:t>
            </a:r>
            <a:r>
              <a:rPr lang="en-IN" b="1" dirty="0">
                <a:solidFill>
                  <a:schemeClr val="accent5">
                    <a:lumMod val="20000"/>
                    <a:lumOff val="80000"/>
                  </a:schemeClr>
                </a:solidFill>
              </a:rPr>
              <a:t> </a:t>
            </a:r>
            <a:r>
              <a:rPr lang="en-IN" b="1" dirty="0"/>
              <a:t>.</a:t>
            </a:r>
            <a:r>
              <a:rPr lang="en-IN" b="1" dirty="0" err="1"/>
              <a:t>setErrorChannelName</a:t>
            </a:r>
            <a:r>
              <a:rPr lang="en-IN" b="1" dirty="0"/>
              <a:t>("</a:t>
            </a:r>
            <a:r>
              <a:rPr lang="en-IN" b="1" dirty="0" err="1"/>
              <a:t>specificErrorChannel</a:t>
            </a:r>
            <a:r>
              <a:rPr lang="en-IN" b="1" dirty="0"/>
              <a:t>") // Dynamic error routing</a:t>
            </a:r>
          </a:p>
          <a:p>
            <a:r>
              <a:rPr lang="en-IN" dirty="0">
                <a:solidFill>
                  <a:schemeClr val="accent5">
                    <a:lumMod val="20000"/>
                    <a:lumOff val="80000"/>
                  </a:schemeClr>
                </a:solidFill>
              </a:rPr>
              <a:t>        .build();</a:t>
            </a:r>
          </a:p>
          <a:p>
            <a:r>
              <a:rPr lang="en-IN" dirty="0" err="1">
                <a:solidFill>
                  <a:schemeClr val="accent5">
                    <a:lumMod val="20000"/>
                    <a:lumOff val="80000"/>
                  </a:schemeClr>
                </a:solidFill>
              </a:rPr>
              <a:t>myChannel.send</a:t>
            </a:r>
            <a:r>
              <a:rPr lang="en-IN" dirty="0">
                <a:solidFill>
                  <a:schemeClr val="accent5">
                    <a:lumMod val="20000"/>
                    <a:lumOff val="80000"/>
                  </a:schemeClr>
                </a:solidFill>
              </a:rPr>
              <a:t>(message);</a:t>
            </a:r>
          </a:p>
        </p:txBody>
      </p:sp>
      <p:sp>
        <p:nvSpPr>
          <p:cNvPr id="11" name="TextBox 10">
            <a:extLst>
              <a:ext uri="{FF2B5EF4-FFF2-40B4-BE49-F238E27FC236}">
                <a16:creationId xmlns:a16="http://schemas.microsoft.com/office/drawing/2014/main" id="{2AA44DF4-4DCD-2519-EBFD-1A736DBCE459}"/>
              </a:ext>
            </a:extLst>
          </p:cNvPr>
          <p:cNvSpPr txBox="1"/>
          <p:nvPr/>
        </p:nvSpPr>
        <p:spPr>
          <a:xfrm>
            <a:off x="156579" y="4972666"/>
            <a:ext cx="10990296" cy="1754326"/>
          </a:xfrm>
          <a:prstGeom prst="rect">
            <a:avLst/>
          </a:prstGeom>
          <a:noFill/>
        </p:spPr>
        <p:txBody>
          <a:bodyPr wrap="square">
            <a:spAutoFit/>
          </a:bodyPr>
          <a:lstStyle/>
          <a:p>
            <a:r>
              <a:rPr lang="en-IN" dirty="0"/>
              <a:t>// ERROR HANDLING SIDE</a:t>
            </a:r>
          </a:p>
          <a:p>
            <a:r>
              <a:rPr lang="en-IN" dirty="0"/>
              <a:t>@Bean</a:t>
            </a:r>
          </a:p>
          <a:p>
            <a:r>
              <a:rPr lang="en-IN" dirty="0"/>
              <a:t>public </a:t>
            </a:r>
            <a:r>
              <a:rPr lang="en-IN" dirty="0" err="1"/>
              <a:t>IntegrationFlow</a:t>
            </a:r>
            <a:r>
              <a:rPr lang="en-IN" dirty="0"/>
              <a:t> </a:t>
            </a:r>
            <a:r>
              <a:rPr lang="en-IN" dirty="0" err="1"/>
              <a:t>specificErrorFlow</a:t>
            </a:r>
            <a:r>
              <a:rPr lang="en-IN" dirty="0"/>
              <a:t>() {</a:t>
            </a:r>
          </a:p>
          <a:p>
            <a:r>
              <a:rPr lang="en-IN" dirty="0"/>
              <a:t>    return </a:t>
            </a:r>
            <a:r>
              <a:rPr lang="en-IN" dirty="0" err="1"/>
              <a:t>IntegrationFlow.from</a:t>
            </a:r>
            <a:r>
              <a:rPr lang="en-IN" dirty="0"/>
              <a:t>("</a:t>
            </a:r>
            <a:r>
              <a:rPr lang="en-IN" dirty="0" err="1"/>
              <a:t>specificErrorChannel</a:t>
            </a:r>
            <a:r>
              <a:rPr lang="en-IN" dirty="0"/>
              <a:t>")</a:t>
            </a:r>
          </a:p>
          <a:p>
            <a:r>
              <a:rPr lang="en-IN" dirty="0"/>
              <a:t>            .handle(m -&gt; </a:t>
            </a:r>
            <a:r>
              <a:rPr lang="en-IN" dirty="0" err="1"/>
              <a:t>System.err.println</a:t>
            </a:r>
            <a:r>
              <a:rPr lang="en-IN" dirty="0"/>
              <a:t>("Handling error for this specific message"))</a:t>
            </a:r>
          </a:p>
          <a:p>
            <a:r>
              <a:rPr lang="en-IN" dirty="0"/>
              <a:t>            .get(); }</a:t>
            </a:r>
          </a:p>
        </p:txBody>
      </p:sp>
    </p:spTree>
    <p:extLst>
      <p:ext uri="{BB962C8B-B14F-4D97-AF65-F5344CB8AC3E}">
        <p14:creationId xmlns:p14="http://schemas.microsoft.com/office/powerpoint/2010/main" val="1971203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B2199-D548-CD6D-68DE-1BF245D0FD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68EC2-DE17-10AA-3379-BECC6D2FFB71}"/>
              </a:ext>
            </a:extLst>
          </p:cNvPr>
          <p:cNvSpPr>
            <a:spLocks noGrp="1"/>
          </p:cNvSpPr>
          <p:nvPr>
            <p:ph type="title"/>
          </p:nvPr>
        </p:nvSpPr>
        <p:spPr/>
        <p:txBody>
          <a:bodyPr/>
          <a:lstStyle/>
          <a:p>
            <a:r>
              <a:rPr lang="en-US" b="1" dirty="0"/>
              <a:t>Transactional Rollback</a:t>
            </a:r>
            <a:endParaRPr lang="en-IN" dirty="0"/>
          </a:p>
        </p:txBody>
      </p:sp>
      <p:sp>
        <p:nvSpPr>
          <p:cNvPr id="3" name="Content Placeholder 2">
            <a:extLst>
              <a:ext uri="{FF2B5EF4-FFF2-40B4-BE49-F238E27FC236}">
                <a16:creationId xmlns:a16="http://schemas.microsoft.com/office/drawing/2014/main" id="{BC52D187-4B6B-2BF5-AFF7-513429F0149F}"/>
              </a:ext>
            </a:extLst>
          </p:cNvPr>
          <p:cNvSpPr>
            <a:spLocks noGrp="1"/>
          </p:cNvSpPr>
          <p:nvPr>
            <p:ph idx="1"/>
          </p:nvPr>
        </p:nvSpPr>
        <p:spPr>
          <a:xfrm>
            <a:off x="1154954" y="2603499"/>
            <a:ext cx="10690258" cy="3871945"/>
          </a:xfrm>
        </p:spPr>
        <p:txBody>
          <a:bodyPr/>
          <a:lstStyle/>
          <a:p>
            <a:r>
              <a:rPr lang="en-US" dirty="0"/>
              <a:t>Major difference between Sync and Async. In Synchronous mode, if your flow is marked as @Transactional (e.g., it starts by reading from a Database or a JMS Queue):</a:t>
            </a:r>
          </a:p>
          <a:p>
            <a:r>
              <a:rPr lang="en-US" dirty="0"/>
              <a:t>The Sender starts a transaction.</a:t>
            </a:r>
          </a:p>
          <a:p>
            <a:r>
              <a:rPr lang="en-US" dirty="0"/>
              <a:t>The Subscriber fails.</a:t>
            </a:r>
          </a:p>
          <a:p>
            <a:r>
              <a:rPr lang="en-US" dirty="0"/>
              <a:t>The exception bubbles back to the Sender.</a:t>
            </a:r>
          </a:p>
          <a:p>
            <a:r>
              <a:rPr lang="en-US" b="1" dirty="0"/>
              <a:t>The entire transaction rolls back</a:t>
            </a:r>
            <a:r>
              <a:rPr lang="en-US" dirty="0"/>
              <a:t> (the database update is undone).</a:t>
            </a:r>
          </a:p>
          <a:p>
            <a:r>
              <a:rPr lang="en-US" dirty="0"/>
              <a:t>In </a:t>
            </a:r>
            <a:r>
              <a:rPr lang="en-US" b="1" dirty="0"/>
              <a:t>Async mode</a:t>
            </a:r>
            <a:r>
              <a:rPr lang="en-US" dirty="0"/>
              <a:t>, this is impossible because the subscriber is on a different thread (it has its own transaction).</a:t>
            </a:r>
          </a:p>
          <a:p>
            <a:endParaRPr lang="en-IN" dirty="0"/>
          </a:p>
        </p:txBody>
      </p:sp>
    </p:spTree>
    <p:extLst>
      <p:ext uri="{BB962C8B-B14F-4D97-AF65-F5344CB8AC3E}">
        <p14:creationId xmlns:p14="http://schemas.microsoft.com/office/powerpoint/2010/main" val="2460614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455D7-3C71-ADEF-AB6E-1FFAFA5D5F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16104-BA5B-3256-A6D3-B77A524E3ABD}"/>
              </a:ext>
            </a:extLst>
          </p:cNvPr>
          <p:cNvSpPr>
            <a:spLocks noGrp="1"/>
          </p:cNvSpPr>
          <p:nvPr>
            <p:ph type="title"/>
          </p:nvPr>
        </p:nvSpPr>
        <p:spPr/>
        <p:txBody>
          <a:bodyPr/>
          <a:lstStyle/>
          <a:p>
            <a:r>
              <a:rPr lang="en-IN" b="1" dirty="0"/>
              <a:t>Sync vs Async Error Handling</a:t>
            </a:r>
            <a:endParaRPr lang="en-IN" dirty="0"/>
          </a:p>
        </p:txBody>
      </p:sp>
      <p:graphicFrame>
        <p:nvGraphicFramePr>
          <p:cNvPr id="4" name="Content Placeholder 3">
            <a:extLst>
              <a:ext uri="{FF2B5EF4-FFF2-40B4-BE49-F238E27FC236}">
                <a16:creationId xmlns:a16="http://schemas.microsoft.com/office/drawing/2014/main" id="{04A29BD1-C28B-2883-1A2F-7ADF7C28B76B}"/>
              </a:ext>
            </a:extLst>
          </p:cNvPr>
          <p:cNvGraphicFramePr>
            <a:graphicFrameLocks noGrp="1"/>
          </p:cNvGraphicFramePr>
          <p:nvPr>
            <p:ph idx="1"/>
            <p:extLst>
              <p:ext uri="{D42A27DB-BD31-4B8C-83A1-F6EECF244321}">
                <p14:modId xmlns:p14="http://schemas.microsoft.com/office/powerpoint/2010/main" val="2396266833"/>
              </p:ext>
            </p:extLst>
          </p:nvPr>
        </p:nvGraphicFramePr>
        <p:xfrm>
          <a:off x="1155700" y="2603500"/>
          <a:ext cx="10302291" cy="3340100"/>
        </p:xfrm>
        <a:graphic>
          <a:graphicData uri="http://schemas.openxmlformats.org/drawingml/2006/table">
            <a:tbl>
              <a:tblPr firstRow="1" bandRow="1">
                <a:tableStyleId>{5C22544A-7EE6-4342-B048-85BDC9FD1C3A}</a:tableStyleId>
              </a:tblPr>
              <a:tblGrid>
                <a:gridCol w="3434097">
                  <a:extLst>
                    <a:ext uri="{9D8B030D-6E8A-4147-A177-3AD203B41FA5}">
                      <a16:colId xmlns:a16="http://schemas.microsoft.com/office/drawing/2014/main" val="3837699291"/>
                    </a:ext>
                  </a:extLst>
                </a:gridCol>
                <a:gridCol w="3434097">
                  <a:extLst>
                    <a:ext uri="{9D8B030D-6E8A-4147-A177-3AD203B41FA5}">
                      <a16:colId xmlns:a16="http://schemas.microsoft.com/office/drawing/2014/main" val="4224965877"/>
                    </a:ext>
                  </a:extLst>
                </a:gridCol>
                <a:gridCol w="3434097">
                  <a:extLst>
                    <a:ext uri="{9D8B030D-6E8A-4147-A177-3AD203B41FA5}">
                      <a16:colId xmlns:a16="http://schemas.microsoft.com/office/drawing/2014/main" val="781625330"/>
                    </a:ext>
                  </a:extLst>
                </a:gridCol>
              </a:tblGrid>
              <a:tr h="510072">
                <a:tc>
                  <a:txBody>
                    <a:bodyPr/>
                    <a:lstStyle/>
                    <a:p>
                      <a:pPr>
                        <a:lnSpc>
                          <a:spcPts val="1575"/>
                        </a:lnSpc>
                        <a:buNone/>
                      </a:pPr>
                      <a:r>
                        <a:rPr lang="en-IN" b="1" dirty="0">
                          <a:effectLst/>
                          <a:latin typeface="Inter"/>
                        </a:rPr>
                        <a:t>Feature</a:t>
                      </a:r>
                    </a:p>
                  </a:txBody>
                  <a:tcPr marL="45720" marR="45720" marT="22860" marB="22860" anchor="ctr"/>
                </a:tc>
                <a:tc>
                  <a:txBody>
                    <a:bodyPr/>
                    <a:lstStyle/>
                    <a:p>
                      <a:pPr>
                        <a:lnSpc>
                          <a:spcPts val="1575"/>
                        </a:lnSpc>
                        <a:buNone/>
                      </a:pPr>
                      <a:r>
                        <a:rPr lang="en-IN" b="1">
                          <a:effectLst/>
                          <a:latin typeface="Inter"/>
                        </a:rPr>
                        <a:t>Synchronous Error</a:t>
                      </a:r>
                    </a:p>
                  </a:txBody>
                  <a:tcPr marL="45720" marR="45720" marT="22860" marB="22860" anchor="ctr"/>
                </a:tc>
                <a:tc>
                  <a:txBody>
                    <a:bodyPr/>
                    <a:lstStyle/>
                    <a:p>
                      <a:pPr>
                        <a:lnSpc>
                          <a:spcPts val="1575"/>
                        </a:lnSpc>
                        <a:buNone/>
                      </a:pPr>
                      <a:r>
                        <a:rPr lang="en-IN" b="1">
                          <a:effectLst/>
                          <a:latin typeface="Inter"/>
                        </a:rPr>
                        <a:t>Asynchronous Error</a:t>
                      </a:r>
                    </a:p>
                  </a:txBody>
                  <a:tcPr marL="45720" marR="45720" marT="22860" marB="22860" anchor="ctr"/>
                </a:tc>
                <a:extLst>
                  <a:ext uri="{0D108BD9-81ED-4DB2-BD59-A6C34878D82A}">
                    <a16:rowId xmlns:a16="http://schemas.microsoft.com/office/drawing/2014/main" val="3447587908"/>
                  </a:ext>
                </a:extLst>
              </a:tr>
              <a:tr h="634970">
                <a:tc>
                  <a:txBody>
                    <a:bodyPr/>
                    <a:lstStyle/>
                    <a:p>
                      <a:pPr>
                        <a:lnSpc>
                          <a:spcPts val="1575"/>
                        </a:lnSpc>
                        <a:buNone/>
                      </a:pPr>
                      <a:r>
                        <a:rPr lang="en-IN" b="1">
                          <a:effectLst/>
                          <a:latin typeface="Inter"/>
                        </a:rPr>
                        <a:t>Visibility</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Sender "feels" the exception immediately.</a:t>
                      </a:r>
                    </a:p>
                  </a:txBody>
                  <a:tcPr marL="45720" marR="45720" marT="22860" marB="22860" anchor="ctr"/>
                </a:tc>
                <a:tc>
                  <a:txBody>
                    <a:bodyPr/>
                    <a:lstStyle/>
                    <a:p>
                      <a:pPr>
                        <a:lnSpc>
                          <a:spcPts val="1575"/>
                        </a:lnSpc>
                        <a:buNone/>
                      </a:pPr>
                      <a:r>
                        <a:rPr lang="en-US" b="0">
                          <a:effectLst/>
                          <a:latin typeface="Inter"/>
                        </a:rPr>
                        <a:t>Sender has no idea it failed.</a:t>
                      </a:r>
                    </a:p>
                  </a:txBody>
                  <a:tcPr marL="45720" marR="45720" marT="22860" marB="22860" anchor="ctr"/>
                </a:tc>
                <a:extLst>
                  <a:ext uri="{0D108BD9-81ED-4DB2-BD59-A6C34878D82A}">
                    <a16:rowId xmlns:a16="http://schemas.microsoft.com/office/drawing/2014/main" val="2954956113"/>
                  </a:ext>
                </a:extLst>
              </a:tr>
              <a:tr h="640298">
                <a:tc>
                  <a:txBody>
                    <a:bodyPr/>
                    <a:lstStyle/>
                    <a:p>
                      <a:pPr>
                        <a:lnSpc>
                          <a:spcPts val="1575"/>
                        </a:lnSpc>
                        <a:buNone/>
                      </a:pPr>
                      <a:r>
                        <a:rPr lang="en-IN" b="1">
                          <a:effectLst/>
                          <a:latin typeface="Inter"/>
                        </a:rPr>
                        <a:t>Mechanism</a:t>
                      </a:r>
                      <a:endParaRPr lang="en-IN" b="0">
                        <a:effectLst/>
                        <a:latin typeface="Inter"/>
                      </a:endParaRPr>
                    </a:p>
                  </a:txBody>
                  <a:tcPr marL="45720" marR="45720" marT="22860" marB="22860" anchor="ctr"/>
                </a:tc>
                <a:tc>
                  <a:txBody>
                    <a:bodyPr/>
                    <a:lstStyle/>
                    <a:p>
                      <a:pPr>
                        <a:lnSpc>
                          <a:spcPts val="1575"/>
                        </a:lnSpc>
                        <a:buNone/>
                      </a:pPr>
                      <a:r>
                        <a:rPr lang="en-IN" b="0">
                          <a:effectLst/>
                          <a:latin typeface="Inter"/>
                        </a:rPr>
                        <a:t>Try-Catch or Advice.</a:t>
                      </a:r>
                    </a:p>
                  </a:txBody>
                  <a:tcPr marL="45720" marR="45720" marT="22860" marB="22860" anchor="ctr"/>
                </a:tc>
                <a:tc>
                  <a:txBody>
                    <a:bodyPr/>
                    <a:lstStyle/>
                    <a:p>
                      <a:pPr>
                        <a:lnSpc>
                          <a:spcPts val="1575"/>
                        </a:lnSpc>
                        <a:buNone/>
                      </a:pPr>
                      <a:r>
                        <a:rPr lang="en-US" b="0" dirty="0">
                          <a:effectLst/>
                          <a:latin typeface="Inter"/>
                        </a:rPr>
                        <a:t>Global </a:t>
                      </a:r>
                      <a:r>
                        <a:rPr lang="en-US" b="0" dirty="0" err="1">
                          <a:solidFill>
                            <a:schemeClr val="tx1"/>
                          </a:solidFill>
                          <a:effectLst/>
                          <a:latin typeface="DM Mono" panose="020B0509040201040103" pitchFamily="49" charset="0"/>
                        </a:rPr>
                        <a:t>errorChannel</a:t>
                      </a:r>
                      <a:r>
                        <a:rPr lang="en-US" b="0" dirty="0">
                          <a:effectLst/>
                          <a:latin typeface="Inter"/>
                        </a:rPr>
                        <a:t> or Channel </a:t>
                      </a:r>
                      <a:r>
                        <a:rPr lang="en-US" b="0" dirty="0" err="1">
                          <a:solidFill>
                            <a:schemeClr val="tx1"/>
                          </a:solidFill>
                          <a:effectLst/>
                          <a:latin typeface="DM Mono" panose="020B0509040201040103" pitchFamily="49" charset="0"/>
                        </a:rPr>
                        <a:t>ErrorHandler</a:t>
                      </a:r>
                      <a:r>
                        <a:rPr lang="en-US" b="0" dirty="0">
                          <a:effectLst/>
                          <a:latin typeface="Inter"/>
                        </a:rPr>
                        <a:t>.</a:t>
                      </a:r>
                    </a:p>
                  </a:txBody>
                  <a:tcPr marL="45720" marR="45720" marT="22860" marB="22860" anchor="ctr"/>
                </a:tc>
                <a:extLst>
                  <a:ext uri="{0D108BD9-81ED-4DB2-BD59-A6C34878D82A}">
                    <a16:rowId xmlns:a16="http://schemas.microsoft.com/office/drawing/2014/main" val="4124253264"/>
                  </a:ext>
                </a:extLst>
              </a:tr>
              <a:tr h="634970">
                <a:tc>
                  <a:txBody>
                    <a:bodyPr/>
                    <a:lstStyle/>
                    <a:p>
                      <a:pPr>
                        <a:lnSpc>
                          <a:spcPts val="1575"/>
                        </a:lnSpc>
                        <a:buNone/>
                      </a:pPr>
                      <a:r>
                        <a:rPr lang="en-IN" b="1">
                          <a:effectLst/>
                          <a:latin typeface="Inter"/>
                        </a:rPr>
                        <a:t>Transaction</a:t>
                      </a:r>
                      <a:endParaRPr lang="en-IN" b="0">
                        <a:effectLst/>
                        <a:latin typeface="Inter"/>
                      </a:endParaRPr>
                    </a:p>
                  </a:txBody>
                  <a:tcPr marL="45720" marR="45720" marT="22860" marB="22860" anchor="ctr"/>
                </a:tc>
                <a:tc>
                  <a:txBody>
                    <a:bodyPr/>
                    <a:lstStyle/>
                    <a:p>
                      <a:pPr>
                        <a:lnSpc>
                          <a:spcPts val="1575"/>
                        </a:lnSpc>
                        <a:buNone/>
                      </a:pPr>
                      <a:r>
                        <a:rPr lang="en-IN" b="0">
                          <a:effectLst/>
                          <a:latin typeface="Inter"/>
                        </a:rPr>
                        <a:t>One transaction for everyone.</a:t>
                      </a:r>
                    </a:p>
                  </a:txBody>
                  <a:tcPr marL="45720" marR="45720" marT="22860" marB="22860" anchor="ctr"/>
                </a:tc>
                <a:tc>
                  <a:txBody>
                    <a:bodyPr/>
                    <a:lstStyle/>
                    <a:p>
                      <a:pPr>
                        <a:lnSpc>
                          <a:spcPts val="1575"/>
                        </a:lnSpc>
                        <a:buNone/>
                      </a:pPr>
                      <a:r>
                        <a:rPr lang="en-IN" b="0">
                          <a:effectLst/>
                          <a:latin typeface="Inter"/>
                        </a:rPr>
                        <a:t>Separate transactions per thread.</a:t>
                      </a:r>
                    </a:p>
                  </a:txBody>
                  <a:tcPr marL="45720" marR="45720" marT="22860" marB="22860" anchor="ctr"/>
                </a:tc>
                <a:extLst>
                  <a:ext uri="{0D108BD9-81ED-4DB2-BD59-A6C34878D82A}">
                    <a16:rowId xmlns:a16="http://schemas.microsoft.com/office/drawing/2014/main" val="1451724306"/>
                  </a:ext>
                </a:extLst>
              </a:tr>
              <a:tr h="919790">
                <a:tc>
                  <a:txBody>
                    <a:bodyPr/>
                    <a:lstStyle/>
                    <a:p>
                      <a:pPr>
                        <a:lnSpc>
                          <a:spcPts val="1575"/>
                        </a:lnSpc>
                        <a:buNone/>
                      </a:pPr>
                      <a:r>
                        <a:rPr lang="en-IN" b="1">
                          <a:effectLst/>
                          <a:latin typeface="Inter"/>
                        </a:rPr>
                        <a:t>Data Recovery</a:t>
                      </a:r>
                      <a:endParaRPr lang="en-IN" b="0">
                        <a:effectLst/>
                        <a:latin typeface="Inter"/>
                      </a:endParaRPr>
                    </a:p>
                  </a:txBody>
                  <a:tcPr marL="45720" marR="45720" marT="22860" marB="22860" anchor="ctr"/>
                </a:tc>
                <a:tc>
                  <a:txBody>
                    <a:bodyPr/>
                    <a:lstStyle/>
                    <a:p>
                      <a:pPr>
                        <a:lnSpc>
                          <a:spcPts val="1575"/>
                        </a:lnSpc>
                        <a:buNone/>
                      </a:pPr>
                      <a:r>
                        <a:rPr lang="en-US" b="0">
                          <a:effectLst/>
                          <a:latin typeface="Inter"/>
                        </a:rPr>
                        <a:t>The original object is still in the </a:t>
                      </a:r>
                      <a:r>
                        <a:rPr lang="en-US" b="0">
                          <a:solidFill>
                            <a:srgbClr val="FCFCFC"/>
                          </a:solidFill>
                          <a:effectLst/>
                          <a:latin typeface="DM Mono" panose="020B0509040201040103" pitchFamily="49" charset="0"/>
                        </a:rPr>
                        <a:t>catch</a:t>
                      </a:r>
                      <a:r>
                        <a:rPr lang="en-US" b="0">
                          <a:effectLst/>
                          <a:latin typeface="Inter"/>
                        </a:rPr>
                        <a:t> block.</a:t>
                      </a:r>
                    </a:p>
                  </a:txBody>
                  <a:tcPr marL="45720" marR="45720" marT="22860" marB="22860" anchor="ctr"/>
                </a:tc>
                <a:tc>
                  <a:txBody>
                    <a:bodyPr/>
                    <a:lstStyle/>
                    <a:p>
                      <a:pPr>
                        <a:lnSpc>
                          <a:spcPts val="1575"/>
                        </a:lnSpc>
                        <a:buNone/>
                      </a:pPr>
                      <a:r>
                        <a:rPr lang="en-US" b="0" dirty="0">
                          <a:effectLst/>
                          <a:latin typeface="Inter"/>
                        </a:rPr>
                        <a:t>Must extract </a:t>
                      </a:r>
                      <a:r>
                        <a:rPr lang="en-US" b="0" dirty="0" err="1">
                          <a:solidFill>
                            <a:schemeClr val="tx1"/>
                          </a:solidFill>
                          <a:effectLst/>
                          <a:latin typeface="DM Mono" panose="020B0509040201040103" pitchFamily="49" charset="0"/>
                        </a:rPr>
                        <a:t>failedMessage</a:t>
                      </a:r>
                      <a:r>
                        <a:rPr lang="en-US" b="0" dirty="0">
                          <a:effectLst/>
                          <a:latin typeface="Inter"/>
                        </a:rPr>
                        <a:t> from </a:t>
                      </a:r>
                      <a:r>
                        <a:rPr lang="en-US" b="0" dirty="0" err="1">
                          <a:solidFill>
                            <a:schemeClr val="tx1"/>
                          </a:solidFill>
                          <a:effectLst/>
                          <a:latin typeface="DM Mono" panose="020B0509040201040103" pitchFamily="49" charset="0"/>
                        </a:rPr>
                        <a:t>MessagingException</a:t>
                      </a:r>
                      <a:r>
                        <a:rPr lang="en-US" b="0" dirty="0">
                          <a:effectLst/>
                          <a:latin typeface="Inter"/>
                        </a:rPr>
                        <a:t>.</a:t>
                      </a:r>
                    </a:p>
                  </a:txBody>
                  <a:tcPr marL="45720" marR="45720" marT="22860" marB="22860" anchor="ctr"/>
                </a:tc>
                <a:extLst>
                  <a:ext uri="{0D108BD9-81ED-4DB2-BD59-A6C34878D82A}">
                    <a16:rowId xmlns:a16="http://schemas.microsoft.com/office/drawing/2014/main" val="3683917276"/>
                  </a:ext>
                </a:extLst>
              </a:tr>
            </a:tbl>
          </a:graphicData>
        </a:graphic>
      </p:graphicFrame>
    </p:spTree>
    <p:extLst>
      <p:ext uri="{BB962C8B-B14F-4D97-AF65-F5344CB8AC3E}">
        <p14:creationId xmlns:p14="http://schemas.microsoft.com/office/powerpoint/2010/main" val="2001806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3A3FD-1943-4557-4993-40E37C4A2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61784-5DCB-EF5B-43B4-61E8C3E3285A}"/>
              </a:ext>
            </a:extLst>
          </p:cNvPr>
          <p:cNvSpPr>
            <a:spLocks noGrp="1"/>
          </p:cNvSpPr>
          <p:nvPr>
            <p:ph type="title"/>
          </p:nvPr>
        </p:nvSpPr>
        <p:spPr/>
        <p:txBody>
          <a:bodyPr/>
          <a:lstStyle/>
          <a:p>
            <a:r>
              <a:rPr lang="en-US" b="1" dirty="0"/>
              <a:t>Comparison: Which one should you use?</a:t>
            </a:r>
            <a:endParaRPr lang="en-IN" dirty="0"/>
          </a:p>
        </p:txBody>
      </p:sp>
      <p:sp>
        <p:nvSpPr>
          <p:cNvPr id="3" name="Content Placeholder 2">
            <a:extLst>
              <a:ext uri="{FF2B5EF4-FFF2-40B4-BE49-F238E27FC236}">
                <a16:creationId xmlns:a16="http://schemas.microsoft.com/office/drawing/2014/main" id="{30E5AA12-59F8-DE5C-6062-E1CAFF034688}"/>
              </a:ext>
            </a:extLst>
          </p:cNvPr>
          <p:cNvSpPr>
            <a:spLocks noGrp="1"/>
          </p:cNvSpPr>
          <p:nvPr>
            <p:ph idx="1"/>
          </p:nvPr>
        </p:nvSpPr>
        <p:spPr>
          <a:xfrm>
            <a:off x="1154954" y="2603499"/>
            <a:ext cx="10690258" cy="3871945"/>
          </a:xfrm>
        </p:spPr>
        <p:txBody>
          <a:bodyPr/>
          <a:lstStyle/>
          <a:p>
            <a:r>
              <a:rPr lang="en-US" dirty="0"/>
              <a:t>Use </a:t>
            </a:r>
            <a:r>
              <a:rPr lang="en-US" b="1" dirty="0"/>
              <a:t>Try-Catch</a:t>
            </a:r>
            <a:r>
              <a:rPr lang="en-US" dirty="0"/>
              <a:t> if the Sender is a Controller and you need to return a "400 Bad Request" to a user immediately.</a:t>
            </a:r>
          </a:p>
          <a:p>
            <a:r>
              <a:rPr lang="en-US" dirty="0"/>
              <a:t>Use </a:t>
            </a:r>
            <a:r>
              <a:rPr lang="en-US" b="1" dirty="0"/>
              <a:t>Advice</a:t>
            </a:r>
            <a:r>
              <a:rPr lang="en-US" dirty="0"/>
              <a:t> if you want to keep your business logic clean and handle errors in a separate "Recovery Flow."</a:t>
            </a:r>
          </a:p>
          <a:p>
            <a:r>
              <a:rPr lang="en-US" dirty="0"/>
              <a:t>Use </a:t>
            </a:r>
            <a:r>
              <a:rPr lang="en-US" b="1" dirty="0"/>
              <a:t>Transactions</a:t>
            </a:r>
            <a:r>
              <a:rPr lang="en-US" dirty="0"/>
              <a:t> if you are dealing with Databases and want to ensure data integrity (no partial saves).</a:t>
            </a:r>
          </a:p>
          <a:p>
            <a:endParaRPr lang="en-IN" dirty="0"/>
          </a:p>
        </p:txBody>
      </p:sp>
    </p:spTree>
    <p:extLst>
      <p:ext uri="{BB962C8B-B14F-4D97-AF65-F5344CB8AC3E}">
        <p14:creationId xmlns:p14="http://schemas.microsoft.com/office/powerpoint/2010/main" val="3103511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3D21-9D9C-3928-569A-20CA1B8FE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8B576-3770-F593-08F9-BBC977ECB02D}"/>
              </a:ext>
            </a:extLst>
          </p:cNvPr>
          <p:cNvSpPr>
            <a:spLocks noGrp="1"/>
          </p:cNvSpPr>
          <p:nvPr>
            <p:ph type="title"/>
          </p:nvPr>
        </p:nvSpPr>
        <p:spPr>
          <a:xfrm>
            <a:off x="1154954" y="973668"/>
            <a:ext cx="9491275" cy="706964"/>
          </a:xfrm>
        </p:spPr>
        <p:txBody>
          <a:bodyPr/>
          <a:lstStyle/>
          <a:p>
            <a:r>
              <a:rPr lang="en-IN" dirty="0"/>
              <a:t>Asynchronous error handling in </a:t>
            </a:r>
            <a:r>
              <a:rPr lang="en-IN" dirty="0" err="1"/>
              <a:t>pubsub</a:t>
            </a:r>
            <a:endParaRPr lang="en-IN" dirty="0"/>
          </a:p>
        </p:txBody>
      </p:sp>
      <p:sp>
        <p:nvSpPr>
          <p:cNvPr id="3" name="Content Placeholder 2">
            <a:extLst>
              <a:ext uri="{FF2B5EF4-FFF2-40B4-BE49-F238E27FC236}">
                <a16:creationId xmlns:a16="http://schemas.microsoft.com/office/drawing/2014/main" id="{6AB4CDB3-AE1D-697E-FA34-61159DFA5AE9}"/>
              </a:ext>
            </a:extLst>
          </p:cNvPr>
          <p:cNvSpPr>
            <a:spLocks noGrp="1"/>
          </p:cNvSpPr>
          <p:nvPr>
            <p:ph idx="1"/>
          </p:nvPr>
        </p:nvSpPr>
        <p:spPr>
          <a:xfrm>
            <a:off x="1154954" y="2603499"/>
            <a:ext cx="10690258" cy="3871945"/>
          </a:xfrm>
        </p:spPr>
        <p:txBody>
          <a:bodyPr/>
          <a:lstStyle/>
          <a:p>
            <a:r>
              <a:rPr lang="en-US" dirty="0"/>
              <a:t>In an </a:t>
            </a:r>
            <a:r>
              <a:rPr lang="en-US" b="1" dirty="0"/>
              <a:t>Asynchronous</a:t>
            </a:r>
            <a:r>
              <a:rPr lang="en-US" dirty="0"/>
              <a:t> environment, error handling is tricky because the original caller (the thread that sent the message) has already moved on. </a:t>
            </a:r>
          </a:p>
          <a:p>
            <a:r>
              <a:rPr lang="en-US" dirty="0"/>
              <a:t>It is no longer "on the line" to hear the exception.</a:t>
            </a:r>
          </a:p>
          <a:p>
            <a:r>
              <a:rPr lang="en-US" dirty="0"/>
              <a:t>If a background thread crashes while processing a message, the exception essentially "falls off a cliff" unless you have a safety net.</a:t>
            </a:r>
          </a:p>
          <a:p>
            <a:r>
              <a:rPr lang="en-US" dirty="0"/>
              <a:t>In Spring Integration, there are </a:t>
            </a:r>
            <a:r>
              <a:rPr lang="en-US" b="1" dirty="0"/>
              <a:t>three main ways</a:t>
            </a:r>
            <a:r>
              <a:rPr lang="en-US" dirty="0"/>
              <a:t> to handle errors in an Async Pub-Sub setup.</a:t>
            </a:r>
          </a:p>
          <a:p>
            <a:pPr>
              <a:buFont typeface="+mj-lt"/>
              <a:buAutoNum type="arabicPeriod"/>
            </a:pPr>
            <a:r>
              <a:rPr lang="en-US" b="1" dirty="0"/>
              <a:t>"Global" Error Channel</a:t>
            </a:r>
          </a:p>
          <a:p>
            <a:pPr>
              <a:buFont typeface="+mj-lt"/>
              <a:buAutoNum type="arabicPeriod"/>
            </a:pPr>
            <a:r>
              <a:rPr lang="en-US" b="1" dirty="0"/>
              <a:t>Custom Error Handler for a Specific Channel</a:t>
            </a:r>
          </a:p>
          <a:p>
            <a:pPr>
              <a:buFont typeface="+mj-lt"/>
              <a:buAutoNum type="arabicPeriod"/>
            </a:pPr>
            <a:r>
              <a:rPr lang="en-US" b="1" dirty="0"/>
              <a:t>Fine-Grained Handling (The "Advice" Chain)</a:t>
            </a:r>
          </a:p>
          <a:p>
            <a:pPr>
              <a:buFont typeface="+mj-lt"/>
              <a:buAutoNum type="arabicPeriod"/>
            </a:pPr>
            <a:endParaRPr lang="en-US" dirty="0"/>
          </a:p>
          <a:p>
            <a:endParaRPr lang="en-US" dirty="0"/>
          </a:p>
          <a:p>
            <a:endParaRPr lang="en-IN" dirty="0"/>
          </a:p>
        </p:txBody>
      </p:sp>
    </p:spTree>
    <p:extLst>
      <p:ext uri="{BB962C8B-B14F-4D97-AF65-F5344CB8AC3E}">
        <p14:creationId xmlns:p14="http://schemas.microsoft.com/office/powerpoint/2010/main" val="1934280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D09CB-F407-4CC7-BDDC-F179393C8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ED40B-1CAD-0FBF-88F6-DCCB9F14B1B6}"/>
              </a:ext>
            </a:extLst>
          </p:cNvPr>
          <p:cNvSpPr>
            <a:spLocks noGrp="1"/>
          </p:cNvSpPr>
          <p:nvPr>
            <p:ph type="title"/>
          </p:nvPr>
        </p:nvSpPr>
        <p:spPr/>
        <p:txBody>
          <a:bodyPr/>
          <a:lstStyle/>
          <a:p>
            <a:r>
              <a:rPr lang="en-US" b="1" dirty="0"/>
              <a:t>Global Error Channel</a:t>
            </a:r>
            <a:endParaRPr lang="en-IN" dirty="0"/>
          </a:p>
        </p:txBody>
      </p:sp>
      <p:sp>
        <p:nvSpPr>
          <p:cNvPr id="3" name="Content Placeholder 2">
            <a:extLst>
              <a:ext uri="{FF2B5EF4-FFF2-40B4-BE49-F238E27FC236}">
                <a16:creationId xmlns:a16="http://schemas.microsoft.com/office/drawing/2014/main" id="{2D087286-E3A9-06F2-6123-D251DB392E3A}"/>
              </a:ext>
            </a:extLst>
          </p:cNvPr>
          <p:cNvSpPr>
            <a:spLocks noGrp="1"/>
          </p:cNvSpPr>
          <p:nvPr>
            <p:ph idx="1"/>
          </p:nvPr>
        </p:nvSpPr>
        <p:spPr>
          <a:xfrm>
            <a:off x="1154954" y="2603499"/>
            <a:ext cx="10690258" cy="3871945"/>
          </a:xfrm>
        </p:spPr>
        <p:txBody>
          <a:bodyPr/>
          <a:lstStyle/>
          <a:p>
            <a:r>
              <a:rPr lang="en-US" dirty="0"/>
              <a:t>Spring Integration provides a default bean called </a:t>
            </a:r>
            <a:r>
              <a:rPr lang="en-US" dirty="0" err="1"/>
              <a:t>errorChannel</a:t>
            </a:r>
            <a:r>
              <a:rPr lang="en-US" dirty="0"/>
              <a:t> (it’s a </a:t>
            </a:r>
            <a:r>
              <a:rPr lang="en-US" dirty="0" err="1"/>
              <a:t>PublishSubscribeChannel</a:t>
            </a:r>
            <a:r>
              <a:rPr lang="en-US" dirty="0"/>
              <a:t>). </a:t>
            </a:r>
          </a:p>
          <a:p>
            <a:r>
              <a:rPr lang="en-US" dirty="0"/>
              <a:t>By default, any exception occurring in an asynchronous flow is wrapped in an </a:t>
            </a:r>
            <a:r>
              <a:rPr lang="en-US" dirty="0" err="1"/>
              <a:t>ErrorMessage</a:t>
            </a:r>
            <a:r>
              <a:rPr lang="en-US" dirty="0"/>
              <a:t> and sent there.</a:t>
            </a:r>
          </a:p>
          <a:p>
            <a:r>
              <a:rPr lang="en-US" b="1" dirty="0"/>
              <a:t>What is an </a:t>
            </a:r>
            <a:r>
              <a:rPr lang="en-US" b="1" dirty="0" err="1"/>
              <a:t>ErrorMessage</a:t>
            </a:r>
            <a:r>
              <a:rPr lang="en-US" b="1" dirty="0"/>
              <a:t>? </a:t>
            </a:r>
            <a:r>
              <a:rPr lang="en-US" dirty="0"/>
              <a:t>It is a special message where:</a:t>
            </a:r>
          </a:p>
          <a:p>
            <a:r>
              <a:rPr lang="en-US" b="1" dirty="0"/>
              <a:t>Payload:</a:t>
            </a:r>
            <a:r>
              <a:rPr lang="en-US" dirty="0"/>
              <a:t> Is a </a:t>
            </a:r>
            <a:r>
              <a:rPr lang="en-US" dirty="0" err="1"/>
              <a:t>MessagingException</a:t>
            </a:r>
            <a:r>
              <a:rPr lang="en-US" dirty="0"/>
              <a:t> (which contains the actual Throwable + the Message that failed).</a:t>
            </a:r>
          </a:p>
          <a:p>
            <a:r>
              <a:rPr lang="en-US" b="1" dirty="0"/>
              <a:t>Headers:</a:t>
            </a:r>
            <a:r>
              <a:rPr lang="en-US" dirty="0"/>
              <a:t> Standard headers.</a:t>
            </a:r>
          </a:p>
          <a:p>
            <a:r>
              <a:rPr lang="en-US" b="1" dirty="0"/>
              <a:t>How to use it: </a:t>
            </a:r>
            <a:r>
              <a:rPr lang="en-US" dirty="0"/>
              <a:t>simply "listen" to the global error channel.</a:t>
            </a:r>
          </a:p>
          <a:p>
            <a:endParaRPr lang="en-IN" dirty="0"/>
          </a:p>
        </p:txBody>
      </p:sp>
    </p:spTree>
    <p:extLst>
      <p:ext uri="{BB962C8B-B14F-4D97-AF65-F5344CB8AC3E}">
        <p14:creationId xmlns:p14="http://schemas.microsoft.com/office/powerpoint/2010/main" val="30404736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002C0-F5DB-955D-FFC7-1CAB0E1D80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B61FE-2E6F-1EC5-32B8-E6AE49AB7461}"/>
              </a:ext>
            </a:extLst>
          </p:cNvPr>
          <p:cNvSpPr>
            <a:spLocks noGrp="1"/>
          </p:cNvSpPr>
          <p:nvPr>
            <p:ph type="title"/>
          </p:nvPr>
        </p:nvSpPr>
        <p:spPr/>
        <p:txBody>
          <a:bodyPr/>
          <a:lstStyle/>
          <a:p>
            <a:r>
              <a:rPr lang="en-US" b="1" dirty="0"/>
              <a:t>Global Error Channel</a:t>
            </a:r>
            <a:endParaRPr lang="en-IN" dirty="0"/>
          </a:p>
        </p:txBody>
      </p:sp>
      <p:sp>
        <p:nvSpPr>
          <p:cNvPr id="3" name="Content Placeholder 2">
            <a:extLst>
              <a:ext uri="{FF2B5EF4-FFF2-40B4-BE49-F238E27FC236}">
                <a16:creationId xmlns:a16="http://schemas.microsoft.com/office/drawing/2014/main" id="{0247BF15-289B-A7ED-CDC5-4220BF9FB4E7}"/>
              </a:ext>
            </a:extLst>
          </p:cNvPr>
          <p:cNvSpPr>
            <a:spLocks noGrp="1"/>
          </p:cNvSpPr>
          <p:nvPr>
            <p:ph idx="1"/>
          </p:nvPr>
        </p:nvSpPr>
        <p:spPr>
          <a:xfrm>
            <a:off x="1154954" y="2603499"/>
            <a:ext cx="10690258" cy="3871945"/>
          </a:xfrm>
        </p:spPr>
        <p:txBody>
          <a:bodyPr>
            <a:normAutofit lnSpcReduction="10000"/>
          </a:bodyPr>
          <a:lstStyle/>
          <a:p>
            <a:pPr marL="0" indent="0">
              <a:buNone/>
            </a:pPr>
            <a:r>
              <a:rPr lang="en-IN" dirty="0"/>
              <a:t>@Bean</a:t>
            </a:r>
          </a:p>
          <a:p>
            <a:pPr marL="0" indent="0">
              <a:buNone/>
            </a:pPr>
            <a:r>
              <a:rPr lang="en-IN" dirty="0"/>
              <a:t>public </a:t>
            </a:r>
            <a:r>
              <a:rPr lang="en-IN" dirty="0" err="1"/>
              <a:t>IntegrationFlow</a:t>
            </a:r>
            <a:r>
              <a:rPr lang="en-IN" dirty="0"/>
              <a:t> </a:t>
            </a:r>
            <a:r>
              <a:rPr lang="en-IN" dirty="0" err="1"/>
              <a:t>globalErrorFlow</a:t>
            </a:r>
            <a:r>
              <a:rPr lang="en-IN" dirty="0"/>
              <a:t>() {</a:t>
            </a:r>
          </a:p>
          <a:p>
            <a:pPr marL="0" indent="0">
              <a:buNone/>
            </a:pPr>
            <a:r>
              <a:rPr lang="en-IN" dirty="0"/>
              <a:t>    return </a:t>
            </a:r>
            <a:r>
              <a:rPr lang="en-IN" dirty="0" err="1"/>
              <a:t>IntegrationFlow.from</a:t>
            </a:r>
            <a:r>
              <a:rPr lang="en-IN" dirty="0"/>
              <a:t>("</a:t>
            </a:r>
            <a:r>
              <a:rPr lang="en-IN" dirty="0" err="1"/>
              <a:t>errorChannel</a:t>
            </a:r>
            <a:r>
              <a:rPr lang="en-IN" dirty="0"/>
              <a:t>") // Listening to the built-in global error channel</a:t>
            </a:r>
          </a:p>
          <a:p>
            <a:pPr marL="0" indent="0">
              <a:buNone/>
            </a:pPr>
            <a:r>
              <a:rPr lang="en-IN" dirty="0"/>
              <a:t>            .handle(m -&gt; {</a:t>
            </a:r>
          </a:p>
          <a:p>
            <a:pPr marL="0" indent="0">
              <a:buNone/>
            </a:pPr>
            <a:r>
              <a:rPr lang="en-IN" dirty="0"/>
              <a:t>                </a:t>
            </a:r>
            <a:r>
              <a:rPr lang="en-IN" dirty="0" err="1"/>
              <a:t>MessagingException</a:t>
            </a:r>
            <a:r>
              <a:rPr lang="en-IN" dirty="0"/>
              <a:t> me = (</a:t>
            </a:r>
            <a:r>
              <a:rPr lang="en-IN" dirty="0" err="1"/>
              <a:t>MessagingException</a:t>
            </a:r>
            <a:r>
              <a:rPr lang="en-IN" dirty="0"/>
              <a:t>) </a:t>
            </a:r>
            <a:r>
              <a:rPr lang="en-IN" dirty="0" err="1"/>
              <a:t>m.getPayload</a:t>
            </a:r>
            <a:r>
              <a:rPr lang="en-IN" dirty="0"/>
              <a:t>();</a:t>
            </a:r>
          </a:p>
          <a:p>
            <a:pPr marL="0" indent="0">
              <a:buNone/>
            </a:pPr>
            <a:r>
              <a:rPr lang="en-IN" dirty="0"/>
              <a:t>                </a:t>
            </a:r>
            <a:r>
              <a:rPr lang="en-IN" dirty="0" err="1"/>
              <a:t>System.err.println</a:t>
            </a:r>
            <a:r>
              <a:rPr lang="en-IN" dirty="0"/>
              <a:t>("FAILED MESSAGE: " + </a:t>
            </a:r>
            <a:r>
              <a:rPr lang="en-IN" dirty="0" err="1"/>
              <a:t>me.getFailedMessage</a:t>
            </a:r>
            <a:r>
              <a:rPr lang="en-IN" dirty="0"/>
              <a:t>());</a:t>
            </a:r>
          </a:p>
          <a:p>
            <a:pPr marL="0" indent="0">
              <a:buNone/>
            </a:pPr>
            <a:r>
              <a:rPr lang="en-IN" dirty="0"/>
              <a:t>                </a:t>
            </a:r>
            <a:r>
              <a:rPr lang="en-IN" dirty="0" err="1"/>
              <a:t>System.err.println</a:t>
            </a:r>
            <a:r>
              <a:rPr lang="en-IN" dirty="0"/>
              <a:t>("ERROR CAUSE: " + </a:t>
            </a:r>
            <a:r>
              <a:rPr lang="en-IN" dirty="0" err="1"/>
              <a:t>me.getCause</a:t>
            </a:r>
            <a:r>
              <a:rPr lang="en-IN" dirty="0"/>
              <a:t>().</a:t>
            </a:r>
            <a:r>
              <a:rPr lang="en-IN" dirty="0" err="1"/>
              <a:t>getMessage</a:t>
            </a:r>
            <a:r>
              <a:rPr lang="en-IN" dirty="0"/>
              <a:t>());</a:t>
            </a:r>
          </a:p>
          <a:p>
            <a:pPr marL="0" indent="0">
              <a:buNone/>
            </a:pPr>
            <a:r>
              <a:rPr lang="en-IN" dirty="0"/>
              <a:t>            })</a:t>
            </a:r>
          </a:p>
          <a:p>
            <a:pPr marL="0" indent="0">
              <a:buNone/>
            </a:pPr>
            <a:r>
              <a:rPr lang="en-IN" dirty="0"/>
              <a:t>            .get();</a:t>
            </a:r>
          </a:p>
          <a:p>
            <a:pPr marL="0" indent="0">
              <a:buNone/>
            </a:pPr>
            <a:r>
              <a:rPr lang="en-IN" dirty="0"/>
              <a:t>}</a:t>
            </a:r>
          </a:p>
        </p:txBody>
      </p:sp>
    </p:spTree>
    <p:extLst>
      <p:ext uri="{BB962C8B-B14F-4D97-AF65-F5344CB8AC3E}">
        <p14:creationId xmlns:p14="http://schemas.microsoft.com/office/powerpoint/2010/main" val="2575105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4FBE-91D5-7E78-EBD2-DCB7DC544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CB533-5B6C-43A0-50FB-DF72B1A17D7F}"/>
              </a:ext>
            </a:extLst>
          </p:cNvPr>
          <p:cNvSpPr>
            <a:spLocks noGrp="1"/>
          </p:cNvSpPr>
          <p:nvPr>
            <p:ph type="title"/>
          </p:nvPr>
        </p:nvSpPr>
        <p:spPr>
          <a:xfrm>
            <a:off x="1154954" y="973668"/>
            <a:ext cx="10004458" cy="706964"/>
          </a:xfrm>
        </p:spPr>
        <p:txBody>
          <a:bodyPr/>
          <a:lstStyle/>
          <a:p>
            <a:r>
              <a:rPr lang="en-US" b="1" dirty="0"/>
              <a:t>Custom Error Handler for a Specific Channel</a:t>
            </a:r>
            <a:endParaRPr lang="en-IN" dirty="0"/>
          </a:p>
        </p:txBody>
      </p:sp>
      <p:sp>
        <p:nvSpPr>
          <p:cNvPr id="3" name="Content Placeholder 2">
            <a:extLst>
              <a:ext uri="{FF2B5EF4-FFF2-40B4-BE49-F238E27FC236}">
                <a16:creationId xmlns:a16="http://schemas.microsoft.com/office/drawing/2014/main" id="{7215DDEF-2330-7775-7A93-ED406E8EFA5A}"/>
              </a:ext>
            </a:extLst>
          </p:cNvPr>
          <p:cNvSpPr>
            <a:spLocks noGrp="1"/>
          </p:cNvSpPr>
          <p:nvPr>
            <p:ph idx="1"/>
          </p:nvPr>
        </p:nvSpPr>
        <p:spPr>
          <a:xfrm>
            <a:off x="1154954" y="2603499"/>
            <a:ext cx="10690258" cy="3871945"/>
          </a:xfrm>
        </p:spPr>
        <p:txBody>
          <a:bodyPr/>
          <a:lstStyle/>
          <a:p>
            <a:r>
              <a:rPr lang="en-US" dirty="0"/>
              <a:t>The "Global" approach catches </a:t>
            </a:r>
            <a:r>
              <a:rPr lang="en-US" i="1" dirty="0"/>
              <a:t>everything</a:t>
            </a:r>
            <a:r>
              <a:rPr lang="en-US" dirty="0"/>
              <a:t>. If you want a specific error logic for just your </a:t>
            </a:r>
            <a:r>
              <a:rPr lang="en-US" dirty="0" err="1"/>
              <a:t>newsChannel</a:t>
            </a:r>
            <a:r>
              <a:rPr lang="en-US" dirty="0"/>
              <a:t>, you can attach a </a:t>
            </a:r>
            <a:r>
              <a:rPr lang="en-US" b="1" dirty="0" err="1"/>
              <a:t>MessagePublishingErrorHandler</a:t>
            </a:r>
            <a:r>
              <a:rPr lang="en-US" dirty="0"/>
              <a:t>.</a:t>
            </a:r>
          </a:p>
          <a:p>
            <a:r>
              <a:rPr lang="en-US" dirty="0"/>
              <a:t>This handler takes the exception and publishes it to a </a:t>
            </a:r>
            <a:r>
              <a:rPr lang="en-US" b="1" dirty="0"/>
              <a:t>specific channel of your choice</a:t>
            </a:r>
            <a:r>
              <a:rPr lang="en-US" dirty="0"/>
              <a:t>.</a:t>
            </a:r>
          </a:p>
          <a:p>
            <a:endParaRPr lang="en-IN" dirty="0"/>
          </a:p>
        </p:txBody>
      </p:sp>
    </p:spTree>
    <p:extLst>
      <p:ext uri="{BB962C8B-B14F-4D97-AF65-F5344CB8AC3E}">
        <p14:creationId xmlns:p14="http://schemas.microsoft.com/office/powerpoint/2010/main" val="11495803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E163F-E21B-CD2F-C2DE-61F23BA6808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D9F6C5A-A989-D6F9-CE3B-AE11ED52CBE8}"/>
              </a:ext>
            </a:extLst>
          </p:cNvPr>
          <p:cNvSpPr txBox="1"/>
          <p:nvPr/>
        </p:nvSpPr>
        <p:spPr>
          <a:xfrm>
            <a:off x="321906" y="58846"/>
            <a:ext cx="11285376" cy="6740307"/>
          </a:xfrm>
          <a:prstGeom prst="rect">
            <a:avLst/>
          </a:prstGeom>
          <a:noFill/>
        </p:spPr>
        <p:txBody>
          <a:bodyPr wrap="square">
            <a:spAutoFit/>
          </a:bodyPr>
          <a:lstStyle/>
          <a:p>
            <a:r>
              <a:rPr lang="en-IN" dirty="0"/>
              <a:t>@Bean</a:t>
            </a:r>
          </a:p>
          <a:p>
            <a:r>
              <a:rPr lang="en-IN" dirty="0"/>
              <a:t>public </a:t>
            </a:r>
            <a:r>
              <a:rPr lang="en-IN" dirty="0" err="1"/>
              <a:t>MessageChannel</a:t>
            </a:r>
            <a:r>
              <a:rPr lang="en-IN" dirty="0"/>
              <a:t> </a:t>
            </a:r>
            <a:r>
              <a:rPr lang="en-IN" dirty="0" err="1"/>
              <a:t>newsChannel</a:t>
            </a:r>
            <a:r>
              <a:rPr lang="en-IN" dirty="0"/>
              <a:t>(Executor </a:t>
            </a:r>
            <a:r>
              <a:rPr lang="en-IN" dirty="0" err="1"/>
              <a:t>myThreadPool</a:t>
            </a:r>
            <a:r>
              <a:rPr lang="en-IN" dirty="0"/>
              <a:t>, </a:t>
            </a:r>
            <a:r>
              <a:rPr lang="en-IN" dirty="0" err="1"/>
              <a:t>MessagePublishingErrorHandler</a:t>
            </a:r>
            <a:r>
              <a:rPr lang="en-IN" dirty="0"/>
              <a:t> </a:t>
            </a:r>
            <a:r>
              <a:rPr lang="en-IN" dirty="0" err="1"/>
              <a:t>myErrorHandler</a:t>
            </a:r>
            <a:r>
              <a:rPr lang="en-IN" dirty="0"/>
              <a:t>) {</a:t>
            </a:r>
          </a:p>
          <a:p>
            <a:r>
              <a:rPr lang="en-IN" dirty="0"/>
              <a:t>    </a:t>
            </a:r>
            <a:r>
              <a:rPr lang="en-IN" dirty="0" err="1"/>
              <a:t>PublishSubscribeChannel</a:t>
            </a:r>
            <a:r>
              <a:rPr lang="en-IN" dirty="0"/>
              <a:t> channel = new </a:t>
            </a:r>
            <a:r>
              <a:rPr lang="en-IN" dirty="0" err="1"/>
              <a:t>PublishSubscribeChannel</a:t>
            </a:r>
            <a:r>
              <a:rPr lang="en-IN" dirty="0"/>
              <a:t>(</a:t>
            </a:r>
            <a:r>
              <a:rPr lang="en-IN" dirty="0" err="1"/>
              <a:t>myThreadPool</a:t>
            </a:r>
            <a:r>
              <a:rPr lang="en-IN" dirty="0"/>
              <a:t>);</a:t>
            </a:r>
          </a:p>
          <a:p>
            <a:r>
              <a:rPr lang="en-IN" dirty="0"/>
              <a:t>    // Tell the channel: "If a background thread fails, send the error HERE"</a:t>
            </a:r>
          </a:p>
          <a:p>
            <a:r>
              <a:rPr lang="en-IN" dirty="0"/>
              <a:t>    </a:t>
            </a:r>
            <a:r>
              <a:rPr lang="en-IN" dirty="0" err="1"/>
              <a:t>channel.setErrorHandler</a:t>
            </a:r>
            <a:r>
              <a:rPr lang="en-IN" dirty="0"/>
              <a:t>(</a:t>
            </a:r>
            <a:r>
              <a:rPr lang="en-IN" dirty="0" err="1"/>
              <a:t>myErrorHandler</a:t>
            </a:r>
            <a:r>
              <a:rPr lang="en-IN" dirty="0"/>
              <a:t>); </a:t>
            </a:r>
          </a:p>
          <a:p>
            <a:r>
              <a:rPr lang="en-IN" dirty="0"/>
              <a:t>    return channel;</a:t>
            </a:r>
          </a:p>
          <a:p>
            <a:r>
              <a:rPr lang="en-IN" dirty="0"/>
              <a:t>}</a:t>
            </a:r>
          </a:p>
          <a:p>
            <a:endParaRPr lang="en-IN" dirty="0"/>
          </a:p>
          <a:p>
            <a:r>
              <a:rPr lang="en-IN" dirty="0"/>
              <a:t>@Bean</a:t>
            </a:r>
          </a:p>
          <a:p>
            <a:r>
              <a:rPr lang="en-IN" dirty="0"/>
              <a:t>public </a:t>
            </a:r>
            <a:r>
              <a:rPr lang="en-IN" dirty="0" err="1"/>
              <a:t>MessagePublishingErrorHandler</a:t>
            </a:r>
            <a:r>
              <a:rPr lang="en-IN" dirty="0"/>
              <a:t> </a:t>
            </a:r>
            <a:r>
              <a:rPr lang="en-IN" dirty="0" err="1"/>
              <a:t>myErrorHandler</a:t>
            </a:r>
            <a:r>
              <a:rPr lang="en-IN" dirty="0"/>
              <a:t>(</a:t>
            </a:r>
            <a:r>
              <a:rPr lang="en-IN" dirty="0" err="1"/>
              <a:t>BeanFactory</a:t>
            </a:r>
            <a:r>
              <a:rPr lang="en-IN" dirty="0"/>
              <a:t> </a:t>
            </a:r>
            <a:r>
              <a:rPr lang="en-IN" dirty="0" err="1"/>
              <a:t>beanFactory</a:t>
            </a:r>
            <a:r>
              <a:rPr lang="en-IN" dirty="0"/>
              <a:t>) {</a:t>
            </a:r>
          </a:p>
          <a:p>
            <a:r>
              <a:rPr lang="en-IN" dirty="0"/>
              <a:t>    </a:t>
            </a:r>
            <a:r>
              <a:rPr lang="en-IN" dirty="0" err="1"/>
              <a:t>MessagePublishingErrorHandler</a:t>
            </a:r>
            <a:r>
              <a:rPr lang="en-IN" dirty="0"/>
              <a:t> handler = new </a:t>
            </a:r>
            <a:r>
              <a:rPr lang="en-IN" dirty="0" err="1"/>
              <a:t>MessagePublishingErrorHandler</a:t>
            </a:r>
            <a:r>
              <a:rPr lang="en-IN" dirty="0"/>
              <a:t>();</a:t>
            </a:r>
          </a:p>
          <a:p>
            <a:r>
              <a:rPr lang="en-IN" dirty="0"/>
              <a:t>    </a:t>
            </a:r>
            <a:r>
              <a:rPr lang="en-IN" dirty="0" err="1"/>
              <a:t>handler.setDefaultErrorChannelName</a:t>
            </a:r>
            <a:r>
              <a:rPr lang="en-IN" dirty="0"/>
              <a:t>("</a:t>
            </a:r>
            <a:r>
              <a:rPr lang="en-IN" dirty="0" err="1"/>
              <a:t>newsErrorChannel</a:t>
            </a:r>
            <a:r>
              <a:rPr lang="en-IN" dirty="0"/>
              <a:t>"); // Your custom error channel</a:t>
            </a:r>
          </a:p>
          <a:p>
            <a:r>
              <a:rPr lang="en-IN" dirty="0"/>
              <a:t>    </a:t>
            </a:r>
            <a:r>
              <a:rPr lang="en-IN" dirty="0" err="1"/>
              <a:t>handler.setBeanFactory</a:t>
            </a:r>
            <a:r>
              <a:rPr lang="en-IN" dirty="0"/>
              <a:t>(</a:t>
            </a:r>
            <a:r>
              <a:rPr lang="en-IN" dirty="0" err="1"/>
              <a:t>beanFactory</a:t>
            </a:r>
            <a:r>
              <a:rPr lang="en-IN" dirty="0"/>
              <a:t>);</a:t>
            </a:r>
          </a:p>
          <a:p>
            <a:r>
              <a:rPr lang="en-IN" dirty="0"/>
              <a:t>    return handler;</a:t>
            </a:r>
          </a:p>
          <a:p>
            <a:r>
              <a:rPr lang="en-IN" dirty="0"/>
              <a:t>}</a:t>
            </a:r>
          </a:p>
          <a:p>
            <a:endParaRPr lang="en-IN" dirty="0"/>
          </a:p>
          <a:p>
            <a:r>
              <a:rPr lang="en-IN" dirty="0"/>
              <a:t>// Logic for your specific error channel</a:t>
            </a:r>
          </a:p>
          <a:p>
            <a:r>
              <a:rPr lang="en-IN" dirty="0"/>
              <a:t>@Bean</a:t>
            </a:r>
          </a:p>
          <a:p>
            <a:r>
              <a:rPr lang="en-IN" dirty="0"/>
              <a:t>public </a:t>
            </a:r>
            <a:r>
              <a:rPr lang="en-IN" dirty="0" err="1"/>
              <a:t>IntegrationFlow</a:t>
            </a:r>
            <a:r>
              <a:rPr lang="en-IN" dirty="0"/>
              <a:t> </a:t>
            </a:r>
            <a:r>
              <a:rPr lang="en-IN" dirty="0" err="1"/>
              <a:t>newsErrorFlow</a:t>
            </a:r>
            <a:r>
              <a:rPr lang="en-IN" dirty="0"/>
              <a:t>() {</a:t>
            </a:r>
          </a:p>
          <a:p>
            <a:r>
              <a:rPr lang="en-IN" dirty="0"/>
              <a:t>    return </a:t>
            </a:r>
            <a:r>
              <a:rPr lang="en-IN" dirty="0" err="1"/>
              <a:t>IntegrationFlow.from</a:t>
            </a:r>
            <a:r>
              <a:rPr lang="en-IN" dirty="0"/>
              <a:t>("</a:t>
            </a:r>
            <a:r>
              <a:rPr lang="en-IN" dirty="0" err="1"/>
              <a:t>newsErrorChannel</a:t>
            </a:r>
            <a:r>
              <a:rPr lang="en-IN" dirty="0"/>
              <a:t>")</a:t>
            </a:r>
          </a:p>
          <a:p>
            <a:r>
              <a:rPr lang="en-IN" dirty="0"/>
              <a:t>            .handle(m -&gt; </a:t>
            </a:r>
            <a:r>
              <a:rPr lang="en-IN" dirty="0" err="1"/>
              <a:t>System.out.println</a:t>
            </a:r>
            <a:r>
              <a:rPr lang="en-IN" dirty="0"/>
              <a:t>("Handling news-specific error: " + </a:t>
            </a:r>
            <a:r>
              <a:rPr lang="en-IN" dirty="0" err="1"/>
              <a:t>m.getPayload</a:t>
            </a:r>
            <a:r>
              <a:rPr lang="en-IN" dirty="0"/>
              <a:t>()))</a:t>
            </a:r>
          </a:p>
          <a:p>
            <a:r>
              <a:rPr lang="en-IN" dirty="0"/>
              <a:t>            .get();</a:t>
            </a:r>
          </a:p>
          <a:p>
            <a:r>
              <a:rPr lang="en-IN" dirty="0"/>
              <a:t>}</a:t>
            </a:r>
          </a:p>
        </p:txBody>
      </p:sp>
    </p:spTree>
    <p:extLst>
      <p:ext uri="{BB962C8B-B14F-4D97-AF65-F5344CB8AC3E}">
        <p14:creationId xmlns:p14="http://schemas.microsoft.com/office/powerpoint/2010/main" val="632195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7C731-BB7D-9669-2E72-B4DFD1786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B58522-4362-60F6-4258-1D143782CDF5}"/>
              </a:ext>
            </a:extLst>
          </p:cNvPr>
          <p:cNvSpPr>
            <a:spLocks noGrp="1"/>
          </p:cNvSpPr>
          <p:nvPr>
            <p:ph type="title"/>
          </p:nvPr>
        </p:nvSpPr>
        <p:spPr>
          <a:xfrm>
            <a:off x="1154954" y="973668"/>
            <a:ext cx="10205066" cy="706964"/>
          </a:xfrm>
        </p:spPr>
        <p:txBody>
          <a:bodyPr/>
          <a:lstStyle/>
          <a:p>
            <a:r>
              <a:rPr lang="en-US" b="1" dirty="0"/>
              <a:t>Fine-Grained Handling (The "Advice" Chain)</a:t>
            </a:r>
            <a:endParaRPr lang="en-IN" dirty="0"/>
          </a:p>
        </p:txBody>
      </p:sp>
      <p:sp>
        <p:nvSpPr>
          <p:cNvPr id="3" name="Content Placeholder 2">
            <a:extLst>
              <a:ext uri="{FF2B5EF4-FFF2-40B4-BE49-F238E27FC236}">
                <a16:creationId xmlns:a16="http://schemas.microsoft.com/office/drawing/2014/main" id="{08A72F84-8AB7-30F8-03D4-5F78E62E7374}"/>
              </a:ext>
            </a:extLst>
          </p:cNvPr>
          <p:cNvSpPr>
            <a:spLocks noGrp="1"/>
          </p:cNvSpPr>
          <p:nvPr>
            <p:ph idx="1"/>
          </p:nvPr>
        </p:nvSpPr>
        <p:spPr>
          <a:xfrm>
            <a:off x="1154954" y="2603499"/>
            <a:ext cx="10690258" cy="3871945"/>
          </a:xfrm>
        </p:spPr>
        <p:txBody>
          <a:bodyPr/>
          <a:lstStyle/>
          <a:p>
            <a:r>
              <a:rPr lang="en-US" dirty="0"/>
              <a:t>What if you have 10 subscribers to one channel, and you only want to handle errors for </a:t>
            </a:r>
            <a:r>
              <a:rPr lang="en-US" b="1" dirty="0"/>
              <a:t>one</a:t>
            </a:r>
            <a:r>
              <a:rPr lang="en-US" dirty="0"/>
              <a:t> of them?</a:t>
            </a:r>
          </a:p>
          <a:p>
            <a:r>
              <a:rPr lang="en-US" dirty="0"/>
              <a:t>You can use an </a:t>
            </a:r>
            <a:r>
              <a:rPr lang="en-US" b="1" dirty="0"/>
              <a:t>Advice</a:t>
            </a:r>
            <a:r>
              <a:rPr lang="en-US" dirty="0"/>
              <a:t>. </a:t>
            </a:r>
          </a:p>
          <a:p>
            <a:r>
              <a:rPr lang="en-US" dirty="0"/>
              <a:t>An Advice is like a "wrapper" around a specific subscriber's logic. </a:t>
            </a:r>
          </a:p>
          <a:p>
            <a:r>
              <a:rPr lang="en-US" dirty="0"/>
              <a:t>If that subscriber fails, the Advice catches it before it even reaches the channel's error handler.</a:t>
            </a:r>
          </a:p>
          <a:p>
            <a:endParaRPr lang="en-IN" dirty="0"/>
          </a:p>
        </p:txBody>
      </p:sp>
    </p:spTree>
    <p:extLst>
      <p:ext uri="{BB962C8B-B14F-4D97-AF65-F5344CB8AC3E}">
        <p14:creationId xmlns:p14="http://schemas.microsoft.com/office/powerpoint/2010/main" val="1207741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095BC-5358-CF34-462D-3FC60AF57A4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6611D82-9F51-FB08-8E32-BADCB671B0CB}"/>
              </a:ext>
            </a:extLst>
          </p:cNvPr>
          <p:cNvSpPr txBox="1"/>
          <p:nvPr/>
        </p:nvSpPr>
        <p:spPr>
          <a:xfrm>
            <a:off x="555172" y="2224708"/>
            <a:ext cx="11294706" cy="4524315"/>
          </a:xfrm>
          <a:prstGeom prst="rect">
            <a:avLst/>
          </a:prstGeom>
          <a:noFill/>
        </p:spPr>
        <p:txBody>
          <a:bodyPr wrap="square">
            <a:spAutoFit/>
          </a:bodyPr>
          <a:lstStyle/>
          <a:p>
            <a:r>
              <a:rPr lang="en-IN" dirty="0"/>
              <a:t>@Bean</a:t>
            </a:r>
          </a:p>
          <a:p>
            <a:r>
              <a:rPr lang="en-IN" dirty="0"/>
              <a:t>public </a:t>
            </a:r>
            <a:r>
              <a:rPr lang="en-IN" dirty="0" err="1"/>
              <a:t>IntegrationFlow</a:t>
            </a:r>
            <a:r>
              <a:rPr lang="en-IN" dirty="0"/>
              <a:t> </a:t>
            </a:r>
            <a:r>
              <a:rPr lang="en-IN" dirty="0" err="1"/>
              <a:t>emailFlow</a:t>
            </a:r>
            <a:r>
              <a:rPr lang="en-IN" dirty="0"/>
              <a:t>() {</a:t>
            </a:r>
          </a:p>
          <a:p>
            <a:r>
              <a:rPr lang="en-IN" dirty="0"/>
              <a:t>    return </a:t>
            </a:r>
            <a:r>
              <a:rPr lang="en-IN" dirty="0" err="1"/>
              <a:t>IntegrationFlow.from</a:t>
            </a:r>
            <a:r>
              <a:rPr lang="en-IN" dirty="0"/>
              <a:t>("</a:t>
            </a:r>
            <a:r>
              <a:rPr lang="en-IN" dirty="0" err="1"/>
              <a:t>newsChannel</a:t>
            </a:r>
            <a:r>
              <a:rPr lang="en-IN" dirty="0"/>
              <a:t>")</a:t>
            </a:r>
          </a:p>
          <a:p>
            <a:r>
              <a:rPr lang="en-IN" dirty="0"/>
              <a:t>            .handle(m -&gt; {</a:t>
            </a:r>
          </a:p>
          <a:p>
            <a:r>
              <a:rPr lang="en-IN" dirty="0"/>
              <a:t>                throw new </a:t>
            </a:r>
            <a:r>
              <a:rPr lang="en-IN" dirty="0" err="1"/>
              <a:t>RuntimeException</a:t>
            </a:r>
            <a:r>
              <a:rPr lang="en-IN" dirty="0"/>
              <a:t>("Email Server Down!");</a:t>
            </a:r>
          </a:p>
          <a:p>
            <a:r>
              <a:rPr lang="en-IN" dirty="0"/>
              <a:t>            }, e -&gt; </a:t>
            </a:r>
            <a:r>
              <a:rPr lang="en-IN" dirty="0" err="1"/>
              <a:t>e.advice</a:t>
            </a:r>
            <a:r>
              <a:rPr lang="en-IN" dirty="0"/>
              <a:t>(</a:t>
            </a:r>
            <a:r>
              <a:rPr lang="en-IN" dirty="0" err="1"/>
              <a:t>retryAdvice</a:t>
            </a:r>
            <a:r>
              <a:rPr lang="en-IN" dirty="0"/>
              <a:t>())) // Add advice here</a:t>
            </a:r>
          </a:p>
          <a:p>
            <a:r>
              <a:rPr lang="en-IN" dirty="0"/>
              <a:t>            .get();</a:t>
            </a:r>
          </a:p>
          <a:p>
            <a:r>
              <a:rPr lang="en-IN" dirty="0"/>
              <a:t>}</a:t>
            </a:r>
          </a:p>
          <a:p>
            <a:endParaRPr lang="en-IN" dirty="0"/>
          </a:p>
          <a:p>
            <a:r>
              <a:rPr lang="en-IN" dirty="0"/>
              <a:t>@Bean</a:t>
            </a:r>
          </a:p>
          <a:p>
            <a:r>
              <a:rPr lang="en-IN" dirty="0"/>
              <a:t>public </a:t>
            </a:r>
            <a:r>
              <a:rPr lang="en-IN" dirty="0" err="1"/>
              <a:t>RequestHandlerRetryAdvice</a:t>
            </a:r>
            <a:r>
              <a:rPr lang="en-IN" dirty="0"/>
              <a:t> </a:t>
            </a:r>
            <a:r>
              <a:rPr lang="en-IN" dirty="0" err="1"/>
              <a:t>retryAdvice</a:t>
            </a:r>
            <a:r>
              <a:rPr lang="en-IN" dirty="0"/>
              <a:t>() {</a:t>
            </a:r>
          </a:p>
          <a:p>
            <a:r>
              <a:rPr lang="en-IN" dirty="0"/>
              <a:t>    </a:t>
            </a:r>
            <a:r>
              <a:rPr lang="en-IN" dirty="0" err="1"/>
              <a:t>RequestHandlerRetryAdvice</a:t>
            </a:r>
            <a:r>
              <a:rPr lang="en-IN" dirty="0"/>
              <a:t> advice = new </a:t>
            </a:r>
            <a:r>
              <a:rPr lang="en-IN" dirty="0" err="1"/>
              <a:t>RequestHandlerRetryAdvice</a:t>
            </a:r>
            <a:r>
              <a:rPr lang="en-IN" dirty="0"/>
              <a:t>();</a:t>
            </a:r>
          </a:p>
          <a:p>
            <a:r>
              <a:rPr lang="en-IN" dirty="0"/>
              <a:t>    // This will automatically try to resend the message 3 times </a:t>
            </a:r>
          </a:p>
          <a:p>
            <a:r>
              <a:rPr lang="en-IN" dirty="0"/>
              <a:t>    // to the email service before giving up.</a:t>
            </a:r>
          </a:p>
          <a:p>
            <a:r>
              <a:rPr lang="en-IN" dirty="0"/>
              <a:t>    return advice;</a:t>
            </a:r>
          </a:p>
          <a:p>
            <a:r>
              <a:rPr lang="en-IN" dirty="0"/>
              <a:t>}</a:t>
            </a:r>
          </a:p>
        </p:txBody>
      </p:sp>
      <p:sp>
        <p:nvSpPr>
          <p:cNvPr id="6" name="Title 5">
            <a:extLst>
              <a:ext uri="{FF2B5EF4-FFF2-40B4-BE49-F238E27FC236}">
                <a16:creationId xmlns:a16="http://schemas.microsoft.com/office/drawing/2014/main" id="{90A54655-86D3-D6DE-619C-3F5BD7B9BA3B}"/>
              </a:ext>
            </a:extLst>
          </p:cNvPr>
          <p:cNvSpPr>
            <a:spLocks noGrp="1"/>
          </p:cNvSpPr>
          <p:nvPr>
            <p:ph type="title"/>
          </p:nvPr>
        </p:nvSpPr>
        <p:spPr>
          <a:xfrm>
            <a:off x="1154954" y="973668"/>
            <a:ext cx="10233058" cy="706964"/>
          </a:xfrm>
        </p:spPr>
        <p:txBody>
          <a:bodyPr/>
          <a:lstStyle/>
          <a:p>
            <a:r>
              <a:rPr lang="en-US" b="1" dirty="0"/>
              <a:t>Fine-Grained Handling (The "Advice" Chain)</a:t>
            </a:r>
            <a:endParaRPr lang="en-IN" dirty="0"/>
          </a:p>
        </p:txBody>
      </p:sp>
    </p:spTree>
    <p:extLst>
      <p:ext uri="{BB962C8B-B14F-4D97-AF65-F5344CB8AC3E}">
        <p14:creationId xmlns:p14="http://schemas.microsoft.com/office/powerpoint/2010/main" val="4186414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6014F-5DB3-FBD7-120C-00AFB5D7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893783-0E83-0F84-5622-D7E899E6562E}"/>
              </a:ext>
            </a:extLst>
          </p:cNvPr>
          <p:cNvSpPr>
            <a:spLocks noGrp="1"/>
          </p:cNvSpPr>
          <p:nvPr>
            <p:ph type="title"/>
          </p:nvPr>
        </p:nvSpPr>
        <p:spPr/>
        <p:txBody>
          <a:bodyPr/>
          <a:lstStyle/>
          <a:p>
            <a:r>
              <a:rPr lang="en-US" b="1" dirty="0"/>
              <a:t>Which one should you use?</a:t>
            </a:r>
            <a:endParaRPr lang="en-IN" dirty="0"/>
          </a:p>
        </p:txBody>
      </p:sp>
      <p:graphicFrame>
        <p:nvGraphicFramePr>
          <p:cNvPr id="4" name="Content Placeholder 3">
            <a:extLst>
              <a:ext uri="{FF2B5EF4-FFF2-40B4-BE49-F238E27FC236}">
                <a16:creationId xmlns:a16="http://schemas.microsoft.com/office/drawing/2014/main" id="{8D292A74-1C6D-47D2-31A1-7297BD0F8383}"/>
              </a:ext>
            </a:extLst>
          </p:cNvPr>
          <p:cNvGraphicFramePr>
            <a:graphicFrameLocks noGrp="1"/>
          </p:cNvGraphicFramePr>
          <p:nvPr>
            <p:ph idx="1"/>
            <p:extLst>
              <p:ext uri="{D42A27DB-BD31-4B8C-83A1-F6EECF244321}">
                <p14:modId xmlns:p14="http://schemas.microsoft.com/office/powerpoint/2010/main" val="422638405"/>
              </p:ext>
            </p:extLst>
          </p:nvPr>
        </p:nvGraphicFramePr>
        <p:xfrm>
          <a:off x="1155700" y="2603500"/>
          <a:ext cx="10288296" cy="3685333"/>
        </p:xfrm>
        <a:graphic>
          <a:graphicData uri="http://schemas.openxmlformats.org/drawingml/2006/table">
            <a:tbl>
              <a:tblPr firstRow="1" bandRow="1">
                <a:tableStyleId>{5C22544A-7EE6-4342-B048-85BDC9FD1C3A}</a:tableStyleId>
              </a:tblPr>
              <a:tblGrid>
                <a:gridCol w="3327659">
                  <a:extLst>
                    <a:ext uri="{9D8B030D-6E8A-4147-A177-3AD203B41FA5}">
                      <a16:colId xmlns:a16="http://schemas.microsoft.com/office/drawing/2014/main" val="357337143"/>
                    </a:ext>
                  </a:extLst>
                </a:gridCol>
                <a:gridCol w="6960637">
                  <a:extLst>
                    <a:ext uri="{9D8B030D-6E8A-4147-A177-3AD203B41FA5}">
                      <a16:colId xmlns:a16="http://schemas.microsoft.com/office/drawing/2014/main" val="840313755"/>
                    </a:ext>
                  </a:extLst>
                </a:gridCol>
              </a:tblGrid>
              <a:tr h="632081">
                <a:tc>
                  <a:txBody>
                    <a:bodyPr/>
                    <a:lstStyle/>
                    <a:p>
                      <a:pPr>
                        <a:lnSpc>
                          <a:spcPts val="1575"/>
                        </a:lnSpc>
                        <a:buNone/>
                      </a:pPr>
                      <a:r>
                        <a:rPr lang="en-IN" b="1" dirty="0">
                          <a:effectLst/>
                          <a:latin typeface="Inter"/>
                        </a:rPr>
                        <a:t>Method</a:t>
                      </a:r>
                    </a:p>
                  </a:txBody>
                  <a:tcPr marL="45720" marR="45720" marT="22860" marB="22860" anchor="ctr"/>
                </a:tc>
                <a:tc>
                  <a:txBody>
                    <a:bodyPr/>
                    <a:lstStyle/>
                    <a:p>
                      <a:pPr>
                        <a:lnSpc>
                          <a:spcPts val="1575"/>
                        </a:lnSpc>
                        <a:buNone/>
                      </a:pPr>
                      <a:r>
                        <a:rPr lang="en-IN" b="1">
                          <a:effectLst/>
                          <a:latin typeface="Inter"/>
                        </a:rPr>
                        <a:t>Best for...</a:t>
                      </a:r>
                    </a:p>
                  </a:txBody>
                  <a:tcPr marL="45720" marR="45720" marT="22860" marB="22860" anchor="ctr"/>
                </a:tc>
                <a:extLst>
                  <a:ext uri="{0D108BD9-81ED-4DB2-BD59-A6C34878D82A}">
                    <a16:rowId xmlns:a16="http://schemas.microsoft.com/office/drawing/2014/main" val="2654644589"/>
                  </a:ext>
                </a:extLst>
              </a:tr>
              <a:tr h="786854">
                <a:tc>
                  <a:txBody>
                    <a:bodyPr/>
                    <a:lstStyle/>
                    <a:p>
                      <a:pPr>
                        <a:lnSpc>
                          <a:spcPts val="1575"/>
                        </a:lnSpc>
                        <a:buNone/>
                      </a:pPr>
                      <a:r>
                        <a:rPr lang="en-IN" b="1" dirty="0">
                          <a:effectLst/>
                          <a:latin typeface="Inter"/>
                        </a:rPr>
                        <a:t>Global </a:t>
                      </a:r>
                      <a:r>
                        <a:rPr lang="en-IN" b="1" dirty="0" err="1">
                          <a:solidFill>
                            <a:schemeClr val="tx1"/>
                          </a:solidFill>
                          <a:effectLst/>
                          <a:latin typeface="DM Mono" panose="020B0509040201040103" pitchFamily="49" charset="0"/>
                        </a:rPr>
                        <a:t>errorChannel</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a:effectLst/>
                          <a:latin typeface="Inter"/>
                        </a:rPr>
                        <a:t>General logging and "last resort" catching of all system errors.</a:t>
                      </a:r>
                    </a:p>
                  </a:txBody>
                  <a:tcPr marL="45720" marR="45720" marT="22860" marB="22860" anchor="ctr"/>
                </a:tc>
                <a:extLst>
                  <a:ext uri="{0D108BD9-81ED-4DB2-BD59-A6C34878D82A}">
                    <a16:rowId xmlns:a16="http://schemas.microsoft.com/office/drawing/2014/main" val="2045538194"/>
                  </a:ext>
                </a:extLst>
              </a:tr>
              <a:tr h="1133199">
                <a:tc>
                  <a:txBody>
                    <a:bodyPr/>
                    <a:lstStyle/>
                    <a:p>
                      <a:pPr>
                        <a:lnSpc>
                          <a:spcPts val="1575"/>
                        </a:lnSpc>
                        <a:buNone/>
                      </a:pPr>
                      <a:r>
                        <a:rPr lang="en-IN" b="1" dirty="0" err="1">
                          <a:solidFill>
                            <a:schemeClr val="tx1"/>
                          </a:solidFill>
                          <a:effectLst/>
                          <a:latin typeface="DM Mono" panose="020B0509040201040103" pitchFamily="49" charset="0"/>
                        </a:rPr>
                        <a:t>ErrorHandler</a:t>
                      </a:r>
                      <a:r>
                        <a:rPr lang="en-IN" b="1" dirty="0">
                          <a:effectLst/>
                          <a:latin typeface="Inter"/>
                        </a:rPr>
                        <a:t> on Channel</a:t>
                      </a:r>
                      <a:endParaRPr lang="en-IN" b="0" dirty="0">
                        <a:effectLst/>
                        <a:latin typeface="Inter"/>
                      </a:endParaRPr>
                    </a:p>
                  </a:txBody>
                  <a:tcPr marL="45720" marR="45720" marT="22860" marB="22860" anchor="ctr"/>
                </a:tc>
                <a:tc>
                  <a:txBody>
                    <a:bodyPr/>
                    <a:lstStyle/>
                    <a:p>
                      <a:pPr>
                        <a:lnSpc>
                          <a:spcPts val="1575"/>
                        </a:lnSpc>
                        <a:buNone/>
                      </a:pPr>
                      <a:r>
                        <a:rPr lang="en-US" b="0">
                          <a:effectLst/>
                          <a:latin typeface="Inter"/>
                        </a:rPr>
                        <a:t>When you want different error logic for different business flows (e.g., "Order Errors" vs "Log Errors").</a:t>
                      </a:r>
                    </a:p>
                  </a:txBody>
                  <a:tcPr marL="45720" marR="45720" marT="22860" marB="22860" anchor="ctr"/>
                </a:tc>
                <a:extLst>
                  <a:ext uri="{0D108BD9-81ED-4DB2-BD59-A6C34878D82A}">
                    <a16:rowId xmlns:a16="http://schemas.microsoft.com/office/drawing/2014/main" val="691044618"/>
                  </a:ext>
                </a:extLst>
              </a:tr>
              <a:tr h="1133199">
                <a:tc>
                  <a:txBody>
                    <a:bodyPr/>
                    <a:lstStyle/>
                    <a:p>
                      <a:pPr>
                        <a:lnSpc>
                          <a:spcPts val="1575"/>
                        </a:lnSpc>
                        <a:buNone/>
                      </a:pPr>
                      <a:r>
                        <a:rPr lang="en-IN" b="1">
                          <a:effectLst/>
                          <a:latin typeface="Inter"/>
                        </a:rPr>
                        <a:t>Advice Chain</a:t>
                      </a:r>
                      <a:endParaRPr lang="en-IN" b="0">
                        <a:effectLst/>
                        <a:latin typeface="Inter"/>
                      </a:endParaRPr>
                    </a:p>
                  </a:txBody>
                  <a:tcPr marL="45720" marR="45720" marT="22860" marB="22860" anchor="ctr"/>
                </a:tc>
                <a:tc>
                  <a:txBody>
                    <a:bodyPr/>
                    <a:lstStyle/>
                    <a:p>
                      <a:pPr>
                        <a:lnSpc>
                          <a:spcPts val="1575"/>
                        </a:lnSpc>
                        <a:buNone/>
                      </a:pPr>
                      <a:r>
                        <a:rPr lang="en-US" b="0" dirty="0">
                          <a:effectLst/>
                          <a:latin typeface="Inter"/>
                        </a:rPr>
                        <a:t>When you want to </a:t>
                      </a:r>
                      <a:r>
                        <a:rPr lang="en-US" b="1" dirty="0">
                          <a:effectLst/>
                          <a:latin typeface="Inter"/>
                        </a:rPr>
                        <a:t>Retry</a:t>
                      </a:r>
                      <a:r>
                        <a:rPr lang="en-US" b="0" dirty="0">
                          <a:effectLst/>
                          <a:latin typeface="Inter"/>
                        </a:rPr>
                        <a:t> a specific task or handle a specific subscriber's failure without affecting others.</a:t>
                      </a:r>
                    </a:p>
                  </a:txBody>
                  <a:tcPr marL="45720" marR="45720" marT="22860" marB="22860" anchor="ctr"/>
                </a:tc>
                <a:extLst>
                  <a:ext uri="{0D108BD9-81ED-4DB2-BD59-A6C34878D82A}">
                    <a16:rowId xmlns:a16="http://schemas.microsoft.com/office/drawing/2014/main" val="4156817810"/>
                  </a:ext>
                </a:extLst>
              </a:tr>
            </a:tbl>
          </a:graphicData>
        </a:graphic>
      </p:graphicFrame>
    </p:spTree>
    <p:extLst>
      <p:ext uri="{BB962C8B-B14F-4D97-AF65-F5344CB8AC3E}">
        <p14:creationId xmlns:p14="http://schemas.microsoft.com/office/powerpoint/2010/main" val="33989161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B44F3-E6A6-A382-627C-32ADFF93B0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ABD25-DF37-0639-650D-584301E13F77}"/>
              </a:ext>
            </a:extLst>
          </p:cNvPr>
          <p:cNvSpPr>
            <a:spLocks noGrp="1"/>
          </p:cNvSpPr>
          <p:nvPr>
            <p:ph type="title"/>
          </p:nvPr>
        </p:nvSpPr>
        <p:spPr/>
        <p:txBody>
          <a:bodyPr/>
          <a:lstStyle/>
          <a:p>
            <a:r>
              <a:rPr lang="en-US" b="1" dirty="0"/>
              <a:t>Golden Rule of Async Errors</a:t>
            </a:r>
            <a:endParaRPr lang="en-IN" dirty="0"/>
          </a:p>
        </p:txBody>
      </p:sp>
      <p:sp>
        <p:nvSpPr>
          <p:cNvPr id="3" name="Content Placeholder 2">
            <a:extLst>
              <a:ext uri="{FF2B5EF4-FFF2-40B4-BE49-F238E27FC236}">
                <a16:creationId xmlns:a16="http://schemas.microsoft.com/office/drawing/2014/main" id="{A311B9FA-0D96-B8F1-3036-E326EEBAA3F6}"/>
              </a:ext>
            </a:extLst>
          </p:cNvPr>
          <p:cNvSpPr>
            <a:spLocks noGrp="1"/>
          </p:cNvSpPr>
          <p:nvPr>
            <p:ph idx="1"/>
          </p:nvPr>
        </p:nvSpPr>
        <p:spPr>
          <a:xfrm>
            <a:off x="1154954" y="2603499"/>
            <a:ext cx="10690258" cy="3871945"/>
          </a:xfrm>
        </p:spPr>
        <p:txBody>
          <a:bodyPr/>
          <a:lstStyle/>
          <a:p>
            <a:r>
              <a:rPr lang="en-US" dirty="0"/>
              <a:t>In Spring Integration, an error in an Async thread results in an </a:t>
            </a:r>
            <a:r>
              <a:rPr lang="en-US" dirty="0" err="1"/>
              <a:t>ErrorMessage</a:t>
            </a:r>
            <a:r>
              <a:rPr lang="en-US" dirty="0"/>
              <a:t>.</a:t>
            </a:r>
          </a:p>
          <a:p>
            <a:r>
              <a:rPr lang="en-US" dirty="0"/>
              <a:t>The </a:t>
            </a:r>
            <a:r>
              <a:rPr lang="en-US" b="1" dirty="0"/>
              <a:t>Payload</a:t>
            </a:r>
            <a:r>
              <a:rPr lang="en-US" dirty="0"/>
              <a:t> of that message is </a:t>
            </a:r>
            <a:r>
              <a:rPr lang="en-US" b="1" dirty="0"/>
              <a:t>NOT</a:t>
            </a:r>
            <a:r>
              <a:rPr lang="en-US" dirty="0"/>
              <a:t> the original data.</a:t>
            </a:r>
          </a:p>
          <a:p>
            <a:r>
              <a:rPr lang="en-US" dirty="0"/>
              <a:t>The </a:t>
            </a:r>
            <a:r>
              <a:rPr lang="en-US" b="1" dirty="0"/>
              <a:t>Payload</a:t>
            </a:r>
            <a:r>
              <a:rPr lang="en-US" dirty="0"/>
              <a:t> is the </a:t>
            </a:r>
            <a:r>
              <a:rPr lang="en-US" b="1" dirty="0"/>
              <a:t>Exception</a:t>
            </a:r>
            <a:r>
              <a:rPr lang="en-US" dirty="0"/>
              <a:t>.</a:t>
            </a:r>
          </a:p>
          <a:p>
            <a:r>
              <a:rPr lang="en-US" dirty="0"/>
              <a:t>To get your original data back (to retry it or log it), you must call ((</a:t>
            </a:r>
            <a:r>
              <a:rPr lang="en-US" dirty="0" err="1"/>
              <a:t>MessagingException</a:t>
            </a:r>
            <a:r>
              <a:rPr lang="en-US" dirty="0"/>
              <a:t>) payload).</a:t>
            </a:r>
            <a:r>
              <a:rPr lang="en-US" dirty="0" err="1"/>
              <a:t>getFailedMessage</a:t>
            </a:r>
            <a:r>
              <a:rPr lang="en-US" dirty="0"/>
              <a:t>().</a:t>
            </a:r>
          </a:p>
          <a:p>
            <a:endParaRPr lang="en-IN" dirty="0"/>
          </a:p>
        </p:txBody>
      </p:sp>
    </p:spTree>
    <p:extLst>
      <p:ext uri="{BB962C8B-B14F-4D97-AF65-F5344CB8AC3E}">
        <p14:creationId xmlns:p14="http://schemas.microsoft.com/office/powerpoint/2010/main" val="3933810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74EAF-1D30-62ED-74E6-81571EA1C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937E86-47E7-8B6C-318D-CBB9028A9E6A}"/>
              </a:ext>
            </a:extLst>
          </p:cNvPr>
          <p:cNvSpPr>
            <a:spLocks noGrp="1"/>
          </p:cNvSpPr>
          <p:nvPr>
            <p:ph type="title"/>
          </p:nvPr>
        </p:nvSpPr>
        <p:spPr/>
        <p:txBody>
          <a:bodyPr/>
          <a:lstStyle/>
          <a:p>
            <a:r>
              <a:rPr lang="en-US" b="1" dirty="0"/>
              <a:t>Recipient List Router</a:t>
            </a:r>
            <a:endParaRPr lang="en-IN" dirty="0"/>
          </a:p>
        </p:txBody>
      </p:sp>
      <p:sp>
        <p:nvSpPr>
          <p:cNvPr id="3" name="Content Placeholder 2">
            <a:extLst>
              <a:ext uri="{FF2B5EF4-FFF2-40B4-BE49-F238E27FC236}">
                <a16:creationId xmlns:a16="http://schemas.microsoft.com/office/drawing/2014/main" id="{196FA1E9-270B-CB39-31AE-B866BE9A2826}"/>
              </a:ext>
            </a:extLst>
          </p:cNvPr>
          <p:cNvSpPr>
            <a:spLocks noGrp="1"/>
          </p:cNvSpPr>
          <p:nvPr>
            <p:ph idx="1"/>
          </p:nvPr>
        </p:nvSpPr>
        <p:spPr>
          <a:xfrm>
            <a:off x="1154954" y="2603499"/>
            <a:ext cx="10690258" cy="3871945"/>
          </a:xfrm>
        </p:spPr>
        <p:txBody>
          <a:bodyPr/>
          <a:lstStyle/>
          <a:p>
            <a:r>
              <a:rPr lang="en-US" dirty="0"/>
              <a:t>Uses multiple channels (usually Direct Channels) to send one message to many places based on logic.</a:t>
            </a:r>
          </a:p>
          <a:p>
            <a:r>
              <a:rPr lang="en-US" b="1" dirty="0"/>
              <a:t>Recipient List Router</a:t>
            </a:r>
            <a:r>
              <a:rPr lang="en-US" dirty="0"/>
              <a:t> is like a "Smart Mail Sorter." </a:t>
            </a:r>
          </a:p>
          <a:p>
            <a:r>
              <a:rPr lang="en-US" dirty="0"/>
              <a:t>Imagine a post office where a worker looks at a package and says:</a:t>
            </a:r>
          </a:p>
          <a:p>
            <a:r>
              <a:rPr lang="en-US" i="1" dirty="0"/>
              <a:t>"This goes to the Warehouse (Always)."</a:t>
            </a:r>
            <a:endParaRPr lang="en-US" dirty="0"/>
          </a:p>
          <a:p>
            <a:r>
              <a:rPr lang="en-US" i="1" dirty="0"/>
              <a:t>"If it's marked 'Fragile', it also goes to the Special Handling Dept."</a:t>
            </a:r>
            <a:endParaRPr lang="en-US" dirty="0"/>
          </a:p>
          <a:p>
            <a:r>
              <a:rPr lang="en-US" i="1" dirty="0"/>
              <a:t>"If the value is over $1000, it also goes to the Insurance Dept."</a:t>
            </a:r>
            <a:endParaRPr lang="en-US" dirty="0"/>
          </a:p>
          <a:p>
            <a:r>
              <a:rPr lang="en-US" dirty="0"/>
              <a:t>Unlike a standard </a:t>
            </a:r>
            <a:r>
              <a:rPr lang="en-US" b="1" dirty="0"/>
              <a:t>Router</a:t>
            </a:r>
            <a:r>
              <a:rPr lang="en-US" dirty="0"/>
              <a:t> (which picks </a:t>
            </a:r>
            <a:r>
              <a:rPr lang="en-US" b="1" dirty="0"/>
              <a:t>one</a:t>
            </a:r>
            <a:r>
              <a:rPr lang="en-US" dirty="0"/>
              <a:t> destination), the </a:t>
            </a:r>
            <a:r>
              <a:rPr lang="en-US" b="1" dirty="0"/>
              <a:t>Recipient List Router</a:t>
            </a:r>
            <a:r>
              <a:rPr lang="en-US" dirty="0"/>
              <a:t> can pick </a:t>
            </a:r>
            <a:r>
              <a:rPr lang="en-US" b="1" dirty="0"/>
              <a:t>multiple</a:t>
            </a:r>
            <a:r>
              <a:rPr lang="en-US" dirty="0"/>
              <a:t> destinations for the same message.</a:t>
            </a:r>
          </a:p>
          <a:p>
            <a:endParaRPr lang="en-IN" dirty="0"/>
          </a:p>
        </p:txBody>
      </p:sp>
    </p:spTree>
    <p:extLst>
      <p:ext uri="{BB962C8B-B14F-4D97-AF65-F5344CB8AC3E}">
        <p14:creationId xmlns:p14="http://schemas.microsoft.com/office/powerpoint/2010/main" val="38057287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E38C2-A7CB-84C5-7811-09ED4F3580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77160-208B-CC31-6073-275464A06FF6}"/>
              </a:ext>
            </a:extLst>
          </p:cNvPr>
          <p:cNvSpPr>
            <a:spLocks noGrp="1"/>
          </p:cNvSpPr>
          <p:nvPr>
            <p:ph type="title"/>
          </p:nvPr>
        </p:nvSpPr>
        <p:spPr/>
        <p:txBody>
          <a:bodyPr/>
          <a:lstStyle/>
          <a:p>
            <a:r>
              <a:rPr lang="en-US" b="1" dirty="0"/>
              <a:t>Core Concept: Static vs. Conditional</a:t>
            </a:r>
            <a:endParaRPr lang="en-IN" dirty="0"/>
          </a:p>
        </p:txBody>
      </p:sp>
      <p:sp>
        <p:nvSpPr>
          <p:cNvPr id="3" name="Content Placeholder 2">
            <a:extLst>
              <a:ext uri="{FF2B5EF4-FFF2-40B4-BE49-F238E27FC236}">
                <a16:creationId xmlns:a16="http://schemas.microsoft.com/office/drawing/2014/main" id="{9BA02414-AF13-0F6A-5B8B-AAC2AB2E5021}"/>
              </a:ext>
            </a:extLst>
          </p:cNvPr>
          <p:cNvSpPr>
            <a:spLocks noGrp="1"/>
          </p:cNvSpPr>
          <p:nvPr>
            <p:ph idx="1"/>
          </p:nvPr>
        </p:nvSpPr>
        <p:spPr>
          <a:xfrm>
            <a:off x="1154954" y="2603499"/>
            <a:ext cx="10690258" cy="3871945"/>
          </a:xfrm>
        </p:spPr>
        <p:txBody>
          <a:bodyPr/>
          <a:lstStyle/>
          <a:p>
            <a:r>
              <a:rPr lang="en-US" b="1" dirty="0"/>
              <a:t>Static Recipient:</a:t>
            </a:r>
            <a:r>
              <a:rPr lang="en-US" dirty="0"/>
              <a:t> A channel that </a:t>
            </a:r>
            <a:r>
              <a:rPr lang="en-US" i="1" dirty="0"/>
              <a:t>always</a:t>
            </a:r>
            <a:r>
              <a:rPr lang="en-US" dirty="0"/>
              <a:t> gets a copy of the message.</a:t>
            </a:r>
          </a:p>
          <a:p>
            <a:r>
              <a:rPr lang="en-US" b="1" dirty="0"/>
              <a:t>Conditional Recipient:</a:t>
            </a:r>
            <a:r>
              <a:rPr lang="en-US" dirty="0"/>
              <a:t> A channel that </a:t>
            </a:r>
            <a:r>
              <a:rPr lang="en-US" i="1" dirty="0"/>
              <a:t>only</a:t>
            </a:r>
            <a:r>
              <a:rPr lang="en-US" dirty="0"/>
              <a:t> gets the message if a specific rule (Boolean) is met.</a:t>
            </a:r>
          </a:p>
          <a:p>
            <a:endParaRPr lang="en-IN" dirty="0"/>
          </a:p>
        </p:txBody>
      </p:sp>
    </p:spTree>
    <p:extLst>
      <p:ext uri="{BB962C8B-B14F-4D97-AF65-F5344CB8AC3E}">
        <p14:creationId xmlns:p14="http://schemas.microsoft.com/office/powerpoint/2010/main" val="22563792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CD3A8-F22E-6943-EE61-7BA48ED73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1F22A-7AB6-F337-39DD-BBF25EC4A52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E4A82836-6575-522D-4719-F899DAEDFBE2}"/>
              </a:ext>
            </a:extLst>
          </p:cNvPr>
          <p:cNvSpPr>
            <a:spLocks noGrp="1"/>
          </p:cNvSpPr>
          <p:nvPr>
            <p:ph idx="1"/>
          </p:nvPr>
        </p:nvSpPr>
        <p:spPr>
          <a:xfrm>
            <a:off x="1154954" y="2603499"/>
            <a:ext cx="10690258" cy="3871945"/>
          </a:xfrm>
        </p:spPr>
        <p:txBody>
          <a:bodyPr/>
          <a:lstStyle/>
          <a:p>
            <a:r>
              <a:rPr lang="en-US" dirty="0"/>
              <a:t>Build an </a:t>
            </a:r>
            <a:r>
              <a:rPr lang="en-US" b="1" dirty="0"/>
              <a:t>Order Processing System</a:t>
            </a:r>
            <a:r>
              <a:rPr lang="en-US" dirty="0"/>
              <a:t>.</a:t>
            </a:r>
          </a:p>
          <a:p>
            <a:r>
              <a:rPr lang="en-US" dirty="0"/>
              <a:t>Every order goes to Inventory.</a:t>
            </a:r>
          </a:p>
          <a:p>
            <a:r>
              <a:rPr lang="en-US" dirty="0"/>
              <a:t>Orders over $100 go to </a:t>
            </a:r>
            <a:r>
              <a:rPr lang="en-US" dirty="0" err="1"/>
              <a:t>PremiumShipping</a:t>
            </a:r>
            <a:r>
              <a:rPr lang="en-US" dirty="0"/>
              <a:t>.</a:t>
            </a:r>
          </a:p>
          <a:p>
            <a:r>
              <a:rPr lang="en-US" dirty="0"/>
              <a:t>Orders from "New Customers" go to </a:t>
            </a:r>
            <a:r>
              <a:rPr lang="en-US" dirty="0" err="1"/>
              <a:t>WelcomeGift</a:t>
            </a:r>
            <a:r>
              <a:rPr lang="en-US" dirty="0"/>
              <a:t>.</a:t>
            </a:r>
          </a:p>
          <a:p>
            <a:endParaRPr lang="en-IN" dirty="0"/>
          </a:p>
        </p:txBody>
      </p:sp>
    </p:spTree>
    <p:extLst>
      <p:ext uri="{BB962C8B-B14F-4D97-AF65-F5344CB8AC3E}">
        <p14:creationId xmlns:p14="http://schemas.microsoft.com/office/powerpoint/2010/main" val="1612554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49C03D2-E47B-A283-8EA5-7785525D6404}"/>
              </a:ext>
            </a:extLst>
          </p:cNvPr>
          <p:cNvSpPr txBox="1"/>
          <p:nvPr/>
        </p:nvSpPr>
        <p:spPr>
          <a:xfrm>
            <a:off x="933062" y="1535989"/>
            <a:ext cx="8373057" cy="4524315"/>
          </a:xfrm>
          <a:prstGeom prst="rect">
            <a:avLst/>
          </a:prstGeom>
          <a:noFill/>
        </p:spPr>
        <p:txBody>
          <a:bodyPr wrap="square">
            <a:spAutoFit/>
          </a:bodyPr>
          <a:lstStyle/>
          <a:p>
            <a:r>
              <a:rPr lang="en-IN" dirty="0"/>
              <a:t>public class Order {</a:t>
            </a:r>
          </a:p>
          <a:p>
            <a:r>
              <a:rPr lang="en-IN" dirty="0"/>
              <a:t>    private String id;</a:t>
            </a:r>
          </a:p>
          <a:p>
            <a:r>
              <a:rPr lang="en-IN" dirty="0"/>
              <a:t>    private double amount;</a:t>
            </a:r>
          </a:p>
          <a:p>
            <a:r>
              <a:rPr lang="en-IN" dirty="0"/>
              <a:t>    private </a:t>
            </a:r>
            <a:r>
              <a:rPr lang="en-IN" dirty="0" err="1"/>
              <a:t>boolean</a:t>
            </a:r>
            <a:r>
              <a:rPr lang="en-IN" dirty="0"/>
              <a:t> </a:t>
            </a:r>
            <a:r>
              <a:rPr lang="en-IN" dirty="0" err="1"/>
              <a:t>newCustomer</a:t>
            </a:r>
            <a:r>
              <a:rPr lang="en-IN" dirty="0"/>
              <a:t>;</a:t>
            </a:r>
          </a:p>
          <a:p>
            <a:endParaRPr lang="en-IN" dirty="0"/>
          </a:p>
          <a:p>
            <a:r>
              <a:rPr lang="en-IN" dirty="0"/>
              <a:t>    // Constructor, Getters, and Setters...</a:t>
            </a:r>
          </a:p>
          <a:p>
            <a:r>
              <a:rPr lang="en-IN" dirty="0"/>
              <a:t>    public Order(String id, double amount, </a:t>
            </a:r>
            <a:r>
              <a:rPr lang="en-IN" dirty="0" err="1"/>
              <a:t>boolean</a:t>
            </a:r>
            <a:r>
              <a:rPr lang="en-IN" dirty="0"/>
              <a:t> </a:t>
            </a:r>
            <a:r>
              <a:rPr lang="en-IN" dirty="0" err="1"/>
              <a:t>newCustomer</a:t>
            </a:r>
            <a:r>
              <a:rPr lang="en-IN" dirty="0"/>
              <a:t>) {</a:t>
            </a:r>
          </a:p>
          <a:p>
            <a:r>
              <a:rPr lang="en-IN" dirty="0"/>
              <a:t>        this.id = id;</a:t>
            </a:r>
          </a:p>
          <a:p>
            <a:r>
              <a:rPr lang="en-IN" dirty="0"/>
              <a:t>        </a:t>
            </a:r>
            <a:r>
              <a:rPr lang="en-IN" dirty="0" err="1"/>
              <a:t>this.amount</a:t>
            </a:r>
            <a:r>
              <a:rPr lang="en-IN" dirty="0"/>
              <a:t> = amount;</a:t>
            </a:r>
          </a:p>
          <a:p>
            <a:r>
              <a:rPr lang="en-IN" dirty="0"/>
              <a:t>        </a:t>
            </a:r>
            <a:r>
              <a:rPr lang="en-IN" dirty="0" err="1"/>
              <a:t>this.newCustomer</a:t>
            </a:r>
            <a:r>
              <a:rPr lang="en-IN" dirty="0"/>
              <a:t> = </a:t>
            </a:r>
            <a:r>
              <a:rPr lang="en-IN" dirty="0" err="1"/>
              <a:t>newCustomer</a:t>
            </a:r>
            <a:r>
              <a:rPr lang="en-IN" dirty="0"/>
              <a:t>;</a:t>
            </a:r>
          </a:p>
          <a:p>
            <a:r>
              <a:rPr lang="en-IN" dirty="0"/>
              <a:t>    }</a:t>
            </a:r>
          </a:p>
          <a:p>
            <a:r>
              <a:rPr lang="en-IN" dirty="0"/>
              <a:t>    public double </a:t>
            </a:r>
            <a:r>
              <a:rPr lang="en-IN" dirty="0" err="1"/>
              <a:t>getAmount</a:t>
            </a:r>
            <a:r>
              <a:rPr lang="en-IN" dirty="0"/>
              <a:t>() { return amount; }</a:t>
            </a:r>
          </a:p>
          <a:p>
            <a:r>
              <a:rPr lang="en-IN" dirty="0"/>
              <a:t>    public </a:t>
            </a:r>
            <a:r>
              <a:rPr lang="en-IN" dirty="0" err="1"/>
              <a:t>boolean</a:t>
            </a:r>
            <a:r>
              <a:rPr lang="en-IN" dirty="0"/>
              <a:t> </a:t>
            </a:r>
            <a:r>
              <a:rPr lang="en-IN" dirty="0" err="1"/>
              <a:t>isNewCustomer</a:t>
            </a:r>
            <a:r>
              <a:rPr lang="en-IN" dirty="0"/>
              <a:t>() { return </a:t>
            </a:r>
            <a:r>
              <a:rPr lang="en-IN" dirty="0" err="1"/>
              <a:t>newCustomer</a:t>
            </a:r>
            <a:r>
              <a:rPr lang="en-IN" dirty="0"/>
              <a:t>; }</a:t>
            </a:r>
          </a:p>
          <a:p>
            <a:r>
              <a:rPr lang="en-IN" dirty="0"/>
              <a:t>    @Override</a:t>
            </a:r>
          </a:p>
          <a:p>
            <a:r>
              <a:rPr lang="en-IN" dirty="0"/>
              <a:t>    public String </a:t>
            </a:r>
            <a:r>
              <a:rPr lang="en-IN" dirty="0" err="1"/>
              <a:t>toString</a:t>
            </a:r>
            <a:r>
              <a:rPr lang="en-IN" dirty="0"/>
              <a:t>() { return "Order " + id; }</a:t>
            </a:r>
          </a:p>
          <a:p>
            <a:r>
              <a:rPr lang="en-IN" dirty="0"/>
              <a:t>}</a:t>
            </a:r>
          </a:p>
        </p:txBody>
      </p:sp>
      <p:sp>
        <p:nvSpPr>
          <p:cNvPr id="7" name="TextBox 6">
            <a:extLst>
              <a:ext uri="{FF2B5EF4-FFF2-40B4-BE49-F238E27FC236}">
                <a16:creationId xmlns:a16="http://schemas.microsoft.com/office/drawing/2014/main" id="{4A5BE405-EE8C-9CE9-9DDC-E327155C4839}"/>
              </a:ext>
            </a:extLst>
          </p:cNvPr>
          <p:cNvSpPr txBox="1"/>
          <p:nvPr/>
        </p:nvSpPr>
        <p:spPr>
          <a:xfrm>
            <a:off x="1587370" y="718070"/>
            <a:ext cx="6095222" cy="523220"/>
          </a:xfrm>
          <a:prstGeom prst="rect">
            <a:avLst/>
          </a:prstGeom>
          <a:noFill/>
        </p:spPr>
        <p:txBody>
          <a:bodyPr wrap="square">
            <a:spAutoFit/>
          </a:bodyPr>
          <a:lstStyle/>
          <a:p>
            <a:pPr algn="l">
              <a:buNone/>
            </a:pPr>
            <a:r>
              <a:rPr lang="en-IN" sz="2800" b="1" i="0" dirty="0">
                <a:solidFill>
                  <a:srgbClr val="C00000"/>
                </a:solidFill>
                <a:effectLst/>
                <a:latin typeface="Inter"/>
              </a:rPr>
              <a:t>Order Object (Our Payload)</a:t>
            </a:r>
          </a:p>
        </p:txBody>
      </p:sp>
    </p:spTree>
    <p:extLst>
      <p:ext uri="{BB962C8B-B14F-4D97-AF65-F5344CB8AC3E}">
        <p14:creationId xmlns:p14="http://schemas.microsoft.com/office/powerpoint/2010/main" val="326706850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F43A2D-3EF1-0DC7-B248-D5448733893A}"/>
              </a:ext>
            </a:extLst>
          </p:cNvPr>
          <p:cNvSpPr txBox="1"/>
          <p:nvPr/>
        </p:nvSpPr>
        <p:spPr>
          <a:xfrm>
            <a:off x="438540" y="0"/>
            <a:ext cx="10996126" cy="6740307"/>
          </a:xfrm>
          <a:prstGeom prst="rect">
            <a:avLst/>
          </a:prstGeom>
          <a:noFill/>
        </p:spPr>
        <p:txBody>
          <a:bodyPr wrap="square">
            <a:spAutoFit/>
          </a:bodyPr>
          <a:lstStyle/>
          <a:p>
            <a:r>
              <a:rPr lang="en-IN" dirty="0"/>
              <a:t>@Configuration</a:t>
            </a:r>
          </a:p>
          <a:p>
            <a:r>
              <a:rPr lang="en-IN" dirty="0"/>
              <a:t>@EnableIntegration</a:t>
            </a:r>
          </a:p>
          <a:p>
            <a:r>
              <a:rPr lang="en-IN" dirty="0"/>
              <a:t>public class </a:t>
            </a:r>
            <a:r>
              <a:rPr lang="en-IN" dirty="0" err="1"/>
              <a:t>RecipientListRouterConfig</a:t>
            </a:r>
            <a:r>
              <a:rPr lang="en-IN" dirty="0"/>
              <a:t> {</a:t>
            </a:r>
          </a:p>
          <a:p>
            <a:r>
              <a:rPr lang="en-IN" dirty="0"/>
              <a:t>    @Bean</a:t>
            </a:r>
          </a:p>
          <a:p>
            <a:r>
              <a:rPr lang="en-IN" dirty="0"/>
              <a:t>    public </a:t>
            </a:r>
            <a:r>
              <a:rPr lang="en-IN" dirty="0" err="1"/>
              <a:t>IntegrationFlow</a:t>
            </a:r>
            <a:r>
              <a:rPr lang="en-IN" dirty="0"/>
              <a:t> </a:t>
            </a:r>
            <a:r>
              <a:rPr lang="en-IN" dirty="0" err="1"/>
              <a:t>orderFlow</a:t>
            </a:r>
            <a:r>
              <a:rPr lang="en-IN" dirty="0"/>
              <a:t>() {</a:t>
            </a:r>
          </a:p>
          <a:p>
            <a:r>
              <a:rPr lang="en-IN" dirty="0"/>
              <a:t>        return </a:t>
            </a:r>
            <a:r>
              <a:rPr lang="en-IN" dirty="0" err="1"/>
              <a:t>IntegrationFlow.from</a:t>
            </a:r>
            <a:r>
              <a:rPr lang="en-IN" dirty="0"/>
              <a:t>("</a:t>
            </a:r>
            <a:r>
              <a:rPr lang="en-IN" dirty="0" err="1"/>
              <a:t>orderInputChannel</a:t>
            </a:r>
            <a:r>
              <a:rPr lang="en-IN" dirty="0"/>
              <a:t>")</a:t>
            </a:r>
          </a:p>
          <a:p>
            <a:r>
              <a:rPr lang="en-IN" dirty="0"/>
              <a:t>            .</a:t>
            </a:r>
            <a:r>
              <a:rPr lang="en-IN" dirty="0" err="1"/>
              <a:t>routeToRecipients</a:t>
            </a:r>
            <a:r>
              <a:rPr lang="en-IN" dirty="0"/>
              <a:t>(route -&gt; route</a:t>
            </a:r>
          </a:p>
          <a:p>
            <a:r>
              <a:rPr lang="en-IN" dirty="0"/>
              <a:t>                                // 1.</a:t>
            </a:r>
            <a:r>
              <a:rPr lang="en-IN" b="1" dirty="0"/>
              <a:t> STATIC RECIPIENT: Every order goes here</a:t>
            </a:r>
          </a:p>
          <a:p>
            <a:r>
              <a:rPr lang="en-IN" dirty="0"/>
              <a:t>                .recipient("</a:t>
            </a:r>
            <a:r>
              <a:rPr lang="en-IN" dirty="0" err="1"/>
              <a:t>inventoryChannel</a:t>
            </a:r>
            <a:r>
              <a:rPr lang="en-IN" dirty="0"/>
              <a:t>")</a:t>
            </a:r>
          </a:p>
          <a:p>
            <a:r>
              <a:rPr lang="en-IN" dirty="0"/>
              <a:t>		                // 2. </a:t>
            </a:r>
            <a:r>
              <a:rPr lang="en-IN" b="1" dirty="0"/>
              <a:t>CONDITIONAL (Using a Lambda): Based on object logic</a:t>
            </a:r>
          </a:p>
          <a:p>
            <a:r>
              <a:rPr lang="en-IN" dirty="0"/>
              <a:t>                .recipient("</a:t>
            </a:r>
            <a:r>
              <a:rPr lang="en-IN" dirty="0" err="1"/>
              <a:t>premiumShippingChannel</a:t>
            </a:r>
            <a:r>
              <a:rPr lang="en-IN" dirty="0"/>
              <a:t>", m -&gt; {</a:t>
            </a:r>
          </a:p>
          <a:p>
            <a:r>
              <a:rPr lang="en-IN" dirty="0"/>
              <a:t>                    Order </a:t>
            </a:r>
            <a:r>
              <a:rPr lang="en-IN" dirty="0" err="1"/>
              <a:t>order</a:t>
            </a:r>
            <a:r>
              <a:rPr lang="en-IN" dirty="0"/>
              <a:t> = (Order) </a:t>
            </a:r>
            <a:r>
              <a:rPr lang="en-IN" dirty="0" err="1"/>
              <a:t>m.getPayload</a:t>
            </a:r>
            <a:r>
              <a:rPr lang="en-IN" dirty="0"/>
              <a:t>();</a:t>
            </a:r>
          </a:p>
          <a:p>
            <a:r>
              <a:rPr lang="en-IN" dirty="0"/>
              <a:t>                    return </a:t>
            </a:r>
            <a:r>
              <a:rPr lang="en-IN" dirty="0" err="1"/>
              <a:t>order.getAmount</a:t>
            </a:r>
            <a:r>
              <a:rPr lang="en-IN" dirty="0"/>
              <a:t>() &gt; 100.0;</a:t>
            </a:r>
          </a:p>
          <a:p>
            <a:r>
              <a:rPr lang="en-IN" dirty="0"/>
              <a:t>                })</a:t>
            </a:r>
          </a:p>
          <a:p>
            <a:r>
              <a:rPr lang="en-IN" dirty="0"/>
              <a:t>		                // 3. </a:t>
            </a:r>
            <a:r>
              <a:rPr lang="en-IN" b="1" dirty="0"/>
              <a:t>CONDITIONAL (Using </a:t>
            </a:r>
            <a:r>
              <a:rPr lang="en-IN" b="1" dirty="0" err="1"/>
              <a:t>SpEL</a:t>
            </a:r>
            <a:r>
              <a:rPr lang="en-IN" b="1" dirty="0"/>
              <a:t>): Spring Expression Language</a:t>
            </a:r>
          </a:p>
          <a:p>
            <a:r>
              <a:rPr lang="en-IN" dirty="0"/>
              <a:t>              			  // 'payload' is a reserved word in </a:t>
            </a:r>
            <a:r>
              <a:rPr lang="en-IN" dirty="0" err="1"/>
              <a:t>SpEL</a:t>
            </a:r>
            <a:r>
              <a:rPr lang="en-IN" dirty="0"/>
              <a:t> for the message payload</a:t>
            </a:r>
          </a:p>
          <a:p>
            <a:r>
              <a:rPr lang="en-IN" dirty="0"/>
              <a:t>                .</a:t>
            </a:r>
            <a:r>
              <a:rPr lang="en-IN" dirty="0" err="1"/>
              <a:t>recipientExpression</a:t>
            </a:r>
            <a:r>
              <a:rPr lang="en-IN" dirty="0"/>
              <a:t>("</a:t>
            </a:r>
            <a:r>
              <a:rPr lang="en-IN" dirty="0" err="1"/>
              <a:t>welcomeGiftChannel</a:t>
            </a:r>
            <a:r>
              <a:rPr lang="en-IN" dirty="0"/>
              <a:t>", "</a:t>
            </a:r>
            <a:r>
              <a:rPr lang="en-IN" dirty="0" err="1"/>
              <a:t>payload.newCustomer</a:t>
            </a:r>
            <a:r>
              <a:rPr lang="en-IN" dirty="0"/>
              <a:t> == true")</a:t>
            </a:r>
          </a:p>
          <a:p>
            <a:r>
              <a:rPr lang="en-IN" dirty="0"/>
              <a:t>                                // 4. </a:t>
            </a:r>
            <a:r>
              <a:rPr lang="en-IN" b="1" dirty="0"/>
              <a:t>THE SAFETY NET: If NO recipients match (optional)</a:t>
            </a:r>
          </a:p>
          <a:p>
            <a:r>
              <a:rPr lang="en-IN" dirty="0"/>
              <a:t>                .</a:t>
            </a:r>
            <a:r>
              <a:rPr lang="en-IN" dirty="0" err="1"/>
              <a:t>defaultOutputChannel</a:t>
            </a:r>
            <a:r>
              <a:rPr lang="en-IN" dirty="0"/>
              <a:t>("</a:t>
            </a:r>
            <a:r>
              <a:rPr lang="en-IN" dirty="0" err="1"/>
              <a:t>loggingChannel</a:t>
            </a:r>
            <a:r>
              <a:rPr lang="en-IN" dirty="0"/>
              <a:t>")</a:t>
            </a:r>
          </a:p>
          <a:p>
            <a:r>
              <a:rPr lang="en-IN" dirty="0"/>
              <a:t>            )</a:t>
            </a:r>
          </a:p>
          <a:p>
            <a:r>
              <a:rPr lang="en-IN" dirty="0"/>
              <a:t>            .get();</a:t>
            </a:r>
          </a:p>
          <a:p>
            <a:r>
              <a:rPr lang="en-IN" dirty="0"/>
              <a:t>    }</a:t>
            </a:r>
          </a:p>
          <a:p>
            <a:r>
              <a:rPr lang="en-IN" dirty="0"/>
              <a:t>// --- CHANNEL DEFINITIONS &amp; HANDLERS --- In the next slide</a:t>
            </a:r>
          </a:p>
          <a:p>
            <a:r>
              <a:rPr lang="en-IN" dirty="0"/>
              <a:t>}</a:t>
            </a:r>
          </a:p>
        </p:txBody>
      </p:sp>
    </p:spTree>
    <p:extLst>
      <p:ext uri="{BB962C8B-B14F-4D97-AF65-F5344CB8AC3E}">
        <p14:creationId xmlns:p14="http://schemas.microsoft.com/office/powerpoint/2010/main" val="14714818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DB579D-E9FA-1DE6-E004-DB9049F277CC}"/>
              </a:ext>
            </a:extLst>
          </p:cNvPr>
          <p:cNvSpPr txBox="1"/>
          <p:nvPr/>
        </p:nvSpPr>
        <p:spPr>
          <a:xfrm>
            <a:off x="587828" y="751344"/>
            <a:ext cx="11299371" cy="5355312"/>
          </a:xfrm>
          <a:prstGeom prst="rect">
            <a:avLst/>
          </a:prstGeom>
          <a:noFill/>
        </p:spPr>
        <p:txBody>
          <a:bodyPr wrap="square">
            <a:spAutoFit/>
          </a:bodyPr>
          <a:lstStyle/>
          <a:p>
            <a:r>
              <a:rPr lang="en-IN" dirty="0"/>
              <a:t>// --- CHANNEL DEFINITIONS &amp; HANDLERS ---</a:t>
            </a:r>
          </a:p>
          <a:p>
            <a:endParaRPr lang="en-IN" dirty="0"/>
          </a:p>
          <a:p>
            <a:r>
              <a:rPr lang="en-IN" dirty="0"/>
              <a:t>    @Bean public </a:t>
            </a:r>
            <a:r>
              <a:rPr lang="en-IN" dirty="0" err="1"/>
              <a:t>IntegrationFlow</a:t>
            </a:r>
            <a:r>
              <a:rPr lang="en-IN" dirty="0"/>
              <a:t> </a:t>
            </a:r>
            <a:r>
              <a:rPr lang="en-IN" dirty="0" err="1"/>
              <a:t>inventoryFlow</a:t>
            </a:r>
            <a:r>
              <a:rPr lang="en-IN" dirty="0"/>
              <a:t>() {</a:t>
            </a:r>
          </a:p>
          <a:p>
            <a:r>
              <a:rPr lang="en-IN" dirty="0"/>
              <a:t>        return </a:t>
            </a:r>
            <a:r>
              <a:rPr lang="en-IN" dirty="0" err="1"/>
              <a:t>IntegrationFlow.from</a:t>
            </a:r>
            <a:r>
              <a:rPr lang="en-IN" dirty="0"/>
              <a:t>("</a:t>
            </a:r>
            <a:r>
              <a:rPr lang="en-IN" dirty="0" err="1"/>
              <a:t>inventoryChannel</a:t>
            </a:r>
            <a:r>
              <a:rPr lang="en-IN" dirty="0"/>
              <a:t>")</a:t>
            </a:r>
          </a:p>
          <a:p>
            <a:r>
              <a:rPr lang="en-IN" dirty="0"/>
              <a:t>                .handle(m -&gt; </a:t>
            </a:r>
            <a:r>
              <a:rPr lang="en-IN" dirty="0" err="1"/>
              <a:t>System.out.println</a:t>
            </a:r>
            <a:r>
              <a:rPr lang="en-IN" dirty="0"/>
              <a:t>("[INVENTORY] Updating stock for: " + </a:t>
            </a:r>
            <a:r>
              <a:rPr lang="en-IN" dirty="0" err="1"/>
              <a:t>m.getPayload</a:t>
            </a:r>
            <a:r>
              <a:rPr lang="en-IN" dirty="0"/>
              <a:t>()))</a:t>
            </a:r>
          </a:p>
          <a:p>
            <a:r>
              <a:rPr lang="en-IN" dirty="0"/>
              <a:t>                .get();</a:t>
            </a:r>
          </a:p>
          <a:p>
            <a:r>
              <a:rPr lang="en-IN" dirty="0"/>
              <a:t>    }</a:t>
            </a:r>
          </a:p>
          <a:p>
            <a:endParaRPr lang="en-IN" dirty="0"/>
          </a:p>
          <a:p>
            <a:r>
              <a:rPr lang="en-IN" dirty="0"/>
              <a:t>    @Bean public </a:t>
            </a:r>
            <a:r>
              <a:rPr lang="en-IN" dirty="0" err="1"/>
              <a:t>IntegrationFlow</a:t>
            </a:r>
            <a:r>
              <a:rPr lang="en-IN" dirty="0"/>
              <a:t> </a:t>
            </a:r>
            <a:r>
              <a:rPr lang="en-IN" dirty="0" err="1"/>
              <a:t>premiumFlow</a:t>
            </a:r>
            <a:r>
              <a:rPr lang="en-IN" dirty="0"/>
              <a:t>() {</a:t>
            </a:r>
          </a:p>
          <a:p>
            <a:r>
              <a:rPr lang="en-IN" dirty="0"/>
              <a:t>        return </a:t>
            </a:r>
            <a:r>
              <a:rPr lang="en-IN" dirty="0" err="1"/>
              <a:t>IntegrationFlow.from</a:t>
            </a:r>
            <a:r>
              <a:rPr lang="en-IN" dirty="0"/>
              <a:t>("</a:t>
            </a:r>
            <a:r>
              <a:rPr lang="en-IN" dirty="0" err="1"/>
              <a:t>premiumShippingChannel</a:t>
            </a:r>
            <a:r>
              <a:rPr lang="en-IN" dirty="0"/>
              <a:t>")</a:t>
            </a:r>
          </a:p>
          <a:p>
            <a:r>
              <a:rPr lang="en-IN" dirty="0"/>
              <a:t>                .handle(m -&gt; </a:t>
            </a:r>
            <a:r>
              <a:rPr lang="en-IN" dirty="0" err="1"/>
              <a:t>System.out.println</a:t>
            </a:r>
            <a:r>
              <a:rPr lang="en-IN" dirty="0"/>
              <a:t>("[PREMIUM] Arranging priority flight for: " + </a:t>
            </a:r>
            <a:r>
              <a:rPr lang="en-IN" dirty="0" err="1"/>
              <a:t>m.getPayload</a:t>
            </a:r>
            <a:r>
              <a:rPr lang="en-IN" dirty="0"/>
              <a:t>()))</a:t>
            </a:r>
          </a:p>
          <a:p>
            <a:r>
              <a:rPr lang="en-IN" dirty="0"/>
              <a:t>                .get();</a:t>
            </a:r>
          </a:p>
          <a:p>
            <a:r>
              <a:rPr lang="en-IN" dirty="0"/>
              <a:t>    }</a:t>
            </a:r>
          </a:p>
          <a:p>
            <a:endParaRPr lang="en-IN" dirty="0"/>
          </a:p>
          <a:p>
            <a:r>
              <a:rPr lang="en-IN" dirty="0"/>
              <a:t>    @Bean public </a:t>
            </a:r>
            <a:r>
              <a:rPr lang="en-IN" dirty="0" err="1"/>
              <a:t>IntegrationFlow</a:t>
            </a:r>
            <a:r>
              <a:rPr lang="en-IN" dirty="0"/>
              <a:t> </a:t>
            </a:r>
            <a:r>
              <a:rPr lang="en-IN" dirty="0" err="1"/>
              <a:t>giftFlow</a:t>
            </a:r>
            <a:r>
              <a:rPr lang="en-IN" dirty="0"/>
              <a:t>() {</a:t>
            </a:r>
          </a:p>
          <a:p>
            <a:r>
              <a:rPr lang="en-IN" dirty="0"/>
              <a:t>        return </a:t>
            </a:r>
            <a:r>
              <a:rPr lang="en-IN" dirty="0" err="1"/>
              <a:t>IntegrationFlow.from</a:t>
            </a:r>
            <a:r>
              <a:rPr lang="en-IN" dirty="0"/>
              <a:t>("</a:t>
            </a:r>
            <a:r>
              <a:rPr lang="en-IN" dirty="0" err="1"/>
              <a:t>welcomeGiftChannel</a:t>
            </a:r>
            <a:r>
              <a:rPr lang="en-IN" dirty="0"/>
              <a:t>")</a:t>
            </a:r>
          </a:p>
          <a:p>
            <a:r>
              <a:rPr lang="en-IN" dirty="0"/>
              <a:t>                .handle(m -&gt; </a:t>
            </a:r>
            <a:r>
              <a:rPr lang="en-IN" dirty="0" err="1"/>
              <a:t>System.out.println</a:t>
            </a:r>
            <a:r>
              <a:rPr lang="en-IN" dirty="0"/>
              <a:t>("[GIFT] Adding a free coupon to: " + </a:t>
            </a:r>
            <a:r>
              <a:rPr lang="en-IN" dirty="0" err="1"/>
              <a:t>m.getPayload</a:t>
            </a:r>
            <a:r>
              <a:rPr lang="en-IN" dirty="0"/>
              <a:t>()))</a:t>
            </a:r>
          </a:p>
          <a:p>
            <a:r>
              <a:rPr lang="en-IN" dirty="0"/>
              <a:t>                .get();</a:t>
            </a:r>
          </a:p>
          <a:p>
            <a:r>
              <a:rPr lang="en-IN" dirty="0"/>
              <a:t>    }</a:t>
            </a:r>
          </a:p>
        </p:txBody>
      </p:sp>
    </p:spTree>
    <p:extLst>
      <p:ext uri="{BB962C8B-B14F-4D97-AF65-F5344CB8AC3E}">
        <p14:creationId xmlns:p14="http://schemas.microsoft.com/office/powerpoint/2010/main" val="818784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B45F5-8D14-7768-F1D1-83F1C6BE57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A6537-A21D-BF3A-4BF0-8E447887DC53}"/>
              </a:ext>
            </a:extLst>
          </p:cNvPr>
          <p:cNvSpPr>
            <a:spLocks noGrp="1"/>
          </p:cNvSpPr>
          <p:nvPr>
            <p:ph type="title"/>
          </p:nvPr>
        </p:nvSpPr>
        <p:spPr/>
        <p:txBody>
          <a:bodyPr/>
          <a:lstStyle/>
          <a:p>
            <a:r>
              <a:rPr lang="en-US" b="1" dirty="0"/>
              <a:t>Why use Recipient List Router instead of Pub-Sub?</a:t>
            </a:r>
            <a:endParaRPr lang="en-IN" dirty="0"/>
          </a:p>
        </p:txBody>
      </p:sp>
      <p:sp>
        <p:nvSpPr>
          <p:cNvPr id="3" name="Content Placeholder 2">
            <a:extLst>
              <a:ext uri="{FF2B5EF4-FFF2-40B4-BE49-F238E27FC236}">
                <a16:creationId xmlns:a16="http://schemas.microsoft.com/office/drawing/2014/main" id="{A14D2744-24F3-DE1B-55B1-B226AA4CC7D8}"/>
              </a:ext>
            </a:extLst>
          </p:cNvPr>
          <p:cNvSpPr>
            <a:spLocks noGrp="1"/>
          </p:cNvSpPr>
          <p:nvPr>
            <p:ph idx="1"/>
          </p:nvPr>
        </p:nvSpPr>
        <p:spPr>
          <a:xfrm>
            <a:off x="1154954" y="2603499"/>
            <a:ext cx="10690258" cy="3871945"/>
          </a:xfrm>
        </p:spPr>
        <p:txBody>
          <a:bodyPr/>
          <a:lstStyle/>
          <a:p>
            <a:r>
              <a:rPr lang="en-US" dirty="0"/>
              <a:t>In </a:t>
            </a:r>
            <a:r>
              <a:rPr lang="en-US" b="1" dirty="0"/>
              <a:t>Pub-Sub</a:t>
            </a:r>
            <a:r>
              <a:rPr lang="en-US" dirty="0"/>
              <a:t>, you broadcast to everyone. </a:t>
            </a:r>
          </a:p>
          <a:p>
            <a:r>
              <a:rPr lang="en-US" dirty="0"/>
              <a:t>If a subscriber doesn't want the message, </a:t>
            </a:r>
            <a:r>
              <a:rPr lang="en-US" i="1" dirty="0"/>
              <a:t>the subscriber</a:t>
            </a:r>
            <a:r>
              <a:rPr lang="en-US" dirty="0"/>
              <a:t> has to filter it out.</a:t>
            </a:r>
          </a:p>
          <a:p>
            <a:r>
              <a:rPr lang="en-US" dirty="0"/>
              <a:t>In </a:t>
            </a:r>
            <a:r>
              <a:rPr lang="en-US" b="1" dirty="0"/>
              <a:t>Recipient List Router</a:t>
            </a:r>
            <a:r>
              <a:rPr lang="en-US" dirty="0"/>
              <a:t>, the </a:t>
            </a:r>
            <a:r>
              <a:rPr lang="en-US" i="1" dirty="0"/>
              <a:t>Router</a:t>
            </a:r>
            <a:r>
              <a:rPr lang="en-US" dirty="0"/>
              <a:t> makes the decision.</a:t>
            </a:r>
          </a:p>
          <a:p>
            <a:r>
              <a:rPr lang="en-US" dirty="0"/>
              <a:t> This keeps your business services (like Inventory or Shipping) "clean" because they don't have to check if the message is relevant to them; if they receive it, it </a:t>
            </a:r>
            <a:r>
              <a:rPr lang="en-US" b="1" dirty="0"/>
              <a:t>is</a:t>
            </a:r>
            <a:r>
              <a:rPr lang="en-US" dirty="0"/>
              <a:t> relevant.</a:t>
            </a:r>
          </a:p>
          <a:p>
            <a:endParaRPr lang="en-IN" dirty="0"/>
          </a:p>
        </p:txBody>
      </p:sp>
    </p:spTree>
    <p:extLst>
      <p:ext uri="{BB962C8B-B14F-4D97-AF65-F5344CB8AC3E}">
        <p14:creationId xmlns:p14="http://schemas.microsoft.com/office/powerpoint/2010/main" val="13637500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25847-1DAE-1033-17E5-DA5C4D001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923A44-11D4-AA1F-E4B0-DAA16AFB6D09}"/>
              </a:ext>
            </a:extLst>
          </p:cNvPr>
          <p:cNvSpPr>
            <a:spLocks noGrp="1"/>
          </p:cNvSpPr>
          <p:nvPr>
            <p:ph type="title"/>
          </p:nvPr>
        </p:nvSpPr>
        <p:spPr/>
        <p:txBody>
          <a:bodyPr/>
          <a:lstStyle/>
          <a:p>
            <a:r>
              <a:rPr lang="en-US" b="1" dirty="0"/>
              <a:t>How the "Conditions" Work</a:t>
            </a:r>
            <a:endParaRPr lang="en-IN" dirty="0"/>
          </a:p>
        </p:txBody>
      </p:sp>
      <p:sp>
        <p:nvSpPr>
          <p:cNvPr id="3" name="Content Placeholder 2">
            <a:extLst>
              <a:ext uri="{FF2B5EF4-FFF2-40B4-BE49-F238E27FC236}">
                <a16:creationId xmlns:a16="http://schemas.microsoft.com/office/drawing/2014/main" id="{51C4C6DA-3013-1294-5928-55B6C049D3CD}"/>
              </a:ext>
            </a:extLst>
          </p:cNvPr>
          <p:cNvSpPr>
            <a:spLocks noGrp="1"/>
          </p:cNvSpPr>
          <p:nvPr>
            <p:ph idx="1"/>
          </p:nvPr>
        </p:nvSpPr>
        <p:spPr>
          <a:xfrm>
            <a:off x="1154954" y="2603499"/>
            <a:ext cx="10690258" cy="3871945"/>
          </a:xfrm>
        </p:spPr>
        <p:txBody>
          <a:bodyPr/>
          <a:lstStyle/>
          <a:p>
            <a:r>
              <a:rPr lang="en-US" dirty="0"/>
              <a:t>Have two ways to write conditions:</a:t>
            </a:r>
          </a:p>
          <a:p>
            <a:r>
              <a:rPr lang="en-US" b="1" dirty="0"/>
              <a:t>Lambdas (m -&gt; ...):</a:t>
            </a:r>
            <a:r>
              <a:rPr lang="en-US" dirty="0"/>
              <a:t> Best for complex Java logic or when you want type safety.</a:t>
            </a:r>
          </a:p>
          <a:p>
            <a:r>
              <a:rPr lang="en-US" b="1" dirty="0" err="1"/>
              <a:t>SpEL</a:t>
            </a:r>
            <a:r>
              <a:rPr lang="en-US" b="1" dirty="0"/>
              <a:t> (</a:t>
            </a:r>
            <a:r>
              <a:rPr lang="en-US" b="1" dirty="0" err="1"/>
              <a:t>payload.amount</a:t>
            </a:r>
            <a:r>
              <a:rPr lang="en-US" b="1" dirty="0"/>
              <a:t> &gt; 100):</a:t>
            </a:r>
            <a:r>
              <a:rPr lang="en-US" dirty="0"/>
              <a:t> Best for simple property checks.</a:t>
            </a:r>
          </a:p>
          <a:p>
            <a:pPr lvl="1"/>
            <a:r>
              <a:rPr lang="en-US" dirty="0"/>
              <a:t>Very readable and can be changed without recompiling if you use external properties.</a:t>
            </a:r>
          </a:p>
          <a:p>
            <a:endParaRPr lang="en-IN" dirty="0"/>
          </a:p>
        </p:txBody>
      </p:sp>
    </p:spTree>
    <p:extLst>
      <p:ext uri="{BB962C8B-B14F-4D97-AF65-F5344CB8AC3E}">
        <p14:creationId xmlns:p14="http://schemas.microsoft.com/office/powerpoint/2010/main" val="2056457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6B8E4-BA59-C208-71F8-BAEE59F9C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B0197A-F3B6-3B18-6495-DB985B4E5F5A}"/>
              </a:ext>
            </a:extLst>
          </p:cNvPr>
          <p:cNvSpPr>
            <a:spLocks noGrp="1"/>
          </p:cNvSpPr>
          <p:nvPr>
            <p:ph type="title"/>
          </p:nvPr>
        </p:nvSpPr>
        <p:spPr/>
        <p:txBody>
          <a:bodyPr/>
          <a:lstStyle/>
          <a:p>
            <a:r>
              <a:rPr lang="en-US" b="1" dirty="0"/>
              <a:t>Order of Execution (Synchronous)</a:t>
            </a:r>
            <a:endParaRPr lang="en-IN" dirty="0"/>
          </a:p>
        </p:txBody>
      </p:sp>
      <p:sp>
        <p:nvSpPr>
          <p:cNvPr id="3" name="Content Placeholder 2">
            <a:extLst>
              <a:ext uri="{FF2B5EF4-FFF2-40B4-BE49-F238E27FC236}">
                <a16:creationId xmlns:a16="http://schemas.microsoft.com/office/drawing/2014/main" id="{9F2E0D68-CB0D-2846-1904-D3D2FD988E7B}"/>
              </a:ext>
            </a:extLst>
          </p:cNvPr>
          <p:cNvSpPr>
            <a:spLocks noGrp="1"/>
          </p:cNvSpPr>
          <p:nvPr>
            <p:ph idx="1"/>
          </p:nvPr>
        </p:nvSpPr>
        <p:spPr>
          <a:xfrm>
            <a:off x="1154954" y="2603499"/>
            <a:ext cx="10690258" cy="3871945"/>
          </a:xfrm>
        </p:spPr>
        <p:txBody>
          <a:bodyPr/>
          <a:lstStyle/>
          <a:p>
            <a:r>
              <a:rPr lang="en-US" dirty="0"/>
              <a:t>By default, if </a:t>
            </a:r>
            <a:r>
              <a:rPr lang="en-US" dirty="0" err="1"/>
              <a:t>inventoryChannel</a:t>
            </a:r>
            <a:r>
              <a:rPr lang="en-US" dirty="0"/>
              <a:t> and </a:t>
            </a:r>
            <a:r>
              <a:rPr lang="en-US" dirty="0" err="1"/>
              <a:t>premiumShippingChannel</a:t>
            </a:r>
            <a:r>
              <a:rPr lang="en-US" dirty="0"/>
              <a:t> are </a:t>
            </a:r>
            <a:r>
              <a:rPr lang="en-US" b="1" dirty="0"/>
              <a:t>Direct Channels</a:t>
            </a:r>
            <a:r>
              <a:rPr lang="en-US" dirty="0"/>
              <a:t> (Synchronous):</a:t>
            </a:r>
          </a:p>
          <a:p>
            <a:r>
              <a:rPr lang="en-US" dirty="0"/>
              <a:t>The message goes to Inventory.</a:t>
            </a:r>
          </a:p>
          <a:p>
            <a:r>
              <a:rPr lang="en-US" dirty="0"/>
              <a:t>The Router </a:t>
            </a:r>
            <a:r>
              <a:rPr lang="en-US" b="1" dirty="0"/>
              <a:t>waits</a:t>
            </a:r>
            <a:r>
              <a:rPr lang="en-US" dirty="0"/>
              <a:t> for Inventory to finish.</a:t>
            </a:r>
          </a:p>
          <a:p>
            <a:r>
              <a:rPr lang="en-US" dirty="0"/>
              <a:t>The message goes to </a:t>
            </a:r>
            <a:r>
              <a:rPr lang="en-US" dirty="0" err="1"/>
              <a:t>PremiumShipping</a:t>
            </a:r>
            <a:r>
              <a:rPr lang="en-US" dirty="0"/>
              <a:t>.</a:t>
            </a:r>
          </a:p>
          <a:p>
            <a:r>
              <a:rPr lang="en-US" dirty="0"/>
              <a:t>The Router </a:t>
            </a:r>
            <a:r>
              <a:rPr lang="en-US" b="1" dirty="0"/>
              <a:t>waits</a:t>
            </a:r>
            <a:r>
              <a:rPr lang="en-US" dirty="0"/>
              <a:t>.</a:t>
            </a:r>
            <a:br>
              <a:rPr lang="en-US" dirty="0"/>
            </a:br>
            <a:r>
              <a:rPr lang="en-US" dirty="0"/>
              <a:t>This is important: If Inventory throws an exception, </a:t>
            </a:r>
            <a:r>
              <a:rPr lang="en-US" dirty="0" err="1"/>
              <a:t>PremiumShipping</a:t>
            </a:r>
            <a:r>
              <a:rPr lang="en-US" dirty="0"/>
              <a:t> will </a:t>
            </a:r>
            <a:r>
              <a:rPr lang="en-US" b="1" dirty="0"/>
              <a:t>never receive the message</a:t>
            </a:r>
            <a:r>
              <a:rPr lang="en-US" dirty="0"/>
              <a:t>.</a:t>
            </a:r>
          </a:p>
          <a:p>
            <a:endParaRPr lang="en-IN" dirty="0"/>
          </a:p>
        </p:txBody>
      </p:sp>
    </p:spTree>
    <p:extLst>
      <p:ext uri="{BB962C8B-B14F-4D97-AF65-F5344CB8AC3E}">
        <p14:creationId xmlns:p14="http://schemas.microsoft.com/office/powerpoint/2010/main" val="13213139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B8F8-3E09-FBC6-EFC1-488B01582C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69A6EE-DB13-3A9A-5526-F8DFB1746AB3}"/>
              </a:ext>
            </a:extLst>
          </p:cNvPr>
          <p:cNvSpPr>
            <a:spLocks noGrp="1"/>
          </p:cNvSpPr>
          <p:nvPr>
            <p:ph type="title"/>
          </p:nvPr>
        </p:nvSpPr>
        <p:spPr/>
        <p:txBody>
          <a:bodyPr/>
          <a:lstStyle/>
          <a:p>
            <a:r>
              <a:rPr lang="en-US" b="1" dirty="0"/>
              <a:t>Default Output Channel</a:t>
            </a:r>
            <a:endParaRPr lang="en-IN" dirty="0"/>
          </a:p>
        </p:txBody>
      </p:sp>
      <p:sp>
        <p:nvSpPr>
          <p:cNvPr id="3" name="Content Placeholder 2">
            <a:extLst>
              <a:ext uri="{FF2B5EF4-FFF2-40B4-BE49-F238E27FC236}">
                <a16:creationId xmlns:a16="http://schemas.microsoft.com/office/drawing/2014/main" id="{4F542EE9-7950-4D6D-E74B-B7478349E893}"/>
              </a:ext>
            </a:extLst>
          </p:cNvPr>
          <p:cNvSpPr>
            <a:spLocks noGrp="1"/>
          </p:cNvSpPr>
          <p:nvPr>
            <p:ph idx="1"/>
          </p:nvPr>
        </p:nvSpPr>
        <p:spPr>
          <a:xfrm>
            <a:off x="1154954" y="2603499"/>
            <a:ext cx="10690258" cy="3871945"/>
          </a:xfrm>
        </p:spPr>
        <p:txBody>
          <a:bodyPr/>
          <a:lstStyle/>
          <a:p>
            <a:r>
              <a:rPr lang="en-US" dirty="0"/>
              <a:t>If you send an Order that is $5 and NOT a new customer, and you don't have a "Static Recipient," the message has nowhere to go.</a:t>
            </a:r>
          </a:p>
          <a:p>
            <a:r>
              <a:rPr lang="en-US" dirty="0"/>
              <a:t>Without .</a:t>
            </a:r>
            <a:r>
              <a:rPr lang="en-US" dirty="0" err="1"/>
              <a:t>defaultOutputChannel</a:t>
            </a:r>
            <a:r>
              <a:rPr lang="en-US" dirty="0"/>
              <a:t>(), the router will throw an error: </a:t>
            </a:r>
            <a:r>
              <a:rPr lang="en-US" i="1" dirty="0"/>
              <a:t>"No channel resolved..."</a:t>
            </a:r>
            <a:endParaRPr lang="en-US" dirty="0"/>
          </a:p>
          <a:p>
            <a:r>
              <a:rPr lang="en-US" dirty="0"/>
              <a:t>With it, the message is sent to a "catch-all" channel for logging or dead-lettering.</a:t>
            </a:r>
          </a:p>
          <a:p>
            <a:endParaRPr lang="en-IN" dirty="0"/>
          </a:p>
        </p:txBody>
      </p:sp>
    </p:spTree>
    <p:extLst>
      <p:ext uri="{BB962C8B-B14F-4D97-AF65-F5344CB8AC3E}">
        <p14:creationId xmlns:p14="http://schemas.microsoft.com/office/powerpoint/2010/main" val="19212254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2B678-E0CA-2118-8064-B1935FA843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DB85F-40A1-31BE-139E-3B893C5BA3DA}"/>
              </a:ext>
            </a:extLst>
          </p:cNvPr>
          <p:cNvSpPr>
            <a:spLocks noGrp="1"/>
          </p:cNvSpPr>
          <p:nvPr>
            <p:ph type="title"/>
          </p:nvPr>
        </p:nvSpPr>
        <p:spPr/>
        <p:txBody>
          <a:bodyPr/>
          <a:lstStyle/>
          <a:p>
            <a:r>
              <a:rPr lang="en-IN" dirty="0"/>
              <a:t>Methods</a:t>
            </a:r>
          </a:p>
        </p:txBody>
      </p:sp>
      <p:graphicFrame>
        <p:nvGraphicFramePr>
          <p:cNvPr id="4" name="Content Placeholder 3">
            <a:extLst>
              <a:ext uri="{FF2B5EF4-FFF2-40B4-BE49-F238E27FC236}">
                <a16:creationId xmlns:a16="http://schemas.microsoft.com/office/drawing/2014/main" id="{CE2546FF-5A3A-26BE-8475-6960F06F90A8}"/>
              </a:ext>
            </a:extLst>
          </p:cNvPr>
          <p:cNvGraphicFramePr>
            <a:graphicFrameLocks noGrp="1"/>
          </p:cNvGraphicFramePr>
          <p:nvPr>
            <p:ph idx="1"/>
            <p:extLst>
              <p:ext uri="{D42A27DB-BD31-4B8C-83A1-F6EECF244321}">
                <p14:modId xmlns:p14="http://schemas.microsoft.com/office/powerpoint/2010/main" val="1979347141"/>
              </p:ext>
            </p:extLst>
          </p:nvPr>
        </p:nvGraphicFramePr>
        <p:xfrm>
          <a:off x="1155699" y="2603500"/>
          <a:ext cx="9719130" cy="3060183"/>
        </p:xfrm>
        <a:graphic>
          <a:graphicData uri="http://schemas.openxmlformats.org/drawingml/2006/table">
            <a:tbl>
              <a:tblPr firstRow="1" bandRow="1">
                <a:tableStyleId>{5C22544A-7EE6-4342-B048-85BDC9FD1C3A}</a:tableStyleId>
              </a:tblPr>
              <a:tblGrid>
                <a:gridCol w="4859565">
                  <a:extLst>
                    <a:ext uri="{9D8B030D-6E8A-4147-A177-3AD203B41FA5}">
                      <a16:colId xmlns:a16="http://schemas.microsoft.com/office/drawing/2014/main" val="1487946025"/>
                    </a:ext>
                  </a:extLst>
                </a:gridCol>
                <a:gridCol w="4859565">
                  <a:extLst>
                    <a:ext uri="{9D8B030D-6E8A-4147-A177-3AD203B41FA5}">
                      <a16:colId xmlns:a16="http://schemas.microsoft.com/office/drawing/2014/main" val="1470459366"/>
                    </a:ext>
                  </a:extLst>
                </a:gridCol>
              </a:tblGrid>
              <a:tr h="555325">
                <a:tc>
                  <a:txBody>
                    <a:bodyPr/>
                    <a:lstStyle/>
                    <a:p>
                      <a:pPr>
                        <a:lnSpc>
                          <a:spcPts val="1575"/>
                        </a:lnSpc>
                        <a:buNone/>
                      </a:pPr>
                      <a:r>
                        <a:rPr lang="en-IN" b="1" dirty="0">
                          <a:effectLst/>
                          <a:latin typeface="Inter"/>
                        </a:rPr>
                        <a:t>Component</a:t>
                      </a:r>
                    </a:p>
                  </a:txBody>
                  <a:tcPr marL="45720" marR="45720" marT="22860" marB="22860" anchor="ctr"/>
                </a:tc>
                <a:tc>
                  <a:txBody>
                    <a:bodyPr/>
                    <a:lstStyle/>
                    <a:p>
                      <a:pPr>
                        <a:lnSpc>
                          <a:spcPts val="1575"/>
                        </a:lnSpc>
                        <a:buNone/>
                      </a:pPr>
                      <a:r>
                        <a:rPr lang="en-IN" b="1">
                          <a:effectLst/>
                          <a:latin typeface="Inter"/>
                        </a:rPr>
                        <a:t>What it does</a:t>
                      </a:r>
                    </a:p>
                  </a:txBody>
                  <a:tcPr marL="45720" marR="45720" marT="22860" marB="22860" anchor="ctr"/>
                </a:tc>
                <a:extLst>
                  <a:ext uri="{0D108BD9-81ED-4DB2-BD59-A6C34878D82A}">
                    <a16:rowId xmlns:a16="http://schemas.microsoft.com/office/drawing/2014/main" val="4113272454"/>
                  </a:ext>
                </a:extLst>
              </a:tr>
              <a:tr h="555325">
                <a:tc>
                  <a:txBody>
                    <a:bodyPr/>
                    <a:lstStyle/>
                    <a:p>
                      <a:pPr>
                        <a:lnSpc>
                          <a:spcPts val="1575"/>
                        </a:lnSpc>
                        <a:buNone/>
                      </a:pPr>
                      <a:r>
                        <a:rPr lang="en-IN" b="1" dirty="0">
                          <a:solidFill>
                            <a:schemeClr val="tx1"/>
                          </a:solidFill>
                          <a:effectLst/>
                          <a:latin typeface="DM Mono" panose="020B0509040201040103" pitchFamily="49" charset="0"/>
                        </a:rPr>
                        <a:t>.</a:t>
                      </a:r>
                      <a:r>
                        <a:rPr lang="en-IN" b="1" dirty="0" err="1">
                          <a:solidFill>
                            <a:schemeClr val="tx1"/>
                          </a:solidFill>
                          <a:effectLst/>
                          <a:latin typeface="DM Mono" panose="020B0509040201040103" pitchFamily="49" charset="0"/>
                        </a:rPr>
                        <a:t>routeToRecipients</a:t>
                      </a:r>
                      <a:r>
                        <a:rPr lang="en-IN" b="1" dirty="0">
                          <a:solidFill>
                            <a:schemeClr val="tx1"/>
                          </a:solidFill>
                          <a:effectLst/>
                          <a:latin typeface="DM Mono" panose="020B0509040201040103" pitchFamily="49" charset="0"/>
                        </a:rPr>
                        <a:t>()</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a:solidFill>
                            <a:schemeClr val="tx1"/>
                          </a:solidFill>
                          <a:effectLst/>
                          <a:latin typeface="Inter"/>
                        </a:rPr>
                        <a:t>Starts the Recipient List logic.</a:t>
                      </a:r>
                    </a:p>
                  </a:txBody>
                  <a:tcPr marL="45720" marR="45720" marT="22860" marB="22860" anchor="ctr"/>
                </a:tc>
                <a:extLst>
                  <a:ext uri="{0D108BD9-81ED-4DB2-BD59-A6C34878D82A}">
                    <a16:rowId xmlns:a16="http://schemas.microsoft.com/office/drawing/2014/main" val="1707804034"/>
                  </a:ext>
                </a:extLst>
              </a:tr>
              <a:tr h="555325">
                <a:tc>
                  <a:txBody>
                    <a:bodyPr/>
                    <a:lstStyle/>
                    <a:p>
                      <a:pPr>
                        <a:lnSpc>
                          <a:spcPts val="1575"/>
                        </a:lnSpc>
                        <a:buNone/>
                      </a:pPr>
                      <a:r>
                        <a:rPr lang="en-IN" b="1" dirty="0">
                          <a:solidFill>
                            <a:schemeClr val="tx1"/>
                          </a:solidFill>
                          <a:effectLst/>
                          <a:latin typeface="DM Mono" panose="020B0509040201040103" pitchFamily="49" charset="0"/>
                        </a:rPr>
                        <a:t>.recipient("channel")</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IN" b="0">
                          <a:solidFill>
                            <a:schemeClr val="tx1"/>
                          </a:solidFill>
                          <a:effectLst/>
                          <a:latin typeface="Inter"/>
                        </a:rPr>
                        <a:t>Adds a mandatory destination (Static).</a:t>
                      </a:r>
                    </a:p>
                  </a:txBody>
                  <a:tcPr marL="45720" marR="45720" marT="22860" marB="22860" anchor="ctr"/>
                </a:tc>
                <a:extLst>
                  <a:ext uri="{0D108BD9-81ED-4DB2-BD59-A6C34878D82A}">
                    <a16:rowId xmlns:a16="http://schemas.microsoft.com/office/drawing/2014/main" val="1236622698"/>
                  </a:ext>
                </a:extLst>
              </a:tr>
              <a:tr h="697104">
                <a:tc>
                  <a:txBody>
                    <a:bodyPr/>
                    <a:lstStyle/>
                    <a:p>
                      <a:pPr>
                        <a:lnSpc>
                          <a:spcPts val="1575"/>
                        </a:lnSpc>
                        <a:buNone/>
                      </a:pPr>
                      <a:r>
                        <a:rPr lang="en-IN" b="1" dirty="0">
                          <a:solidFill>
                            <a:schemeClr val="tx1"/>
                          </a:solidFill>
                          <a:effectLst/>
                          <a:latin typeface="DM Mono" panose="020B0509040201040103" pitchFamily="49" charset="0"/>
                        </a:rPr>
                        <a:t>.recipient("channel", selector)</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a:solidFill>
                            <a:schemeClr val="tx1"/>
                          </a:solidFill>
                          <a:effectLst/>
                          <a:latin typeface="Inter"/>
                        </a:rPr>
                        <a:t>Adds a destination only if the selector (lambda) returns </a:t>
                      </a:r>
                      <a:r>
                        <a:rPr lang="en-US" b="0">
                          <a:solidFill>
                            <a:schemeClr val="tx1"/>
                          </a:solidFill>
                          <a:effectLst/>
                          <a:latin typeface="DM Mono" panose="020B0509040201040103" pitchFamily="49" charset="0"/>
                        </a:rPr>
                        <a:t>true</a:t>
                      </a:r>
                      <a:r>
                        <a:rPr lang="en-US" b="0">
                          <a:solidFill>
                            <a:schemeClr val="tx1"/>
                          </a:solidFill>
                          <a:effectLst/>
                          <a:latin typeface="Inter"/>
                        </a:rPr>
                        <a:t>.</a:t>
                      </a:r>
                    </a:p>
                  </a:txBody>
                  <a:tcPr marL="45720" marR="45720" marT="22860" marB="22860" anchor="ctr"/>
                </a:tc>
                <a:extLst>
                  <a:ext uri="{0D108BD9-81ED-4DB2-BD59-A6C34878D82A}">
                    <a16:rowId xmlns:a16="http://schemas.microsoft.com/office/drawing/2014/main" val="1999662385"/>
                  </a:ext>
                </a:extLst>
              </a:tr>
              <a:tr h="697104">
                <a:tc>
                  <a:txBody>
                    <a:bodyPr/>
                    <a:lstStyle/>
                    <a:p>
                      <a:pPr>
                        <a:lnSpc>
                          <a:spcPts val="1575"/>
                        </a:lnSpc>
                        <a:buNone/>
                      </a:pPr>
                      <a:r>
                        <a:rPr lang="en-IN" b="1" dirty="0">
                          <a:solidFill>
                            <a:schemeClr val="tx1"/>
                          </a:solidFill>
                          <a:effectLst/>
                          <a:latin typeface="DM Mono" panose="020B0509040201040103" pitchFamily="49" charset="0"/>
                        </a:rPr>
                        <a:t>.</a:t>
                      </a:r>
                      <a:r>
                        <a:rPr lang="en-IN" b="1" dirty="0" err="1">
                          <a:solidFill>
                            <a:schemeClr val="tx1"/>
                          </a:solidFill>
                          <a:effectLst/>
                          <a:latin typeface="DM Mono" panose="020B0509040201040103" pitchFamily="49" charset="0"/>
                        </a:rPr>
                        <a:t>recipientExpression</a:t>
                      </a:r>
                      <a:r>
                        <a:rPr lang="en-IN" b="1" dirty="0">
                          <a:solidFill>
                            <a:schemeClr val="tx1"/>
                          </a:solidFill>
                          <a:effectLst/>
                          <a:latin typeface="DM Mono" panose="020B0509040201040103" pitchFamily="49" charset="0"/>
                        </a:rPr>
                        <a:t>("channel", "</a:t>
                      </a:r>
                      <a:r>
                        <a:rPr lang="en-IN" b="1" dirty="0" err="1">
                          <a:solidFill>
                            <a:schemeClr val="tx1"/>
                          </a:solidFill>
                          <a:effectLst/>
                          <a:latin typeface="DM Mono" panose="020B0509040201040103" pitchFamily="49" charset="0"/>
                        </a:rPr>
                        <a:t>SpEL</a:t>
                      </a:r>
                      <a:r>
                        <a:rPr lang="en-IN" b="1" dirty="0">
                          <a:solidFill>
                            <a:schemeClr val="tx1"/>
                          </a:solidFill>
                          <a:effectLst/>
                          <a:latin typeface="DM Mono" panose="020B0509040201040103" pitchFamily="49" charset="0"/>
                        </a:rPr>
                        <a:t>")</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dirty="0">
                          <a:solidFill>
                            <a:schemeClr val="tx1"/>
                          </a:solidFill>
                          <a:effectLst/>
                          <a:latin typeface="Inter"/>
                        </a:rPr>
                        <a:t>Adds a destination only if the </a:t>
                      </a:r>
                      <a:r>
                        <a:rPr lang="en-US" b="0" dirty="0" err="1">
                          <a:solidFill>
                            <a:schemeClr val="tx1"/>
                          </a:solidFill>
                          <a:effectLst/>
                          <a:latin typeface="Inter"/>
                        </a:rPr>
                        <a:t>SpEL</a:t>
                      </a:r>
                      <a:r>
                        <a:rPr lang="en-US" b="0" dirty="0">
                          <a:solidFill>
                            <a:schemeClr val="tx1"/>
                          </a:solidFill>
                          <a:effectLst/>
                          <a:latin typeface="Inter"/>
                        </a:rPr>
                        <a:t> expression returns </a:t>
                      </a:r>
                      <a:r>
                        <a:rPr lang="en-US" b="0" dirty="0">
                          <a:solidFill>
                            <a:schemeClr val="tx1"/>
                          </a:solidFill>
                          <a:effectLst/>
                          <a:latin typeface="DM Mono" panose="020B0509040201040103" pitchFamily="49" charset="0"/>
                        </a:rPr>
                        <a:t>true</a:t>
                      </a:r>
                      <a:r>
                        <a:rPr lang="en-US" b="0" dirty="0">
                          <a:solidFill>
                            <a:schemeClr val="tx1"/>
                          </a:solidFill>
                          <a:effectLst/>
                          <a:latin typeface="Inter"/>
                        </a:rPr>
                        <a:t>.</a:t>
                      </a:r>
                    </a:p>
                  </a:txBody>
                  <a:tcPr marL="45720" marR="45720" marT="22860" marB="22860" anchor="ctr"/>
                </a:tc>
                <a:extLst>
                  <a:ext uri="{0D108BD9-81ED-4DB2-BD59-A6C34878D82A}">
                    <a16:rowId xmlns:a16="http://schemas.microsoft.com/office/drawing/2014/main" val="3084525036"/>
                  </a:ext>
                </a:extLst>
              </a:tr>
            </a:tbl>
          </a:graphicData>
        </a:graphic>
      </p:graphicFrame>
    </p:spTree>
    <p:extLst>
      <p:ext uri="{BB962C8B-B14F-4D97-AF65-F5344CB8AC3E}">
        <p14:creationId xmlns:p14="http://schemas.microsoft.com/office/powerpoint/2010/main" val="39433613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8147F-04EB-1EB2-C6DA-4AA6EC0B58D3}"/>
              </a:ext>
            </a:extLst>
          </p:cNvPr>
          <p:cNvSpPr>
            <a:spLocks noGrp="1"/>
          </p:cNvSpPr>
          <p:nvPr>
            <p:ph type="title"/>
          </p:nvPr>
        </p:nvSpPr>
        <p:spPr/>
        <p:txBody>
          <a:bodyPr/>
          <a:lstStyle/>
          <a:p>
            <a:r>
              <a:rPr lang="en-US" b="1" dirty="0"/>
              <a:t>Quick Exercise:</a:t>
            </a:r>
            <a:endParaRPr lang="en-IN" dirty="0"/>
          </a:p>
        </p:txBody>
      </p:sp>
      <p:sp>
        <p:nvSpPr>
          <p:cNvPr id="3" name="Content Placeholder 2">
            <a:extLst>
              <a:ext uri="{FF2B5EF4-FFF2-40B4-BE49-F238E27FC236}">
                <a16:creationId xmlns:a16="http://schemas.microsoft.com/office/drawing/2014/main" id="{407A4740-DA6E-B489-C675-C0FA47AF63EC}"/>
              </a:ext>
            </a:extLst>
          </p:cNvPr>
          <p:cNvSpPr>
            <a:spLocks noGrp="1"/>
          </p:cNvSpPr>
          <p:nvPr>
            <p:ph idx="1"/>
          </p:nvPr>
        </p:nvSpPr>
        <p:spPr>
          <a:xfrm>
            <a:off x="1154954" y="2603500"/>
            <a:ext cx="10270381" cy="3811296"/>
          </a:xfrm>
        </p:spPr>
        <p:txBody>
          <a:bodyPr/>
          <a:lstStyle/>
          <a:p>
            <a:r>
              <a:rPr lang="en-US" dirty="0"/>
              <a:t>Imagine an </a:t>
            </a:r>
            <a:r>
              <a:rPr lang="en-US" b="1" dirty="0"/>
              <a:t>Insurance Claim System</a:t>
            </a:r>
            <a:r>
              <a:rPr lang="en-US" dirty="0"/>
              <a:t>.</a:t>
            </a:r>
          </a:p>
          <a:p>
            <a:r>
              <a:rPr lang="en-US" dirty="0"/>
              <a:t>All claims must go to the </a:t>
            </a:r>
            <a:r>
              <a:rPr lang="en-US" b="1" dirty="0"/>
              <a:t>Main Database</a:t>
            </a:r>
            <a:r>
              <a:rPr lang="en-US" dirty="0"/>
              <a:t>.</a:t>
            </a:r>
          </a:p>
          <a:p>
            <a:r>
              <a:rPr lang="en-US" dirty="0"/>
              <a:t>If the claim is for a </a:t>
            </a:r>
            <a:r>
              <a:rPr lang="en-US" b="1" dirty="0"/>
              <a:t>"Vehicle"</a:t>
            </a:r>
            <a:r>
              <a:rPr lang="en-US" dirty="0"/>
              <a:t>, it goes to the </a:t>
            </a:r>
            <a:r>
              <a:rPr lang="en-US" b="1" dirty="0"/>
              <a:t>Auto Department</a:t>
            </a:r>
            <a:r>
              <a:rPr lang="en-US" dirty="0"/>
              <a:t>.</a:t>
            </a:r>
          </a:p>
          <a:p>
            <a:r>
              <a:rPr lang="en-US" dirty="0"/>
              <a:t>If the claim amount is </a:t>
            </a:r>
            <a:r>
              <a:rPr lang="en-US" b="1" dirty="0"/>
              <a:t>over $50,000</a:t>
            </a:r>
            <a:r>
              <a:rPr lang="en-US" dirty="0"/>
              <a:t>, it goes to the </a:t>
            </a:r>
            <a:r>
              <a:rPr lang="en-US" b="1" dirty="0"/>
              <a:t>Fraud Investigation Unit</a:t>
            </a:r>
            <a:r>
              <a:rPr lang="en-US" dirty="0"/>
              <a:t>.</a:t>
            </a:r>
          </a:p>
          <a:p>
            <a:r>
              <a:rPr lang="en-US" b="1" dirty="0"/>
              <a:t>How many recipient calls would you need in your .</a:t>
            </a:r>
            <a:r>
              <a:rPr lang="en-US" b="1" dirty="0" err="1"/>
              <a:t>routeToRecipients</a:t>
            </a:r>
            <a:r>
              <a:rPr lang="en-US" b="1" dirty="0"/>
              <a:t>() block?</a:t>
            </a:r>
            <a:r>
              <a:rPr lang="en-US" dirty="0"/>
              <a:t> </a:t>
            </a:r>
          </a:p>
          <a:p>
            <a:endParaRPr lang="en-IN" dirty="0"/>
          </a:p>
        </p:txBody>
      </p:sp>
    </p:spTree>
    <p:extLst>
      <p:ext uri="{BB962C8B-B14F-4D97-AF65-F5344CB8AC3E}">
        <p14:creationId xmlns:p14="http://schemas.microsoft.com/office/powerpoint/2010/main" val="13854554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F0A45-65B1-1B3A-B034-43BD625CDD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FA0AA4-958E-2B40-5EB1-E6B24DCC37E3}"/>
              </a:ext>
            </a:extLst>
          </p:cNvPr>
          <p:cNvSpPr>
            <a:spLocks noGrp="1"/>
          </p:cNvSpPr>
          <p:nvPr>
            <p:ph type="title"/>
          </p:nvPr>
        </p:nvSpPr>
        <p:spPr/>
        <p:txBody>
          <a:bodyPr/>
          <a:lstStyle/>
          <a:p>
            <a:r>
              <a:rPr lang="en-US" b="1" dirty="0"/>
              <a:t>Error Handling: The "Ignore Failures" Switch</a:t>
            </a:r>
            <a:endParaRPr lang="en-IN" dirty="0"/>
          </a:p>
        </p:txBody>
      </p:sp>
      <p:sp>
        <p:nvSpPr>
          <p:cNvPr id="3" name="Content Placeholder 2">
            <a:extLst>
              <a:ext uri="{FF2B5EF4-FFF2-40B4-BE49-F238E27FC236}">
                <a16:creationId xmlns:a16="http://schemas.microsoft.com/office/drawing/2014/main" id="{12F9240A-F6E5-8453-47FF-11D9FFC6B7A5}"/>
              </a:ext>
            </a:extLst>
          </p:cNvPr>
          <p:cNvSpPr>
            <a:spLocks noGrp="1"/>
          </p:cNvSpPr>
          <p:nvPr>
            <p:ph idx="1"/>
          </p:nvPr>
        </p:nvSpPr>
        <p:spPr>
          <a:xfrm>
            <a:off x="1154954" y="2603499"/>
            <a:ext cx="10690258" cy="3871945"/>
          </a:xfrm>
        </p:spPr>
        <p:txBody>
          <a:bodyPr/>
          <a:lstStyle/>
          <a:p>
            <a:r>
              <a:rPr lang="en-US" dirty="0"/>
              <a:t>By default, the Recipient List Router is "Strict." </a:t>
            </a:r>
          </a:p>
          <a:p>
            <a:r>
              <a:rPr lang="en-US" dirty="0"/>
              <a:t>If it tries to send a message to Recipient A and it fails (throws an exception), the whole process </a:t>
            </a:r>
            <a:r>
              <a:rPr lang="en-US" b="1" dirty="0"/>
              <a:t>stops immediately</a:t>
            </a:r>
            <a:r>
              <a:rPr lang="en-US" dirty="0"/>
              <a:t>. Recipient B and C will </a:t>
            </a:r>
            <a:r>
              <a:rPr lang="en-US" b="1" dirty="0"/>
              <a:t>never</a:t>
            </a:r>
            <a:r>
              <a:rPr lang="en-US" dirty="0"/>
              <a:t> get the message.</a:t>
            </a:r>
          </a:p>
          <a:p>
            <a:r>
              <a:rPr lang="en-US" dirty="0"/>
              <a:t>In many cases, you want "Best Effort" delivery: </a:t>
            </a:r>
            <a:r>
              <a:rPr lang="en-US" i="1" dirty="0"/>
              <a:t>"Try to send it to everyone; if one fails, just keep going."</a:t>
            </a:r>
            <a:endParaRPr lang="en-US" dirty="0"/>
          </a:p>
          <a:p>
            <a:r>
              <a:rPr lang="en-US" b="1" dirty="0" err="1"/>
              <a:t>ignoreSendFailures</a:t>
            </a:r>
            <a:r>
              <a:rPr lang="en-US" b="1" dirty="0"/>
              <a:t> Property</a:t>
            </a:r>
          </a:p>
          <a:p>
            <a:r>
              <a:rPr lang="en-US" dirty="0"/>
              <a:t>In the Java DSL, you can set this flag. If true, the router catches the exception, logs it, and moves to the next recipient.</a:t>
            </a:r>
          </a:p>
          <a:p>
            <a:endParaRPr lang="en-IN" dirty="0"/>
          </a:p>
        </p:txBody>
      </p:sp>
    </p:spTree>
    <p:extLst>
      <p:ext uri="{BB962C8B-B14F-4D97-AF65-F5344CB8AC3E}">
        <p14:creationId xmlns:p14="http://schemas.microsoft.com/office/powerpoint/2010/main" val="23427692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BCBCF-D501-145A-9B08-2C9D7BBD1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828C7-1826-C511-47CC-0D7396F84227}"/>
              </a:ext>
            </a:extLst>
          </p:cNvPr>
          <p:cNvSpPr>
            <a:spLocks noGrp="1"/>
          </p:cNvSpPr>
          <p:nvPr>
            <p:ph type="title"/>
          </p:nvPr>
        </p:nvSpPr>
        <p:spPr/>
        <p:txBody>
          <a:bodyPr/>
          <a:lstStyle/>
          <a:p>
            <a:r>
              <a:rPr lang="en-US" b="1" dirty="0"/>
              <a:t>Error Handling: The "Ignore Failures" Switch</a:t>
            </a:r>
            <a:endParaRPr lang="en-IN" dirty="0"/>
          </a:p>
        </p:txBody>
      </p:sp>
      <p:sp>
        <p:nvSpPr>
          <p:cNvPr id="3" name="Content Placeholder 2">
            <a:extLst>
              <a:ext uri="{FF2B5EF4-FFF2-40B4-BE49-F238E27FC236}">
                <a16:creationId xmlns:a16="http://schemas.microsoft.com/office/drawing/2014/main" id="{430D1639-6E14-1608-EC6F-C7DBA86EB253}"/>
              </a:ext>
            </a:extLst>
          </p:cNvPr>
          <p:cNvSpPr>
            <a:spLocks noGrp="1"/>
          </p:cNvSpPr>
          <p:nvPr>
            <p:ph idx="1"/>
          </p:nvPr>
        </p:nvSpPr>
        <p:spPr>
          <a:xfrm>
            <a:off x="1154954" y="2603499"/>
            <a:ext cx="10690258" cy="3871945"/>
          </a:xfrm>
        </p:spPr>
        <p:txBody>
          <a:bodyPr>
            <a:normAutofit lnSpcReduction="10000"/>
          </a:bodyPr>
          <a:lstStyle/>
          <a:p>
            <a:pPr marL="0" indent="0">
              <a:buNone/>
            </a:pPr>
            <a:r>
              <a:rPr lang="en-IN" dirty="0"/>
              <a:t>@Bean</a:t>
            </a:r>
          </a:p>
          <a:p>
            <a:pPr marL="0" indent="0">
              <a:buNone/>
            </a:pPr>
            <a:r>
              <a:rPr lang="en-IN" dirty="0"/>
              <a:t>public </a:t>
            </a:r>
            <a:r>
              <a:rPr lang="en-IN" dirty="0" err="1"/>
              <a:t>IntegrationFlow</a:t>
            </a:r>
            <a:r>
              <a:rPr lang="en-IN" dirty="0"/>
              <a:t> </a:t>
            </a:r>
            <a:r>
              <a:rPr lang="en-IN" dirty="0" err="1"/>
              <a:t>resilientFlow</a:t>
            </a:r>
            <a:r>
              <a:rPr lang="en-IN" dirty="0"/>
              <a:t>() {</a:t>
            </a:r>
          </a:p>
          <a:p>
            <a:pPr marL="0" indent="0">
              <a:buNone/>
            </a:pPr>
            <a:r>
              <a:rPr lang="en-IN" dirty="0"/>
              <a:t>    return </a:t>
            </a:r>
            <a:r>
              <a:rPr lang="en-IN" dirty="0" err="1"/>
              <a:t>IntegrationFlow.from</a:t>
            </a:r>
            <a:r>
              <a:rPr lang="en-IN" dirty="0"/>
              <a:t>("</a:t>
            </a:r>
            <a:r>
              <a:rPr lang="en-IN" dirty="0" err="1"/>
              <a:t>inputChannel</a:t>
            </a:r>
            <a:r>
              <a:rPr lang="en-IN" dirty="0"/>
              <a:t>")</a:t>
            </a:r>
          </a:p>
          <a:p>
            <a:pPr marL="0" indent="0">
              <a:buNone/>
            </a:pPr>
            <a:r>
              <a:rPr lang="en-IN" dirty="0"/>
              <a:t>            .</a:t>
            </a:r>
            <a:r>
              <a:rPr lang="en-IN" dirty="0" err="1"/>
              <a:t>routeToRecipients</a:t>
            </a:r>
            <a:r>
              <a:rPr lang="en-IN" dirty="0"/>
              <a:t>(route -&gt; route</a:t>
            </a:r>
          </a:p>
          <a:p>
            <a:pPr marL="0" indent="0">
              <a:buNone/>
            </a:pPr>
            <a:r>
              <a:rPr lang="en-IN" dirty="0"/>
              <a:t>                .</a:t>
            </a:r>
            <a:r>
              <a:rPr lang="en-IN" dirty="0" err="1"/>
              <a:t>ignoreSendFailures</a:t>
            </a:r>
            <a:r>
              <a:rPr lang="en-IN" dirty="0"/>
              <a:t>(true) // &lt;--- THE KEY SETTING</a:t>
            </a:r>
          </a:p>
          <a:p>
            <a:pPr marL="0" indent="0">
              <a:buNone/>
            </a:pPr>
            <a:r>
              <a:rPr lang="en-IN" dirty="0"/>
              <a:t>                .recipient("</a:t>
            </a:r>
            <a:r>
              <a:rPr lang="en-IN" dirty="0" err="1"/>
              <a:t>billingChannel</a:t>
            </a:r>
            <a:r>
              <a:rPr lang="en-IN" dirty="0"/>
              <a:t>") // If this fails...</a:t>
            </a:r>
          </a:p>
          <a:p>
            <a:pPr marL="0" indent="0">
              <a:buNone/>
            </a:pPr>
            <a:r>
              <a:rPr lang="en-IN" dirty="0"/>
              <a:t>                .recipient("</a:t>
            </a:r>
            <a:r>
              <a:rPr lang="en-IN" dirty="0" err="1"/>
              <a:t>shippingChannel</a:t>
            </a:r>
            <a:r>
              <a:rPr lang="en-IN" dirty="0"/>
              <a:t>") // ...this still gets the message!</a:t>
            </a:r>
          </a:p>
          <a:p>
            <a:pPr marL="0" indent="0">
              <a:buNone/>
            </a:pPr>
            <a:r>
              <a:rPr lang="en-IN" dirty="0"/>
              <a:t>            )</a:t>
            </a:r>
          </a:p>
          <a:p>
            <a:pPr marL="0" indent="0">
              <a:buNone/>
            </a:pPr>
            <a:r>
              <a:rPr lang="en-IN" dirty="0"/>
              <a:t>            .get();</a:t>
            </a:r>
          </a:p>
          <a:p>
            <a:pPr marL="0" indent="0">
              <a:buNone/>
            </a:pPr>
            <a:r>
              <a:rPr lang="en-IN" dirty="0"/>
              <a:t>}</a:t>
            </a:r>
          </a:p>
        </p:txBody>
      </p:sp>
    </p:spTree>
    <p:extLst>
      <p:ext uri="{BB962C8B-B14F-4D97-AF65-F5344CB8AC3E}">
        <p14:creationId xmlns:p14="http://schemas.microsoft.com/office/powerpoint/2010/main" val="24247857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65C62-F986-09D4-17C1-2A1B49A5D6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00796-85C9-C11B-FAEB-68E4A4EFD69F}"/>
              </a:ext>
            </a:extLst>
          </p:cNvPr>
          <p:cNvSpPr>
            <a:spLocks noGrp="1"/>
          </p:cNvSpPr>
          <p:nvPr>
            <p:ph type="title"/>
          </p:nvPr>
        </p:nvSpPr>
        <p:spPr/>
        <p:txBody>
          <a:bodyPr/>
          <a:lstStyle/>
          <a:p>
            <a:r>
              <a:rPr lang="en-US" b="1" dirty="0"/>
              <a:t>Message Sequencing (The "Breadcrumbs")</a:t>
            </a:r>
            <a:endParaRPr lang="en-IN" dirty="0"/>
          </a:p>
        </p:txBody>
      </p:sp>
      <p:sp>
        <p:nvSpPr>
          <p:cNvPr id="3" name="Content Placeholder 2">
            <a:extLst>
              <a:ext uri="{FF2B5EF4-FFF2-40B4-BE49-F238E27FC236}">
                <a16:creationId xmlns:a16="http://schemas.microsoft.com/office/drawing/2014/main" id="{84D502A9-3B00-B7B0-517A-E36976A4218E}"/>
              </a:ext>
            </a:extLst>
          </p:cNvPr>
          <p:cNvSpPr>
            <a:spLocks noGrp="1"/>
          </p:cNvSpPr>
          <p:nvPr>
            <p:ph idx="1"/>
          </p:nvPr>
        </p:nvSpPr>
        <p:spPr>
          <a:xfrm>
            <a:off x="1154954" y="2603499"/>
            <a:ext cx="10690258" cy="3871945"/>
          </a:xfrm>
        </p:spPr>
        <p:txBody>
          <a:bodyPr/>
          <a:lstStyle/>
          <a:p>
            <a:r>
              <a:rPr lang="en-US" dirty="0"/>
              <a:t>When you send one message to three recipients, you effectively create three "clones" of that message. </a:t>
            </a:r>
          </a:p>
          <a:p>
            <a:r>
              <a:rPr lang="en-US" dirty="0"/>
              <a:t>How does the rest of the system know these clones are related?</a:t>
            </a:r>
          </a:p>
          <a:p>
            <a:r>
              <a:rPr lang="en-US" dirty="0"/>
              <a:t>By enabling </a:t>
            </a:r>
            <a:r>
              <a:rPr lang="en-US" b="1" dirty="0" err="1"/>
              <a:t>applySequence</a:t>
            </a:r>
            <a:r>
              <a:rPr lang="en-US" dirty="0"/>
              <a:t>, Spring Integration adds three special headers to every outgoing message:</a:t>
            </a:r>
          </a:p>
          <a:p>
            <a:r>
              <a:rPr lang="en-US" b="1" dirty="0" err="1"/>
              <a:t>correlationId</a:t>
            </a:r>
            <a:r>
              <a:rPr lang="en-US" dirty="0"/>
              <a:t>: A unique ID shared by all clones.</a:t>
            </a:r>
          </a:p>
          <a:p>
            <a:r>
              <a:rPr lang="en-US" b="1" dirty="0" err="1"/>
              <a:t>sequenceSize</a:t>
            </a:r>
            <a:r>
              <a:rPr lang="en-US" dirty="0"/>
              <a:t>: How many recipients were in the list (e.g., 3).</a:t>
            </a:r>
          </a:p>
          <a:p>
            <a:r>
              <a:rPr lang="en-US" b="1" dirty="0" err="1"/>
              <a:t>sequenceNumber</a:t>
            </a:r>
            <a:r>
              <a:rPr lang="en-US" dirty="0"/>
              <a:t>: The index of the message (e.g., 1, 2, or 3).</a:t>
            </a:r>
          </a:p>
          <a:p>
            <a:r>
              <a:rPr lang="en-US" b="1" dirty="0"/>
              <a:t>Why is this important?</a:t>
            </a:r>
            <a:br>
              <a:rPr lang="en-US" dirty="0"/>
            </a:br>
            <a:r>
              <a:rPr lang="en-US" dirty="0"/>
              <a:t>If you ever want to use an </a:t>
            </a:r>
            <a:r>
              <a:rPr lang="en-US" b="1" dirty="0"/>
              <a:t>Aggregator</a:t>
            </a:r>
            <a:r>
              <a:rPr lang="en-US" dirty="0"/>
              <a:t> later to combine the results (like in Scatter-Gather), the Aggregator </a:t>
            </a:r>
            <a:r>
              <a:rPr lang="en-US" i="1" dirty="0"/>
              <a:t>needs</a:t>
            </a:r>
            <a:r>
              <a:rPr lang="en-US" dirty="0"/>
              <a:t> these headers to know when it has received all the parts.</a:t>
            </a:r>
          </a:p>
          <a:p>
            <a:endParaRPr lang="en-IN" dirty="0"/>
          </a:p>
        </p:txBody>
      </p:sp>
    </p:spTree>
    <p:extLst>
      <p:ext uri="{BB962C8B-B14F-4D97-AF65-F5344CB8AC3E}">
        <p14:creationId xmlns:p14="http://schemas.microsoft.com/office/powerpoint/2010/main" val="370585197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E1CA8-85F0-00FB-AF0F-6B51431E5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95AEF-D5FA-8E24-01BA-02CE257687B3}"/>
              </a:ext>
            </a:extLst>
          </p:cNvPr>
          <p:cNvSpPr>
            <a:spLocks noGrp="1"/>
          </p:cNvSpPr>
          <p:nvPr>
            <p:ph type="title"/>
          </p:nvPr>
        </p:nvSpPr>
        <p:spPr/>
        <p:txBody>
          <a:bodyPr/>
          <a:lstStyle/>
          <a:p>
            <a:r>
              <a:rPr lang="en-US" b="1" dirty="0"/>
              <a:t>Message Sequencing (The "Breadcrumbs")</a:t>
            </a:r>
            <a:endParaRPr lang="en-IN" dirty="0"/>
          </a:p>
        </p:txBody>
      </p:sp>
      <p:sp>
        <p:nvSpPr>
          <p:cNvPr id="3" name="Content Placeholder 2">
            <a:extLst>
              <a:ext uri="{FF2B5EF4-FFF2-40B4-BE49-F238E27FC236}">
                <a16:creationId xmlns:a16="http://schemas.microsoft.com/office/drawing/2014/main" id="{C35BB6EE-1AAF-7397-46E9-3CD9CC141AA9}"/>
              </a:ext>
            </a:extLst>
          </p:cNvPr>
          <p:cNvSpPr>
            <a:spLocks noGrp="1"/>
          </p:cNvSpPr>
          <p:nvPr>
            <p:ph idx="1"/>
          </p:nvPr>
        </p:nvSpPr>
        <p:spPr>
          <a:xfrm>
            <a:off x="1154954" y="2603499"/>
            <a:ext cx="10690258" cy="3871945"/>
          </a:xfrm>
        </p:spPr>
        <p:txBody>
          <a:bodyPr/>
          <a:lstStyle/>
          <a:p>
            <a:pPr marL="0" indent="0">
              <a:buNone/>
            </a:pPr>
            <a:r>
              <a:rPr lang="en-US" dirty="0"/>
              <a:t>.</a:t>
            </a:r>
            <a:r>
              <a:rPr lang="en-US" dirty="0" err="1"/>
              <a:t>routeToRecipients</a:t>
            </a:r>
            <a:r>
              <a:rPr lang="en-US" dirty="0"/>
              <a:t>(route -&gt; route</a:t>
            </a:r>
          </a:p>
          <a:p>
            <a:pPr marL="0" indent="0">
              <a:buNone/>
            </a:pPr>
            <a:r>
              <a:rPr lang="en-US" dirty="0"/>
              <a:t>    .</a:t>
            </a:r>
            <a:r>
              <a:rPr lang="en-US" dirty="0" err="1"/>
              <a:t>applySequence</a:t>
            </a:r>
            <a:r>
              <a:rPr lang="en-US" dirty="0"/>
              <a:t>(true) // Now every message knows its "place" in the group</a:t>
            </a:r>
          </a:p>
          <a:p>
            <a:pPr marL="0" indent="0">
              <a:buNone/>
            </a:pPr>
            <a:r>
              <a:rPr lang="en-US" dirty="0"/>
              <a:t>    .recipient("</a:t>
            </a:r>
            <a:r>
              <a:rPr lang="en-US" dirty="0" err="1"/>
              <a:t>deptA</a:t>
            </a:r>
            <a:r>
              <a:rPr lang="en-US" dirty="0"/>
              <a:t>")</a:t>
            </a:r>
          </a:p>
          <a:p>
            <a:pPr marL="0" indent="0">
              <a:buNone/>
            </a:pPr>
            <a:r>
              <a:rPr lang="en-US" dirty="0"/>
              <a:t>    .recipient("</a:t>
            </a:r>
            <a:r>
              <a:rPr lang="en-US" dirty="0" err="1"/>
              <a:t>deptB</a:t>
            </a:r>
            <a:r>
              <a:rPr lang="en-US" dirty="0"/>
              <a:t>")</a:t>
            </a:r>
          </a:p>
          <a:p>
            <a:pPr marL="0" indent="0">
              <a:buNone/>
            </a:pPr>
            <a:r>
              <a:rPr lang="en-US" dirty="0"/>
              <a:t>)</a:t>
            </a:r>
            <a:endParaRPr lang="en-IN" dirty="0"/>
          </a:p>
        </p:txBody>
      </p:sp>
    </p:spTree>
    <p:extLst>
      <p:ext uri="{BB962C8B-B14F-4D97-AF65-F5344CB8AC3E}">
        <p14:creationId xmlns:p14="http://schemas.microsoft.com/office/powerpoint/2010/main" val="30757246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4A9E8-667A-72F9-F5BA-922142670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BE39A-1A6C-BE1C-A112-E0BAB6D52622}"/>
              </a:ext>
            </a:extLst>
          </p:cNvPr>
          <p:cNvSpPr>
            <a:spLocks noGrp="1"/>
          </p:cNvSpPr>
          <p:nvPr>
            <p:ph type="title"/>
          </p:nvPr>
        </p:nvSpPr>
        <p:spPr/>
        <p:txBody>
          <a:bodyPr/>
          <a:lstStyle/>
          <a:p>
            <a:r>
              <a:rPr lang="en-US" b="1" dirty="0"/>
              <a:t>Order of Execution</a:t>
            </a:r>
            <a:endParaRPr lang="en-IN" dirty="0"/>
          </a:p>
        </p:txBody>
      </p:sp>
      <p:sp>
        <p:nvSpPr>
          <p:cNvPr id="3" name="Content Placeholder 2">
            <a:extLst>
              <a:ext uri="{FF2B5EF4-FFF2-40B4-BE49-F238E27FC236}">
                <a16:creationId xmlns:a16="http://schemas.microsoft.com/office/drawing/2014/main" id="{5EF8C172-5916-ABFC-7A43-1BAAC318A31E}"/>
              </a:ext>
            </a:extLst>
          </p:cNvPr>
          <p:cNvSpPr>
            <a:spLocks noGrp="1"/>
          </p:cNvSpPr>
          <p:nvPr>
            <p:ph idx="1"/>
          </p:nvPr>
        </p:nvSpPr>
        <p:spPr>
          <a:xfrm>
            <a:off x="1154954" y="2603499"/>
            <a:ext cx="10690258" cy="3871945"/>
          </a:xfrm>
        </p:spPr>
        <p:txBody>
          <a:bodyPr/>
          <a:lstStyle/>
          <a:p>
            <a:r>
              <a:rPr lang="en-US" dirty="0"/>
              <a:t>Even though it's a "List," the behavior depends entirely on the </a:t>
            </a:r>
            <a:r>
              <a:rPr lang="en-US" b="1" dirty="0"/>
              <a:t>Channel Type</a:t>
            </a:r>
            <a:r>
              <a:rPr lang="en-US" dirty="0"/>
              <a:t>:</a:t>
            </a:r>
          </a:p>
          <a:p>
            <a:r>
              <a:rPr lang="en-US" b="1" dirty="0"/>
              <a:t>If Recipients are </a:t>
            </a:r>
            <a:r>
              <a:rPr lang="en-US" b="1" dirty="0" err="1"/>
              <a:t>DirectChannel</a:t>
            </a:r>
            <a:r>
              <a:rPr lang="en-US" b="1" dirty="0"/>
              <a:t>:</a:t>
            </a:r>
            <a:r>
              <a:rPr lang="en-US" dirty="0"/>
              <a:t> The router calls them </a:t>
            </a:r>
            <a:r>
              <a:rPr lang="en-US" b="1" dirty="0"/>
              <a:t>sequentially</a:t>
            </a:r>
            <a:r>
              <a:rPr lang="en-US" dirty="0"/>
              <a:t> (in the order you wrote them in code). Recipient 1 must finish before Recipient 2 starts.</a:t>
            </a:r>
          </a:p>
          <a:p>
            <a:r>
              <a:rPr lang="en-US" b="1" dirty="0"/>
              <a:t>If Recipients are </a:t>
            </a:r>
            <a:r>
              <a:rPr lang="en-US" b="1" dirty="0" err="1"/>
              <a:t>ExecutorChannel</a:t>
            </a:r>
            <a:r>
              <a:rPr lang="en-US" b="1" dirty="0"/>
              <a:t>:</a:t>
            </a:r>
            <a:r>
              <a:rPr lang="en-US" dirty="0"/>
              <a:t> The router hands the message to a thread pool for each recipient. They all run </a:t>
            </a:r>
            <a:r>
              <a:rPr lang="en-US" b="1" dirty="0"/>
              <a:t>simultaneously (Parallel)</a:t>
            </a:r>
            <a:r>
              <a:rPr lang="en-US" dirty="0"/>
              <a:t>.</a:t>
            </a:r>
          </a:p>
          <a:p>
            <a:br>
              <a:rPr lang="en-US" dirty="0"/>
            </a:br>
            <a:br>
              <a:rPr lang="en-US" dirty="0"/>
            </a:br>
            <a:endParaRPr lang="en-IN" dirty="0"/>
          </a:p>
        </p:txBody>
      </p:sp>
    </p:spTree>
    <p:extLst>
      <p:ext uri="{BB962C8B-B14F-4D97-AF65-F5344CB8AC3E}">
        <p14:creationId xmlns:p14="http://schemas.microsoft.com/office/powerpoint/2010/main" val="14276386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8E709-4385-D1F8-5F1D-716A3F82E9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A5E52E-705B-391F-49A6-6415EEDF3EA6}"/>
              </a:ext>
            </a:extLst>
          </p:cNvPr>
          <p:cNvSpPr>
            <a:spLocks noGrp="1"/>
          </p:cNvSpPr>
          <p:nvPr>
            <p:ph type="title"/>
          </p:nvPr>
        </p:nvSpPr>
        <p:spPr/>
        <p:txBody>
          <a:bodyPr/>
          <a:lstStyle/>
          <a:p>
            <a:r>
              <a:rPr lang="en-US" b="1" dirty="0"/>
              <a:t>Dynamic Recipients</a:t>
            </a:r>
            <a:endParaRPr lang="en-IN" dirty="0"/>
          </a:p>
        </p:txBody>
      </p:sp>
      <p:sp>
        <p:nvSpPr>
          <p:cNvPr id="3" name="Content Placeholder 2">
            <a:extLst>
              <a:ext uri="{FF2B5EF4-FFF2-40B4-BE49-F238E27FC236}">
                <a16:creationId xmlns:a16="http://schemas.microsoft.com/office/drawing/2014/main" id="{0A269743-2739-CE6E-1A93-CB3C88377E30}"/>
              </a:ext>
            </a:extLst>
          </p:cNvPr>
          <p:cNvSpPr>
            <a:spLocks noGrp="1"/>
          </p:cNvSpPr>
          <p:nvPr>
            <p:ph idx="1"/>
          </p:nvPr>
        </p:nvSpPr>
        <p:spPr>
          <a:xfrm>
            <a:off x="1028991" y="2216279"/>
            <a:ext cx="10690258" cy="3871945"/>
          </a:xfrm>
        </p:spPr>
        <p:txBody>
          <a:bodyPr/>
          <a:lstStyle/>
          <a:p>
            <a:r>
              <a:rPr lang="en-US" dirty="0"/>
              <a:t>Up until now, we have hardcoded our list (.recipient("</a:t>
            </a:r>
            <a:r>
              <a:rPr lang="en-US" dirty="0" err="1"/>
              <a:t>channelA</a:t>
            </a:r>
            <a:r>
              <a:rPr lang="en-US" dirty="0"/>
              <a:t>")). </a:t>
            </a:r>
          </a:p>
          <a:p>
            <a:r>
              <a:rPr lang="en-US" dirty="0"/>
              <a:t>But what if your list of recipients is in a </a:t>
            </a:r>
            <a:r>
              <a:rPr lang="en-US" b="1" dirty="0"/>
              <a:t>Database</a:t>
            </a:r>
            <a:r>
              <a:rPr lang="en-US" dirty="0"/>
              <a:t> or comes from a </a:t>
            </a:r>
            <a:r>
              <a:rPr lang="en-US" b="1" dirty="0"/>
              <a:t>Configuration File</a:t>
            </a:r>
            <a:r>
              <a:rPr lang="en-US" dirty="0"/>
              <a:t>?</a:t>
            </a:r>
          </a:p>
          <a:p>
            <a:r>
              <a:rPr lang="en-US" dirty="0"/>
              <a:t>You can define a </a:t>
            </a:r>
            <a:r>
              <a:rPr lang="en-US" dirty="0" err="1"/>
              <a:t>RecipientListRouter</a:t>
            </a:r>
            <a:r>
              <a:rPr lang="en-US" dirty="0"/>
              <a:t> bean and provide a "Recipient Strategy."</a:t>
            </a:r>
          </a:p>
          <a:p>
            <a:endParaRPr lang="en-IN" dirty="0"/>
          </a:p>
        </p:txBody>
      </p:sp>
      <p:sp>
        <p:nvSpPr>
          <p:cNvPr id="5" name="TextBox 4">
            <a:extLst>
              <a:ext uri="{FF2B5EF4-FFF2-40B4-BE49-F238E27FC236}">
                <a16:creationId xmlns:a16="http://schemas.microsoft.com/office/drawing/2014/main" id="{83875424-150F-395E-F477-29D47A49E753}"/>
              </a:ext>
            </a:extLst>
          </p:cNvPr>
          <p:cNvSpPr txBox="1"/>
          <p:nvPr/>
        </p:nvSpPr>
        <p:spPr>
          <a:xfrm>
            <a:off x="1083516" y="3429000"/>
            <a:ext cx="9030867" cy="3416320"/>
          </a:xfrm>
          <a:prstGeom prst="rect">
            <a:avLst/>
          </a:prstGeom>
          <a:noFill/>
        </p:spPr>
        <p:txBody>
          <a:bodyPr wrap="square">
            <a:spAutoFit/>
          </a:bodyPr>
          <a:lstStyle/>
          <a:p>
            <a:r>
              <a:rPr lang="en-IN" dirty="0"/>
              <a:t>@Bean</a:t>
            </a:r>
          </a:p>
          <a:p>
            <a:r>
              <a:rPr lang="en-IN" dirty="0"/>
              <a:t>@ServiceActivator(inputChannel = "</a:t>
            </a:r>
            <a:r>
              <a:rPr lang="en-IN" dirty="0" err="1"/>
              <a:t>dynamicInput</a:t>
            </a:r>
            <a:r>
              <a:rPr lang="en-IN" dirty="0"/>
              <a:t>")</a:t>
            </a:r>
          </a:p>
          <a:p>
            <a:r>
              <a:rPr lang="en-IN" dirty="0"/>
              <a:t>public </a:t>
            </a:r>
            <a:r>
              <a:rPr lang="en-IN" dirty="0" err="1"/>
              <a:t>RecipientListRouter</a:t>
            </a:r>
            <a:r>
              <a:rPr lang="en-IN" dirty="0"/>
              <a:t> </a:t>
            </a:r>
            <a:r>
              <a:rPr lang="en-IN" dirty="0" err="1"/>
              <a:t>dynamicRouter</a:t>
            </a:r>
            <a:r>
              <a:rPr lang="en-IN" dirty="0"/>
              <a:t>() {</a:t>
            </a:r>
          </a:p>
          <a:p>
            <a:r>
              <a:rPr lang="en-IN" dirty="0"/>
              <a:t>    </a:t>
            </a:r>
            <a:r>
              <a:rPr lang="en-IN" dirty="0" err="1"/>
              <a:t>RecipientListRouter</a:t>
            </a:r>
            <a:r>
              <a:rPr lang="en-IN" dirty="0"/>
              <a:t> router = new </a:t>
            </a:r>
            <a:r>
              <a:rPr lang="en-IN" dirty="0" err="1"/>
              <a:t>RecipientListRouter</a:t>
            </a:r>
            <a:r>
              <a:rPr lang="en-IN" dirty="0"/>
              <a:t>();</a:t>
            </a:r>
          </a:p>
          <a:p>
            <a:r>
              <a:rPr lang="en-IN" dirty="0"/>
              <a:t>    </a:t>
            </a:r>
          </a:p>
          <a:p>
            <a:r>
              <a:rPr lang="en-IN" dirty="0"/>
              <a:t>    // Imagine this logic looks up valid departments in a database</a:t>
            </a:r>
          </a:p>
          <a:p>
            <a:r>
              <a:rPr lang="en-IN" dirty="0"/>
              <a:t>    List&lt;</a:t>
            </a:r>
            <a:r>
              <a:rPr lang="en-IN" dirty="0" err="1"/>
              <a:t>MessageChannel</a:t>
            </a:r>
            <a:r>
              <a:rPr lang="en-IN" dirty="0"/>
              <a:t>&gt; channels = </a:t>
            </a:r>
            <a:r>
              <a:rPr lang="en-IN" dirty="0" err="1"/>
              <a:t>databaseService.getActiveChannels</a:t>
            </a:r>
            <a:r>
              <a:rPr lang="en-IN" dirty="0"/>
              <a:t>();</a:t>
            </a:r>
          </a:p>
          <a:p>
            <a:r>
              <a:rPr lang="en-IN" dirty="0"/>
              <a:t>    </a:t>
            </a:r>
          </a:p>
          <a:p>
            <a:r>
              <a:rPr lang="en-IN" dirty="0"/>
              <a:t>    </a:t>
            </a:r>
            <a:r>
              <a:rPr lang="en-IN" dirty="0" err="1"/>
              <a:t>router.setChannels</a:t>
            </a:r>
            <a:r>
              <a:rPr lang="en-IN" dirty="0"/>
              <a:t>(channels);</a:t>
            </a:r>
          </a:p>
          <a:p>
            <a:r>
              <a:rPr lang="en-IN" dirty="0"/>
              <a:t>    </a:t>
            </a:r>
            <a:r>
              <a:rPr lang="en-IN" dirty="0" err="1"/>
              <a:t>router.setIgnoreSendFailures</a:t>
            </a:r>
            <a:r>
              <a:rPr lang="en-IN" dirty="0"/>
              <a:t>(true);</a:t>
            </a:r>
          </a:p>
          <a:p>
            <a:r>
              <a:rPr lang="en-IN" dirty="0"/>
              <a:t>    return router;</a:t>
            </a:r>
          </a:p>
          <a:p>
            <a:r>
              <a:rPr lang="en-IN" dirty="0"/>
              <a:t>}</a:t>
            </a:r>
          </a:p>
        </p:txBody>
      </p:sp>
    </p:spTree>
    <p:extLst>
      <p:ext uri="{BB962C8B-B14F-4D97-AF65-F5344CB8AC3E}">
        <p14:creationId xmlns:p14="http://schemas.microsoft.com/office/powerpoint/2010/main" val="372840449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0469B-DF95-29FC-E7B9-651078F3D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EBBD37-A99D-4CC0-05AC-C923279A9CA5}"/>
              </a:ext>
            </a:extLst>
          </p:cNvPr>
          <p:cNvSpPr>
            <a:spLocks noGrp="1"/>
          </p:cNvSpPr>
          <p:nvPr>
            <p:ph type="title"/>
          </p:nvPr>
        </p:nvSpPr>
        <p:spPr/>
        <p:txBody>
          <a:bodyPr/>
          <a:lstStyle/>
          <a:p>
            <a:r>
              <a:rPr lang="en-IN" dirty="0"/>
              <a:t>Properties</a:t>
            </a:r>
          </a:p>
        </p:txBody>
      </p:sp>
      <p:graphicFrame>
        <p:nvGraphicFramePr>
          <p:cNvPr id="4" name="Content Placeholder 3">
            <a:extLst>
              <a:ext uri="{FF2B5EF4-FFF2-40B4-BE49-F238E27FC236}">
                <a16:creationId xmlns:a16="http://schemas.microsoft.com/office/drawing/2014/main" id="{42D1FA74-80F2-9A1B-8375-24A5F10DB132}"/>
              </a:ext>
            </a:extLst>
          </p:cNvPr>
          <p:cNvGraphicFramePr>
            <a:graphicFrameLocks noGrp="1"/>
          </p:cNvGraphicFramePr>
          <p:nvPr>
            <p:ph idx="1"/>
          </p:nvPr>
        </p:nvGraphicFramePr>
        <p:xfrm>
          <a:off x="1155700" y="2603500"/>
          <a:ext cx="8824912" cy="2217420"/>
        </p:xfrm>
        <a:graphic>
          <a:graphicData uri="http://schemas.openxmlformats.org/drawingml/2006/table">
            <a:tbl>
              <a:tblPr firstRow="1" bandRow="1">
                <a:tableStyleId>{5C22544A-7EE6-4342-B048-85BDC9FD1C3A}</a:tableStyleId>
              </a:tblPr>
              <a:tblGrid>
                <a:gridCol w="4412456">
                  <a:extLst>
                    <a:ext uri="{9D8B030D-6E8A-4147-A177-3AD203B41FA5}">
                      <a16:colId xmlns:a16="http://schemas.microsoft.com/office/drawing/2014/main" val="2647917482"/>
                    </a:ext>
                  </a:extLst>
                </a:gridCol>
                <a:gridCol w="4412456">
                  <a:extLst>
                    <a:ext uri="{9D8B030D-6E8A-4147-A177-3AD203B41FA5}">
                      <a16:colId xmlns:a16="http://schemas.microsoft.com/office/drawing/2014/main" val="4224134292"/>
                    </a:ext>
                  </a:extLst>
                </a:gridCol>
              </a:tblGrid>
              <a:tr h="370840">
                <a:tc>
                  <a:txBody>
                    <a:bodyPr/>
                    <a:lstStyle/>
                    <a:p>
                      <a:pPr>
                        <a:lnSpc>
                          <a:spcPts val="1575"/>
                        </a:lnSpc>
                        <a:buNone/>
                      </a:pPr>
                      <a:r>
                        <a:rPr lang="en-IN" b="1" dirty="0">
                          <a:effectLst/>
                          <a:latin typeface="Inter"/>
                        </a:rPr>
                        <a:t>Feature</a:t>
                      </a:r>
                    </a:p>
                  </a:txBody>
                  <a:tcPr marL="45720" marR="45720" marT="22860" marB="22860" anchor="ctr"/>
                </a:tc>
                <a:tc>
                  <a:txBody>
                    <a:bodyPr/>
                    <a:lstStyle/>
                    <a:p>
                      <a:pPr>
                        <a:lnSpc>
                          <a:spcPts val="1575"/>
                        </a:lnSpc>
                        <a:buNone/>
                      </a:pPr>
                      <a:r>
                        <a:rPr lang="en-IN" b="1">
                          <a:effectLst/>
                          <a:latin typeface="Inter"/>
                        </a:rPr>
                        <a:t>Why use it?</a:t>
                      </a:r>
                    </a:p>
                  </a:txBody>
                  <a:tcPr marL="45720" marR="45720" marT="22860" marB="22860" anchor="ctr"/>
                </a:tc>
                <a:extLst>
                  <a:ext uri="{0D108BD9-81ED-4DB2-BD59-A6C34878D82A}">
                    <a16:rowId xmlns:a16="http://schemas.microsoft.com/office/drawing/2014/main" val="1946441514"/>
                  </a:ext>
                </a:extLst>
              </a:tr>
              <a:tr h="370840">
                <a:tc>
                  <a:txBody>
                    <a:bodyPr/>
                    <a:lstStyle/>
                    <a:p>
                      <a:pPr>
                        <a:lnSpc>
                          <a:spcPts val="1575"/>
                        </a:lnSpc>
                        <a:buNone/>
                      </a:pPr>
                      <a:r>
                        <a:rPr lang="en-IN" b="1" dirty="0" err="1">
                          <a:solidFill>
                            <a:schemeClr val="tx1"/>
                          </a:solidFill>
                          <a:effectLst/>
                          <a:latin typeface="DM Mono" panose="020B0509040201040103" pitchFamily="49" charset="0"/>
                        </a:rPr>
                        <a:t>ignoreSendFailures</a:t>
                      </a:r>
                      <a:r>
                        <a:rPr lang="en-IN" b="1" dirty="0">
                          <a:solidFill>
                            <a:schemeClr val="tx1"/>
                          </a:solidFill>
                          <a:effectLst/>
                          <a:latin typeface="DM Mono" panose="020B0509040201040103" pitchFamily="49" charset="0"/>
                        </a:rPr>
                        <a:t>(true)</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a:solidFill>
                            <a:schemeClr val="tx1"/>
                          </a:solidFill>
                          <a:effectLst/>
                          <a:latin typeface="Inter"/>
                        </a:rPr>
                        <a:t>To ensure one crashing service doesn't stop the whole broadcast.</a:t>
                      </a:r>
                    </a:p>
                  </a:txBody>
                  <a:tcPr marL="45720" marR="45720" marT="22860" marB="22860" anchor="ctr"/>
                </a:tc>
                <a:extLst>
                  <a:ext uri="{0D108BD9-81ED-4DB2-BD59-A6C34878D82A}">
                    <a16:rowId xmlns:a16="http://schemas.microsoft.com/office/drawing/2014/main" val="4202607006"/>
                  </a:ext>
                </a:extLst>
              </a:tr>
              <a:tr h="370840">
                <a:tc>
                  <a:txBody>
                    <a:bodyPr/>
                    <a:lstStyle/>
                    <a:p>
                      <a:pPr>
                        <a:lnSpc>
                          <a:spcPts val="1575"/>
                        </a:lnSpc>
                        <a:buNone/>
                      </a:pPr>
                      <a:r>
                        <a:rPr lang="en-IN" b="1" dirty="0" err="1">
                          <a:solidFill>
                            <a:schemeClr val="tx1"/>
                          </a:solidFill>
                          <a:effectLst/>
                          <a:latin typeface="DM Mono" panose="020B0509040201040103" pitchFamily="49" charset="0"/>
                        </a:rPr>
                        <a:t>applySequence</a:t>
                      </a:r>
                      <a:r>
                        <a:rPr lang="en-IN" b="1" dirty="0">
                          <a:solidFill>
                            <a:schemeClr val="tx1"/>
                          </a:solidFill>
                          <a:effectLst/>
                          <a:latin typeface="DM Mono" panose="020B0509040201040103" pitchFamily="49" charset="0"/>
                        </a:rPr>
                        <a:t>(true)</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dirty="0">
                          <a:solidFill>
                            <a:schemeClr val="tx1"/>
                          </a:solidFill>
                          <a:effectLst/>
                          <a:latin typeface="Inter"/>
                        </a:rPr>
                        <a:t>To "tag" messages so they can be reunited/aggregated later.</a:t>
                      </a:r>
                    </a:p>
                  </a:txBody>
                  <a:tcPr marL="45720" marR="45720" marT="22860" marB="22860" anchor="ctr"/>
                </a:tc>
                <a:extLst>
                  <a:ext uri="{0D108BD9-81ED-4DB2-BD59-A6C34878D82A}">
                    <a16:rowId xmlns:a16="http://schemas.microsoft.com/office/drawing/2014/main" val="3295767412"/>
                  </a:ext>
                </a:extLst>
              </a:tr>
              <a:tr h="370840">
                <a:tc>
                  <a:txBody>
                    <a:bodyPr/>
                    <a:lstStyle/>
                    <a:p>
                      <a:pPr>
                        <a:lnSpc>
                          <a:spcPts val="1575"/>
                        </a:lnSpc>
                        <a:buNone/>
                      </a:pPr>
                      <a:r>
                        <a:rPr lang="en-IN" b="1">
                          <a:solidFill>
                            <a:schemeClr val="tx1"/>
                          </a:solidFill>
                          <a:effectLst/>
                          <a:latin typeface="DM Mono" panose="020B0509040201040103" pitchFamily="49" charset="0"/>
                        </a:rPr>
                        <a:t>defaultOutputChannel</a:t>
                      </a:r>
                      <a:endParaRPr lang="en-IN" b="0">
                        <a:solidFill>
                          <a:schemeClr val="tx1"/>
                        </a:solidFill>
                        <a:effectLst/>
                        <a:latin typeface="Inter"/>
                      </a:endParaRPr>
                    </a:p>
                  </a:txBody>
                  <a:tcPr marL="45720" marR="45720" marT="22860" marB="22860" anchor="ctr"/>
                </a:tc>
                <a:tc>
                  <a:txBody>
                    <a:bodyPr/>
                    <a:lstStyle/>
                    <a:p>
                      <a:pPr>
                        <a:lnSpc>
                          <a:spcPts val="1575"/>
                        </a:lnSpc>
                        <a:buNone/>
                      </a:pPr>
                      <a:r>
                        <a:rPr lang="en-US" b="0" dirty="0">
                          <a:solidFill>
                            <a:schemeClr val="tx1"/>
                          </a:solidFill>
                          <a:effectLst/>
                          <a:latin typeface="Inter"/>
                        </a:rPr>
                        <a:t>To handle messages that didn't match any of your conditional rules.</a:t>
                      </a:r>
                    </a:p>
                  </a:txBody>
                  <a:tcPr marL="45720" marR="45720" marT="22860" marB="22860" anchor="ctr"/>
                </a:tc>
                <a:extLst>
                  <a:ext uri="{0D108BD9-81ED-4DB2-BD59-A6C34878D82A}">
                    <a16:rowId xmlns:a16="http://schemas.microsoft.com/office/drawing/2014/main" val="87074519"/>
                  </a:ext>
                </a:extLst>
              </a:tr>
              <a:tr h="370840">
                <a:tc>
                  <a:txBody>
                    <a:bodyPr/>
                    <a:lstStyle/>
                    <a:p>
                      <a:pPr>
                        <a:lnSpc>
                          <a:spcPts val="1575"/>
                        </a:lnSpc>
                        <a:buNone/>
                      </a:pPr>
                      <a:r>
                        <a:rPr lang="en-IN" b="1">
                          <a:solidFill>
                            <a:schemeClr val="tx1"/>
                          </a:solidFill>
                          <a:effectLst/>
                          <a:latin typeface="Inter"/>
                        </a:rPr>
                        <a:t>Thread Pooling</a:t>
                      </a:r>
                      <a:endParaRPr lang="en-IN" b="0">
                        <a:solidFill>
                          <a:schemeClr val="tx1"/>
                        </a:solidFill>
                        <a:effectLst/>
                        <a:latin typeface="Inter"/>
                      </a:endParaRPr>
                    </a:p>
                  </a:txBody>
                  <a:tcPr marL="45720" marR="45720" marT="22860" marB="22860" anchor="ctr"/>
                </a:tc>
                <a:tc>
                  <a:txBody>
                    <a:bodyPr/>
                    <a:lstStyle/>
                    <a:p>
                      <a:pPr>
                        <a:lnSpc>
                          <a:spcPts val="1575"/>
                        </a:lnSpc>
                        <a:buNone/>
                      </a:pPr>
                      <a:r>
                        <a:rPr lang="en-US" b="0" dirty="0">
                          <a:solidFill>
                            <a:schemeClr val="tx1"/>
                          </a:solidFill>
                          <a:effectLst/>
                          <a:latin typeface="Inter"/>
                        </a:rPr>
                        <a:t>Use </a:t>
                      </a:r>
                      <a:r>
                        <a:rPr lang="en-US" b="0" dirty="0" err="1">
                          <a:solidFill>
                            <a:schemeClr val="tx1"/>
                          </a:solidFill>
                          <a:effectLst/>
                          <a:latin typeface="DM Mono" panose="020B0509040201040103" pitchFamily="49" charset="0"/>
                        </a:rPr>
                        <a:t>ExecutorChannel</a:t>
                      </a:r>
                      <a:r>
                        <a:rPr lang="en-US" b="0" dirty="0">
                          <a:solidFill>
                            <a:schemeClr val="tx1"/>
                          </a:solidFill>
                          <a:effectLst/>
                          <a:latin typeface="Inter"/>
                        </a:rPr>
                        <a:t> if you want recipients to process in parallel.</a:t>
                      </a:r>
                    </a:p>
                  </a:txBody>
                  <a:tcPr marL="45720" marR="45720" marT="22860" marB="22860" anchor="ctr"/>
                </a:tc>
                <a:extLst>
                  <a:ext uri="{0D108BD9-81ED-4DB2-BD59-A6C34878D82A}">
                    <a16:rowId xmlns:a16="http://schemas.microsoft.com/office/drawing/2014/main" val="2179865338"/>
                  </a:ext>
                </a:extLst>
              </a:tr>
            </a:tbl>
          </a:graphicData>
        </a:graphic>
      </p:graphicFrame>
    </p:spTree>
    <p:extLst>
      <p:ext uri="{BB962C8B-B14F-4D97-AF65-F5344CB8AC3E}">
        <p14:creationId xmlns:p14="http://schemas.microsoft.com/office/powerpoint/2010/main" val="39873399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9D97E-72C1-FC76-773D-57841172A0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E60A7-7A84-7369-108A-D6AE54E5EA36}"/>
              </a:ext>
            </a:extLst>
          </p:cNvPr>
          <p:cNvSpPr>
            <a:spLocks noGrp="1"/>
          </p:cNvSpPr>
          <p:nvPr>
            <p:ph type="title"/>
          </p:nvPr>
        </p:nvSpPr>
        <p:spPr/>
        <p:txBody>
          <a:bodyPr/>
          <a:lstStyle/>
          <a:p>
            <a:r>
              <a:rPr lang="en-US" b="1" dirty="0"/>
              <a:t>Scatter-Gather</a:t>
            </a:r>
            <a:endParaRPr lang="en-IN" dirty="0"/>
          </a:p>
        </p:txBody>
      </p:sp>
      <p:sp>
        <p:nvSpPr>
          <p:cNvPr id="3" name="Content Placeholder 2">
            <a:extLst>
              <a:ext uri="{FF2B5EF4-FFF2-40B4-BE49-F238E27FC236}">
                <a16:creationId xmlns:a16="http://schemas.microsoft.com/office/drawing/2014/main" id="{D428705B-87CD-41BF-1A11-E0ADB476D766}"/>
              </a:ext>
            </a:extLst>
          </p:cNvPr>
          <p:cNvSpPr>
            <a:spLocks noGrp="1"/>
          </p:cNvSpPr>
          <p:nvPr>
            <p:ph idx="1"/>
          </p:nvPr>
        </p:nvSpPr>
        <p:spPr>
          <a:xfrm>
            <a:off x="1154954" y="2603499"/>
            <a:ext cx="10690258" cy="3871945"/>
          </a:xfrm>
        </p:spPr>
        <p:txBody>
          <a:bodyPr/>
          <a:lstStyle/>
          <a:p>
            <a:r>
              <a:rPr lang="en-US" dirty="0"/>
              <a:t>In the previous patterns (Pub-Sub, Recipient List), sent a message out and </a:t>
            </a:r>
            <a:r>
              <a:rPr lang="en-US" b="1" dirty="0"/>
              <a:t>didn't care what happened next</a:t>
            </a:r>
            <a:r>
              <a:rPr lang="en-US" dirty="0"/>
              <a:t>. </a:t>
            </a:r>
          </a:p>
          <a:p>
            <a:pPr lvl="1"/>
            <a:r>
              <a:rPr lang="en-US" dirty="0"/>
              <a:t>It was "Fire and Forget."</a:t>
            </a:r>
          </a:p>
          <a:p>
            <a:r>
              <a:rPr lang="en-US" b="1" dirty="0"/>
              <a:t>Scatter-Gather</a:t>
            </a:r>
            <a:r>
              <a:rPr lang="en-US" dirty="0"/>
              <a:t> is different. </a:t>
            </a:r>
          </a:p>
          <a:p>
            <a:pPr lvl="1"/>
            <a:r>
              <a:rPr lang="en-US" dirty="0"/>
              <a:t>Send a message to multiple recipients (Scatter), and you </a:t>
            </a:r>
            <a:r>
              <a:rPr lang="en-US" b="1" dirty="0"/>
              <a:t>wait for their replies</a:t>
            </a:r>
            <a:r>
              <a:rPr lang="en-US" dirty="0"/>
              <a:t> so you can combine them into one final result (Gather).</a:t>
            </a:r>
          </a:p>
          <a:p>
            <a:pPr lvl="1"/>
            <a:endParaRPr lang="en-US" dirty="0"/>
          </a:p>
          <a:p>
            <a:pPr lvl="1"/>
            <a:endParaRPr lang="en-US" dirty="0"/>
          </a:p>
          <a:p>
            <a:endParaRPr lang="en-IN" dirty="0"/>
          </a:p>
        </p:txBody>
      </p:sp>
    </p:spTree>
    <p:extLst>
      <p:ext uri="{BB962C8B-B14F-4D97-AF65-F5344CB8AC3E}">
        <p14:creationId xmlns:p14="http://schemas.microsoft.com/office/powerpoint/2010/main" val="16640529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65293-4840-2EF1-340C-2619AE1D3A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CD2D59-EC91-9061-C0B3-4FF2FE2BD404}"/>
              </a:ext>
            </a:extLst>
          </p:cNvPr>
          <p:cNvSpPr>
            <a:spLocks noGrp="1"/>
          </p:cNvSpPr>
          <p:nvPr>
            <p:ph type="title"/>
          </p:nvPr>
        </p:nvSpPr>
        <p:spPr/>
        <p:txBody>
          <a:bodyPr/>
          <a:lstStyle/>
          <a:p>
            <a:r>
              <a:rPr lang="en-US" b="1" dirty="0"/>
              <a:t>Real-World Analogy: Travel Booking</a:t>
            </a:r>
            <a:endParaRPr lang="en-IN" dirty="0"/>
          </a:p>
        </p:txBody>
      </p:sp>
      <p:sp>
        <p:nvSpPr>
          <p:cNvPr id="3" name="Content Placeholder 2">
            <a:extLst>
              <a:ext uri="{FF2B5EF4-FFF2-40B4-BE49-F238E27FC236}">
                <a16:creationId xmlns:a16="http://schemas.microsoft.com/office/drawing/2014/main" id="{C0E12D3D-320F-0C08-A43A-3EB1DDDF33DB}"/>
              </a:ext>
            </a:extLst>
          </p:cNvPr>
          <p:cNvSpPr>
            <a:spLocks noGrp="1"/>
          </p:cNvSpPr>
          <p:nvPr>
            <p:ph idx="1"/>
          </p:nvPr>
        </p:nvSpPr>
        <p:spPr>
          <a:xfrm>
            <a:off x="1154954" y="2603499"/>
            <a:ext cx="10690258" cy="3871945"/>
          </a:xfrm>
        </p:spPr>
        <p:txBody>
          <a:bodyPr/>
          <a:lstStyle/>
          <a:p>
            <a:r>
              <a:rPr lang="en-US" b="1" dirty="0"/>
              <a:t>Scatter</a:t>
            </a:r>
            <a:r>
              <a:rPr lang="en-US" dirty="0"/>
              <a:t>: You send a "Price Request" to </a:t>
            </a:r>
            <a:r>
              <a:rPr lang="en-US" b="1" dirty="0"/>
              <a:t>Delta</a:t>
            </a:r>
            <a:r>
              <a:rPr lang="en-US" dirty="0"/>
              <a:t>, </a:t>
            </a:r>
            <a:r>
              <a:rPr lang="en-US" b="1" dirty="0"/>
              <a:t>United</a:t>
            </a:r>
            <a:r>
              <a:rPr lang="en-US" dirty="0"/>
              <a:t>, and </a:t>
            </a:r>
            <a:r>
              <a:rPr lang="en-US" b="1" dirty="0"/>
              <a:t>American Airlines</a:t>
            </a:r>
            <a:r>
              <a:rPr lang="en-US" dirty="0"/>
              <a:t>.</a:t>
            </a:r>
          </a:p>
          <a:p>
            <a:r>
              <a:rPr lang="en-US" b="1" dirty="0"/>
              <a:t>Wait</a:t>
            </a:r>
            <a:r>
              <a:rPr lang="en-US" dirty="0"/>
              <a:t>: You wait for them to reply with their ticket prices.</a:t>
            </a:r>
          </a:p>
          <a:p>
            <a:r>
              <a:rPr lang="en-US" b="1" dirty="0"/>
              <a:t>Gather</a:t>
            </a:r>
            <a:r>
              <a:rPr lang="en-US" dirty="0"/>
              <a:t>: You collect all three prices, find the cheapest one, and show it to the user.</a:t>
            </a:r>
          </a:p>
          <a:p>
            <a:endParaRPr lang="en-IN" dirty="0"/>
          </a:p>
        </p:txBody>
      </p:sp>
    </p:spTree>
    <p:extLst>
      <p:ext uri="{BB962C8B-B14F-4D97-AF65-F5344CB8AC3E}">
        <p14:creationId xmlns:p14="http://schemas.microsoft.com/office/powerpoint/2010/main" val="2543596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19509-D79B-7C56-42D7-A0F548CB2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78BCB-902A-10EF-A773-3A9CC18D3798}"/>
              </a:ext>
            </a:extLst>
          </p:cNvPr>
          <p:cNvSpPr>
            <a:spLocks noGrp="1"/>
          </p:cNvSpPr>
          <p:nvPr>
            <p:ph type="title"/>
          </p:nvPr>
        </p:nvSpPr>
        <p:spPr/>
        <p:txBody>
          <a:bodyPr/>
          <a:lstStyle/>
          <a:p>
            <a:r>
              <a:rPr lang="en-US" b="1" dirty="0"/>
              <a:t>Components of Scatter-Gather</a:t>
            </a:r>
            <a:endParaRPr lang="en-IN" dirty="0"/>
          </a:p>
        </p:txBody>
      </p:sp>
      <p:sp>
        <p:nvSpPr>
          <p:cNvPr id="3" name="Content Placeholder 2">
            <a:extLst>
              <a:ext uri="{FF2B5EF4-FFF2-40B4-BE49-F238E27FC236}">
                <a16:creationId xmlns:a16="http://schemas.microsoft.com/office/drawing/2014/main" id="{88CBB2ED-B1F6-99BE-4AC6-090D7E470E01}"/>
              </a:ext>
            </a:extLst>
          </p:cNvPr>
          <p:cNvSpPr>
            <a:spLocks noGrp="1"/>
          </p:cNvSpPr>
          <p:nvPr>
            <p:ph idx="1"/>
          </p:nvPr>
        </p:nvSpPr>
        <p:spPr>
          <a:xfrm>
            <a:off x="1154954" y="2603499"/>
            <a:ext cx="10690258" cy="3871945"/>
          </a:xfrm>
        </p:spPr>
        <p:txBody>
          <a:bodyPr/>
          <a:lstStyle/>
          <a:p>
            <a:r>
              <a:rPr lang="en-US" b="1" dirty="0"/>
              <a:t>Scatterer</a:t>
            </a:r>
            <a:r>
              <a:rPr lang="en-US" dirty="0"/>
              <a:t>: This is usually a </a:t>
            </a:r>
            <a:r>
              <a:rPr lang="en-US" dirty="0" err="1"/>
              <a:t>PublishSubscribeChannel</a:t>
            </a:r>
            <a:r>
              <a:rPr lang="en-US" dirty="0"/>
              <a:t> or a </a:t>
            </a:r>
            <a:r>
              <a:rPr lang="en-US" dirty="0" err="1"/>
              <a:t>RecipientListRouter</a:t>
            </a:r>
            <a:r>
              <a:rPr lang="en-US" dirty="0"/>
              <a:t>. </a:t>
            </a:r>
          </a:p>
          <a:p>
            <a:pPr lvl="1"/>
            <a:r>
              <a:rPr lang="en-US" dirty="0"/>
              <a:t>Distributes the request.</a:t>
            </a:r>
          </a:p>
          <a:p>
            <a:r>
              <a:rPr lang="en-US" b="1" dirty="0"/>
              <a:t>Gatherer</a:t>
            </a:r>
            <a:r>
              <a:rPr lang="en-US" dirty="0"/>
              <a:t>: This is an </a:t>
            </a:r>
            <a:r>
              <a:rPr lang="en-US" b="1" dirty="0"/>
              <a:t>Aggregator</a:t>
            </a:r>
            <a:r>
              <a:rPr lang="en-US" dirty="0"/>
              <a:t>. </a:t>
            </a:r>
          </a:p>
          <a:p>
            <a:pPr lvl="1"/>
            <a:r>
              <a:rPr lang="en-US" dirty="0"/>
              <a:t>Collects the responses, puts them in a list, and sends that list to the next step.</a:t>
            </a:r>
          </a:p>
          <a:p>
            <a:endParaRPr lang="en-IN" dirty="0"/>
          </a:p>
        </p:txBody>
      </p:sp>
    </p:spTree>
    <p:extLst>
      <p:ext uri="{BB962C8B-B14F-4D97-AF65-F5344CB8AC3E}">
        <p14:creationId xmlns:p14="http://schemas.microsoft.com/office/powerpoint/2010/main" val="29137959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DA8F2-7B58-216D-8A13-EB8B79E0C5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91D7F-08A8-3B4A-16A8-CB908ACC58A9}"/>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BAB9164-2B8B-7C7B-F437-7046BC4BDE4A}"/>
              </a:ext>
            </a:extLst>
          </p:cNvPr>
          <p:cNvSpPr>
            <a:spLocks noGrp="1"/>
          </p:cNvSpPr>
          <p:nvPr>
            <p:ph idx="1"/>
          </p:nvPr>
        </p:nvSpPr>
        <p:spPr>
          <a:xfrm>
            <a:off x="1154954" y="2603499"/>
            <a:ext cx="10690258" cy="3871945"/>
          </a:xfrm>
        </p:spPr>
        <p:txBody>
          <a:bodyPr/>
          <a:lstStyle/>
          <a:p>
            <a:r>
              <a:rPr lang="en-US" dirty="0"/>
              <a:t>Build a </a:t>
            </a:r>
            <a:r>
              <a:rPr lang="en-US" b="1" dirty="0"/>
              <a:t>Loan Quote System</a:t>
            </a:r>
            <a:r>
              <a:rPr lang="en-US" dirty="0"/>
              <a:t>. </a:t>
            </a:r>
          </a:p>
          <a:p>
            <a:r>
              <a:rPr lang="en-US" dirty="0"/>
              <a:t>Send a loan request to two different banks, and want to get the best interest rate back.</a:t>
            </a:r>
            <a:endParaRPr lang="en-IN" dirty="0"/>
          </a:p>
        </p:txBody>
      </p:sp>
      <p:sp>
        <p:nvSpPr>
          <p:cNvPr id="5" name="TextBox 4">
            <a:extLst>
              <a:ext uri="{FF2B5EF4-FFF2-40B4-BE49-F238E27FC236}">
                <a16:creationId xmlns:a16="http://schemas.microsoft.com/office/drawing/2014/main" id="{96BF0AAA-257D-0CD3-3490-23BA68D1C894}"/>
              </a:ext>
            </a:extLst>
          </p:cNvPr>
          <p:cNvSpPr txBox="1"/>
          <p:nvPr/>
        </p:nvSpPr>
        <p:spPr>
          <a:xfrm>
            <a:off x="1237471" y="3662308"/>
            <a:ext cx="8247095" cy="1477328"/>
          </a:xfrm>
          <a:prstGeom prst="rect">
            <a:avLst/>
          </a:prstGeom>
          <a:noFill/>
        </p:spPr>
        <p:txBody>
          <a:bodyPr wrap="square">
            <a:spAutoFit/>
          </a:bodyPr>
          <a:lstStyle/>
          <a:p>
            <a:r>
              <a:rPr lang="en-IN" dirty="0"/>
              <a:t>public class </a:t>
            </a:r>
            <a:r>
              <a:rPr lang="en-IN" dirty="0" err="1"/>
              <a:t>LoanRequest</a:t>
            </a:r>
            <a:r>
              <a:rPr lang="en-IN" dirty="0"/>
              <a:t> {</a:t>
            </a:r>
          </a:p>
          <a:p>
            <a:r>
              <a:rPr lang="en-IN" dirty="0"/>
              <a:t>    private double amount;</a:t>
            </a:r>
          </a:p>
          <a:p>
            <a:r>
              <a:rPr lang="en-IN" dirty="0"/>
              <a:t>    public double </a:t>
            </a:r>
            <a:r>
              <a:rPr lang="en-IN" dirty="0" err="1"/>
              <a:t>getAmount</a:t>
            </a:r>
            <a:r>
              <a:rPr lang="en-IN" dirty="0"/>
              <a:t>() { return amount; }</a:t>
            </a:r>
          </a:p>
          <a:p>
            <a:r>
              <a:rPr lang="en-IN" dirty="0"/>
              <a:t>    public </a:t>
            </a:r>
            <a:r>
              <a:rPr lang="en-IN" dirty="0" err="1"/>
              <a:t>LoanRequest</a:t>
            </a:r>
            <a:r>
              <a:rPr lang="en-IN" dirty="0"/>
              <a:t>(double amount) { </a:t>
            </a:r>
            <a:r>
              <a:rPr lang="en-IN" dirty="0" err="1"/>
              <a:t>this.amount</a:t>
            </a:r>
            <a:r>
              <a:rPr lang="en-IN" dirty="0"/>
              <a:t> = amount; }</a:t>
            </a:r>
          </a:p>
          <a:p>
            <a:r>
              <a:rPr lang="en-IN" dirty="0"/>
              <a:t>}</a:t>
            </a:r>
          </a:p>
        </p:txBody>
      </p:sp>
    </p:spTree>
    <p:extLst>
      <p:ext uri="{BB962C8B-B14F-4D97-AF65-F5344CB8AC3E}">
        <p14:creationId xmlns:p14="http://schemas.microsoft.com/office/powerpoint/2010/main" val="25417445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9049E-F407-B42C-0E2C-9AB29E4E163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A4F775-F7D4-4D27-0D1D-767604C7BCDA}"/>
              </a:ext>
            </a:extLst>
          </p:cNvPr>
          <p:cNvSpPr txBox="1"/>
          <p:nvPr/>
        </p:nvSpPr>
        <p:spPr>
          <a:xfrm>
            <a:off x="923730" y="258901"/>
            <a:ext cx="11462657" cy="6340197"/>
          </a:xfrm>
          <a:prstGeom prst="rect">
            <a:avLst/>
          </a:prstGeom>
          <a:noFill/>
        </p:spPr>
        <p:txBody>
          <a:bodyPr wrap="square">
            <a:spAutoFit/>
          </a:bodyPr>
          <a:lstStyle/>
          <a:p>
            <a:r>
              <a:rPr lang="en-IN" sz="1400" dirty="0"/>
              <a:t>@Configuration</a:t>
            </a:r>
          </a:p>
          <a:p>
            <a:r>
              <a:rPr lang="en-IN" sz="1400" dirty="0"/>
              <a:t>public class </a:t>
            </a:r>
            <a:r>
              <a:rPr lang="en-IN" sz="1400" dirty="0" err="1"/>
              <a:t>ScatterGatherConfig</a:t>
            </a:r>
            <a:r>
              <a:rPr lang="en-IN" sz="1400" dirty="0"/>
              <a:t> {</a:t>
            </a:r>
          </a:p>
          <a:p>
            <a:r>
              <a:rPr lang="en-IN" sz="1400" dirty="0"/>
              <a:t>    @Bean</a:t>
            </a:r>
          </a:p>
          <a:p>
            <a:r>
              <a:rPr lang="en-IN" sz="1400" dirty="0"/>
              <a:t>    public </a:t>
            </a:r>
            <a:r>
              <a:rPr lang="en-IN" sz="1400" dirty="0" err="1"/>
              <a:t>IntegrationFlow</a:t>
            </a:r>
            <a:r>
              <a:rPr lang="en-IN" sz="1400" dirty="0"/>
              <a:t> </a:t>
            </a:r>
            <a:r>
              <a:rPr lang="en-IN" sz="1400" dirty="0" err="1"/>
              <a:t>loanFlow</a:t>
            </a:r>
            <a:r>
              <a:rPr lang="en-IN" sz="1400" dirty="0"/>
              <a:t>() {</a:t>
            </a:r>
          </a:p>
          <a:p>
            <a:r>
              <a:rPr lang="en-IN" sz="1400" dirty="0"/>
              <a:t>        return </a:t>
            </a:r>
            <a:r>
              <a:rPr lang="en-IN" sz="1400" dirty="0" err="1"/>
              <a:t>IntegrationFlow.from</a:t>
            </a:r>
            <a:r>
              <a:rPr lang="en-IN" sz="1400" dirty="0"/>
              <a:t>("</a:t>
            </a:r>
            <a:r>
              <a:rPr lang="en-IN" sz="1400" dirty="0" err="1"/>
              <a:t>loanInputChannel</a:t>
            </a:r>
            <a:r>
              <a:rPr lang="en-IN" sz="1400" dirty="0"/>
              <a:t>")</a:t>
            </a:r>
          </a:p>
          <a:p>
            <a:r>
              <a:rPr lang="en-IN" sz="1400" dirty="0"/>
              <a:t>            .</a:t>
            </a:r>
            <a:r>
              <a:rPr lang="en-IN" sz="1400" dirty="0" err="1"/>
              <a:t>scatterGather</a:t>
            </a:r>
            <a:r>
              <a:rPr lang="en-IN" sz="1400" dirty="0"/>
              <a:t>(</a:t>
            </a:r>
          </a:p>
          <a:p>
            <a:r>
              <a:rPr lang="en-IN" sz="1400" dirty="0"/>
              <a:t>                // --- THE SCATTER PART ---</a:t>
            </a:r>
          </a:p>
          <a:p>
            <a:r>
              <a:rPr lang="en-IN" sz="1400" dirty="0"/>
              <a:t>                // We send the message to these two channels</a:t>
            </a:r>
          </a:p>
          <a:p>
            <a:r>
              <a:rPr lang="en-IN" sz="1400" dirty="0"/>
              <a:t>                scatter -&gt; scatter</a:t>
            </a:r>
          </a:p>
          <a:p>
            <a:r>
              <a:rPr lang="en-IN" sz="1400" dirty="0"/>
              <a:t>                        .recipient("</a:t>
            </a:r>
            <a:r>
              <a:rPr lang="en-IN" sz="1400" dirty="0" err="1"/>
              <a:t>bankAChannel</a:t>
            </a:r>
            <a:r>
              <a:rPr lang="en-IN" sz="1400" dirty="0"/>
              <a:t>")</a:t>
            </a:r>
          </a:p>
          <a:p>
            <a:r>
              <a:rPr lang="en-IN" sz="1400" dirty="0"/>
              <a:t>                        .recipient("</a:t>
            </a:r>
            <a:r>
              <a:rPr lang="en-IN" sz="1400" dirty="0" err="1"/>
              <a:t>bankBChannel</a:t>
            </a:r>
            <a:r>
              <a:rPr lang="en-IN" sz="1400" dirty="0"/>
              <a:t>"),</a:t>
            </a:r>
          </a:p>
          <a:p>
            <a:r>
              <a:rPr lang="en-IN" sz="1400" dirty="0"/>
              <a:t>                // --- THE GATHER PART ---</a:t>
            </a:r>
          </a:p>
          <a:p>
            <a:r>
              <a:rPr lang="en-IN" sz="1400" dirty="0"/>
              <a:t>                // We wait for the responses and process them</a:t>
            </a:r>
          </a:p>
          <a:p>
            <a:r>
              <a:rPr lang="en-IN" sz="1400" dirty="0"/>
              <a:t>                gather -&gt; gather</a:t>
            </a:r>
          </a:p>
          <a:p>
            <a:r>
              <a:rPr lang="en-IN" sz="1400" dirty="0"/>
              <a:t>                        .</a:t>
            </a:r>
            <a:r>
              <a:rPr lang="en-IN" sz="1400" dirty="0" err="1"/>
              <a:t>releaseStrategy</a:t>
            </a:r>
            <a:r>
              <a:rPr lang="en-IN" sz="1400" dirty="0"/>
              <a:t>(group -&gt; </a:t>
            </a:r>
            <a:r>
              <a:rPr lang="en-IN" sz="1400" dirty="0" err="1"/>
              <a:t>group.size</a:t>
            </a:r>
            <a:r>
              <a:rPr lang="en-IN" sz="1400" dirty="0"/>
              <a:t>() == 2) // Wait until we have 2 replies</a:t>
            </a:r>
          </a:p>
          <a:p>
            <a:r>
              <a:rPr lang="en-IN" sz="1400" dirty="0"/>
              <a:t>                        .</a:t>
            </a:r>
            <a:r>
              <a:rPr lang="en-IN" sz="1400" dirty="0" err="1"/>
              <a:t>gatherTimeout</a:t>
            </a:r>
            <a:r>
              <a:rPr lang="en-IN" sz="1400" dirty="0"/>
              <a:t>(5000) // Don't wait more than 5 seconds</a:t>
            </a:r>
          </a:p>
          <a:p>
            <a:r>
              <a:rPr lang="en-IN" sz="1400" dirty="0"/>
              <a:t>            )</a:t>
            </a:r>
          </a:p>
          <a:p>
            <a:r>
              <a:rPr lang="en-IN" sz="1400" dirty="0"/>
              <a:t>            // After gathering, we have a Collection of results. </a:t>
            </a:r>
          </a:p>
          <a:p>
            <a:r>
              <a:rPr lang="en-IN" sz="1400" dirty="0"/>
              <a:t>            // Let's find the lowest rate.</a:t>
            </a:r>
          </a:p>
          <a:p>
            <a:r>
              <a:rPr lang="en-IN" sz="1400" dirty="0"/>
              <a:t>            .handle(m -&gt; {</a:t>
            </a:r>
          </a:p>
          <a:p>
            <a:r>
              <a:rPr lang="en-IN" sz="1400" dirty="0"/>
              <a:t>                // The payload here is a List of the responses from the banks</a:t>
            </a:r>
          </a:p>
          <a:p>
            <a:r>
              <a:rPr lang="en-IN" sz="1400" dirty="0"/>
              <a:t>                List&lt;Double&gt; rates = (List&lt;Double&gt;) </a:t>
            </a:r>
            <a:r>
              <a:rPr lang="en-IN" sz="1400" dirty="0" err="1"/>
              <a:t>m.getPayload</a:t>
            </a:r>
            <a:r>
              <a:rPr lang="en-IN" sz="1400" dirty="0"/>
              <a:t>();</a:t>
            </a:r>
          </a:p>
          <a:p>
            <a:r>
              <a:rPr lang="en-IN" sz="1400" dirty="0"/>
              <a:t>                Double </a:t>
            </a:r>
            <a:r>
              <a:rPr lang="en-IN" sz="1400" dirty="0" err="1"/>
              <a:t>bestRate</a:t>
            </a:r>
            <a:r>
              <a:rPr lang="en-IN" sz="1400" dirty="0"/>
              <a:t> = </a:t>
            </a:r>
            <a:r>
              <a:rPr lang="en-IN" sz="1400" dirty="0" err="1"/>
              <a:t>Collections.min</a:t>
            </a:r>
            <a:r>
              <a:rPr lang="en-IN" sz="1400" dirty="0"/>
              <a:t>(rates);</a:t>
            </a:r>
          </a:p>
          <a:p>
            <a:r>
              <a:rPr lang="en-IN" sz="1400" dirty="0"/>
              <a:t>                </a:t>
            </a:r>
            <a:r>
              <a:rPr lang="en-IN" sz="1400" dirty="0" err="1"/>
              <a:t>System.out.println</a:t>
            </a:r>
            <a:r>
              <a:rPr lang="en-IN" sz="1400" dirty="0"/>
              <a:t>("Best Loan Rate Found: " + </a:t>
            </a:r>
            <a:r>
              <a:rPr lang="en-IN" sz="1400" dirty="0" err="1"/>
              <a:t>bestRate</a:t>
            </a:r>
            <a:r>
              <a:rPr lang="en-IN" sz="1400" dirty="0"/>
              <a:t> + "%");</a:t>
            </a:r>
          </a:p>
          <a:p>
            <a:r>
              <a:rPr lang="en-IN" sz="1400" dirty="0"/>
              <a:t>            })</a:t>
            </a:r>
          </a:p>
          <a:p>
            <a:r>
              <a:rPr lang="en-IN" sz="1400" dirty="0"/>
              <a:t>            .get();</a:t>
            </a:r>
          </a:p>
          <a:p>
            <a:r>
              <a:rPr lang="en-IN" sz="1400" dirty="0"/>
              <a:t>    }</a:t>
            </a:r>
          </a:p>
          <a:p>
            <a:r>
              <a:rPr lang="en-IN" sz="1400" dirty="0"/>
              <a:t>    // --- BANK A (Simulating a service) ---Next Slide    // --- BANK B (Simulating a service) --- Next Slide</a:t>
            </a:r>
          </a:p>
          <a:p>
            <a:r>
              <a:rPr lang="en-IN" sz="1400" dirty="0"/>
              <a:t>}</a:t>
            </a:r>
          </a:p>
        </p:txBody>
      </p:sp>
    </p:spTree>
    <p:extLst>
      <p:ext uri="{BB962C8B-B14F-4D97-AF65-F5344CB8AC3E}">
        <p14:creationId xmlns:p14="http://schemas.microsoft.com/office/powerpoint/2010/main" val="41367261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C9122-AD48-49F4-4567-A15B55BCFB7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D3CE5B5-C2A3-6E0E-E1F0-17AE859EA045}"/>
              </a:ext>
            </a:extLst>
          </p:cNvPr>
          <p:cNvSpPr txBox="1"/>
          <p:nvPr/>
        </p:nvSpPr>
        <p:spPr>
          <a:xfrm>
            <a:off x="3047611" y="1298344"/>
            <a:ext cx="6095222" cy="4247317"/>
          </a:xfrm>
          <a:prstGeom prst="rect">
            <a:avLst/>
          </a:prstGeom>
          <a:noFill/>
        </p:spPr>
        <p:txBody>
          <a:bodyPr wrap="square">
            <a:spAutoFit/>
          </a:bodyPr>
          <a:lstStyle/>
          <a:p>
            <a:r>
              <a:rPr lang="en-IN" dirty="0"/>
              <a:t>// --- BANK A (Simulating a service) ---</a:t>
            </a:r>
          </a:p>
          <a:p>
            <a:r>
              <a:rPr lang="en-IN" dirty="0"/>
              <a:t>    @Bean</a:t>
            </a:r>
          </a:p>
          <a:p>
            <a:r>
              <a:rPr lang="en-IN" dirty="0"/>
              <a:t>    public </a:t>
            </a:r>
            <a:r>
              <a:rPr lang="en-IN" dirty="0" err="1"/>
              <a:t>IntegrationFlow</a:t>
            </a:r>
            <a:r>
              <a:rPr lang="en-IN" dirty="0"/>
              <a:t> </a:t>
            </a:r>
            <a:r>
              <a:rPr lang="en-IN" dirty="0" err="1"/>
              <a:t>bankAFlow</a:t>
            </a:r>
            <a:r>
              <a:rPr lang="en-IN" dirty="0"/>
              <a:t>() {</a:t>
            </a:r>
          </a:p>
          <a:p>
            <a:r>
              <a:rPr lang="en-IN" dirty="0"/>
              <a:t>        return </a:t>
            </a:r>
            <a:r>
              <a:rPr lang="en-IN" dirty="0" err="1"/>
              <a:t>IntegrationFlow.from</a:t>
            </a:r>
            <a:r>
              <a:rPr lang="en-IN" dirty="0"/>
              <a:t>("</a:t>
            </a:r>
            <a:r>
              <a:rPr lang="en-IN" dirty="0" err="1"/>
              <a:t>bankAChannel</a:t>
            </a:r>
            <a:r>
              <a:rPr lang="en-IN" dirty="0"/>
              <a:t>")</a:t>
            </a:r>
          </a:p>
          <a:p>
            <a:r>
              <a:rPr lang="en-IN" dirty="0"/>
              <a:t>                .handle(m -&gt; 5.5) // Bank A offers 5.5%</a:t>
            </a:r>
          </a:p>
          <a:p>
            <a:r>
              <a:rPr lang="en-IN" dirty="0"/>
              <a:t>                .get();</a:t>
            </a:r>
          </a:p>
          <a:p>
            <a:r>
              <a:rPr lang="en-IN" dirty="0"/>
              <a:t>    }</a:t>
            </a:r>
          </a:p>
          <a:p>
            <a:endParaRPr lang="en-IN" dirty="0"/>
          </a:p>
          <a:p>
            <a:r>
              <a:rPr lang="en-IN" dirty="0"/>
              <a:t>    // --- BANK B (Simulating a service) ---</a:t>
            </a:r>
          </a:p>
          <a:p>
            <a:r>
              <a:rPr lang="en-IN" dirty="0"/>
              <a:t>    @Bean</a:t>
            </a:r>
          </a:p>
          <a:p>
            <a:r>
              <a:rPr lang="en-IN" dirty="0"/>
              <a:t>    public </a:t>
            </a:r>
            <a:r>
              <a:rPr lang="en-IN" dirty="0" err="1"/>
              <a:t>IntegrationFlow</a:t>
            </a:r>
            <a:r>
              <a:rPr lang="en-IN" dirty="0"/>
              <a:t> </a:t>
            </a:r>
            <a:r>
              <a:rPr lang="en-IN" dirty="0" err="1"/>
              <a:t>bankBFlow</a:t>
            </a:r>
            <a:r>
              <a:rPr lang="en-IN" dirty="0"/>
              <a:t>() {</a:t>
            </a:r>
          </a:p>
          <a:p>
            <a:r>
              <a:rPr lang="en-IN" dirty="0"/>
              <a:t>        return </a:t>
            </a:r>
            <a:r>
              <a:rPr lang="en-IN" dirty="0" err="1"/>
              <a:t>IntegrationFlow.from</a:t>
            </a:r>
            <a:r>
              <a:rPr lang="en-IN" dirty="0"/>
              <a:t>("</a:t>
            </a:r>
            <a:r>
              <a:rPr lang="en-IN" dirty="0" err="1"/>
              <a:t>bankBChannel</a:t>
            </a:r>
            <a:r>
              <a:rPr lang="en-IN" dirty="0"/>
              <a:t>")</a:t>
            </a:r>
          </a:p>
          <a:p>
            <a:r>
              <a:rPr lang="en-IN" dirty="0"/>
              <a:t>                .handle(m -&gt; 4.2) // Bank B offers 4.2%</a:t>
            </a:r>
          </a:p>
          <a:p>
            <a:r>
              <a:rPr lang="en-IN" dirty="0"/>
              <a:t>                .get();</a:t>
            </a:r>
          </a:p>
          <a:p>
            <a:r>
              <a:rPr lang="en-IN" dirty="0"/>
              <a:t>    }</a:t>
            </a:r>
          </a:p>
        </p:txBody>
      </p:sp>
    </p:spTree>
    <p:extLst>
      <p:ext uri="{BB962C8B-B14F-4D97-AF65-F5344CB8AC3E}">
        <p14:creationId xmlns:p14="http://schemas.microsoft.com/office/powerpoint/2010/main" val="1712178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47CBB-28BE-BB4A-A2D0-6AD70958D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49C33-529C-7B64-F84E-C644794A929E}"/>
              </a:ext>
            </a:extLst>
          </p:cNvPr>
          <p:cNvSpPr>
            <a:spLocks noGrp="1"/>
          </p:cNvSpPr>
          <p:nvPr>
            <p:ph type="title"/>
          </p:nvPr>
        </p:nvSpPr>
        <p:spPr/>
        <p:txBody>
          <a:bodyPr/>
          <a:lstStyle/>
          <a:p>
            <a:r>
              <a:rPr lang="en-US" b="1" dirty="0"/>
              <a:t>Correlation ID (The "Paperclip")</a:t>
            </a:r>
            <a:endParaRPr lang="en-IN" dirty="0"/>
          </a:p>
        </p:txBody>
      </p:sp>
      <p:sp>
        <p:nvSpPr>
          <p:cNvPr id="3" name="Content Placeholder 2">
            <a:extLst>
              <a:ext uri="{FF2B5EF4-FFF2-40B4-BE49-F238E27FC236}">
                <a16:creationId xmlns:a16="http://schemas.microsoft.com/office/drawing/2014/main" id="{94715D3E-3101-72D5-4C50-DE56941C379D}"/>
              </a:ext>
            </a:extLst>
          </p:cNvPr>
          <p:cNvSpPr>
            <a:spLocks noGrp="1"/>
          </p:cNvSpPr>
          <p:nvPr>
            <p:ph idx="1"/>
          </p:nvPr>
        </p:nvSpPr>
        <p:spPr>
          <a:xfrm>
            <a:off x="1154954" y="2603499"/>
            <a:ext cx="10690258" cy="3871945"/>
          </a:xfrm>
        </p:spPr>
        <p:txBody>
          <a:bodyPr/>
          <a:lstStyle/>
          <a:p>
            <a:r>
              <a:rPr lang="en-US" dirty="0"/>
              <a:t>How does the "Gatherer" know which bank response belongs to which request? If 10 people ask for a loan at the same time, the Gatherer receives 20 responses.</a:t>
            </a:r>
          </a:p>
          <a:p>
            <a:r>
              <a:rPr lang="en-US" b="1" dirty="0"/>
              <a:t>Spring Integration handles this automatically.</a:t>
            </a:r>
            <a:r>
              <a:rPr lang="en-US" dirty="0"/>
              <a:t> It attaches a "</a:t>
            </a:r>
            <a:r>
              <a:rPr lang="en-US" b="1" dirty="0"/>
              <a:t>Correlation ID</a:t>
            </a:r>
            <a:r>
              <a:rPr lang="en-US" dirty="0"/>
              <a:t>" header to the message when it scatters. </a:t>
            </a:r>
          </a:p>
          <a:p>
            <a:r>
              <a:rPr lang="en-US" dirty="0"/>
              <a:t>When the banks reply, they include that same ID, so the Gatherer can group them correctly.</a:t>
            </a:r>
          </a:p>
          <a:p>
            <a:endParaRPr lang="en-IN" dirty="0"/>
          </a:p>
        </p:txBody>
      </p:sp>
    </p:spTree>
    <p:extLst>
      <p:ext uri="{BB962C8B-B14F-4D97-AF65-F5344CB8AC3E}">
        <p14:creationId xmlns:p14="http://schemas.microsoft.com/office/powerpoint/2010/main" val="6541218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C0477-AFA5-37A6-B7A7-C29023457A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0B337-81BF-A452-1D9E-3064038C1EC6}"/>
              </a:ext>
            </a:extLst>
          </p:cNvPr>
          <p:cNvSpPr>
            <a:spLocks noGrp="1"/>
          </p:cNvSpPr>
          <p:nvPr>
            <p:ph type="title"/>
          </p:nvPr>
        </p:nvSpPr>
        <p:spPr/>
        <p:txBody>
          <a:bodyPr/>
          <a:lstStyle/>
          <a:p>
            <a:r>
              <a:rPr lang="en-US" b="1" dirty="0"/>
              <a:t>Release Strategy</a:t>
            </a:r>
            <a:endParaRPr lang="en-IN" dirty="0"/>
          </a:p>
        </p:txBody>
      </p:sp>
      <p:sp>
        <p:nvSpPr>
          <p:cNvPr id="3" name="Content Placeholder 2">
            <a:extLst>
              <a:ext uri="{FF2B5EF4-FFF2-40B4-BE49-F238E27FC236}">
                <a16:creationId xmlns:a16="http://schemas.microsoft.com/office/drawing/2014/main" id="{D53B725E-8B20-7FF2-EAE1-96C52824119A}"/>
              </a:ext>
            </a:extLst>
          </p:cNvPr>
          <p:cNvSpPr>
            <a:spLocks noGrp="1"/>
          </p:cNvSpPr>
          <p:nvPr>
            <p:ph idx="1"/>
          </p:nvPr>
        </p:nvSpPr>
        <p:spPr>
          <a:xfrm>
            <a:off x="1154954" y="2603499"/>
            <a:ext cx="10690258" cy="3871945"/>
          </a:xfrm>
        </p:spPr>
        <p:txBody>
          <a:bodyPr/>
          <a:lstStyle/>
          <a:p>
            <a:r>
              <a:rPr lang="en-US" dirty="0"/>
              <a:t>The </a:t>
            </a:r>
            <a:r>
              <a:rPr lang="en-US" dirty="0" err="1"/>
              <a:t>releaseStrategy</a:t>
            </a:r>
            <a:r>
              <a:rPr lang="en-US" dirty="0"/>
              <a:t> tells the Gatherer: </a:t>
            </a:r>
            <a:r>
              <a:rPr lang="en-US" i="1" dirty="0"/>
              <a:t>"When are we done?"</a:t>
            </a:r>
            <a:endParaRPr lang="en-US" dirty="0"/>
          </a:p>
          <a:p>
            <a:r>
              <a:rPr lang="en-US" dirty="0"/>
              <a:t>group -&gt; </a:t>
            </a:r>
            <a:r>
              <a:rPr lang="en-US" dirty="0" err="1"/>
              <a:t>group.size</a:t>
            </a:r>
            <a:r>
              <a:rPr lang="en-US" dirty="0"/>
              <a:t>() == 2: Done when we get exactly 2 messages.</a:t>
            </a:r>
          </a:p>
          <a:p>
            <a:r>
              <a:rPr lang="en-US" dirty="0"/>
              <a:t>group -&gt; </a:t>
            </a:r>
            <a:r>
              <a:rPr lang="en-US" dirty="0" err="1"/>
              <a:t>group.getMessages</a:t>
            </a:r>
            <a:r>
              <a:rPr lang="en-US" dirty="0"/>
              <a:t>().size() &gt; 0: Done as soon as the first one arrives (the "First Winner" strategy).</a:t>
            </a:r>
          </a:p>
          <a:p>
            <a:endParaRPr lang="en-IN" dirty="0"/>
          </a:p>
        </p:txBody>
      </p:sp>
    </p:spTree>
    <p:extLst>
      <p:ext uri="{BB962C8B-B14F-4D97-AF65-F5344CB8AC3E}">
        <p14:creationId xmlns:p14="http://schemas.microsoft.com/office/powerpoint/2010/main" val="128121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7DAF7-7D20-688B-92F5-88DF5335F7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31BAD9-EEBE-A584-3884-7346A6935CE1}"/>
              </a:ext>
            </a:extLst>
          </p:cNvPr>
          <p:cNvSpPr>
            <a:spLocks noGrp="1"/>
          </p:cNvSpPr>
          <p:nvPr>
            <p:ph type="title"/>
          </p:nvPr>
        </p:nvSpPr>
        <p:spPr/>
        <p:txBody>
          <a:bodyPr/>
          <a:lstStyle/>
          <a:p>
            <a:r>
              <a:rPr lang="en-US" b="1" dirty="0"/>
              <a:t>Timeout</a:t>
            </a:r>
            <a:endParaRPr lang="en-IN" dirty="0"/>
          </a:p>
        </p:txBody>
      </p:sp>
      <p:sp>
        <p:nvSpPr>
          <p:cNvPr id="3" name="Content Placeholder 2">
            <a:extLst>
              <a:ext uri="{FF2B5EF4-FFF2-40B4-BE49-F238E27FC236}">
                <a16:creationId xmlns:a16="http://schemas.microsoft.com/office/drawing/2014/main" id="{5853CE24-597C-232A-30C0-9FCCABE1EC0D}"/>
              </a:ext>
            </a:extLst>
          </p:cNvPr>
          <p:cNvSpPr>
            <a:spLocks noGrp="1"/>
          </p:cNvSpPr>
          <p:nvPr>
            <p:ph idx="1"/>
          </p:nvPr>
        </p:nvSpPr>
        <p:spPr>
          <a:xfrm>
            <a:off x="1154954" y="2603499"/>
            <a:ext cx="10690258" cy="3871945"/>
          </a:xfrm>
        </p:spPr>
        <p:txBody>
          <a:bodyPr/>
          <a:lstStyle/>
          <a:p>
            <a:r>
              <a:rPr lang="en-US" dirty="0"/>
              <a:t>In Scatter-Gather,  </a:t>
            </a:r>
            <a:r>
              <a:rPr lang="en-US" b="1" dirty="0"/>
              <a:t>must</a:t>
            </a:r>
            <a:r>
              <a:rPr lang="en-US" dirty="0"/>
              <a:t> have a timeout. </a:t>
            </a:r>
          </a:p>
          <a:p>
            <a:r>
              <a:rPr lang="en-US" dirty="0"/>
              <a:t>If Bank A crashes and never replies, your Gatherer will wait forever, and your app will hang.</a:t>
            </a:r>
          </a:p>
          <a:p>
            <a:br>
              <a:rPr lang="en-US" dirty="0"/>
            </a:br>
            <a:r>
              <a:rPr lang="en-US" dirty="0"/>
              <a:t>With .</a:t>
            </a:r>
            <a:r>
              <a:rPr lang="en-US" dirty="0" err="1"/>
              <a:t>gatherTimeout</a:t>
            </a:r>
            <a:r>
              <a:rPr lang="en-US" dirty="0"/>
              <a:t>(5000), if Bank A doesn't reply in 5 seconds, the Gatherer will give up and send whatever it has (or throw an error).</a:t>
            </a:r>
          </a:p>
          <a:p>
            <a:endParaRPr lang="en-IN" dirty="0"/>
          </a:p>
        </p:txBody>
      </p:sp>
    </p:spTree>
    <p:extLst>
      <p:ext uri="{BB962C8B-B14F-4D97-AF65-F5344CB8AC3E}">
        <p14:creationId xmlns:p14="http://schemas.microsoft.com/office/powerpoint/2010/main" val="15356776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0B4A3-8B48-3C6A-54AA-40A5BDE38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57990-097A-EA9C-A949-76673ACC8786}"/>
              </a:ext>
            </a:extLst>
          </p:cNvPr>
          <p:cNvSpPr>
            <a:spLocks noGrp="1"/>
          </p:cNvSpPr>
          <p:nvPr>
            <p:ph type="title"/>
          </p:nvPr>
        </p:nvSpPr>
        <p:spPr/>
        <p:txBody>
          <a:bodyPr/>
          <a:lstStyle/>
          <a:p>
            <a:r>
              <a:rPr lang="en-US" b="1" dirty="0"/>
              <a:t>Why is this Advanced?</a:t>
            </a:r>
            <a:endParaRPr lang="en-IN" dirty="0"/>
          </a:p>
        </p:txBody>
      </p:sp>
      <p:sp>
        <p:nvSpPr>
          <p:cNvPr id="3" name="Content Placeholder 2">
            <a:extLst>
              <a:ext uri="{FF2B5EF4-FFF2-40B4-BE49-F238E27FC236}">
                <a16:creationId xmlns:a16="http://schemas.microsoft.com/office/drawing/2014/main" id="{31F9B45E-F9B0-42CE-1EED-28428F1B9C54}"/>
              </a:ext>
            </a:extLst>
          </p:cNvPr>
          <p:cNvSpPr>
            <a:spLocks noGrp="1"/>
          </p:cNvSpPr>
          <p:nvPr>
            <p:ph idx="1"/>
          </p:nvPr>
        </p:nvSpPr>
        <p:spPr>
          <a:xfrm>
            <a:off x="1154954" y="2603499"/>
            <a:ext cx="10690258" cy="3871945"/>
          </a:xfrm>
        </p:spPr>
        <p:txBody>
          <a:bodyPr/>
          <a:lstStyle/>
          <a:p>
            <a:r>
              <a:rPr lang="en-US" dirty="0"/>
              <a:t>Scatter-Gather is complex because it often involves </a:t>
            </a:r>
            <a:r>
              <a:rPr lang="en-US" b="1" dirty="0" err="1"/>
              <a:t>Asynchronicity</a:t>
            </a:r>
            <a:r>
              <a:rPr lang="en-US" dirty="0"/>
              <a:t>. </a:t>
            </a:r>
          </a:p>
          <a:p>
            <a:r>
              <a:rPr lang="en-US" dirty="0"/>
              <a:t>Usually, you want the banks to be checked in </a:t>
            </a:r>
            <a:r>
              <a:rPr lang="en-US" b="1" dirty="0"/>
              <a:t>parallel</a:t>
            </a:r>
            <a:r>
              <a:rPr lang="en-US" dirty="0"/>
              <a:t> (Async Pub-Sub) so the user doesn't wait too long.</a:t>
            </a:r>
          </a:p>
          <a:p>
            <a:r>
              <a:rPr lang="en-US" b="1" dirty="0"/>
              <a:t>Comparison:</a:t>
            </a:r>
            <a:endParaRPr lang="en-US" dirty="0"/>
          </a:p>
          <a:p>
            <a:r>
              <a:rPr lang="en-US" b="1" dirty="0"/>
              <a:t>Recipient List:</a:t>
            </a:r>
            <a:r>
              <a:rPr lang="en-US" dirty="0"/>
              <a:t> "Tell the Warehouse and the Shipping dept we have an order." (One-way)</a:t>
            </a:r>
          </a:p>
          <a:p>
            <a:r>
              <a:rPr lang="en-US" b="1" dirty="0"/>
              <a:t>Scatter-Gather:</a:t>
            </a:r>
            <a:r>
              <a:rPr lang="en-US" dirty="0"/>
              <a:t> "Ask 3 Warehouses if they have stock, wait for their answers, and pick the closest one." (Two-way)</a:t>
            </a:r>
          </a:p>
          <a:p>
            <a:endParaRPr lang="en-IN" dirty="0"/>
          </a:p>
        </p:txBody>
      </p:sp>
    </p:spTree>
    <p:extLst>
      <p:ext uri="{BB962C8B-B14F-4D97-AF65-F5344CB8AC3E}">
        <p14:creationId xmlns:p14="http://schemas.microsoft.com/office/powerpoint/2010/main" val="220750847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767EE-7FB1-3AA9-B847-813B02B94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328EE-2634-6785-0109-8D77A7499540}"/>
              </a:ext>
            </a:extLst>
          </p:cNvPr>
          <p:cNvSpPr>
            <a:spLocks noGrp="1"/>
          </p:cNvSpPr>
          <p:nvPr>
            <p:ph type="title"/>
          </p:nvPr>
        </p:nvSpPr>
        <p:spPr/>
        <p:txBody>
          <a:bodyPr/>
          <a:lstStyle/>
          <a:p>
            <a:r>
              <a:rPr lang="en-US" b="1" dirty="0"/>
              <a:t>Quick Check:</a:t>
            </a:r>
            <a:endParaRPr lang="en-IN" dirty="0"/>
          </a:p>
        </p:txBody>
      </p:sp>
      <p:sp>
        <p:nvSpPr>
          <p:cNvPr id="3" name="Content Placeholder 2">
            <a:extLst>
              <a:ext uri="{FF2B5EF4-FFF2-40B4-BE49-F238E27FC236}">
                <a16:creationId xmlns:a16="http://schemas.microsoft.com/office/drawing/2014/main" id="{2B8E8A5F-8713-1BCD-40BD-E0DCCAE643F0}"/>
              </a:ext>
            </a:extLst>
          </p:cNvPr>
          <p:cNvSpPr>
            <a:spLocks noGrp="1"/>
          </p:cNvSpPr>
          <p:nvPr>
            <p:ph idx="1"/>
          </p:nvPr>
        </p:nvSpPr>
        <p:spPr>
          <a:xfrm>
            <a:off x="1154954" y="2603499"/>
            <a:ext cx="10690258" cy="3871945"/>
          </a:xfrm>
        </p:spPr>
        <p:txBody>
          <a:bodyPr/>
          <a:lstStyle/>
          <a:p>
            <a:r>
              <a:rPr lang="en-US" dirty="0"/>
              <a:t>Suppose you are building a </a:t>
            </a:r>
            <a:r>
              <a:rPr lang="en-US" b="1" dirty="0"/>
              <a:t>Weather App</a:t>
            </a:r>
            <a:r>
              <a:rPr lang="en-US" dirty="0"/>
              <a:t>. You ask </a:t>
            </a:r>
            <a:r>
              <a:rPr lang="en-US" b="1" dirty="0"/>
              <a:t>Google Weather</a:t>
            </a:r>
            <a:r>
              <a:rPr lang="en-US" dirty="0"/>
              <a:t>, </a:t>
            </a:r>
            <a:r>
              <a:rPr lang="en-US" b="1" dirty="0"/>
              <a:t>Yahoo Weather</a:t>
            </a:r>
            <a:r>
              <a:rPr lang="en-US" dirty="0"/>
              <a:t>, and </a:t>
            </a:r>
            <a:r>
              <a:rPr lang="en-US" b="1" dirty="0"/>
              <a:t>BBC Weather</a:t>
            </a:r>
            <a:r>
              <a:rPr lang="en-US" dirty="0"/>
              <a:t> for the temperature. You want to display the </a:t>
            </a:r>
            <a:r>
              <a:rPr lang="en-US" b="1" dirty="0"/>
              <a:t>Average</a:t>
            </a:r>
            <a:r>
              <a:rPr lang="en-US" dirty="0"/>
              <a:t> of all three.</a:t>
            </a:r>
          </a:p>
          <a:p>
            <a:r>
              <a:rPr lang="en-US" dirty="0"/>
              <a:t>What would be your </a:t>
            </a:r>
            <a:r>
              <a:rPr lang="en-US" b="1" dirty="0"/>
              <a:t>Scatter</a:t>
            </a:r>
            <a:r>
              <a:rPr lang="en-US" dirty="0"/>
              <a:t> strategy?</a:t>
            </a:r>
          </a:p>
          <a:p>
            <a:r>
              <a:rPr lang="en-US" dirty="0"/>
              <a:t>What would be your </a:t>
            </a:r>
            <a:r>
              <a:rPr lang="en-US" b="1" dirty="0"/>
              <a:t>Gather</a:t>
            </a:r>
            <a:r>
              <a:rPr lang="en-US" dirty="0"/>
              <a:t> </a:t>
            </a:r>
            <a:r>
              <a:rPr lang="en-US" dirty="0" err="1"/>
              <a:t>releaseStrategy</a:t>
            </a:r>
            <a:r>
              <a:rPr lang="en-US" dirty="0"/>
              <a:t>?</a:t>
            </a:r>
          </a:p>
          <a:p>
            <a:endParaRPr lang="en-IN" dirty="0"/>
          </a:p>
        </p:txBody>
      </p:sp>
    </p:spTree>
    <p:extLst>
      <p:ext uri="{BB962C8B-B14F-4D97-AF65-F5344CB8AC3E}">
        <p14:creationId xmlns:p14="http://schemas.microsoft.com/office/powerpoint/2010/main" val="125368465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67509-3F81-B5BB-BB08-6353B0F0A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18571-2799-AE98-53FA-D00FDCEC9E1A}"/>
              </a:ext>
            </a:extLst>
          </p:cNvPr>
          <p:cNvSpPr>
            <a:spLocks noGrp="1"/>
          </p:cNvSpPr>
          <p:nvPr>
            <p:ph type="title"/>
          </p:nvPr>
        </p:nvSpPr>
        <p:spPr/>
        <p:txBody>
          <a:bodyPr/>
          <a:lstStyle/>
          <a:p>
            <a:r>
              <a:rPr lang="en-US" dirty="0"/>
              <a:t>Error handling in </a:t>
            </a:r>
            <a:r>
              <a:rPr lang="en-US" b="1" dirty="0"/>
              <a:t>Scatter-Gather</a:t>
            </a:r>
            <a:endParaRPr lang="en-IN" dirty="0"/>
          </a:p>
        </p:txBody>
      </p:sp>
      <p:sp>
        <p:nvSpPr>
          <p:cNvPr id="3" name="Content Placeholder 2">
            <a:extLst>
              <a:ext uri="{FF2B5EF4-FFF2-40B4-BE49-F238E27FC236}">
                <a16:creationId xmlns:a16="http://schemas.microsoft.com/office/drawing/2014/main" id="{63F6CE97-DD9B-D3F6-A6CE-2DA9A7265B51}"/>
              </a:ext>
            </a:extLst>
          </p:cNvPr>
          <p:cNvSpPr>
            <a:spLocks noGrp="1"/>
          </p:cNvSpPr>
          <p:nvPr>
            <p:ph idx="1"/>
          </p:nvPr>
        </p:nvSpPr>
        <p:spPr>
          <a:xfrm>
            <a:off x="1154954" y="2603499"/>
            <a:ext cx="10690258" cy="3871945"/>
          </a:xfrm>
        </p:spPr>
        <p:txBody>
          <a:bodyPr/>
          <a:lstStyle/>
          <a:p>
            <a:r>
              <a:rPr lang="en-US" dirty="0"/>
              <a:t>Error handling in </a:t>
            </a:r>
            <a:r>
              <a:rPr lang="en-US" b="1" dirty="0"/>
              <a:t>Scatter-Gather</a:t>
            </a:r>
            <a:r>
              <a:rPr lang="en-US" dirty="0"/>
              <a:t> is unique because you are managing two different "failure zones": the </a:t>
            </a:r>
            <a:r>
              <a:rPr lang="en-US" b="1" dirty="0"/>
              <a:t>Scatter phase</a:t>
            </a:r>
            <a:r>
              <a:rPr lang="en-US" dirty="0"/>
              <a:t> (sending out) and the </a:t>
            </a:r>
            <a:r>
              <a:rPr lang="en-US" b="1" dirty="0"/>
              <a:t>Gather phase</a:t>
            </a:r>
            <a:r>
              <a:rPr lang="en-US" dirty="0"/>
              <a:t> (waiting for replies).</a:t>
            </a:r>
          </a:p>
          <a:p>
            <a:br>
              <a:rPr lang="en-US" dirty="0"/>
            </a:br>
            <a:br>
              <a:rPr lang="en-US" dirty="0"/>
            </a:br>
            <a:endParaRPr lang="en-IN" dirty="0"/>
          </a:p>
        </p:txBody>
      </p:sp>
    </p:spTree>
    <p:extLst>
      <p:ext uri="{BB962C8B-B14F-4D97-AF65-F5344CB8AC3E}">
        <p14:creationId xmlns:p14="http://schemas.microsoft.com/office/powerpoint/2010/main" val="33324132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129CF-9190-0882-8351-7E548C91C353}"/>
              </a:ext>
            </a:extLst>
          </p:cNvPr>
          <p:cNvSpPr>
            <a:spLocks noGrp="1"/>
          </p:cNvSpPr>
          <p:nvPr>
            <p:ph type="title"/>
          </p:nvPr>
        </p:nvSpPr>
        <p:spPr/>
        <p:txBody>
          <a:bodyPr/>
          <a:lstStyle/>
          <a:p>
            <a:r>
              <a:rPr lang="en-US" b="1" dirty="0"/>
              <a:t>Part 1: Error Handling in Scatter-Gather</a:t>
            </a:r>
            <a:endParaRPr lang="en-IN" dirty="0"/>
          </a:p>
        </p:txBody>
      </p:sp>
      <p:sp>
        <p:nvSpPr>
          <p:cNvPr id="3" name="Content Placeholder 2">
            <a:extLst>
              <a:ext uri="{FF2B5EF4-FFF2-40B4-BE49-F238E27FC236}">
                <a16:creationId xmlns:a16="http://schemas.microsoft.com/office/drawing/2014/main" id="{1DE5C6F4-86DA-AFBD-E3E8-6A30A7D10CDE}"/>
              </a:ext>
            </a:extLst>
          </p:cNvPr>
          <p:cNvSpPr>
            <a:spLocks noGrp="1"/>
          </p:cNvSpPr>
          <p:nvPr>
            <p:ph idx="1"/>
          </p:nvPr>
        </p:nvSpPr>
        <p:spPr>
          <a:xfrm>
            <a:off x="1154954" y="2603499"/>
            <a:ext cx="10424336" cy="3923263"/>
          </a:xfrm>
        </p:spPr>
        <p:txBody>
          <a:bodyPr>
            <a:normAutofit/>
          </a:bodyPr>
          <a:lstStyle/>
          <a:p>
            <a:r>
              <a:rPr lang="en-US" dirty="0"/>
              <a:t>Imagine we are asking 3 Banks for a loan.</a:t>
            </a:r>
          </a:p>
          <a:p>
            <a:r>
              <a:rPr lang="en-US" b="1" dirty="0"/>
              <a:t>1. Failure during "Scatter"</a:t>
            </a:r>
          </a:p>
          <a:p>
            <a:r>
              <a:rPr lang="en-US" dirty="0"/>
              <a:t>If you use a </a:t>
            </a:r>
            <a:r>
              <a:rPr lang="en-US" b="1" dirty="0"/>
              <a:t>Synchronous</a:t>
            </a:r>
            <a:r>
              <a:rPr lang="en-US" dirty="0"/>
              <a:t> (Direct Channel) scatter:</a:t>
            </a:r>
          </a:p>
          <a:p>
            <a:r>
              <a:rPr lang="en-US" dirty="0"/>
              <a:t>If Bank A throws an exception, the thread crashes. Bank B and C are never even called. The whole Scatter-Gather fails immediately.</a:t>
            </a:r>
          </a:p>
          <a:p>
            <a:r>
              <a:rPr lang="en-US" dirty="0"/>
              <a:t>If you use an </a:t>
            </a:r>
            <a:r>
              <a:rPr lang="en-US" b="1" dirty="0"/>
              <a:t>Asynchronous</a:t>
            </a:r>
            <a:r>
              <a:rPr lang="en-US" dirty="0"/>
              <a:t> (Executor Channel) scatter:</a:t>
            </a:r>
          </a:p>
          <a:p>
            <a:r>
              <a:rPr lang="en-US" dirty="0"/>
              <a:t>If Bank A crashes, it happens on a background thread. Bank B and Bank C still finish their work. The Gatherer will wait for Bank A until the </a:t>
            </a:r>
            <a:r>
              <a:rPr lang="en-US" b="1" dirty="0"/>
              <a:t>timeout</a:t>
            </a:r>
            <a:r>
              <a:rPr lang="en-US" dirty="0"/>
              <a:t> is reached.</a:t>
            </a:r>
          </a:p>
          <a:p>
            <a:endParaRPr lang="en-IN" dirty="0"/>
          </a:p>
        </p:txBody>
      </p:sp>
    </p:spTree>
    <p:extLst>
      <p:ext uri="{BB962C8B-B14F-4D97-AF65-F5344CB8AC3E}">
        <p14:creationId xmlns:p14="http://schemas.microsoft.com/office/powerpoint/2010/main" val="35838104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ABACD-1647-6C03-5D5D-014123A20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04B89-EB81-E195-65C8-FFD96CEBBF1A}"/>
              </a:ext>
            </a:extLst>
          </p:cNvPr>
          <p:cNvSpPr>
            <a:spLocks noGrp="1"/>
          </p:cNvSpPr>
          <p:nvPr>
            <p:ph type="title"/>
          </p:nvPr>
        </p:nvSpPr>
        <p:spPr/>
        <p:txBody>
          <a:bodyPr/>
          <a:lstStyle/>
          <a:p>
            <a:r>
              <a:rPr lang="en-US" b="1" dirty="0"/>
              <a:t>Synchronous Scatter (Direct Channels)</a:t>
            </a:r>
            <a:endParaRPr lang="en-IN" dirty="0"/>
          </a:p>
        </p:txBody>
      </p:sp>
      <p:sp>
        <p:nvSpPr>
          <p:cNvPr id="3" name="Content Placeholder 2">
            <a:extLst>
              <a:ext uri="{FF2B5EF4-FFF2-40B4-BE49-F238E27FC236}">
                <a16:creationId xmlns:a16="http://schemas.microsoft.com/office/drawing/2014/main" id="{3DD2A9EC-0172-3086-0DD5-D6698ABE5F95}"/>
              </a:ext>
            </a:extLst>
          </p:cNvPr>
          <p:cNvSpPr>
            <a:spLocks noGrp="1"/>
          </p:cNvSpPr>
          <p:nvPr>
            <p:ph idx="1"/>
          </p:nvPr>
        </p:nvSpPr>
        <p:spPr>
          <a:xfrm>
            <a:off x="1154954" y="2603499"/>
            <a:ext cx="9976466" cy="3895271"/>
          </a:xfrm>
        </p:spPr>
        <p:txBody>
          <a:bodyPr>
            <a:normAutofit/>
          </a:bodyPr>
          <a:lstStyle/>
          <a:p>
            <a:r>
              <a:rPr lang="en-US" dirty="0"/>
              <a:t>In this mode, everything happens on the </a:t>
            </a:r>
            <a:r>
              <a:rPr lang="en-US" b="1" dirty="0"/>
              <a:t>same thread</a:t>
            </a:r>
            <a:r>
              <a:rPr lang="en-US" dirty="0"/>
              <a:t>. </a:t>
            </a:r>
          </a:p>
          <a:p>
            <a:r>
              <a:rPr lang="en-US" dirty="0"/>
              <a:t>Scatterer sends the message to Recipient 1, waits, then Recipient 2, waits, and so on.</a:t>
            </a:r>
          </a:p>
          <a:p>
            <a:r>
              <a:rPr lang="en-US" b="1" dirty="0"/>
              <a:t>The Problem: The "Domino Effect"</a:t>
            </a:r>
          </a:p>
          <a:p>
            <a:r>
              <a:rPr lang="en-US" dirty="0"/>
              <a:t>If Recipient 1 throws an exception, the thread crashes immediately.</a:t>
            </a:r>
          </a:p>
          <a:p>
            <a:r>
              <a:rPr lang="en-US" dirty="0"/>
              <a:t>Recipient 2 and 3 </a:t>
            </a:r>
            <a:r>
              <a:rPr lang="en-US" b="1" dirty="0"/>
              <a:t>never receive the message</a:t>
            </a:r>
            <a:r>
              <a:rPr lang="en-US" dirty="0"/>
              <a:t>.</a:t>
            </a:r>
          </a:p>
          <a:p>
            <a:r>
              <a:rPr lang="en-US" dirty="0"/>
              <a:t>The "Gatherer" (the part that waits for results) is never reached.</a:t>
            </a:r>
          </a:p>
          <a:p>
            <a:r>
              <a:rPr lang="en-US" dirty="0"/>
              <a:t>The original sender gets the exception. </a:t>
            </a:r>
          </a:p>
          <a:p>
            <a:r>
              <a:rPr lang="en-US" b="1" dirty="0"/>
              <a:t>The Solution: </a:t>
            </a:r>
            <a:r>
              <a:rPr lang="en-US" b="1" dirty="0" err="1"/>
              <a:t>ignoreSendFailures</a:t>
            </a:r>
            <a:r>
              <a:rPr lang="en-US" b="1" dirty="0"/>
              <a:t>(true)</a:t>
            </a:r>
          </a:p>
          <a:p>
            <a:r>
              <a:rPr lang="en-US" dirty="0"/>
              <a:t>You can configure the scatterer to be "forgiving." If Recipient 1 fails, the router catches the error, logs it, and continues to Recipient 2.</a:t>
            </a:r>
          </a:p>
          <a:p>
            <a:endParaRPr lang="en-IN" dirty="0"/>
          </a:p>
        </p:txBody>
      </p:sp>
    </p:spTree>
    <p:extLst>
      <p:ext uri="{BB962C8B-B14F-4D97-AF65-F5344CB8AC3E}">
        <p14:creationId xmlns:p14="http://schemas.microsoft.com/office/powerpoint/2010/main" val="3837932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16E24-4070-6C23-08F4-177022C5A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DA32E2-8101-D0DE-8E9F-9AB84AC6EBB7}"/>
              </a:ext>
            </a:extLst>
          </p:cNvPr>
          <p:cNvSpPr>
            <a:spLocks noGrp="1"/>
          </p:cNvSpPr>
          <p:nvPr>
            <p:ph type="title"/>
          </p:nvPr>
        </p:nvSpPr>
        <p:spPr/>
        <p:txBody>
          <a:bodyPr/>
          <a:lstStyle/>
          <a:p>
            <a:r>
              <a:rPr lang="en-US" b="1" dirty="0"/>
              <a:t>Synchronous Scatter (Direct Channels)</a:t>
            </a:r>
            <a:endParaRPr lang="en-IN" dirty="0"/>
          </a:p>
        </p:txBody>
      </p:sp>
      <p:sp>
        <p:nvSpPr>
          <p:cNvPr id="3" name="Content Placeholder 2">
            <a:extLst>
              <a:ext uri="{FF2B5EF4-FFF2-40B4-BE49-F238E27FC236}">
                <a16:creationId xmlns:a16="http://schemas.microsoft.com/office/drawing/2014/main" id="{1FD9FD7A-AE4E-038C-854A-1FE8747F1F83}"/>
              </a:ext>
            </a:extLst>
          </p:cNvPr>
          <p:cNvSpPr>
            <a:spLocks noGrp="1"/>
          </p:cNvSpPr>
          <p:nvPr>
            <p:ph idx="1"/>
          </p:nvPr>
        </p:nvSpPr>
        <p:spPr>
          <a:xfrm>
            <a:off x="1154954" y="2603499"/>
            <a:ext cx="9976466" cy="3895271"/>
          </a:xfrm>
        </p:spPr>
        <p:txBody>
          <a:bodyPr/>
          <a:lstStyle/>
          <a:p>
            <a:pPr marL="0" indent="0">
              <a:buNone/>
            </a:pPr>
            <a:r>
              <a:rPr lang="en-IN" dirty="0"/>
              <a:t>.</a:t>
            </a:r>
            <a:r>
              <a:rPr lang="en-IN" dirty="0" err="1"/>
              <a:t>scatterGather</a:t>
            </a:r>
            <a:r>
              <a:rPr lang="en-IN" dirty="0"/>
              <a:t>(</a:t>
            </a:r>
          </a:p>
          <a:p>
            <a:pPr marL="0" indent="0">
              <a:buNone/>
            </a:pPr>
            <a:r>
              <a:rPr lang="en-IN" dirty="0"/>
              <a:t>    scatter -&gt; scatter</a:t>
            </a:r>
          </a:p>
          <a:p>
            <a:pPr marL="0" indent="0">
              <a:buNone/>
            </a:pPr>
            <a:r>
              <a:rPr lang="en-IN" dirty="0"/>
              <a:t>			.recipient("</a:t>
            </a:r>
            <a:r>
              <a:rPr lang="en-IN" dirty="0" err="1"/>
              <a:t>bankA</a:t>
            </a:r>
            <a:r>
              <a:rPr lang="en-IN" dirty="0"/>
              <a:t>")</a:t>
            </a:r>
          </a:p>
          <a:p>
            <a:pPr marL="0" indent="0">
              <a:buNone/>
            </a:pPr>
            <a:r>
              <a:rPr lang="en-IN" dirty="0"/>
              <a:t>                      .recipient("</a:t>
            </a:r>
            <a:r>
              <a:rPr lang="en-IN" dirty="0" err="1"/>
              <a:t>bankB</a:t>
            </a:r>
            <a:r>
              <a:rPr lang="en-IN" dirty="0"/>
              <a:t>")</a:t>
            </a:r>
          </a:p>
          <a:p>
            <a:pPr marL="0" indent="0">
              <a:buNone/>
            </a:pPr>
            <a:r>
              <a:rPr lang="en-IN" dirty="0"/>
              <a:t>                      .</a:t>
            </a:r>
            <a:r>
              <a:rPr lang="en-IN" dirty="0" err="1"/>
              <a:t>ignoreSendFailures</a:t>
            </a:r>
            <a:r>
              <a:rPr lang="en-IN" dirty="0"/>
              <a:t>(true), // &lt;--- If Bank A fails, Bank B still gets called</a:t>
            </a:r>
          </a:p>
          <a:p>
            <a:pPr marL="0" indent="0">
              <a:buNone/>
            </a:pPr>
            <a:r>
              <a:rPr lang="en-IN" dirty="0"/>
              <a:t>    gather -&gt; </a:t>
            </a:r>
            <a:r>
              <a:rPr lang="en-IN" dirty="0" err="1"/>
              <a:t>gather.timeout</a:t>
            </a:r>
            <a:r>
              <a:rPr lang="en-IN" dirty="0"/>
              <a:t>(5000)</a:t>
            </a:r>
          </a:p>
          <a:p>
            <a:pPr marL="0" indent="0">
              <a:buNone/>
            </a:pPr>
            <a:r>
              <a:rPr lang="en-IN" dirty="0"/>
              <a:t>)</a:t>
            </a:r>
          </a:p>
        </p:txBody>
      </p:sp>
    </p:spTree>
    <p:extLst>
      <p:ext uri="{BB962C8B-B14F-4D97-AF65-F5344CB8AC3E}">
        <p14:creationId xmlns:p14="http://schemas.microsoft.com/office/powerpoint/2010/main" val="1373505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47EE-492E-1F17-D6A8-397D4D05EF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2EBA23-5721-6540-7414-4A15086126F6}"/>
              </a:ext>
            </a:extLst>
          </p:cNvPr>
          <p:cNvSpPr>
            <a:spLocks noGrp="1"/>
          </p:cNvSpPr>
          <p:nvPr>
            <p:ph type="title"/>
          </p:nvPr>
        </p:nvSpPr>
        <p:spPr/>
        <p:txBody>
          <a:bodyPr/>
          <a:lstStyle/>
          <a:p>
            <a:r>
              <a:rPr lang="en-US" b="1" dirty="0"/>
              <a:t>Asynchronous Scatter (Executor Channels)</a:t>
            </a:r>
            <a:endParaRPr lang="en-IN" dirty="0"/>
          </a:p>
        </p:txBody>
      </p:sp>
      <p:sp>
        <p:nvSpPr>
          <p:cNvPr id="3" name="Content Placeholder 2">
            <a:extLst>
              <a:ext uri="{FF2B5EF4-FFF2-40B4-BE49-F238E27FC236}">
                <a16:creationId xmlns:a16="http://schemas.microsoft.com/office/drawing/2014/main" id="{BB752A3E-0B5A-8C1A-B23F-E07D62C28A50}"/>
              </a:ext>
            </a:extLst>
          </p:cNvPr>
          <p:cNvSpPr>
            <a:spLocks noGrp="1"/>
          </p:cNvSpPr>
          <p:nvPr>
            <p:ph idx="1"/>
          </p:nvPr>
        </p:nvSpPr>
        <p:spPr>
          <a:xfrm>
            <a:off x="1154954" y="2603499"/>
            <a:ext cx="9976466" cy="3895271"/>
          </a:xfrm>
        </p:spPr>
        <p:txBody>
          <a:bodyPr>
            <a:normAutofit fontScale="92500" lnSpcReduction="10000"/>
          </a:bodyPr>
          <a:lstStyle/>
          <a:p>
            <a:r>
              <a:rPr lang="en-US" dirty="0"/>
              <a:t>In this mode, the scatterer hands the message to a </a:t>
            </a:r>
            <a:r>
              <a:rPr lang="en-US" b="1" dirty="0"/>
              <a:t>Thread Pool</a:t>
            </a:r>
            <a:r>
              <a:rPr lang="en-US" dirty="0"/>
              <a:t>. Each recipient runs on its own thread.</a:t>
            </a:r>
          </a:p>
          <a:p>
            <a:r>
              <a:rPr lang="en-US" b="1" dirty="0"/>
              <a:t>The Problem: The "Silent Failure"</a:t>
            </a:r>
          </a:p>
          <a:p>
            <a:r>
              <a:rPr lang="en-US" dirty="0"/>
              <a:t>If Recipient 1 (Bank A) crashes on its background thread:</a:t>
            </a:r>
          </a:p>
          <a:p>
            <a:r>
              <a:rPr lang="en-US" dirty="0"/>
              <a:t>Recipient 2 (Bank B) is </a:t>
            </a:r>
            <a:r>
              <a:rPr lang="en-US" b="1" dirty="0"/>
              <a:t>unaffected</a:t>
            </a:r>
            <a:r>
              <a:rPr lang="en-US" dirty="0"/>
              <a:t> because it's on a different thread.</a:t>
            </a:r>
          </a:p>
          <a:p>
            <a:r>
              <a:rPr lang="en-US" b="1" dirty="0"/>
              <a:t>Crucially:</a:t>
            </a:r>
            <a:r>
              <a:rPr lang="en-US" dirty="0"/>
              <a:t> The Gatherer (the aggregator) is still sitting there waiting for Bank A's result. It doesn't know Bank A crashed; it just sees that the result hasn't arrived yet.</a:t>
            </a:r>
          </a:p>
          <a:p>
            <a:r>
              <a:rPr lang="en-US" b="1" dirty="0"/>
              <a:t>The Result:</a:t>
            </a:r>
          </a:p>
          <a:p>
            <a:r>
              <a:rPr lang="en-US" dirty="0"/>
              <a:t>The Gatherer will wait until the </a:t>
            </a:r>
            <a:r>
              <a:rPr lang="en-US" b="1" dirty="0"/>
              <a:t>Timeout</a:t>
            </a:r>
            <a:r>
              <a:rPr lang="en-US" dirty="0"/>
              <a:t> is reached. Because Bank A never replied, the Gatherer eventually gives up.</a:t>
            </a:r>
            <a:br>
              <a:rPr lang="en-US" dirty="0"/>
            </a:br>
            <a:br>
              <a:rPr lang="en-US" dirty="0"/>
            </a:br>
            <a:endParaRPr lang="en-IN" dirty="0"/>
          </a:p>
        </p:txBody>
      </p:sp>
    </p:spTree>
    <p:extLst>
      <p:ext uri="{BB962C8B-B14F-4D97-AF65-F5344CB8AC3E}">
        <p14:creationId xmlns:p14="http://schemas.microsoft.com/office/powerpoint/2010/main" val="17730892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C4A37-FC59-757C-D955-EB08CA784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FC578-B91F-FA32-02AE-FDAA71CDF476}"/>
              </a:ext>
            </a:extLst>
          </p:cNvPr>
          <p:cNvSpPr>
            <a:spLocks noGrp="1"/>
          </p:cNvSpPr>
          <p:nvPr>
            <p:ph type="title"/>
          </p:nvPr>
        </p:nvSpPr>
        <p:spPr/>
        <p:txBody>
          <a:bodyPr/>
          <a:lstStyle/>
          <a:p>
            <a:r>
              <a:rPr lang="en-US" b="1" dirty="0"/>
              <a:t>Handling Scatter Errors "Inside the Branch"</a:t>
            </a:r>
            <a:endParaRPr lang="en-IN" dirty="0"/>
          </a:p>
        </p:txBody>
      </p:sp>
      <p:sp>
        <p:nvSpPr>
          <p:cNvPr id="3" name="Content Placeholder 2">
            <a:extLst>
              <a:ext uri="{FF2B5EF4-FFF2-40B4-BE49-F238E27FC236}">
                <a16:creationId xmlns:a16="http://schemas.microsoft.com/office/drawing/2014/main" id="{E4EF19BC-B15F-010F-0762-D0A4BEF0A14F}"/>
              </a:ext>
            </a:extLst>
          </p:cNvPr>
          <p:cNvSpPr>
            <a:spLocks noGrp="1"/>
          </p:cNvSpPr>
          <p:nvPr>
            <p:ph idx="1"/>
          </p:nvPr>
        </p:nvSpPr>
        <p:spPr>
          <a:xfrm>
            <a:off x="1154954" y="2603499"/>
            <a:ext cx="9976466" cy="3895271"/>
          </a:xfrm>
        </p:spPr>
        <p:txBody>
          <a:bodyPr/>
          <a:lstStyle/>
          <a:p>
            <a:r>
              <a:rPr lang="en-US" dirty="0"/>
              <a:t>If you don't want to wait for a timeout when a branch fails, you can handle the error </a:t>
            </a:r>
            <a:r>
              <a:rPr lang="en-US" i="1" dirty="0"/>
              <a:t>inside</a:t>
            </a:r>
            <a:r>
              <a:rPr lang="en-US" dirty="0"/>
              <a:t> the recipient's flow and return a "Safe Failure" message back to the Gatherer.</a:t>
            </a:r>
          </a:p>
          <a:p>
            <a:r>
              <a:rPr lang="en-US" b="1" dirty="0"/>
              <a:t>Example: The "Error-to-Result" Pattern</a:t>
            </a:r>
            <a:br>
              <a:rPr lang="en-US" dirty="0"/>
            </a:br>
            <a:r>
              <a:rPr lang="en-US" dirty="0"/>
              <a:t>Instead of letting the exception crash the thread, we catch it and return a "0.0" or "Error Object" so the Gatherer can finish immediately.</a:t>
            </a:r>
          </a:p>
          <a:p>
            <a:endParaRPr lang="en-IN" dirty="0"/>
          </a:p>
        </p:txBody>
      </p:sp>
    </p:spTree>
    <p:extLst>
      <p:ext uri="{BB962C8B-B14F-4D97-AF65-F5344CB8AC3E}">
        <p14:creationId xmlns:p14="http://schemas.microsoft.com/office/powerpoint/2010/main" val="38116806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A383B8-B61D-7AA7-CF73-B9C66C2AED3D}"/>
              </a:ext>
            </a:extLst>
          </p:cNvPr>
          <p:cNvSpPr txBox="1"/>
          <p:nvPr/>
        </p:nvSpPr>
        <p:spPr>
          <a:xfrm>
            <a:off x="662473" y="439957"/>
            <a:ext cx="11164077" cy="6186309"/>
          </a:xfrm>
          <a:prstGeom prst="rect">
            <a:avLst/>
          </a:prstGeom>
          <a:noFill/>
        </p:spPr>
        <p:txBody>
          <a:bodyPr wrap="square">
            <a:spAutoFit/>
          </a:bodyPr>
          <a:lstStyle/>
          <a:p>
            <a:r>
              <a:rPr lang="en-IN" dirty="0"/>
              <a:t>@Bean</a:t>
            </a:r>
          </a:p>
          <a:p>
            <a:r>
              <a:rPr lang="en-IN" dirty="0"/>
              <a:t>public </a:t>
            </a:r>
            <a:r>
              <a:rPr lang="en-IN" dirty="0" err="1"/>
              <a:t>IntegrationFlow</a:t>
            </a:r>
            <a:r>
              <a:rPr lang="en-IN" dirty="0"/>
              <a:t> </a:t>
            </a:r>
            <a:r>
              <a:rPr lang="en-IN" dirty="0" err="1"/>
              <a:t>bankAFlow</a:t>
            </a:r>
            <a:r>
              <a:rPr lang="en-IN" dirty="0"/>
              <a:t>() {</a:t>
            </a:r>
          </a:p>
          <a:p>
            <a:r>
              <a:rPr lang="en-IN" dirty="0"/>
              <a:t>    return </a:t>
            </a:r>
            <a:r>
              <a:rPr lang="en-IN" dirty="0" err="1"/>
              <a:t>IntegrationFlow.from</a:t>
            </a:r>
            <a:r>
              <a:rPr lang="en-IN" dirty="0"/>
              <a:t>("</a:t>
            </a:r>
            <a:r>
              <a:rPr lang="en-IN" dirty="0" err="1"/>
              <a:t>bankAChannel</a:t>
            </a:r>
            <a:r>
              <a:rPr lang="en-IN" dirty="0"/>
              <a:t>")</a:t>
            </a:r>
          </a:p>
          <a:p>
            <a:r>
              <a:rPr lang="en-IN" dirty="0"/>
              <a:t>            .handle(m -&gt; {</a:t>
            </a:r>
          </a:p>
          <a:p>
            <a:r>
              <a:rPr lang="en-IN" dirty="0"/>
              <a:t>                // Risky logic here</a:t>
            </a:r>
          </a:p>
          <a:p>
            <a:r>
              <a:rPr lang="en-IN" dirty="0"/>
              <a:t>                if (true) throw new </a:t>
            </a:r>
            <a:r>
              <a:rPr lang="en-IN" dirty="0" err="1"/>
              <a:t>RuntimeException</a:t>
            </a:r>
            <a:r>
              <a:rPr lang="en-IN" dirty="0"/>
              <a:t>("Bank A Down");</a:t>
            </a:r>
          </a:p>
          <a:p>
            <a:r>
              <a:rPr lang="en-IN" dirty="0"/>
              <a:t>                return 5.5;</a:t>
            </a:r>
          </a:p>
          <a:p>
            <a:r>
              <a:rPr lang="en-IN" dirty="0"/>
              <a:t>            }, e -&gt; </a:t>
            </a:r>
            <a:r>
              <a:rPr lang="en-IN" dirty="0" err="1"/>
              <a:t>e.advice</a:t>
            </a:r>
            <a:r>
              <a:rPr lang="en-IN" dirty="0"/>
              <a:t>(</a:t>
            </a:r>
            <a:r>
              <a:rPr lang="en-IN" dirty="0" err="1"/>
              <a:t>bankAErrorAdvice</a:t>
            </a:r>
            <a:r>
              <a:rPr lang="en-IN" dirty="0"/>
              <a:t>())) // Add a safety net</a:t>
            </a:r>
          </a:p>
          <a:p>
            <a:r>
              <a:rPr lang="en-IN" dirty="0"/>
              <a:t>            .get();</a:t>
            </a:r>
          </a:p>
          <a:p>
            <a:r>
              <a:rPr lang="en-IN" dirty="0"/>
              <a:t>}</a:t>
            </a:r>
          </a:p>
          <a:p>
            <a:endParaRPr lang="en-IN" dirty="0"/>
          </a:p>
          <a:p>
            <a:r>
              <a:rPr lang="en-IN" dirty="0"/>
              <a:t>@Bean</a:t>
            </a:r>
          </a:p>
          <a:p>
            <a:r>
              <a:rPr lang="en-IN" dirty="0"/>
              <a:t>public </a:t>
            </a:r>
            <a:r>
              <a:rPr lang="en-IN" dirty="0" err="1"/>
              <a:t>ExpressionEvaluatingRequestHandlerAdvice</a:t>
            </a:r>
            <a:r>
              <a:rPr lang="en-IN" dirty="0"/>
              <a:t> </a:t>
            </a:r>
            <a:r>
              <a:rPr lang="en-IN" dirty="0" err="1"/>
              <a:t>bankAErrorAdvice</a:t>
            </a:r>
            <a:r>
              <a:rPr lang="en-IN" dirty="0"/>
              <a:t>() {</a:t>
            </a:r>
          </a:p>
          <a:p>
            <a:r>
              <a:rPr lang="en-IN" dirty="0"/>
              <a:t>    </a:t>
            </a:r>
            <a:r>
              <a:rPr lang="en-IN" dirty="0" err="1"/>
              <a:t>ExpressionEvaluatingRequestHandlerAdvice</a:t>
            </a:r>
            <a:r>
              <a:rPr lang="en-IN" dirty="0"/>
              <a:t> advice = new </a:t>
            </a:r>
            <a:r>
              <a:rPr lang="en-IN" dirty="0" err="1"/>
              <a:t>ExpressionEvaluatingRequestHandlerAdvice</a:t>
            </a:r>
            <a:r>
              <a:rPr lang="en-IN" dirty="0"/>
              <a:t>();</a:t>
            </a:r>
          </a:p>
          <a:p>
            <a:r>
              <a:rPr lang="en-IN" dirty="0"/>
              <a:t>    </a:t>
            </a:r>
          </a:p>
          <a:p>
            <a:r>
              <a:rPr lang="en-IN" dirty="0"/>
              <a:t>    // Instead of crashing, send a special "Error" payload to the Gatherer</a:t>
            </a:r>
          </a:p>
          <a:p>
            <a:r>
              <a:rPr lang="en-IN" dirty="0"/>
              <a:t>    </a:t>
            </a:r>
            <a:r>
              <a:rPr lang="en-IN" dirty="0" err="1"/>
              <a:t>advice.setFailureChannelName</a:t>
            </a:r>
            <a:r>
              <a:rPr lang="en-IN" dirty="0"/>
              <a:t>("</a:t>
            </a:r>
            <a:r>
              <a:rPr lang="en-IN" dirty="0" err="1"/>
              <a:t>loanGathererChannel</a:t>
            </a:r>
            <a:r>
              <a:rPr lang="en-IN" dirty="0"/>
              <a:t>"); </a:t>
            </a:r>
          </a:p>
          <a:p>
            <a:r>
              <a:rPr lang="en-IN" dirty="0"/>
              <a:t>    </a:t>
            </a:r>
            <a:r>
              <a:rPr lang="en-IN" dirty="0" err="1"/>
              <a:t>advice.setOnFailureExpression</a:t>
            </a:r>
            <a:r>
              <a:rPr lang="en-IN" dirty="0"/>
              <a:t>("'FAILED_BY_BANK_A'"); </a:t>
            </a:r>
          </a:p>
          <a:p>
            <a:r>
              <a:rPr lang="en-IN" dirty="0"/>
              <a:t>    </a:t>
            </a:r>
          </a:p>
          <a:p>
            <a:r>
              <a:rPr lang="en-IN" dirty="0"/>
              <a:t>    return advice;</a:t>
            </a:r>
          </a:p>
          <a:p>
            <a:r>
              <a:rPr lang="en-IN" dirty="0"/>
              <a:t>}</a:t>
            </a:r>
          </a:p>
        </p:txBody>
      </p:sp>
    </p:spTree>
    <p:extLst>
      <p:ext uri="{BB962C8B-B14F-4D97-AF65-F5344CB8AC3E}">
        <p14:creationId xmlns:p14="http://schemas.microsoft.com/office/powerpoint/2010/main" val="16645222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90952-B9D1-B335-3F95-AC6822EA5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A1BE5-35D1-BA09-9848-D8B34347751D}"/>
              </a:ext>
            </a:extLst>
          </p:cNvPr>
          <p:cNvSpPr>
            <a:spLocks noGrp="1"/>
          </p:cNvSpPr>
          <p:nvPr>
            <p:ph type="title"/>
          </p:nvPr>
        </p:nvSpPr>
        <p:spPr/>
        <p:txBody>
          <a:bodyPr/>
          <a:lstStyle/>
          <a:p>
            <a:r>
              <a:rPr lang="en-US" b="1" dirty="0"/>
              <a:t>What happens to the "Gatherer" when Scatter fails?</a:t>
            </a:r>
            <a:endParaRPr lang="en-IN" dirty="0"/>
          </a:p>
        </p:txBody>
      </p:sp>
      <p:sp>
        <p:nvSpPr>
          <p:cNvPr id="3" name="Content Placeholder 2">
            <a:extLst>
              <a:ext uri="{FF2B5EF4-FFF2-40B4-BE49-F238E27FC236}">
                <a16:creationId xmlns:a16="http://schemas.microsoft.com/office/drawing/2014/main" id="{B3F4C374-A373-7E0A-3C8B-BEFD77781791}"/>
              </a:ext>
            </a:extLst>
          </p:cNvPr>
          <p:cNvSpPr>
            <a:spLocks noGrp="1"/>
          </p:cNvSpPr>
          <p:nvPr>
            <p:ph idx="1"/>
          </p:nvPr>
        </p:nvSpPr>
        <p:spPr>
          <a:xfrm>
            <a:off x="1154954" y="2603499"/>
            <a:ext cx="9976466" cy="3895271"/>
          </a:xfrm>
        </p:spPr>
        <p:txBody>
          <a:bodyPr/>
          <a:lstStyle/>
          <a:p>
            <a:r>
              <a:rPr lang="en-US" dirty="0"/>
              <a:t>When the Scatter phase has errors, the Gatherer (Aggregator) has three ways to react:</a:t>
            </a:r>
          </a:p>
          <a:p>
            <a:r>
              <a:rPr lang="en-US" b="1" dirty="0"/>
              <a:t>Strict Mode (Default):</a:t>
            </a:r>
            <a:r>
              <a:rPr lang="en-US" dirty="0"/>
              <a:t> The Gatherer waits for </a:t>
            </a:r>
            <a:r>
              <a:rPr lang="en-US" i="1" dirty="0"/>
              <a:t>every</a:t>
            </a:r>
            <a:r>
              <a:rPr lang="en-US" dirty="0"/>
              <a:t> message it expects. If one branch failed silently (Async), it waits until the timeout and then throws an exception or drops the whole group.</a:t>
            </a:r>
          </a:p>
          <a:p>
            <a:r>
              <a:rPr lang="en-US" b="1" dirty="0"/>
              <a:t>Partial Completion:</a:t>
            </a:r>
            <a:r>
              <a:rPr lang="en-US" dirty="0"/>
              <a:t> You set .</a:t>
            </a:r>
            <a:r>
              <a:rPr lang="en-US" dirty="0" err="1"/>
              <a:t>sendPartialResultOnExpiry</a:t>
            </a:r>
            <a:r>
              <a:rPr lang="en-US" dirty="0"/>
              <a:t>(true). Even if Bank A failed, the Gatherer will package up Bank B and C's results and move forward when the time is up.</a:t>
            </a:r>
          </a:p>
          <a:p>
            <a:r>
              <a:rPr lang="en-US" b="1" dirty="0"/>
              <a:t>The "First One Wins" (Alternative):</a:t>
            </a:r>
            <a:r>
              <a:rPr lang="en-US" dirty="0"/>
              <a:t> You change the </a:t>
            </a:r>
            <a:r>
              <a:rPr lang="en-US" dirty="0" err="1"/>
              <a:t>ReleaseStrategy</a:t>
            </a:r>
            <a:r>
              <a:rPr lang="en-US" dirty="0"/>
              <a:t> to group -&gt; </a:t>
            </a:r>
            <a:r>
              <a:rPr lang="en-US" dirty="0" err="1"/>
              <a:t>group.size</a:t>
            </a:r>
            <a:r>
              <a:rPr lang="en-US" dirty="0"/>
              <a:t>() &gt; 0. As soon as any bank replies successfully, the Gatherer finishes and ignores the failed ones.</a:t>
            </a:r>
          </a:p>
          <a:p>
            <a:endParaRPr lang="en-IN" dirty="0"/>
          </a:p>
        </p:txBody>
      </p:sp>
    </p:spTree>
    <p:extLst>
      <p:ext uri="{BB962C8B-B14F-4D97-AF65-F5344CB8AC3E}">
        <p14:creationId xmlns:p14="http://schemas.microsoft.com/office/powerpoint/2010/main" val="38271558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9399-01EF-06D5-3DBB-854390D405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49BFE5-9E41-A22C-169B-B30E8C0CF5B1}"/>
              </a:ext>
            </a:extLst>
          </p:cNvPr>
          <p:cNvSpPr>
            <a:spLocks noGrp="1"/>
          </p:cNvSpPr>
          <p:nvPr>
            <p:ph type="title"/>
          </p:nvPr>
        </p:nvSpPr>
        <p:spPr/>
        <p:txBody>
          <a:bodyPr/>
          <a:lstStyle/>
          <a:p>
            <a:r>
              <a:rPr lang="en-IN" b="1" dirty="0"/>
              <a:t>Scatter Phase Errors</a:t>
            </a:r>
            <a:endParaRPr lang="en-IN" dirty="0"/>
          </a:p>
        </p:txBody>
      </p:sp>
      <p:graphicFrame>
        <p:nvGraphicFramePr>
          <p:cNvPr id="4" name="Content Placeholder 3">
            <a:extLst>
              <a:ext uri="{FF2B5EF4-FFF2-40B4-BE49-F238E27FC236}">
                <a16:creationId xmlns:a16="http://schemas.microsoft.com/office/drawing/2014/main" id="{4EEAFD94-4319-C38C-C503-E49591D0FBCE}"/>
              </a:ext>
            </a:extLst>
          </p:cNvPr>
          <p:cNvGraphicFramePr>
            <a:graphicFrameLocks noGrp="1"/>
          </p:cNvGraphicFramePr>
          <p:nvPr>
            <p:ph idx="1"/>
          </p:nvPr>
        </p:nvGraphicFramePr>
        <p:xfrm>
          <a:off x="1155700" y="2603500"/>
          <a:ext cx="8824911" cy="2039684"/>
        </p:xfrm>
        <a:graphic>
          <a:graphicData uri="http://schemas.openxmlformats.org/drawingml/2006/table">
            <a:tbl>
              <a:tblPr firstRow="1" bandRow="1">
                <a:tableStyleId>{5C22544A-7EE6-4342-B048-85BDC9FD1C3A}</a:tableStyleId>
              </a:tblPr>
              <a:tblGrid>
                <a:gridCol w="2941637">
                  <a:extLst>
                    <a:ext uri="{9D8B030D-6E8A-4147-A177-3AD203B41FA5}">
                      <a16:colId xmlns:a16="http://schemas.microsoft.com/office/drawing/2014/main" val="1586384249"/>
                    </a:ext>
                  </a:extLst>
                </a:gridCol>
                <a:gridCol w="2941637">
                  <a:extLst>
                    <a:ext uri="{9D8B030D-6E8A-4147-A177-3AD203B41FA5}">
                      <a16:colId xmlns:a16="http://schemas.microsoft.com/office/drawing/2014/main" val="4067977576"/>
                    </a:ext>
                  </a:extLst>
                </a:gridCol>
                <a:gridCol w="2941637">
                  <a:extLst>
                    <a:ext uri="{9D8B030D-6E8A-4147-A177-3AD203B41FA5}">
                      <a16:colId xmlns:a16="http://schemas.microsoft.com/office/drawing/2014/main" val="556321189"/>
                    </a:ext>
                  </a:extLst>
                </a:gridCol>
              </a:tblGrid>
              <a:tr h="370840">
                <a:tc>
                  <a:txBody>
                    <a:bodyPr/>
                    <a:lstStyle/>
                    <a:p>
                      <a:pPr>
                        <a:lnSpc>
                          <a:spcPts val="1575"/>
                        </a:lnSpc>
                        <a:buNone/>
                      </a:pPr>
                      <a:r>
                        <a:rPr lang="en-IN" b="1" dirty="0">
                          <a:effectLst/>
                          <a:latin typeface="Inter"/>
                        </a:rPr>
                        <a:t>Situation</a:t>
                      </a:r>
                    </a:p>
                  </a:txBody>
                  <a:tcPr marL="45720" marR="45720" marT="22860" marB="22860" anchor="ctr"/>
                </a:tc>
                <a:tc>
                  <a:txBody>
                    <a:bodyPr/>
                    <a:lstStyle/>
                    <a:p>
                      <a:pPr>
                        <a:lnSpc>
                          <a:spcPts val="1575"/>
                        </a:lnSpc>
                        <a:buNone/>
                      </a:pPr>
                      <a:r>
                        <a:rPr lang="en-IN" b="1">
                          <a:effectLst/>
                          <a:latin typeface="Inter"/>
                        </a:rPr>
                        <a:t>Synchronous Scatter</a:t>
                      </a:r>
                    </a:p>
                  </a:txBody>
                  <a:tcPr marL="45720" marR="45720" marT="22860" marB="22860" anchor="ctr"/>
                </a:tc>
                <a:tc>
                  <a:txBody>
                    <a:bodyPr/>
                    <a:lstStyle/>
                    <a:p>
                      <a:pPr>
                        <a:lnSpc>
                          <a:spcPts val="1575"/>
                        </a:lnSpc>
                        <a:buNone/>
                      </a:pPr>
                      <a:r>
                        <a:rPr lang="en-IN" b="1">
                          <a:effectLst/>
                          <a:latin typeface="Inter"/>
                        </a:rPr>
                        <a:t>Asynchronous Scatter</a:t>
                      </a:r>
                    </a:p>
                  </a:txBody>
                  <a:tcPr marL="45720" marR="45720" marT="22860" marB="22860" anchor="ctr"/>
                </a:tc>
                <a:extLst>
                  <a:ext uri="{0D108BD9-81ED-4DB2-BD59-A6C34878D82A}">
                    <a16:rowId xmlns:a16="http://schemas.microsoft.com/office/drawing/2014/main" val="2099124042"/>
                  </a:ext>
                </a:extLst>
              </a:tr>
              <a:tr h="370840">
                <a:tc>
                  <a:txBody>
                    <a:bodyPr/>
                    <a:lstStyle/>
                    <a:p>
                      <a:pPr>
                        <a:lnSpc>
                          <a:spcPts val="1575"/>
                        </a:lnSpc>
                        <a:buNone/>
                      </a:pPr>
                      <a:r>
                        <a:rPr lang="en-IN" b="1" dirty="0">
                          <a:solidFill>
                            <a:schemeClr val="tx1"/>
                          </a:solidFill>
                          <a:effectLst/>
                          <a:latin typeface="Inter"/>
                        </a:rPr>
                        <a:t>One branch fails</a:t>
                      </a:r>
                      <a:endParaRPr lang="en-IN" b="0" dirty="0">
                        <a:solidFill>
                          <a:schemeClr val="tx1"/>
                        </a:solidFill>
                        <a:effectLst/>
                        <a:latin typeface="Inter"/>
                      </a:endParaRPr>
                    </a:p>
                  </a:txBody>
                  <a:tcPr marL="45720" marR="45720" marT="22860" marB="22860" anchor="ctr"/>
                </a:tc>
                <a:tc>
                  <a:txBody>
                    <a:bodyPr/>
                    <a:lstStyle/>
                    <a:p>
                      <a:pPr>
                        <a:lnSpc>
                          <a:spcPts val="1575"/>
                        </a:lnSpc>
                        <a:buNone/>
                      </a:pPr>
                      <a:r>
                        <a:rPr lang="en-US" b="0" dirty="0">
                          <a:solidFill>
                            <a:schemeClr val="tx1"/>
                          </a:solidFill>
                          <a:effectLst/>
                          <a:latin typeface="Inter"/>
                        </a:rPr>
                        <a:t>Whole process stops (by default).</a:t>
                      </a:r>
                    </a:p>
                  </a:txBody>
                  <a:tcPr marL="45720" marR="45720" marT="22860" marB="22860" anchor="ctr"/>
                </a:tc>
                <a:tc>
                  <a:txBody>
                    <a:bodyPr/>
                    <a:lstStyle/>
                    <a:p>
                      <a:pPr>
                        <a:lnSpc>
                          <a:spcPts val="1575"/>
                        </a:lnSpc>
                        <a:buNone/>
                      </a:pPr>
                      <a:r>
                        <a:rPr lang="en-IN" b="0">
                          <a:solidFill>
                            <a:schemeClr val="tx1"/>
                          </a:solidFill>
                          <a:effectLst/>
                          <a:latin typeface="Inter"/>
                        </a:rPr>
                        <a:t>Other branches continue fine.</a:t>
                      </a:r>
                    </a:p>
                  </a:txBody>
                  <a:tcPr marL="45720" marR="45720" marT="22860" marB="22860" anchor="ctr"/>
                </a:tc>
                <a:extLst>
                  <a:ext uri="{0D108BD9-81ED-4DB2-BD59-A6C34878D82A}">
                    <a16:rowId xmlns:a16="http://schemas.microsoft.com/office/drawing/2014/main" val="2267447309"/>
                  </a:ext>
                </a:extLst>
              </a:tr>
              <a:tr h="370840">
                <a:tc>
                  <a:txBody>
                    <a:bodyPr/>
                    <a:lstStyle/>
                    <a:p>
                      <a:pPr>
                        <a:lnSpc>
                          <a:spcPts val="1575"/>
                        </a:lnSpc>
                        <a:buNone/>
                      </a:pPr>
                      <a:r>
                        <a:rPr lang="en-IN" b="1">
                          <a:solidFill>
                            <a:schemeClr val="tx1"/>
                          </a:solidFill>
                          <a:effectLst/>
                          <a:latin typeface="Inter"/>
                        </a:rPr>
                        <a:t>Next branches</a:t>
                      </a:r>
                      <a:endParaRPr lang="en-IN" b="0">
                        <a:solidFill>
                          <a:schemeClr val="tx1"/>
                        </a:solidFill>
                        <a:effectLst/>
                        <a:latin typeface="Inter"/>
                      </a:endParaRPr>
                    </a:p>
                  </a:txBody>
                  <a:tcPr marL="45720" marR="45720" marT="22860" marB="22860" anchor="ctr"/>
                </a:tc>
                <a:tc>
                  <a:txBody>
                    <a:bodyPr/>
                    <a:lstStyle/>
                    <a:p>
                      <a:pPr>
                        <a:lnSpc>
                          <a:spcPts val="1575"/>
                        </a:lnSpc>
                        <a:buNone/>
                      </a:pPr>
                      <a:r>
                        <a:rPr lang="en-IN" b="0" dirty="0">
                          <a:solidFill>
                            <a:schemeClr val="tx1"/>
                          </a:solidFill>
                          <a:effectLst/>
                          <a:latin typeface="Inter"/>
                        </a:rPr>
                        <a:t>Never receive the message.</a:t>
                      </a:r>
                    </a:p>
                  </a:txBody>
                  <a:tcPr marL="45720" marR="45720" marT="22860" marB="22860" anchor="ctr"/>
                </a:tc>
                <a:tc>
                  <a:txBody>
                    <a:bodyPr/>
                    <a:lstStyle/>
                    <a:p>
                      <a:pPr>
                        <a:lnSpc>
                          <a:spcPts val="1575"/>
                        </a:lnSpc>
                        <a:buNone/>
                      </a:pPr>
                      <a:r>
                        <a:rPr lang="en-IN" b="0" dirty="0">
                          <a:solidFill>
                            <a:schemeClr val="tx1"/>
                          </a:solidFill>
                          <a:effectLst/>
                          <a:latin typeface="Inter"/>
                        </a:rPr>
                        <a:t>Receive and process normally.</a:t>
                      </a:r>
                    </a:p>
                  </a:txBody>
                  <a:tcPr marL="45720" marR="45720" marT="22860" marB="22860" anchor="ctr"/>
                </a:tc>
                <a:extLst>
                  <a:ext uri="{0D108BD9-81ED-4DB2-BD59-A6C34878D82A}">
                    <a16:rowId xmlns:a16="http://schemas.microsoft.com/office/drawing/2014/main" val="3698625738"/>
                  </a:ext>
                </a:extLst>
              </a:tr>
              <a:tr h="370840">
                <a:tc>
                  <a:txBody>
                    <a:bodyPr/>
                    <a:lstStyle/>
                    <a:p>
                      <a:pPr>
                        <a:lnSpc>
                          <a:spcPts val="1575"/>
                        </a:lnSpc>
                        <a:buNone/>
                      </a:pPr>
                      <a:r>
                        <a:rPr lang="en-IN" b="1">
                          <a:solidFill>
                            <a:schemeClr val="tx1"/>
                          </a:solidFill>
                          <a:effectLst/>
                          <a:latin typeface="Inter"/>
                        </a:rPr>
                        <a:t>Gatherer behavior</a:t>
                      </a:r>
                      <a:endParaRPr lang="en-IN" b="0">
                        <a:solidFill>
                          <a:schemeClr val="tx1"/>
                        </a:solidFill>
                        <a:effectLst/>
                        <a:latin typeface="Inter"/>
                      </a:endParaRPr>
                    </a:p>
                  </a:txBody>
                  <a:tcPr marL="45720" marR="45720" marT="22860" marB="22860" anchor="ctr"/>
                </a:tc>
                <a:tc>
                  <a:txBody>
                    <a:bodyPr/>
                    <a:lstStyle/>
                    <a:p>
                      <a:pPr>
                        <a:lnSpc>
                          <a:spcPts val="1575"/>
                        </a:lnSpc>
                        <a:buNone/>
                      </a:pPr>
                      <a:r>
                        <a:rPr lang="en-IN" b="0">
                          <a:solidFill>
                            <a:schemeClr val="tx1"/>
                          </a:solidFill>
                          <a:effectLst/>
                          <a:latin typeface="Inter"/>
                        </a:rPr>
                        <a:t>Never reached.</a:t>
                      </a:r>
                    </a:p>
                  </a:txBody>
                  <a:tcPr marL="45720" marR="45720" marT="22860" marB="22860" anchor="ctr"/>
                </a:tc>
                <a:tc>
                  <a:txBody>
                    <a:bodyPr/>
                    <a:lstStyle/>
                    <a:p>
                      <a:pPr>
                        <a:lnSpc>
                          <a:spcPts val="1575"/>
                        </a:lnSpc>
                        <a:buNone/>
                      </a:pPr>
                      <a:r>
                        <a:rPr lang="en-IN" b="0" dirty="0">
                          <a:solidFill>
                            <a:schemeClr val="tx1"/>
                          </a:solidFill>
                          <a:effectLst/>
                          <a:latin typeface="Inter"/>
                        </a:rPr>
                        <a:t>Waits until </a:t>
                      </a:r>
                      <a:r>
                        <a:rPr lang="en-IN" b="1" dirty="0">
                          <a:solidFill>
                            <a:schemeClr val="tx1"/>
                          </a:solidFill>
                          <a:effectLst/>
                          <a:latin typeface="Inter"/>
                        </a:rPr>
                        <a:t>Timeout</a:t>
                      </a:r>
                      <a:r>
                        <a:rPr lang="en-IN" b="0" dirty="0">
                          <a:solidFill>
                            <a:schemeClr val="tx1"/>
                          </a:solidFill>
                          <a:effectLst/>
                          <a:latin typeface="Inter"/>
                        </a:rPr>
                        <a:t>.</a:t>
                      </a:r>
                    </a:p>
                  </a:txBody>
                  <a:tcPr marL="45720" marR="45720" marT="22860" marB="22860" anchor="ctr"/>
                </a:tc>
                <a:extLst>
                  <a:ext uri="{0D108BD9-81ED-4DB2-BD59-A6C34878D82A}">
                    <a16:rowId xmlns:a16="http://schemas.microsoft.com/office/drawing/2014/main" val="2741786283"/>
                  </a:ext>
                </a:extLst>
              </a:tr>
              <a:tr h="370840">
                <a:tc>
                  <a:txBody>
                    <a:bodyPr/>
                    <a:lstStyle/>
                    <a:p>
                      <a:pPr>
                        <a:lnSpc>
                          <a:spcPts val="1575"/>
                        </a:lnSpc>
                        <a:buNone/>
                      </a:pPr>
                      <a:r>
                        <a:rPr lang="en-IN" b="1">
                          <a:solidFill>
                            <a:schemeClr val="tx1"/>
                          </a:solidFill>
                          <a:effectLst/>
                          <a:latin typeface="Inter"/>
                        </a:rPr>
                        <a:t>Fix</a:t>
                      </a:r>
                      <a:endParaRPr lang="en-IN" b="0">
                        <a:solidFill>
                          <a:schemeClr val="tx1"/>
                        </a:solidFill>
                        <a:effectLst/>
                        <a:latin typeface="Inter"/>
                      </a:endParaRPr>
                    </a:p>
                  </a:txBody>
                  <a:tcPr marL="45720" marR="45720" marT="22860" marB="22860" anchor="ctr"/>
                </a:tc>
                <a:tc>
                  <a:txBody>
                    <a:bodyPr/>
                    <a:lstStyle/>
                    <a:p>
                      <a:pPr>
                        <a:lnSpc>
                          <a:spcPts val="1575"/>
                        </a:lnSpc>
                        <a:buNone/>
                      </a:pPr>
                      <a:r>
                        <a:rPr lang="en-IN" b="0">
                          <a:solidFill>
                            <a:schemeClr val="tx1"/>
                          </a:solidFill>
                          <a:effectLst/>
                          <a:latin typeface="Inter"/>
                        </a:rPr>
                        <a:t>Use </a:t>
                      </a:r>
                      <a:r>
                        <a:rPr lang="en-IN" b="0">
                          <a:solidFill>
                            <a:schemeClr val="tx1"/>
                          </a:solidFill>
                          <a:effectLst/>
                          <a:latin typeface="DM Mono" panose="020B0509040201040103" pitchFamily="49" charset="0"/>
                        </a:rPr>
                        <a:t>ignoreSendFailures(true)</a:t>
                      </a:r>
                      <a:r>
                        <a:rPr lang="en-IN" b="0">
                          <a:solidFill>
                            <a:schemeClr val="tx1"/>
                          </a:solidFill>
                          <a:effectLst/>
                          <a:latin typeface="Inter"/>
                        </a:rPr>
                        <a:t>.</a:t>
                      </a:r>
                    </a:p>
                  </a:txBody>
                  <a:tcPr marL="45720" marR="45720" marT="22860" marB="22860" anchor="ctr"/>
                </a:tc>
                <a:tc>
                  <a:txBody>
                    <a:bodyPr/>
                    <a:lstStyle/>
                    <a:p>
                      <a:pPr>
                        <a:lnSpc>
                          <a:spcPts val="1575"/>
                        </a:lnSpc>
                        <a:buNone/>
                      </a:pPr>
                      <a:r>
                        <a:rPr lang="en-US" b="0" dirty="0">
                          <a:solidFill>
                            <a:schemeClr val="tx1"/>
                          </a:solidFill>
                          <a:effectLst/>
                          <a:latin typeface="Inter"/>
                        </a:rPr>
                        <a:t>Use </a:t>
                      </a:r>
                      <a:r>
                        <a:rPr lang="en-US" b="0" dirty="0">
                          <a:solidFill>
                            <a:schemeClr val="tx1"/>
                          </a:solidFill>
                          <a:effectLst/>
                          <a:latin typeface="DM Mono" panose="020B0509040201040103" pitchFamily="49" charset="0"/>
                        </a:rPr>
                        <a:t>Advice</a:t>
                      </a:r>
                      <a:r>
                        <a:rPr lang="en-US" b="0" dirty="0">
                          <a:solidFill>
                            <a:schemeClr val="tx1"/>
                          </a:solidFill>
                          <a:effectLst/>
                          <a:latin typeface="Inter"/>
                        </a:rPr>
                        <a:t> to return a "Failure Payload."</a:t>
                      </a:r>
                    </a:p>
                  </a:txBody>
                  <a:tcPr marL="45720" marR="45720" marT="22860" marB="22860" anchor="ctr"/>
                </a:tc>
                <a:extLst>
                  <a:ext uri="{0D108BD9-81ED-4DB2-BD59-A6C34878D82A}">
                    <a16:rowId xmlns:a16="http://schemas.microsoft.com/office/drawing/2014/main" val="2839087606"/>
                  </a:ext>
                </a:extLst>
              </a:tr>
            </a:tbl>
          </a:graphicData>
        </a:graphic>
      </p:graphicFrame>
    </p:spTree>
    <p:extLst>
      <p:ext uri="{BB962C8B-B14F-4D97-AF65-F5344CB8AC3E}">
        <p14:creationId xmlns:p14="http://schemas.microsoft.com/office/powerpoint/2010/main" val="3482811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EF0F8-EC7B-BD96-2611-6E6A5A7FA9EB}"/>
              </a:ext>
            </a:extLst>
          </p:cNvPr>
          <p:cNvSpPr>
            <a:spLocks noGrp="1"/>
          </p:cNvSpPr>
          <p:nvPr>
            <p:ph type="title"/>
          </p:nvPr>
        </p:nvSpPr>
        <p:spPr/>
        <p:txBody>
          <a:bodyPr/>
          <a:lstStyle/>
          <a:p>
            <a:r>
              <a:rPr lang="en-US" b="1" dirty="0"/>
              <a:t>Gather" Timeout (The most important setting)</a:t>
            </a:r>
            <a:endParaRPr lang="en-IN" dirty="0"/>
          </a:p>
        </p:txBody>
      </p:sp>
      <p:sp>
        <p:nvSpPr>
          <p:cNvPr id="3" name="Content Placeholder 2">
            <a:extLst>
              <a:ext uri="{FF2B5EF4-FFF2-40B4-BE49-F238E27FC236}">
                <a16:creationId xmlns:a16="http://schemas.microsoft.com/office/drawing/2014/main" id="{E21ACB27-DCA9-1FCE-DF00-B1FC8F1EC9ED}"/>
              </a:ext>
            </a:extLst>
          </p:cNvPr>
          <p:cNvSpPr>
            <a:spLocks noGrp="1"/>
          </p:cNvSpPr>
          <p:nvPr>
            <p:ph idx="1"/>
          </p:nvPr>
        </p:nvSpPr>
        <p:spPr>
          <a:xfrm>
            <a:off x="1154954" y="2603500"/>
            <a:ext cx="10774234" cy="3960586"/>
          </a:xfrm>
        </p:spPr>
        <p:txBody>
          <a:bodyPr>
            <a:normAutofit lnSpcReduction="10000"/>
          </a:bodyPr>
          <a:lstStyle/>
          <a:p>
            <a:r>
              <a:rPr lang="en-US" dirty="0"/>
              <a:t>In Scatter-Gather, almost always need to define what happens if a recipient never replies.</a:t>
            </a:r>
          </a:p>
          <a:p>
            <a:pPr marL="0" indent="0">
              <a:buNone/>
            </a:pPr>
            <a:r>
              <a:rPr lang="en-IN" dirty="0"/>
              <a:t>.</a:t>
            </a:r>
            <a:r>
              <a:rPr lang="en-IN" dirty="0" err="1"/>
              <a:t>scatterGather</a:t>
            </a:r>
            <a:r>
              <a:rPr lang="en-IN" dirty="0"/>
              <a:t>(</a:t>
            </a:r>
          </a:p>
          <a:p>
            <a:pPr marL="0" indent="0">
              <a:buNone/>
            </a:pPr>
            <a:r>
              <a:rPr lang="en-IN" dirty="0"/>
              <a:t>    scatter -&gt; </a:t>
            </a:r>
            <a:r>
              <a:rPr lang="en-IN" dirty="0" err="1"/>
              <a:t>scatter.recipient</a:t>
            </a:r>
            <a:r>
              <a:rPr lang="en-IN" dirty="0"/>
              <a:t>("</a:t>
            </a:r>
            <a:r>
              <a:rPr lang="en-IN" dirty="0" err="1"/>
              <a:t>bankA</a:t>
            </a:r>
            <a:r>
              <a:rPr lang="en-IN" dirty="0"/>
              <a:t>").recipient("</a:t>
            </a:r>
            <a:r>
              <a:rPr lang="en-IN" dirty="0" err="1"/>
              <a:t>bankB</a:t>
            </a:r>
            <a:r>
              <a:rPr lang="en-IN" dirty="0"/>
              <a:t>"),</a:t>
            </a:r>
          </a:p>
          <a:p>
            <a:pPr marL="0" indent="0">
              <a:buNone/>
            </a:pPr>
            <a:r>
              <a:rPr lang="en-IN" dirty="0"/>
              <a:t>    gather -&gt; gather</a:t>
            </a:r>
          </a:p>
          <a:p>
            <a:pPr marL="0" indent="0">
              <a:buNone/>
            </a:pPr>
            <a:r>
              <a:rPr lang="en-IN" dirty="0"/>
              <a:t>       </a:t>
            </a:r>
            <a:r>
              <a:rPr lang="en-IN" b="1" dirty="0"/>
              <a:t> .</a:t>
            </a:r>
            <a:r>
              <a:rPr lang="en-IN" b="1" dirty="0" err="1"/>
              <a:t>gatherTimeout</a:t>
            </a:r>
            <a:r>
              <a:rPr lang="en-IN" b="1" dirty="0"/>
              <a:t>(2000) // Wait 2 seconds</a:t>
            </a:r>
          </a:p>
          <a:p>
            <a:pPr marL="0" indent="0">
              <a:buNone/>
            </a:pPr>
            <a:r>
              <a:rPr lang="en-IN" b="1" dirty="0"/>
              <a:t>        .</a:t>
            </a:r>
            <a:r>
              <a:rPr lang="en-IN" b="1" dirty="0" err="1"/>
              <a:t>sendPartialResultOnExpiry</a:t>
            </a:r>
            <a:r>
              <a:rPr lang="en-IN" b="1" dirty="0"/>
              <a:t>(true) // &lt;--- CRITICAL</a:t>
            </a:r>
          </a:p>
          <a:p>
            <a:pPr marL="0" indent="0">
              <a:buNone/>
            </a:pPr>
            <a:r>
              <a:rPr lang="en-IN" dirty="0"/>
              <a:t>)</a:t>
            </a:r>
          </a:p>
          <a:p>
            <a:r>
              <a:rPr lang="en-US" b="1" dirty="0" err="1"/>
              <a:t>gatherTimeout</a:t>
            </a:r>
            <a:r>
              <a:rPr lang="en-US" b="1" dirty="0"/>
              <a:t>(</a:t>
            </a:r>
            <a:r>
              <a:rPr lang="en-US" b="1" dirty="0" err="1"/>
              <a:t>ms</a:t>
            </a:r>
            <a:r>
              <a:rPr lang="en-US" b="1" dirty="0"/>
              <a:t>)</a:t>
            </a:r>
            <a:r>
              <a:rPr lang="en-US" dirty="0"/>
              <a:t>: If all banks don't reply within 2 seconds, the gatherer stops waiting.</a:t>
            </a:r>
          </a:p>
          <a:p>
            <a:r>
              <a:rPr lang="en-US" b="1" dirty="0" err="1"/>
              <a:t>sendPartialResultOnExpiry</a:t>
            </a:r>
            <a:r>
              <a:rPr lang="en-US" b="1" dirty="0"/>
              <a:t>(true)</a:t>
            </a:r>
            <a:r>
              <a:rPr lang="en-US" dirty="0"/>
              <a:t>: If Bank A replied but Bank B timed out, setting this to true means the flow continues with just Bank A's data. If false (default), the whole message is dropped or sent to a discard channel.</a:t>
            </a:r>
          </a:p>
          <a:p>
            <a:endParaRPr lang="en-IN" dirty="0"/>
          </a:p>
        </p:txBody>
      </p:sp>
    </p:spTree>
    <p:extLst>
      <p:ext uri="{BB962C8B-B14F-4D97-AF65-F5344CB8AC3E}">
        <p14:creationId xmlns:p14="http://schemas.microsoft.com/office/powerpoint/2010/main" val="18316812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04522-78BB-2841-2F62-69D5ADB38B6B}"/>
              </a:ext>
            </a:extLst>
          </p:cNvPr>
          <p:cNvSpPr>
            <a:spLocks noGrp="1"/>
          </p:cNvSpPr>
          <p:nvPr>
            <p:ph type="title"/>
          </p:nvPr>
        </p:nvSpPr>
        <p:spPr/>
        <p:txBody>
          <a:bodyPr/>
          <a:lstStyle/>
          <a:p>
            <a:r>
              <a:rPr lang="en-US" b="1" dirty="0" err="1"/>
              <a:t>discardChannel</a:t>
            </a:r>
            <a:endParaRPr lang="en-IN" dirty="0"/>
          </a:p>
        </p:txBody>
      </p:sp>
      <p:sp>
        <p:nvSpPr>
          <p:cNvPr id="3" name="Content Placeholder 2">
            <a:extLst>
              <a:ext uri="{FF2B5EF4-FFF2-40B4-BE49-F238E27FC236}">
                <a16:creationId xmlns:a16="http://schemas.microsoft.com/office/drawing/2014/main" id="{BC276635-B664-A599-B463-6D463C817B11}"/>
              </a:ext>
            </a:extLst>
          </p:cNvPr>
          <p:cNvSpPr>
            <a:spLocks noGrp="1"/>
          </p:cNvSpPr>
          <p:nvPr>
            <p:ph idx="1"/>
          </p:nvPr>
        </p:nvSpPr>
        <p:spPr>
          <a:xfrm>
            <a:off x="1154954" y="2603499"/>
            <a:ext cx="9976466" cy="3895271"/>
          </a:xfrm>
        </p:spPr>
        <p:txBody>
          <a:bodyPr/>
          <a:lstStyle/>
          <a:p>
            <a:r>
              <a:rPr lang="en-US" dirty="0"/>
              <a:t>What happens to a message that arrives </a:t>
            </a:r>
            <a:r>
              <a:rPr lang="en-US" b="1" dirty="0"/>
              <a:t>after</a:t>
            </a:r>
            <a:r>
              <a:rPr lang="en-US" dirty="0"/>
              <a:t> the timeout?</a:t>
            </a:r>
          </a:p>
          <a:p>
            <a:br>
              <a:rPr lang="en-US" dirty="0"/>
            </a:br>
            <a:r>
              <a:rPr lang="en-US" dirty="0"/>
              <a:t>If Bank B finally replies after 3 seconds (but we gave up at 2), the message is sent to the </a:t>
            </a:r>
            <a:r>
              <a:rPr lang="en-US" dirty="0" err="1"/>
              <a:t>discardChannel</a:t>
            </a:r>
            <a:r>
              <a:rPr lang="en-US" dirty="0"/>
              <a:t>. </a:t>
            </a:r>
          </a:p>
          <a:p>
            <a:r>
              <a:rPr lang="en-US" dirty="0"/>
              <a:t>Should monitor this channel to see which services are performing slowly.</a:t>
            </a:r>
          </a:p>
          <a:p>
            <a:endParaRPr lang="en-IN" dirty="0"/>
          </a:p>
        </p:txBody>
      </p:sp>
    </p:spTree>
    <p:extLst>
      <p:ext uri="{BB962C8B-B14F-4D97-AF65-F5344CB8AC3E}">
        <p14:creationId xmlns:p14="http://schemas.microsoft.com/office/powerpoint/2010/main" val="270462383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454BF-E9F2-3EA9-581C-98D67C2A9B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FE049-B4EE-4558-9B01-FAE814D9A310}"/>
              </a:ext>
            </a:extLst>
          </p:cNvPr>
          <p:cNvSpPr>
            <a:spLocks noGrp="1"/>
          </p:cNvSpPr>
          <p:nvPr>
            <p:ph type="title"/>
          </p:nvPr>
        </p:nvSpPr>
        <p:spPr/>
        <p:txBody>
          <a:bodyPr/>
          <a:lstStyle/>
          <a:p>
            <a:r>
              <a:rPr lang="en-US" b="1" dirty="0"/>
              <a:t>Payload Type Router</a:t>
            </a:r>
            <a:endParaRPr lang="en-IN" dirty="0"/>
          </a:p>
        </p:txBody>
      </p:sp>
      <p:sp>
        <p:nvSpPr>
          <p:cNvPr id="3" name="Content Placeholder 2">
            <a:extLst>
              <a:ext uri="{FF2B5EF4-FFF2-40B4-BE49-F238E27FC236}">
                <a16:creationId xmlns:a16="http://schemas.microsoft.com/office/drawing/2014/main" id="{11F7AC39-1B4C-90D3-F6ED-88C739DAB4DB}"/>
              </a:ext>
            </a:extLst>
          </p:cNvPr>
          <p:cNvSpPr>
            <a:spLocks noGrp="1"/>
          </p:cNvSpPr>
          <p:nvPr>
            <p:ph idx="1"/>
          </p:nvPr>
        </p:nvSpPr>
        <p:spPr>
          <a:xfrm>
            <a:off x="1154954" y="2603499"/>
            <a:ext cx="9976466" cy="3895271"/>
          </a:xfrm>
        </p:spPr>
        <p:txBody>
          <a:bodyPr>
            <a:normAutofit fontScale="85000" lnSpcReduction="20000"/>
          </a:bodyPr>
          <a:lstStyle/>
          <a:p>
            <a:r>
              <a:rPr lang="en-US" dirty="0"/>
              <a:t>This router looks at the </a:t>
            </a:r>
            <a:r>
              <a:rPr lang="en-US" b="1" dirty="0"/>
              <a:t>Class</a:t>
            </a:r>
            <a:r>
              <a:rPr lang="en-US" dirty="0"/>
              <a:t> of the object. </a:t>
            </a:r>
          </a:p>
          <a:p>
            <a:r>
              <a:rPr lang="en-US" dirty="0"/>
              <a:t>Perfect when you have one "Entry Point" but different logic for different objects.</a:t>
            </a:r>
          </a:p>
          <a:p>
            <a:r>
              <a:rPr lang="en-US" b="1" dirty="0"/>
              <a:t>Use Case:</a:t>
            </a:r>
            <a:r>
              <a:rPr lang="en-US" dirty="0"/>
              <a:t> An intake system that handles </a:t>
            </a:r>
            <a:r>
              <a:rPr lang="en-US" dirty="0" err="1"/>
              <a:t>SmsMessage</a:t>
            </a:r>
            <a:r>
              <a:rPr lang="en-US" dirty="0"/>
              <a:t> and </a:t>
            </a:r>
            <a:r>
              <a:rPr lang="en-US" dirty="0" err="1"/>
              <a:t>EmailMessage</a:t>
            </a:r>
            <a:r>
              <a:rPr lang="en-US" dirty="0"/>
              <a:t> objects.</a:t>
            </a:r>
          </a:p>
          <a:p>
            <a:pPr marL="0" indent="0">
              <a:buNone/>
            </a:pPr>
            <a:r>
              <a:rPr lang="en-US" dirty="0"/>
              <a:t>@Bean</a:t>
            </a:r>
          </a:p>
          <a:p>
            <a:pPr marL="0" indent="0">
              <a:buNone/>
            </a:pPr>
            <a:r>
              <a:rPr lang="en-US" dirty="0"/>
              <a:t>public </a:t>
            </a:r>
            <a:r>
              <a:rPr lang="en-US" dirty="0" err="1"/>
              <a:t>IntegrationFlow</a:t>
            </a:r>
            <a:r>
              <a:rPr lang="en-US" dirty="0"/>
              <a:t> </a:t>
            </a:r>
            <a:r>
              <a:rPr lang="en-US" dirty="0" err="1"/>
              <a:t>typeRouterFlow</a:t>
            </a:r>
            <a:r>
              <a:rPr lang="en-US" dirty="0"/>
              <a:t>() {</a:t>
            </a:r>
          </a:p>
          <a:p>
            <a:pPr marL="0" indent="0">
              <a:buNone/>
            </a:pPr>
            <a:r>
              <a:rPr lang="en-US" dirty="0"/>
              <a:t>    return </a:t>
            </a:r>
            <a:r>
              <a:rPr lang="en-US" dirty="0" err="1"/>
              <a:t>IntegrationFlow.from</a:t>
            </a:r>
            <a:r>
              <a:rPr lang="en-US" dirty="0"/>
              <a:t>("</a:t>
            </a:r>
            <a:r>
              <a:rPr lang="en-US" dirty="0" err="1"/>
              <a:t>inputChannel</a:t>
            </a:r>
            <a:r>
              <a:rPr lang="en-US" dirty="0"/>
              <a:t>")</a:t>
            </a:r>
          </a:p>
          <a:p>
            <a:pPr marL="0" indent="0">
              <a:buNone/>
            </a:pPr>
            <a:r>
              <a:rPr lang="en-US" dirty="0"/>
              <a:t>            .route(r -&gt; </a:t>
            </a:r>
            <a:r>
              <a:rPr lang="en-US" dirty="0" err="1"/>
              <a:t>r.payloadTypeRoute</a:t>
            </a:r>
            <a:r>
              <a:rPr lang="en-US" dirty="0"/>
              <a:t>()</a:t>
            </a:r>
          </a:p>
          <a:p>
            <a:pPr marL="0" indent="0">
              <a:buNone/>
            </a:pPr>
            <a:r>
              <a:rPr lang="en-US" dirty="0"/>
              <a:t>                .add(</a:t>
            </a:r>
            <a:r>
              <a:rPr lang="en-US" dirty="0" err="1"/>
              <a:t>SmsMessage.class</a:t>
            </a:r>
            <a:r>
              <a:rPr lang="en-US" dirty="0"/>
              <a:t>, "</a:t>
            </a:r>
            <a:r>
              <a:rPr lang="en-US" dirty="0" err="1"/>
              <a:t>smsProcessingChannel</a:t>
            </a:r>
            <a:r>
              <a:rPr lang="en-US" dirty="0"/>
              <a:t>")</a:t>
            </a:r>
          </a:p>
          <a:p>
            <a:pPr marL="0" indent="0">
              <a:buNone/>
            </a:pPr>
            <a:r>
              <a:rPr lang="en-US" dirty="0"/>
              <a:t>                .add(</a:t>
            </a:r>
            <a:r>
              <a:rPr lang="en-US" dirty="0" err="1"/>
              <a:t>EmailMessage.class</a:t>
            </a:r>
            <a:r>
              <a:rPr lang="en-US" dirty="0"/>
              <a:t>, "</a:t>
            </a:r>
            <a:r>
              <a:rPr lang="en-US" dirty="0" err="1"/>
              <a:t>emailProcessingChannel</a:t>
            </a:r>
            <a:r>
              <a:rPr lang="en-US" dirty="0"/>
              <a:t>")</a:t>
            </a:r>
          </a:p>
          <a:p>
            <a:pPr marL="0" indent="0">
              <a:buNone/>
            </a:pPr>
            <a:r>
              <a:rPr lang="en-US" dirty="0"/>
              <a:t>            )</a:t>
            </a:r>
          </a:p>
          <a:p>
            <a:pPr marL="0" indent="0">
              <a:buNone/>
            </a:pPr>
            <a:r>
              <a:rPr lang="en-US" dirty="0"/>
              <a:t>            .get();</a:t>
            </a:r>
          </a:p>
          <a:p>
            <a:pPr marL="0" indent="0">
              <a:buNone/>
            </a:pPr>
            <a:r>
              <a:rPr lang="en-US" dirty="0"/>
              <a:t>}</a:t>
            </a:r>
          </a:p>
          <a:p>
            <a:endParaRPr lang="en-IN" dirty="0"/>
          </a:p>
        </p:txBody>
      </p:sp>
    </p:spTree>
    <p:extLst>
      <p:ext uri="{BB962C8B-B14F-4D97-AF65-F5344CB8AC3E}">
        <p14:creationId xmlns:p14="http://schemas.microsoft.com/office/powerpoint/2010/main" val="17213515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F098C-30AB-814B-1805-45F0FBF661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4F7C1D-14BE-8A65-8C77-65702B671B79}"/>
              </a:ext>
            </a:extLst>
          </p:cNvPr>
          <p:cNvSpPr>
            <a:spLocks noGrp="1"/>
          </p:cNvSpPr>
          <p:nvPr>
            <p:ph type="title"/>
          </p:nvPr>
        </p:nvSpPr>
        <p:spPr/>
        <p:txBody>
          <a:bodyPr/>
          <a:lstStyle/>
          <a:p>
            <a:r>
              <a:rPr lang="en-US" b="1" dirty="0"/>
              <a:t>Header Value Router</a:t>
            </a:r>
            <a:endParaRPr lang="en-IN" dirty="0"/>
          </a:p>
        </p:txBody>
      </p:sp>
      <p:sp>
        <p:nvSpPr>
          <p:cNvPr id="3" name="Content Placeholder 2">
            <a:extLst>
              <a:ext uri="{FF2B5EF4-FFF2-40B4-BE49-F238E27FC236}">
                <a16:creationId xmlns:a16="http://schemas.microsoft.com/office/drawing/2014/main" id="{D7979A13-583C-C947-525B-F778FA6EDB01}"/>
              </a:ext>
            </a:extLst>
          </p:cNvPr>
          <p:cNvSpPr>
            <a:spLocks noGrp="1"/>
          </p:cNvSpPr>
          <p:nvPr>
            <p:ph idx="1"/>
          </p:nvPr>
        </p:nvSpPr>
        <p:spPr>
          <a:xfrm>
            <a:off x="1154954" y="2603499"/>
            <a:ext cx="9976466" cy="3895271"/>
          </a:xfrm>
        </p:spPr>
        <p:txBody>
          <a:bodyPr>
            <a:normAutofit fontScale="77500" lnSpcReduction="20000"/>
          </a:bodyPr>
          <a:lstStyle/>
          <a:p>
            <a:r>
              <a:rPr lang="en-US" dirty="0"/>
              <a:t>Most common router in production.</a:t>
            </a:r>
          </a:p>
          <a:p>
            <a:r>
              <a:rPr lang="en-US" dirty="0"/>
              <a:t>Routes based on a "Post-it note" (Header) attached to the message.</a:t>
            </a:r>
          </a:p>
          <a:p>
            <a:r>
              <a:rPr lang="en-US" b="1" dirty="0"/>
              <a:t>Use Case:</a:t>
            </a:r>
            <a:r>
              <a:rPr lang="en-US" dirty="0"/>
              <a:t> Routing by "Region." If header region is US, go to the US Server. If EU, go to the EU Server.</a:t>
            </a:r>
          </a:p>
          <a:p>
            <a:pPr marL="0" indent="0">
              <a:buNone/>
            </a:pPr>
            <a:r>
              <a:rPr lang="en-US" dirty="0"/>
              <a:t>@Bean</a:t>
            </a:r>
          </a:p>
          <a:p>
            <a:pPr marL="0" indent="0">
              <a:buNone/>
            </a:pPr>
            <a:r>
              <a:rPr lang="en-US" dirty="0"/>
              <a:t>public </a:t>
            </a:r>
            <a:r>
              <a:rPr lang="en-US" dirty="0" err="1"/>
              <a:t>IntegrationFlow</a:t>
            </a:r>
            <a:r>
              <a:rPr lang="en-US" dirty="0"/>
              <a:t> </a:t>
            </a:r>
            <a:r>
              <a:rPr lang="en-US" dirty="0" err="1"/>
              <a:t>headerRouterFlow</a:t>
            </a:r>
            <a:r>
              <a:rPr lang="en-US" dirty="0"/>
              <a:t>() {</a:t>
            </a:r>
          </a:p>
          <a:p>
            <a:pPr marL="0" indent="0">
              <a:buNone/>
            </a:pPr>
            <a:r>
              <a:rPr lang="en-US" dirty="0"/>
              <a:t>    return </a:t>
            </a:r>
            <a:r>
              <a:rPr lang="en-US" dirty="0" err="1"/>
              <a:t>IntegrationFlow.from</a:t>
            </a:r>
            <a:r>
              <a:rPr lang="en-US" dirty="0"/>
              <a:t>("</a:t>
            </a:r>
            <a:r>
              <a:rPr lang="en-US" dirty="0" err="1"/>
              <a:t>ordersInput</a:t>
            </a:r>
            <a:r>
              <a:rPr lang="en-US" dirty="0"/>
              <a:t>")</a:t>
            </a:r>
          </a:p>
          <a:p>
            <a:pPr marL="0" indent="0">
              <a:buNone/>
            </a:pPr>
            <a:r>
              <a:rPr lang="en-US" dirty="0"/>
              <a:t>            .route(</a:t>
            </a:r>
            <a:r>
              <a:rPr lang="en-US" dirty="0" err="1"/>
              <a:t>Message.class</a:t>
            </a:r>
            <a:r>
              <a:rPr lang="en-US" dirty="0"/>
              <a:t>, m -&gt; </a:t>
            </a:r>
            <a:r>
              <a:rPr lang="en-US" dirty="0" err="1"/>
              <a:t>m.getHeaders</a:t>
            </a:r>
            <a:r>
              <a:rPr lang="en-US" dirty="0"/>
              <a:t>().get("region", </a:t>
            </a:r>
            <a:r>
              <a:rPr lang="en-US" dirty="0" err="1"/>
              <a:t>String.class</a:t>
            </a:r>
            <a:r>
              <a:rPr lang="en-US" dirty="0"/>
              <a:t>),</a:t>
            </a:r>
          </a:p>
          <a:p>
            <a:pPr marL="0" indent="0">
              <a:buNone/>
            </a:pPr>
            <a:r>
              <a:rPr lang="en-US" dirty="0"/>
              <a:t>                mapping -&gt; mapping</a:t>
            </a:r>
          </a:p>
          <a:p>
            <a:pPr marL="0" indent="0">
              <a:buNone/>
            </a:pPr>
            <a:r>
              <a:rPr lang="en-US" dirty="0"/>
              <a:t>                    .</a:t>
            </a:r>
            <a:r>
              <a:rPr lang="en-US" dirty="0" err="1"/>
              <a:t>subFlowMapping</a:t>
            </a:r>
            <a:r>
              <a:rPr lang="en-US" dirty="0"/>
              <a:t>("US", sf -&gt; </a:t>
            </a:r>
            <a:r>
              <a:rPr lang="en-US" dirty="0" err="1"/>
              <a:t>sf.handle</a:t>
            </a:r>
            <a:r>
              <a:rPr lang="en-US" dirty="0"/>
              <a:t>(</a:t>
            </a:r>
            <a:r>
              <a:rPr lang="en-US" dirty="0" err="1"/>
              <a:t>usService</a:t>
            </a:r>
            <a:r>
              <a:rPr lang="en-US" dirty="0"/>
              <a:t>))</a:t>
            </a:r>
          </a:p>
          <a:p>
            <a:pPr marL="0" indent="0">
              <a:buNone/>
            </a:pPr>
            <a:r>
              <a:rPr lang="en-US" dirty="0"/>
              <a:t>                    .</a:t>
            </a:r>
            <a:r>
              <a:rPr lang="en-US" dirty="0" err="1"/>
              <a:t>subFlowMapping</a:t>
            </a:r>
            <a:r>
              <a:rPr lang="en-US" dirty="0"/>
              <a:t>("EU", sf -&gt; </a:t>
            </a:r>
            <a:r>
              <a:rPr lang="en-US" dirty="0" err="1"/>
              <a:t>sf.handle</a:t>
            </a:r>
            <a:r>
              <a:rPr lang="en-US" dirty="0"/>
              <a:t>(</a:t>
            </a:r>
            <a:r>
              <a:rPr lang="en-US" dirty="0" err="1"/>
              <a:t>euService</a:t>
            </a:r>
            <a:r>
              <a:rPr lang="en-US" dirty="0"/>
              <a:t>))</a:t>
            </a:r>
          </a:p>
          <a:p>
            <a:pPr marL="0" indent="0">
              <a:buNone/>
            </a:pPr>
            <a:r>
              <a:rPr lang="en-US" dirty="0"/>
              <a:t>            )</a:t>
            </a:r>
          </a:p>
          <a:p>
            <a:pPr marL="0" indent="0">
              <a:buNone/>
            </a:pPr>
            <a:r>
              <a:rPr lang="en-US" dirty="0"/>
              <a:t>            .get();</a:t>
            </a:r>
          </a:p>
          <a:p>
            <a:pPr marL="0" indent="0">
              <a:buNone/>
            </a:pPr>
            <a:r>
              <a:rPr lang="en-US" dirty="0"/>
              <a:t>}</a:t>
            </a:r>
          </a:p>
          <a:p>
            <a:endParaRPr lang="en-IN" dirty="0"/>
          </a:p>
        </p:txBody>
      </p:sp>
    </p:spTree>
    <p:extLst>
      <p:ext uri="{BB962C8B-B14F-4D97-AF65-F5344CB8AC3E}">
        <p14:creationId xmlns:p14="http://schemas.microsoft.com/office/powerpoint/2010/main" val="5652108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CA26-7A34-0FB4-C9CF-88BBD0B12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DC46E-B0B9-C2A8-8941-D40ADB58493D}"/>
              </a:ext>
            </a:extLst>
          </p:cNvPr>
          <p:cNvSpPr>
            <a:spLocks noGrp="1"/>
          </p:cNvSpPr>
          <p:nvPr>
            <p:ph type="title"/>
          </p:nvPr>
        </p:nvSpPr>
        <p:spPr/>
        <p:txBody>
          <a:bodyPr/>
          <a:lstStyle/>
          <a:p>
            <a:r>
              <a:rPr lang="en-US" b="1" dirty="0"/>
              <a:t>Exception Type Router (The Error Specialist)</a:t>
            </a:r>
            <a:endParaRPr lang="en-IN" dirty="0"/>
          </a:p>
        </p:txBody>
      </p:sp>
      <p:sp>
        <p:nvSpPr>
          <p:cNvPr id="3" name="Content Placeholder 2">
            <a:extLst>
              <a:ext uri="{FF2B5EF4-FFF2-40B4-BE49-F238E27FC236}">
                <a16:creationId xmlns:a16="http://schemas.microsoft.com/office/drawing/2014/main" id="{79347A79-7E6A-EC5C-B2DB-130ABB8C0EDD}"/>
              </a:ext>
            </a:extLst>
          </p:cNvPr>
          <p:cNvSpPr>
            <a:spLocks noGrp="1"/>
          </p:cNvSpPr>
          <p:nvPr>
            <p:ph idx="1"/>
          </p:nvPr>
        </p:nvSpPr>
        <p:spPr>
          <a:xfrm>
            <a:off x="1154954" y="2603499"/>
            <a:ext cx="9976466" cy="3895271"/>
          </a:xfrm>
        </p:spPr>
        <p:txBody>
          <a:bodyPr>
            <a:normAutofit fontScale="62500" lnSpcReduction="20000"/>
          </a:bodyPr>
          <a:lstStyle/>
          <a:p>
            <a:r>
              <a:rPr lang="en-US" dirty="0"/>
              <a:t>Special router used inside an </a:t>
            </a:r>
            <a:r>
              <a:rPr lang="en-US" b="1" dirty="0"/>
              <a:t>Error Flow</a:t>
            </a:r>
            <a:r>
              <a:rPr lang="en-US" dirty="0"/>
              <a:t>. </a:t>
            </a:r>
          </a:p>
          <a:p>
            <a:r>
              <a:rPr lang="en-US" dirty="0"/>
              <a:t>Looks at the type of Exception that occurred and routes the message to a specific recovery flow.</a:t>
            </a:r>
          </a:p>
          <a:p>
            <a:r>
              <a:rPr lang="en-US" b="1" dirty="0"/>
              <a:t>Use Case:</a:t>
            </a:r>
            <a:endParaRPr lang="en-US" dirty="0"/>
          </a:p>
          <a:p>
            <a:r>
              <a:rPr lang="en-US" dirty="0"/>
              <a:t>If DatabaseException -&gt; Route to </a:t>
            </a:r>
            <a:r>
              <a:rPr lang="en-US" b="1" dirty="0"/>
              <a:t>Retry</a:t>
            </a:r>
            <a:r>
              <a:rPr lang="en-US" dirty="0"/>
              <a:t>.</a:t>
            </a:r>
          </a:p>
          <a:p>
            <a:r>
              <a:rPr lang="en-US" dirty="0"/>
              <a:t>If </a:t>
            </a:r>
            <a:r>
              <a:rPr lang="en-US" dirty="0" err="1"/>
              <a:t>ValidationException</a:t>
            </a:r>
            <a:r>
              <a:rPr lang="en-US" dirty="0"/>
              <a:t> -&gt; Route to </a:t>
            </a:r>
            <a:r>
              <a:rPr lang="en-US" b="1" dirty="0"/>
              <a:t>Dead Letter Queue</a:t>
            </a:r>
            <a:r>
              <a:rPr lang="en-US" dirty="0"/>
              <a:t> (don't retry).</a:t>
            </a:r>
          </a:p>
          <a:p>
            <a:pPr marL="0" indent="0">
              <a:buNone/>
            </a:pPr>
            <a:r>
              <a:rPr lang="en-US" dirty="0"/>
              <a:t>@Bean</a:t>
            </a:r>
          </a:p>
          <a:p>
            <a:pPr marL="0" indent="0">
              <a:buNone/>
            </a:pPr>
            <a:r>
              <a:rPr lang="en-US" dirty="0"/>
              <a:t>public </a:t>
            </a:r>
            <a:r>
              <a:rPr lang="en-US" dirty="0" err="1"/>
              <a:t>IntegrationFlow</a:t>
            </a:r>
            <a:r>
              <a:rPr lang="en-US" dirty="0"/>
              <a:t> </a:t>
            </a:r>
            <a:r>
              <a:rPr lang="en-US" dirty="0" err="1"/>
              <a:t>errorRoutingFlow</a:t>
            </a:r>
            <a:r>
              <a:rPr lang="en-US" dirty="0"/>
              <a:t>() {</a:t>
            </a:r>
          </a:p>
          <a:p>
            <a:pPr marL="0" indent="0">
              <a:buNone/>
            </a:pPr>
            <a:r>
              <a:rPr lang="en-US" dirty="0"/>
              <a:t>    return </a:t>
            </a:r>
            <a:r>
              <a:rPr lang="en-US" dirty="0" err="1"/>
              <a:t>IntegrationFlow.from</a:t>
            </a:r>
            <a:r>
              <a:rPr lang="en-US" dirty="0"/>
              <a:t>("</a:t>
            </a:r>
            <a:r>
              <a:rPr lang="en-US" dirty="0" err="1"/>
              <a:t>errorChannel</a:t>
            </a:r>
            <a:r>
              <a:rPr lang="en-US" dirty="0"/>
              <a:t>")</a:t>
            </a:r>
          </a:p>
          <a:p>
            <a:pPr marL="0" indent="0">
              <a:buNone/>
            </a:pPr>
            <a:r>
              <a:rPr lang="en-US" dirty="0"/>
              <a:t>            .route(</a:t>
            </a:r>
            <a:r>
              <a:rPr lang="en-US" dirty="0" err="1"/>
              <a:t>ErrorMessage.class</a:t>
            </a:r>
            <a:r>
              <a:rPr lang="en-US" dirty="0"/>
              <a:t>, m -&gt; </a:t>
            </a:r>
            <a:r>
              <a:rPr lang="en-US" dirty="0" err="1"/>
              <a:t>m.getPayload</a:t>
            </a:r>
            <a:r>
              <a:rPr lang="en-US" dirty="0"/>
              <a:t>().</a:t>
            </a:r>
            <a:r>
              <a:rPr lang="en-US" dirty="0" err="1"/>
              <a:t>getCause</a:t>
            </a:r>
            <a:r>
              <a:rPr lang="en-US" dirty="0"/>
              <a:t>().</a:t>
            </a:r>
            <a:r>
              <a:rPr lang="en-US" dirty="0" err="1"/>
              <a:t>getClass</a:t>
            </a:r>
            <a:r>
              <a:rPr lang="en-US" dirty="0"/>
              <a:t>(),</a:t>
            </a:r>
          </a:p>
          <a:p>
            <a:pPr marL="0" indent="0">
              <a:buNone/>
            </a:pPr>
            <a:r>
              <a:rPr lang="en-US" dirty="0"/>
              <a:t>                mapping -&gt; mapping</a:t>
            </a:r>
          </a:p>
          <a:p>
            <a:pPr marL="0" indent="0">
              <a:buNone/>
            </a:pPr>
            <a:r>
              <a:rPr lang="en-US" dirty="0"/>
              <a:t>                    .</a:t>
            </a:r>
            <a:r>
              <a:rPr lang="en-US" dirty="0" err="1"/>
              <a:t>subFlowMapping</a:t>
            </a:r>
            <a:r>
              <a:rPr lang="en-US" dirty="0"/>
              <a:t>(</a:t>
            </a:r>
            <a:r>
              <a:rPr lang="en-US" dirty="0" err="1"/>
              <a:t>NullPointerException.class</a:t>
            </a:r>
            <a:r>
              <a:rPr lang="en-US" dirty="0"/>
              <a:t>, sf -&gt; </a:t>
            </a:r>
            <a:r>
              <a:rPr lang="en-US" dirty="0" err="1"/>
              <a:t>sf.handle</a:t>
            </a:r>
            <a:r>
              <a:rPr lang="en-US" dirty="0"/>
              <a:t>(</a:t>
            </a:r>
            <a:r>
              <a:rPr lang="en-US" dirty="0" err="1"/>
              <a:t>logNpe</a:t>
            </a:r>
            <a:r>
              <a:rPr lang="en-US" dirty="0"/>
              <a:t>))</a:t>
            </a:r>
          </a:p>
          <a:p>
            <a:pPr marL="0" indent="0">
              <a:buNone/>
            </a:pPr>
            <a:r>
              <a:rPr lang="en-US" dirty="0"/>
              <a:t>                    .</a:t>
            </a:r>
            <a:r>
              <a:rPr lang="en-US" dirty="0" err="1"/>
              <a:t>subFlowMapping</a:t>
            </a:r>
            <a:r>
              <a:rPr lang="en-US" dirty="0"/>
              <a:t>(</a:t>
            </a:r>
            <a:r>
              <a:rPr lang="en-US" dirty="0" err="1"/>
              <a:t>SQLException.class</a:t>
            </a:r>
            <a:r>
              <a:rPr lang="en-US" dirty="0"/>
              <a:t>, sf -&gt; </a:t>
            </a:r>
            <a:r>
              <a:rPr lang="en-US" dirty="0" err="1"/>
              <a:t>sf.channel</a:t>
            </a:r>
            <a:r>
              <a:rPr lang="en-US" dirty="0"/>
              <a:t>("</a:t>
            </a:r>
            <a:r>
              <a:rPr lang="en-US" dirty="0" err="1"/>
              <a:t>retryChannel</a:t>
            </a:r>
            <a:r>
              <a:rPr lang="en-US" dirty="0"/>
              <a:t>"))</a:t>
            </a:r>
          </a:p>
          <a:p>
            <a:pPr marL="0" indent="0">
              <a:buNone/>
            </a:pPr>
            <a:r>
              <a:rPr lang="en-US" dirty="0"/>
              <a:t>            )</a:t>
            </a:r>
          </a:p>
          <a:p>
            <a:pPr marL="0" indent="0">
              <a:buNone/>
            </a:pPr>
            <a:r>
              <a:rPr lang="en-US" dirty="0"/>
              <a:t>            .get();</a:t>
            </a:r>
          </a:p>
          <a:p>
            <a:pPr marL="0" indent="0">
              <a:buNone/>
            </a:pPr>
            <a:r>
              <a:rPr lang="en-US" dirty="0"/>
              <a:t>}</a:t>
            </a:r>
          </a:p>
          <a:p>
            <a:endParaRPr lang="en-IN" dirty="0"/>
          </a:p>
        </p:txBody>
      </p:sp>
    </p:spTree>
    <p:extLst>
      <p:ext uri="{BB962C8B-B14F-4D97-AF65-F5344CB8AC3E}">
        <p14:creationId xmlns:p14="http://schemas.microsoft.com/office/powerpoint/2010/main" val="30368356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E938F-C7DF-C0AE-BD21-0BC673A2CB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62C65-B920-8FAC-2FEC-4F7427D67CE1}"/>
              </a:ext>
            </a:extLst>
          </p:cNvPr>
          <p:cNvSpPr>
            <a:spLocks noGrp="1"/>
          </p:cNvSpPr>
          <p:nvPr>
            <p:ph type="title"/>
          </p:nvPr>
        </p:nvSpPr>
        <p:spPr/>
        <p:txBody>
          <a:bodyPr/>
          <a:lstStyle/>
          <a:p>
            <a:r>
              <a:rPr lang="en-US" b="1" dirty="0"/>
              <a:t>Routing Slip (The "Itinerary" Pattern)</a:t>
            </a:r>
            <a:endParaRPr lang="en-IN" dirty="0"/>
          </a:p>
        </p:txBody>
      </p:sp>
      <p:sp>
        <p:nvSpPr>
          <p:cNvPr id="3" name="Content Placeholder 2">
            <a:extLst>
              <a:ext uri="{FF2B5EF4-FFF2-40B4-BE49-F238E27FC236}">
                <a16:creationId xmlns:a16="http://schemas.microsoft.com/office/drawing/2014/main" id="{21DF7389-1843-8E79-D30C-251088253C13}"/>
              </a:ext>
            </a:extLst>
          </p:cNvPr>
          <p:cNvSpPr>
            <a:spLocks noGrp="1"/>
          </p:cNvSpPr>
          <p:nvPr>
            <p:ph idx="1"/>
          </p:nvPr>
        </p:nvSpPr>
        <p:spPr>
          <a:xfrm>
            <a:off x="1154954" y="2603499"/>
            <a:ext cx="9976466" cy="3895271"/>
          </a:xfrm>
        </p:spPr>
        <p:txBody>
          <a:bodyPr>
            <a:normAutofit fontScale="70000" lnSpcReduction="20000"/>
          </a:bodyPr>
          <a:lstStyle/>
          <a:p>
            <a:r>
              <a:rPr lang="en-US" dirty="0"/>
              <a:t>Advanced "Dynamic" router. Instead of the code knowing the path, the </a:t>
            </a:r>
            <a:r>
              <a:rPr lang="en-US" b="1" dirty="0"/>
              <a:t>Message</a:t>
            </a:r>
            <a:r>
              <a:rPr lang="en-US" dirty="0"/>
              <a:t> carries its own "To-Do list" in its headers.</a:t>
            </a:r>
          </a:p>
          <a:p>
            <a:r>
              <a:rPr lang="en-US" b="1" dirty="0"/>
              <a:t>Analogy:</a:t>
            </a:r>
            <a:r>
              <a:rPr lang="en-US" dirty="0"/>
              <a:t> A "Job Traveler" document that follows a part through a factory.</a:t>
            </a:r>
          </a:p>
          <a:p>
            <a:r>
              <a:rPr lang="en-US" dirty="0"/>
              <a:t>Step 1: Painting.</a:t>
            </a:r>
          </a:p>
          <a:p>
            <a:r>
              <a:rPr lang="en-US" dirty="0"/>
              <a:t>Step 2: Quality Control.</a:t>
            </a:r>
          </a:p>
          <a:p>
            <a:r>
              <a:rPr lang="en-US" dirty="0"/>
              <a:t>Step 3: Shipping.</a:t>
            </a:r>
          </a:p>
          <a:p>
            <a:pPr marL="0" indent="0">
              <a:buNone/>
            </a:pPr>
            <a:r>
              <a:rPr lang="en-US" dirty="0"/>
              <a:t>@Bean</a:t>
            </a:r>
          </a:p>
          <a:p>
            <a:pPr marL="0" indent="0">
              <a:buNone/>
            </a:pPr>
            <a:r>
              <a:rPr lang="en-US" dirty="0"/>
              <a:t>public </a:t>
            </a:r>
            <a:r>
              <a:rPr lang="en-US" dirty="0" err="1"/>
              <a:t>IntegrationFlow</a:t>
            </a:r>
            <a:r>
              <a:rPr lang="en-US" dirty="0"/>
              <a:t> </a:t>
            </a:r>
            <a:r>
              <a:rPr lang="en-US" dirty="0" err="1"/>
              <a:t>routingSlipFlow</a:t>
            </a:r>
            <a:r>
              <a:rPr lang="en-US" dirty="0"/>
              <a:t>() {</a:t>
            </a:r>
          </a:p>
          <a:p>
            <a:pPr marL="0" indent="0">
              <a:buNone/>
            </a:pPr>
            <a:r>
              <a:rPr lang="en-US" dirty="0"/>
              <a:t>    return </a:t>
            </a:r>
            <a:r>
              <a:rPr lang="en-US" dirty="0" err="1"/>
              <a:t>IntegrationFlow.from</a:t>
            </a:r>
            <a:r>
              <a:rPr lang="en-US" dirty="0"/>
              <a:t>("input")</a:t>
            </a:r>
          </a:p>
          <a:p>
            <a:pPr marL="0" indent="0">
              <a:buNone/>
            </a:pPr>
            <a:r>
              <a:rPr lang="en-US" dirty="0"/>
              <a:t>            .</a:t>
            </a:r>
            <a:r>
              <a:rPr lang="en-US" dirty="0" err="1"/>
              <a:t>enrichHeaders</a:t>
            </a:r>
            <a:r>
              <a:rPr lang="en-US" dirty="0"/>
              <a:t>(h -&gt; </a:t>
            </a:r>
            <a:r>
              <a:rPr lang="en-US" dirty="0" err="1"/>
              <a:t>h.routingSlip</a:t>
            </a:r>
            <a:r>
              <a:rPr lang="en-US" dirty="0"/>
              <a:t>(new String[] {"</a:t>
            </a:r>
            <a:r>
              <a:rPr lang="en-US" dirty="0" err="1"/>
              <a:t>paintChannel</a:t>
            </a:r>
            <a:r>
              <a:rPr lang="en-US" dirty="0"/>
              <a:t>", "</a:t>
            </a:r>
            <a:r>
              <a:rPr lang="en-US" dirty="0" err="1"/>
              <a:t>qcChannel</a:t>
            </a:r>
            <a:r>
              <a:rPr lang="en-US" dirty="0"/>
              <a:t>", "</a:t>
            </a:r>
            <a:r>
              <a:rPr lang="en-US" dirty="0" err="1"/>
              <a:t>shipChannel</a:t>
            </a:r>
            <a:r>
              <a:rPr lang="en-US" dirty="0"/>
              <a:t>"}))</a:t>
            </a:r>
          </a:p>
          <a:p>
            <a:pPr marL="0" indent="0">
              <a:buNone/>
            </a:pPr>
            <a:r>
              <a:rPr lang="en-US" dirty="0"/>
              <a:t>            .channel("</a:t>
            </a:r>
            <a:r>
              <a:rPr lang="en-US" dirty="0" err="1"/>
              <a:t>paintChannel</a:t>
            </a:r>
            <a:r>
              <a:rPr lang="en-US" dirty="0"/>
              <a:t>") // Start the slip</a:t>
            </a:r>
          </a:p>
          <a:p>
            <a:pPr marL="0" indent="0">
              <a:buNone/>
            </a:pPr>
            <a:r>
              <a:rPr lang="en-US" dirty="0"/>
              <a:t>            .get();</a:t>
            </a:r>
          </a:p>
          <a:p>
            <a:pPr marL="0" indent="0">
              <a:buNone/>
            </a:pPr>
            <a:r>
              <a:rPr lang="en-US" dirty="0"/>
              <a:t>}</a:t>
            </a:r>
          </a:p>
          <a:p>
            <a:pPr marL="0" indent="0">
              <a:buNone/>
            </a:pPr>
            <a:r>
              <a:rPr lang="en-US" sz="2000" b="1" i="1" dirty="0"/>
              <a:t>framework automatically moves the message to the next channel in the slip after each service finishes!</a:t>
            </a:r>
            <a:endParaRPr lang="en-US" sz="2000" b="1" dirty="0"/>
          </a:p>
          <a:p>
            <a:endParaRPr lang="en-IN" dirty="0"/>
          </a:p>
        </p:txBody>
      </p:sp>
    </p:spTree>
    <p:extLst>
      <p:ext uri="{BB962C8B-B14F-4D97-AF65-F5344CB8AC3E}">
        <p14:creationId xmlns:p14="http://schemas.microsoft.com/office/powerpoint/2010/main" val="261424770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FE901-3B41-6563-01CF-0B0CEC886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66B02-72E6-7519-FF85-26871EA3B9CA}"/>
              </a:ext>
            </a:extLst>
          </p:cNvPr>
          <p:cNvSpPr>
            <a:spLocks noGrp="1"/>
          </p:cNvSpPr>
          <p:nvPr>
            <p:ph type="title"/>
          </p:nvPr>
        </p:nvSpPr>
        <p:spPr/>
        <p:txBody>
          <a:bodyPr/>
          <a:lstStyle/>
          <a:p>
            <a:r>
              <a:rPr lang="en-IN" b="1" dirty="0"/>
              <a:t>Which Router to Pick?</a:t>
            </a:r>
            <a:endParaRPr lang="en-IN" dirty="0"/>
          </a:p>
        </p:txBody>
      </p:sp>
      <p:graphicFrame>
        <p:nvGraphicFramePr>
          <p:cNvPr id="4" name="Content Placeholder 3">
            <a:extLst>
              <a:ext uri="{FF2B5EF4-FFF2-40B4-BE49-F238E27FC236}">
                <a16:creationId xmlns:a16="http://schemas.microsoft.com/office/drawing/2014/main" id="{861B6D8D-E40E-6995-4478-945BC6F6A2C7}"/>
              </a:ext>
            </a:extLst>
          </p:cNvPr>
          <p:cNvGraphicFramePr>
            <a:graphicFrameLocks noGrp="1"/>
          </p:cNvGraphicFramePr>
          <p:nvPr>
            <p:ph idx="1"/>
            <p:extLst>
              <p:ext uri="{D42A27DB-BD31-4B8C-83A1-F6EECF244321}">
                <p14:modId xmlns:p14="http://schemas.microsoft.com/office/powerpoint/2010/main" val="2449721624"/>
              </p:ext>
            </p:extLst>
          </p:nvPr>
        </p:nvGraphicFramePr>
        <p:xfrm>
          <a:off x="1155700" y="2603500"/>
          <a:ext cx="8824912" cy="2595880"/>
        </p:xfrm>
        <a:graphic>
          <a:graphicData uri="http://schemas.openxmlformats.org/drawingml/2006/table">
            <a:tbl>
              <a:tblPr firstRow="1" bandRow="1">
                <a:tableStyleId>{5C22544A-7EE6-4342-B048-85BDC9FD1C3A}</a:tableStyleId>
              </a:tblPr>
              <a:tblGrid>
                <a:gridCol w="4412456">
                  <a:extLst>
                    <a:ext uri="{9D8B030D-6E8A-4147-A177-3AD203B41FA5}">
                      <a16:colId xmlns:a16="http://schemas.microsoft.com/office/drawing/2014/main" val="1777702831"/>
                    </a:ext>
                  </a:extLst>
                </a:gridCol>
                <a:gridCol w="4412456">
                  <a:extLst>
                    <a:ext uri="{9D8B030D-6E8A-4147-A177-3AD203B41FA5}">
                      <a16:colId xmlns:a16="http://schemas.microsoft.com/office/drawing/2014/main" val="3855379414"/>
                    </a:ext>
                  </a:extLst>
                </a:gridCol>
              </a:tblGrid>
              <a:tr h="370840">
                <a:tc>
                  <a:txBody>
                    <a:bodyPr/>
                    <a:lstStyle/>
                    <a:p>
                      <a:pPr>
                        <a:lnSpc>
                          <a:spcPts val="1575"/>
                        </a:lnSpc>
                        <a:buNone/>
                      </a:pPr>
                      <a:r>
                        <a:rPr lang="en-IN" b="1" dirty="0">
                          <a:effectLst/>
                          <a:latin typeface="Inter"/>
                        </a:rPr>
                        <a:t>If you want to...</a:t>
                      </a:r>
                    </a:p>
                  </a:txBody>
                  <a:tcPr marL="45720" marR="45720" marT="22860" marB="22860" anchor="ctr"/>
                </a:tc>
                <a:tc>
                  <a:txBody>
                    <a:bodyPr/>
                    <a:lstStyle/>
                    <a:p>
                      <a:pPr>
                        <a:lnSpc>
                          <a:spcPts val="1575"/>
                        </a:lnSpc>
                        <a:buNone/>
                      </a:pPr>
                      <a:r>
                        <a:rPr lang="en-IN" b="1">
                          <a:effectLst/>
                          <a:latin typeface="Inter"/>
                        </a:rPr>
                        <a:t>Use this Router:</a:t>
                      </a:r>
                    </a:p>
                  </a:txBody>
                  <a:tcPr marL="45720" marR="45720" marT="22860" marB="22860" anchor="ctr"/>
                </a:tc>
                <a:extLst>
                  <a:ext uri="{0D108BD9-81ED-4DB2-BD59-A6C34878D82A}">
                    <a16:rowId xmlns:a16="http://schemas.microsoft.com/office/drawing/2014/main" val="741087598"/>
                  </a:ext>
                </a:extLst>
              </a:tr>
              <a:tr h="370840">
                <a:tc>
                  <a:txBody>
                    <a:bodyPr/>
                    <a:lstStyle/>
                    <a:p>
                      <a:pPr>
                        <a:lnSpc>
                          <a:spcPts val="1575"/>
                        </a:lnSpc>
                        <a:buNone/>
                      </a:pPr>
                      <a:r>
                        <a:rPr lang="en-IN" b="0">
                          <a:effectLst/>
                          <a:latin typeface="Inter"/>
                        </a:rPr>
                        <a:t>Send to </a:t>
                      </a:r>
                      <a:r>
                        <a:rPr lang="en-IN" b="1">
                          <a:effectLst/>
                          <a:latin typeface="Inter"/>
                        </a:rPr>
                        <a:t>everyone</a:t>
                      </a:r>
                      <a:endParaRPr lang="en-IN" b="0">
                        <a:effectLst/>
                        <a:latin typeface="Inter"/>
                      </a:endParaRPr>
                    </a:p>
                  </a:txBody>
                  <a:tcPr marL="45720" marR="45720" marT="22860" marB="22860" anchor="ctr"/>
                </a:tc>
                <a:tc>
                  <a:txBody>
                    <a:bodyPr/>
                    <a:lstStyle/>
                    <a:p>
                      <a:pPr>
                        <a:lnSpc>
                          <a:spcPts val="1575"/>
                        </a:lnSpc>
                        <a:buNone/>
                      </a:pPr>
                      <a:r>
                        <a:rPr lang="en-IN" b="1">
                          <a:effectLst/>
                          <a:latin typeface="Inter"/>
                        </a:rPr>
                        <a:t>Publish-Subscribe</a:t>
                      </a:r>
                      <a:endParaRPr lang="en-IN" b="0">
                        <a:effectLst/>
                        <a:latin typeface="Inter"/>
                      </a:endParaRPr>
                    </a:p>
                  </a:txBody>
                  <a:tcPr marL="45720" marR="45720" marT="22860" marB="22860" anchor="ctr"/>
                </a:tc>
                <a:extLst>
                  <a:ext uri="{0D108BD9-81ED-4DB2-BD59-A6C34878D82A}">
                    <a16:rowId xmlns:a16="http://schemas.microsoft.com/office/drawing/2014/main" val="3378329884"/>
                  </a:ext>
                </a:extLst>
              </a:tr>
              <a:tr h="370840">
                <a:tc>
                  <a:txBody>
                    <a:bodyPr/>
                    <a:lstStyle/>
                    <a:p>
                      <a:pPr>
                        <a:lnSpc>
                          <a:spcPts val="1575"/>
                        </a:lnSpc>
                        <a:buNone/>
                      </a:pPr>
                      <a:r>
                        <a:rPr lang="en-US" b="0">
                          <a:effectLst/>
                          <a:latin typeface="Inter"/>
                        </a:rPr>
                        <a:t>Send to </a:t>
                      </a:r>
                      <a:r>
                        <a:rPr lang="en-US" b="1">
                          <a:effectLst/>
                          <a:latin typeface="Inter"/>
                        </a:rPr>
                        <a:t>multiple specific</a:t>
                      </a:r>
                      <a:r>
                        <a:rPr lang="en-US" b="0">
                          <a:effectLst/>
                          <a:latin typeface="Inter"/>
                        </a:rPr>
                        <a:t> targets</a:t>
                      </a:r>
                    </a:p>
                  </a:txBody>
                  <a:tcPr marL="45720" marR="45720" marT="22860" marB="22860" anchor="ctr"/>
                </a:tc>
                <a:tc>
                  <a:txBody>
                    <a:bodyPr/>
                    <a:lstStyle/>
                    <a:p>
                      <a:pPr>
                        <a:lnSpc>
                          <a:spcPts val="1575"/>
                        </a:lnSpc>
                        <a:buNone/>
                      </a:pPr>
                      <a:r>
                        <a:rPr lang="en-IN" b="1">
                          <a:effectLst/>
                          <a:latin typeface="Inter"/>
                        </a:rPr>
                        <a:t>Recipient List</a:t>
                      </a:r>
                      <a:endParaRPr lang="en-IN" b="0">
                        <a:effectLst/>
                        <a:latin typeface="Inter"/>
                      </a:endParaRPr>
                    </a:p>
                  </a:txBody>
                  <a:tcPr marL="45720" marR="45720" marT="22860" marB="22860" anchor="ctr"/>
                </a:tc>
                <a:extLst>
                  <a:ext uri="{0D108BD9-81ED-4DB2-BD59-A6C34878D82A}">
                    <a16:rowId xmlns:a16="http://schemas.microsoft.com/office/drawing/2014/main" val="1447060057"/>
                  </a:ext>
                </a:extLst>
              </a:tr>
              <a:tr h="370840">
                <a:tc>
                  <a:txBody>
                    <a:bodyPr/>
                    <a:lstStyle/>
                    <a:p>
                      <a:pPr>
                        <a:lnSpc>
                          <a:spcPts val="1575"/>
                        </a:lnSpc>
                        <a:buNone/>
                      </a:pPr>
                      <a:r>
                        <a:rPr lang="en-US" b="0">
                          <a:effectLst/>
                          <a:latin typeface="Inter"/>
                        </a:rPr>
                        <a:t>Send to </a:t>
                      </a:r>
                      <a:r>
                        <a:rPr lang="en-US" b="1">
                          <a:effectLst/>
                          <a:latin typeface="Inter"/>
                        </a:rPr>
                        <a:t>one</a:t>
                      </a:r>
                      <a:r>
                        <a:rPr lang="en-US" b="0">
                          <a:effectLst/>
                          <a:latin typeface="Inter"/>
                        </a:rPr>
                        <a:t> target based on </a:t>
                      </a:r>
                      <a:r>
                        <a:rPr lang="en-US" b="1">
                          <a:effectLst/>
                          <a:latin typeface="Inter"/>
                        </a:rPr>
                        <a:t>logic</a:t>
                      </a:r>
                      <a:endParaRPr lang="en-US" b="0">
                        <a:effectLst/>
                        <a:latin typeface="Inter"/>
                      </a:endParaRPr>
                    </a:p>
                  </a:txBody>
                  <a:tcPr marL="45720" marR="45720" marT="22860" marB="22860" anchor="ctr"/>
                </a:tc>
                <a:tc>
                  <a:txBody>
                    <a:bodyPr/>
                    <a:lstStyle/>
                    <a:p>
                      <a:pPr>
                        <a:lnSpc>
                          <a:spcPts val="1575"/>
                        </a:lnSpc>
                        <a:buNone/>
                      </a:pPr>
                      <a:r>
                        <a:rPr lang="en-IN" b="1">
                          <a:effectLst/>
                          <a:latin typeface="Inter"/>
                        </a:rPr>
                        <a:t>Content-Based Router</a:t>
                      </a:r>
                      <a:endParaRPr lang="en-IN" b="0">
                        <a:effectLst/>
                        <a:latin typeface="Inter"/>
                      </a:endParaRPr>
                    </a:p>
                  </a:txBody>
                  <a:tcPr marL="45720" marR="45720" marT="22860" marB="22860" anchor="ctr"/>
                </a:tc>
                <a:extLst>
                  <a:ext uri="{0D108BD9-81ED-4DB2-BD59-A6C34878D82A}">
                    <a16:rowId xmlns:a16="http://schemas.microsoft.com/office/drawing/2014/main" val="2426340079"/>
                  </a:ext>
                </a:extLst>
              </a:tr>
              <a:tr h="370840">
                <a:tc>
                  <a:txBody>
                    <a:bodyPr/>
                    <a:lstStyle/>
                    <a:p>
                      <a:pPr>
                        <a:lnSpc>
                          <a:spcPts val="1575"/>
                        </a:lnSpc>
                        <a:buNone/>
                      </a:pPr>
                      <a:r>
                        <a:rPr lang="en-US" b="0">
                          <a:effectLst/>
                          <a:latin typeface="Inter"/>
                        </a:rPr>
                        <a:t>Send to </a:t>
                      </a:r>
                      <a:r>
                        <a:rPr lang="en-US" b="1">
                          <a:effectLst/>
                          <a:latin typeface="Inter"/>
                        </a:rPr>
                        <a:t>one</a:t>
                      </a:r>
                      <a:r>
                        <a:rPr lang="en-US" b="0">
                          <a:effectLst/>
                          <a:latin typeface="Inter"/>
                        </a:rPr>
                        <a:t> target based on </a:t>
                      </a:r>
                      <a:r>
                        <a:rPr lang="en-US" b="1">
                          <a:effectLst/>
                          <a:latin typeface="Inter"/>
                        </a:rPr>
                        <a:t>class</a:t>
                      </a:r>
                      <a:endParaRPr lang="en-US" b="0">
                        <a:effectLst/>
                        <a:latin typeface="Inter"/>
                      </a:endParaRPr>
                    </a:p>
                  </a:txBody>
                  <a:tcPr marL="45720" marR="45720" marT="22860" marB="22860" anchor="ctr"/>
                </a:tc>
                <a:tc>
                  <a:txBody>
                    <a:bodyPr/>
                    <a:lstStyle/>
                    <a:p>
                      <a:pPr>
                        <a:lnSpc>
                          <a:spcPts val="1575"/>
                        </a:lnSpc>
                        <a:buNone/>
                      </a:pPr>
                      <a:r>
                        <a:rPr lang="en-IN" b="1">
                          <a:effectLst/>
                          <a:latin typeface="Inter"/>
                        </a:rPr>
                        <a:t>Payload Type Router</a:t>
                      </a:r>
                      <a:endParaRPr lang="en-IN" b="0">
                        <a:effectLst/>
                        <a:latin typeface="Inter"/>
                      </a:endParaRPr>
                    </a:p>
                  </a:txBody>
                  <a:tcPr marL="45720" marR="45720" marT="22860" marB="22860" anchor="ctr"/>
                </a:tc>
                <a:extLst>
                  <a:ext uri="{0D108BD9-81ED-4DB2-BD59-A6C34878D82A}">
                    <a16:rowId xmlns:a16="http://schemas.microsoft.com/office/drawing/2014/main" val="308051350"/>
                  </a:ext>
                </a:extLst>
              </a:tr>
              <a:tr h="370840">
                <a:tc>
                  <a:txBody>
                    <a:bodyPr/>
                    <a:lstStyle/>
                    <a:p>
                      <a:pPr>
                        <a:lnSpc>
                          <a:spcPts val="1575"/>
                        </a:lnSpc>
                        <a:buNone/>
                      </a:pPr>
                      <a:r>
                        <a:rPr lang="en-US" b="0">
                          <a:effectLst/>
                          <a:latin typeface="Inter"/>
                        </a:rPr>
                        <a:t>Get </a:t>
                      </a:r>
                      <a:r>
                        <a:rPr lang="en-US" b="1">
                          <a:effectLst/>
                          <a:latin typeface="Inter"/>
                        </a:rPr>
                        <a:t>results back</a:t>
                      </a:r>
                      <a:r>
                        <a:rPr lang="en-US" b="0">
                          <a:effectLst/>
                          <a:latin typeface="Inter"/>
                        </a:rPr>
                        <a:t> from many targets</a:t>
                      </a:r>
                    </a:p>
                  </a:txBody>
                  <a:tcPr marL="45720" marR="45720" marT="22860" marB="22860" anchor="ctr"/>
                </a:tc>
                <a:tc>
                  <a:txBody>
                    <a:bodyPr/>
                    <a:lstStyle/>
                    <a:p>
                      <a:pPr>
                        <a:lnSpc>
                          <a:spcPts val="1575"/>
                        </a:lnSpc>
                        <a:buNone/>
                      </a:pPr>
                      <a:r>
                        <a:rPr lang="en-IN" b="1">
                          <a:effectLst/>
                          <a:latin typeface="Inter"/>
                        </a:rPr>
                        <a:t>Scatter-Gather</a:t>
                      </a:r>
                      <a:endParaRPr lang="en-IN" b="0">
                        <a:effectLst/>
                        <a:latin typeface="Inter"/>
                      </a:endParaRPr>
                    </a:p>
                  </a:txBody>
                  <a:tcPr marL="45720" marR="45720" marT="22860" marB="22860" anchor="ctr"/>
                </a:tc>
                <a:extLst>
                  <a:ext uri="{0D108BD9-81ED-4DB2-BD59-A6C34878D82A}">
                    <a16:rowId xmlns:a16="http://schemas.microsoft.com/office/drawing/2014/main" val="1080938963"/>
                  </a:ext>
                </a:extLst>
              </a:tr>
              <a:tr h="370840">
                <a:tc>
                  <a:txBody>
                    <a:bodyPr/>
                    <a:lstStyle/>
                    <a:p>
                      <a:pPr>
                        <a:lnSpc>
                          <a:spcPts val="1575"/>
                        </a:lnSpc>
                        <a:buNone/>
                      </a:pPr>
                      <a:r>
                        <a:rPr lang="en-US" b="0">
                          <a:effectLst/>
                          <a:latin typeface="Inter"/>
                        </a:rPr>
                        <a:t>Follow a </a:t>
                      </a:r>
                      <a:r>
                        <a:rPr lang="en-US" b="1">
                          <a:effectLst/>
                          <a:latin typeface="Inter"/>
                        </a:rPr>
                        <a:t>dynamic list</a:t>
                      </a:r>
                      <a:r>
                        <a:rPr lang="en-US" b="0">
                          <a:effectLst/>
                          <a:latin typeface="Inter"/>
                        </a:rPr>
                        <a:t> of steps</a:t>
                      </a:r>
                    </a:p>
                  </a:txBody>
                  <a:tcPr marL="45720" marR="45720" marT="22860" marB="22860" anchor="ctr"/>
                </a:tc>
                <a:tc>
                  <a:txBody>
                    <a:bodyPr/>
                    <a:lstStyle/>
                    <a:p>
                      <a:pPr>
                        <a:lnSpc>
                          <a:spcPts val="1575"/>
                        </a:lnSpc>
                        <a:buNone/>
                      </a:pPr>
                      <a:r>
                        <a:rPr lang="en-IN" b="1" dirty="0">
                          <a:effectLst/>
                          <a:latin typeface="Inter"/>
                        </a:rPr>
                        <a:t>Routing Slip</a:t>
                      </a:r>
                      <a:endParaRPr lang="en-IN" b="0" dirty="0">
                        <a:effectLst/>
                        <a:latin typeface="Inter"/>
                      </a:endParaRPr>
                    </a:p>
                  </a:txBody>
                  <a:tcPr marL="45720" marR="45720" marT="22860" marB="22860" anchor="ctr"/>
                </a:tc>
                <a:extLst>
                  <a:ext uri="{0D108BD9-81ED-4DB2-BD59-A6C34878D82A}">
                    <a16:rowId xmlns:a16="http://schemas.microsoft.com/office/drawing/2014/main" val="1998836126"/>
                  </a:ext>
                </a:extLst>
              </a:tr>
            </a:tbl>
          </a:graphicData>
        </a:graphic>
      </p:graphicFrame>
    </p:spTree>
    <p:extLst>
      <p:ext uri="{BB962C8B-B14F-4D97-AF65-F5344CB8AC3E}">
        <p14:creationId xmlns:p14="http://schemas.microsoft.com/office/powerpoint/2010/main" val="1245989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63A50-DA38-BD9A-7723-DD45B521E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C538C-B3F9-B53A-0F05-EBCA5D7432FD}"/>
              </a:ext>
            </a:extLst>
          </p:cNvPr>
          <p:cNvSpPr>
            <a:spLocks noGrp="1"/>
          </p:cNvSpPr>
          <p:nvPr>
            <p:ph type="title"/>
          </p:nvPr>
        </p:nvSpPr>
        <p:spPr/>
        <p:txBody>
          <a:bodyPr/>
          <a:lstStyle/>
          <a:p>
            <a:r>
              <a:rPr lang="en-IN" b="1" dirty="0"/>
              <a:t>Message Routing</a:t>
            </a:r>
            <a:endParaRPr lang="en-IN" dirty="0"/>
          </a:p>
        </p:txBody>
      </p:sp>
      <p:sp>
        <p:nvSpPr>
          <p:cNvPr id="3" name="Content Placeholder 2">
            <a:extLst>
              <a:ext uri="{FF2B5EF4-FFF2-40B4-BE49-F238E27FC236}">
                <a16:creationId xmlns:a16="http://schemas.microsoft.com/office/drawing/2014/main" id="{0B787C2C-21FC-4D0B-E8AF-8A7113FF4449}"/>
              </a:ext>
            </a:extLst>
          </p:cNvPr>
          <p:cNvSpPr>
            <a:spLocks noGrp="1"/>
          </p:cNvSpPr>
          <p:nvPr>
            <p:ph idx="1"/>
          </p:nvPr>
        </p:nvSpPr>
        <p:spPr>
          <a:xfrm>
            <a:off x="1154954" y="2603499"/>
            <a:ext cx="10690258" cy="3871945"/>
          </a:xfrm>
        </p:spPr>
        <p:txBody>
          <a:bodyPr/>
          <a:lstStyle/>
          <a:p>
            <a:r>
              <a:rPr lang="en-US" b="1" dirty="0"/>
              <a:t>Publish-Subscribe:</a:t>
            </a:r>
            <a:r>
              <a:rPr lang="en-US" dirty="0"/>
              <a:t> Simple broadcast to everyone "tuning in."</a:t>
            </a:r>
          </a:p>
          <a:p>
            <a:r>
              <a:rPr lang="en-US" b="1" dirty="0"/>
              <a:t>Recipient List Router:</a:t>
            </a:r>
            <a:r>
              <a:rPr lang="en-US" dirty="0"/>
              <a:t> Smart, conditional broadcast to specific "named" targets.</a:t>
            </a:r>
          </a:p>
          <a:p>
            <a:r>
              <a:rPr lang="en-US" b="1" dirty="0"/>
              <a:t>Direct Channel:</a:t>
            </a:r>
            <a:r>
              <a:rPr lang="en-US" dirty="0"/>
              <a:t> The synchronous, point-to-point foundation.</a:t>
            </a:r>
          </a:p>
          <a:p>
            <a:r>
              <a:rPr lang="en-US" b="1" dirty="0"/>
              <a:t>Scatter-Gather:</a:t>
            </a:r>
            <a:r>
              <a:rPr lang="en-US" dirty="0"/>
              <a:t> The loop (Broadcasting out + Aggregating back).</a:t>
            </a:r>
          </a:p>
          <a:p>
            <a:endParaRPr lang="en-IN" dirty="0"/>
          </a:p>
        </p:txBody>
      </p:sp>
    </p:spTree>
    <p:extLst>
      <p:ext uri="{BB962C8B-B14F-4D97-AF65-F5344CB8AC3E}">
        <p14:creationId xmlns:p14="http://schemas.microsoft.com/office/powerpoint/2010/main" val="26869891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4EFB-E184-29C7-DB23-248F8590D3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456EF-C486-5ADA-8E54-A210EE585FCF}"/>
              </a:ext>
            </a:extLst>
          </p:cNvPr>
          <p:cNvSpPr>
            <a:spLocks noGrp="1"/>
          </p:cNvSpPr>
          <p:nvPr>
            <p:ph type="title"/>
          </p:nvPr>
        </p:nvSpPr>
        <p:spPr/>
        <p:txBody>
          <a:bodyPr/>
          <a:lstStyle/>
          <a:p>
            <a:r>
              <a:rPr lang="en-US" b="1" dirty="0"/>
              <a:t>Question 1:</a:t>
            </a:r>
            <a:endParaRPr lang="en-IN" dirty="0"/>
          </a:p>
        </p:txBody>
      </p:sp>
      <p:sp>
        <p:nvSpPr>
          <p:cNvPr id="3" name="Content Placeholder 2">
            <a:extLst>
              <a:ext uri="{FF2B5EF4-FFF2-40B4-BE49-F238E27FC236}">
                <a16:creationId xmlns:a16="http://schemas.microsoft.com/office/drawing/2014/main" id="{D97A2070-7D0C-4331-C609-2546ABC60DCD}"/>
              </a:ext>
            </a:extLst>
          </p:cNvPr>
          <p:cNvSpPr>
            <a:spLocks noGrp="1"/>
          </p:cNvSpPr>
          <p:nvPr>
            <p:ph idx="1"/>
          </p:nvPr>
        </p:nvSpPr>
        <p:spPr>
          <a:xfrm>
            <a:off x="1154954" y="2603499"/>
            <a:ext cx="9976466" cy="3895271"/>
          </a:xfrm>
        </p:spPr>
        <p:txBody>
          <a:bodyPr/>
          <a:lstStyle/>
          <a:p>
            <a:r>
              <a:rPr lang="en-US" dirty="0"/>
              <a:t>You have a channel with </a:t>
            </a:r>
            <a:r>
              <a:rPr lang="en-US" b="1" dirty="0"/>
              <a:t>three</a:t>
            </a:r>
            <a:r>
              <a:rPr lang="en-US" dirty="0"/>
              <a:t> different subscribers.</a:t>
            </a:r>
          </a:p>
          <a:p>
            <a:r>
              <a:rPr lang="en-US" dirty="0"/>
              <a:t>If the channel is a </a:t>
            </a:r>
            <a:r>
              <a:rPr lang="en-US" b="1" dirty="0" err="1"/>
              <a:t>DirectChannel</a:t>
            </a:r>
            <a:r>
              <a:rPr lang="en-US" dirty="0"/>
              <a:t>, how many subscribers will receive a single message sent to that channel?</a:t>
            </a:r>
          </a:p>
          <a:p>
            <a:r>
              <a:rPr lang="en-US" dirty="0"/>
              <a:t>If the channel is a </a:t>
            </a:r>
            <a:r>
              <a:rPr lang="en-US" b="1" dirty="0" err="1"/>
              <a:t>PublishSubscribeChannel</a:t>
            </a:r>
            <a:r>
              <a:rPr lang="en-US" dirty="0"/>
              <a:t>, how many will receive it?</a:t>
            </a:r>
          </a:p>
          <a:p>
            <a:endParaRPr lang="en-IN" dirty="0"/>
          </a:p>
        </p:txBody>
      </p:sp>
    </p:spTree>
    <p:extLst>
      <p:ext uri="{BB962C8B-B14F-4D97-AF65-F5344CB8AC3E}">
        <p14:creationId xmlns:p14="http://schemas.microsoft.com/office/powerpoint/2010/main" val="398762152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C5410-CB78-CFC6-B647-AD6EDB1794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F291A-B2DF-702D-59D3-18222AAF80FD}"/>
              </a:ext>
            </a:extLst>
          </p:cNvPr>
          <p:cNvSpPr>
            <a:spLocks noGrp="1"/>
          </p:cNvSpPr>
          <p:nvPr>
            <p:ph type="title"/>
          </p:nvPr>
        </p:nvSpPr>
        <p:spPr/>
        <p:txBody>
          <a:bodyPr/>
          <a:lstStyle/>
          <a:p>
            <a:r>
              <a:rPr lang="en-US" b="1" dirty="0"/>
              <a:t>Question 2:</a:t>
            </a:r>
            <a:endParaRPr lang="en-IN" dirty="0"/>
          </a:p>
        </p:txBody>
      </p:sp>
      <p:sp>
        <p:nvSpPr>
          <p:cNvPr id="3" name="Content Placeholder 2">
            <a:extLst>
              <a:ext uri="{FF2B5EF4-FFF2-40B4-BE49-F238E27FC236}">
                <a16:creationId xmlns:a16="http://schemas.microsoft.com/office/drawing/2014/main" id="{5DCFCBD3-8CCC-8996-7834-A6E92A8B8509}"/>
              </a:ext>
            </a:extLst>
          </p:cNvPr>
          <p:cNvSpPr>
            <a:spLocks noGrp="1"/>
          </p:cNvSpPr>
          <p:nvPr>
            <p:ph idx="1"/>
          </p:nvPr>
        </p:nvSpPr>
        <p:spPr>
          <a:xfrm>
            <a:off x="1154954" y="2603499"/>
            <a:ext cx="9976466" cy="3895271"/>
          </a:xfrm>
        </p:spPr>
        <p:txBody>
          <a:bodyPr/>
          <a:lstStyle/>
          <a:p>
            <a:r>
              <a:rPr lang="en-US" dirty="0"/>
              <a:t>In Spring Integration, a "Message" consists of two main parts. One is the Payload. What is the other part, and what kind of information does it typically hold?</a:t>
            </a:r>
            <a:endParaRPr lang="en-IN" dirty="0"/>
          </a:p>
        </p:txBody>
      </p:sp>
    </p:spTree>
    <p:extLst>
      <p:ext uri="{BB962C8B-B14F-4D97-AF65-F5344CB8AC3E}">
        <p14:creationId xmlns:p14="http://schemas.microsoft.com/office/powerpoint/2010/main" val="35469422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7CBD4-B289-ABE1-86D9-5F95C9B92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0AF3D-94F3-0CF6-44F5-E3DD1CFEAF9E}"/>
              </a:ext>
            </a:extLst>
          </p:cNvPr>
          <p:cNvSpPr>
            <a:spLocks noGrp="1"/>
          </p:cNvSpPr>
          <p:nvPr>
            <p:ph type="title"/>
          </p:nvPr>
        </p:nvSpPr>
        <p:spPr/>
        <p:txBody>
          <a:bodyPr/>
          <a:lstStyle/>
          <a:p>
            <a:r>
              <a:rPr lang="en-US" b="1" dirty="0"/>
              <a:t>Question 3:</a:t>
            </a:r>
            <a:endParaRPr lang="en-IN" dirty="0"/>
          </a:p>
        </p:txBody>
      </p:sp>
      <p:sp>
        <p:nvSpPr>
          <p:cNvPr id="3" name="Content Placeholder 2">
            <a:extLst>
              <a:ext uri="{FF2B5EF4-FFF2-40B4-BE49-F238E27FC236}">
                <a16:creationId xmlns:a16="http://schemas.microsoft.com/office/drawing/2014/main" id="{31FBA8EF-619E-476E-116F-3C7146766DA8}"/>
              </a:ext>
            </a:extLst>
          </p:cNvPr>
          <p:cNvSpPr>
            <a:spLocks noGrp="1"/>
          </p:cNvSpPr>
          <p:nvPr>
            <p:ph idx="1"/>
          </p:nvPr>
        </p:nvSpPr>
        <p:spPr>
          <a:xfrm>
            <a:off x="1154954" y="2603499"/>
            <a:ext cx="9976466" cy="3895271"/>
          </a:xfrm>
        </p:spPr>
        <p:txBody>
          <a:bodyPr/>
          <a:lstStyle/>
          <a:p>
            <a:pPr marL="0" indent="0">
              <a:buNone/>
            </a:pPr>
            <a:r>
              <a:rPr lang="en-US" dirty="0"/>
              <a:t>You have a </a:t>
            </a:r>
            <a:r>
              <a:rPr lang="en-US" b="1" dirty="0"/>
              <a:t>Recipient List Router</a:t>
            </a:r>
            <a:r>
              <a:rPr lang="en-US" dirty="0"/>
              <a:t> with these three recipients:</a:t>
            </a:r>
          </a:p>
          <a:p>
            <a:r>
              <a:rPr lang="en-US" dirty="0" err="1"/>
              <a:t>auditChannel</a:t>
            </a:r>
            <a:r>
              <a:rPr lang="en-US" dirty="0"/>
              <a:t> (</a:t>
            </a:r>
            <a:r>
              <a:rPr lang="en-US" b="1" dirty="0"/>
              <a:t>Static</a:t>
            </a:r>
            <a:r>
              <a:rPr lang="en-US" dirty="0"/>
              <a:t>)</a:t>
            </a:r>
          </a:p>
          <a:p>
            <a:r>
              <a:rPr lang="en-US" dirty="0" err="1"/>
              <a:t>exportChannel</a:t>
            </a:r>
            <a:r>
              <a:rPr lang="en-US" dirty="0"/>
              <a:t> (Condition: amount &gt; 100)</a:t>
            </a:r>
          </a:p>
          <a:p>
            <a:r>
              <a:rPr lang="en-US" dirty="0" err="1"/>
              <a:t>taxChannel</a:t>
            </a:r>
            <a:r>
              <a:rPr lang="en-US" dirty="0"/>
              <a:t> (Condition: </a:t>
            </a:r>
            <a:r>
              <a:rPr lang="en-US" dirty="0" err="1"/>
              <a:t>isInternational</a:t>
            </a:r>
            <a:r>
              <a:rPr lang="en-US" dirty="0"/>
              <a:t> == true)</a:t>
            </a:r>
          </a:p>
          <a:p>
            <a:r>
              <a:rPr lang="en-US" dirty="0"/>
              <a:t>If a message arrives with </a:t>
            </a:r>
            <a:r>
              <a:rPr lang="en-US" b="1" dirty="0"/>
              <a:t>amount = 50</a:t>
            </a:r>
            <a:r>
              <a:rPr lang="en-US" dirty="0"/>
              <a:t> and </a:t>
            </a:r>
            <a:r>
              <a:rPr lang="en-US" b="1" dirty="0" err="1"/>
              <a:t>isInternational</a:t>
            </a:r>
            <a:r>
              <a:rPr lang="en-US" b="1" dirty="0"/>
              <a:t> = false</a:t>
            </a:r>
            <a:r>
              <a:rPr lang="en-US" dirty="0"/>
              <a:t>:</a:t>
            </a:r>
          </a:p>
          <a:p>
            <a:r>
              <a:rPr lang="en-US" b="1" dirty="0"/>
              <a:t>A)</a:t>
            </a:r>
            <a:r>
              <a:rPr lang="en-US" dirty="0"/>
              <a:t> Which channels will receive the message?</a:t>
            </a:r>
          </a:p>
          <a:p>
            <a:r>
              <a:rPr lang="en-US" b="1" dirty="0"/>
              <a:t>B)</a:t>
            </a:r>
            <a:r>
              <a:rPr lang="en-US" dirty="0"/>
              <a:t> What happens if a message arrives that matches </a:t>
            </a:r>
            <a:r>
              <a:rPr lang="en-US" b="1" dirty="0"/>
              <a:t>no</a:t>
            </a:r>
            <a:r>
              <a:rPr lang="en-US" dirty="0"/>
              <a:t> channels (including the static one) and you haven't defined a </a:t>
            </a:r>
            <a:r>
              <a:rPr lang="en-US" dirty="0" err="1"/>
              <a:t>defaultOutputChannel</a:t>
            </a:r>
            <a:r>
              <a:rPr lang="en-US" dirty="0"/>
              <a:t>?</a:t>
            </a:r>
          </a:p>
          <a:p>
            <a:endParaRPr lang="en-IN" dirty="0"/>
          </a:p>
        </p:txBody>
      </p:sp>
    </p:spTree>
    <p:extLst>
      <p:ext uri="{BB962C8B-B14F-4D97-AF65-F5344CB8AC3E}">
        <p14:creationId xmlns:p14="http://schemas.microsoft.com/office/powerpoint/2010/main" val="3670442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231F5-3477-3EF5-A95D-293D9D5832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00CA3-6A08-A0AB-52A1-920180D032B6}"/>
              </a:ext>
            </a:extLst>
          </p:cNvPr>
          <p:cNvSpPr>
            <a:spLocks noGrp="1"/>
          </p:cNvSpPr>
          <p:nvPr>
            <p:ph type="title"/>
          </p:nvPr>
        </p:nvSpPr>
        <p:spPr/>
        <p:txBody>
          <a:bodyPr/>
          <a:lstStyle/>
          <a:p>
            <a:r>
              <a:rPr lang="en-US" b="1" dirty="0"/>
              <a:t>Question 4:</a:t>
            </a:r>
            <a:endParaRPr lang="en-IN" b="1" dirty="0"/>
          </a:p>
        </p:txBody>
      </p:sp>
      <p:sp>
        <p:nvSpPr>
          <p:cNvPr id="3" name="Content Placeholder 2">
            <a:extLst>
              <a:ext uri="{FF2B5EF4-FFF2-40B4-BE49-F238E27FC236}">
                <a16:creationId xmlns:a16="http://schemas.microsoft.com/office/drawing/2014/main" id="{BE89A95F-60C1-4008-941A-2BE1AA3759C4}"/>
              </a:ext>
            </a:extLst>
          </p:cNvPr>
          <p:cNvSpPr>
            <a:spLocks noGrp="1"/>
          </p:cNvSpPr>
          <p:nvPr>
            <p:ph idx="1"/>
          </p:nvPr>
        </p:nvSpPr>
        <p:spPr>
          <a:xfrm>
            <a:off x="1154954" y="2603499"/>
            <a:ext cx="9976466" cy="3895271"/>
          </a:xfrm>
        </p:spPr>
        <p:txBody>
          <a:bodyPr/>
          <a:lstStyle/>
          <a:p>
            <a:r>
              <a:rPr lang="en-US" dirty="0"/>
              <a:t>What is the purpose of the </a:t>
            </a:r>
            <a:r>
              <a:rPr lang="en-US" b="1" dirty="0" err="1"/>
              <a:t>ignoreSendFailures</a:t>
            </a:r>
            <a:r>
              <a:rPr lang="en-US" b="1" dirty="0"/>
              <a:t>(true)</a:t>
            </a:r>
            <a:r>
              <a:rPr lang="en-US" dirty="0"/>
              <a:t> flag in a routing flow? Why would you use it?</a:t>
            </a:r>
            <a:endParaRPr lang="en-IN" dirty="0"/>
          </a:p>
        </p:txBody>
      </p:sp>
    </p:spTree>
    <p:extLst>
      <p:ext uri="{BB962C8B-B14F-4D97-AF65-F5344CB8AC3E}">
        <p14:creationId xmlns:p14="http://schemas.microsoft.com/office/powerpoint/2010/main" val="53503474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4BC9-3682-9CAB-544D-D41BD5273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4B610-858B-75A3-FE6D-D38E2D626477}"/>
              </a:ext>
            </a:extLst>
          </p:cNvPr>
          <p:cNvSpPr>
            <a:spLocks noGrp="1"/>
          </p:cNvSpPr>
          <p:nvPr>
            <p:ph type="title"/>
          </p:nvPr>
        </p:nvSpPr>
        <p:spPr/>
        <p:txBody>
          <a:bodyPr/>
          <a:lstStyle/>
          <a:p>
            <a:r>
              <a:rPr lang="en-US" b="1" dirty="0"/>
              <a:t>Question 5:</a:t>
            </a:r>
            <a:endParaRPr lang="en-IN" dirty="0"/>
          </a:p>
        </p:txBody>
      </p:sp>
      <p:sp>
        <p:nvSpPr>
          <p:cNvPr id="3" name="Content Placeholder 2">
            <a:extLst>
              <a:ext uri="{FF2B5EF4-FFF2-40B4-BE49-F238E27FC236}">
                <a16:creationId xmlns:a16="http://schemas.microsoft.com/office/drawing/2014/main" id="{66A3129E-7C0D-2D1A-54CE-B05AEA7A20B7}"/>
              </a:ext>
            </a:extLst>
          </p:cNvPr>
          <p:cNvSpPr>
            <a:spLocks noGrp="1"/>
          </p:cNvSpPr>
          <p:nvPr>
            <p:ph idx="1"/>
          </p:nvPr>
        </p:nvSpPr>
        <p:spPr>
          <a:xfrm>
            <a:off x="1154954" y="2603499"/>
            <a:ext cx="9976466" cy="3895271"/>
          </a:xfrm>
        </p:spPr>
        <p:txBody>
          <a:bodyPr/>
          <a:lstStyle/>
          <a:p>
            <a:r>
              <a:rPr lang="en-US" dirty="0"/>
              <a:t>When the </a:t>
            </a:r>
            <a:r>
              <a:rPr lang="en-US" b="1" dirty="0"/>
              <a:t>Gatherer</a:t>
            </a:r>
            <a:r>
              <a:rPr lang="en-US" dirty="0"/>
              <a:t> (the Aggregator) receives 10 different responses from 10 different banks, how does it know which 2 responses belong together for "User A" and which 2 belong to "User B"?</a:t>
            </a:r>
            <a:endParaRPr lang="en-IN" dirty="0"/>
          </a:p>
        </p:txBody>
      </p:sp>
    </p:spTree>
    <p:extLst>
      <p:ext uri="{BB962C8B-B14F-4D97-AF65-F5344CB8AC3E}">
        <p14:creationId xmlns:p14="http://schemas.microsoft.com/office/powerpoint/2010/main" val="31237765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B8B41-F645-90C0-39E9-D2AB0BDAB2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BB052B-ACF5-E80E-F00A-A343D251312E}"/>
              </a:ext>
            </a:extLst>
          </p:cNvPr>
          <p:cNvSpPr>
            <a:spLocks noGrp="1"/>
          </p:cNvSpPr>
          <p:nvPr>
            <p:ph type="title"/>
          </p:nvPr>
        </p:nvSpPr>
        <p:spPr/>
        <p:txBody>
          <a:bodyPr/>
          <a:lstStyle/>
          <a:p>
            <a:r>
              <a:rPr lang="en-US" b="1"/>
              <a:t>Question 6:</a:t>
            </a:r>
            <a:endParaRPr lang="en-IN" dirty="0"/>
          </a:p>
        </p:txBody>
      </p:sp>
      <p:sp>
        <p:nvSpPr>
          <p:cNvPr id="3" name="Content Placeholder 2">
            <a:extLst>
              <a:ext uri="{FF2B5EF4-FFF2-40B4-BE49-F238E27FC236}">
                <a16:creationId xmlns:a16="http://schemas.microsoft.com/office/drawing/2014/main" id="{E2371DD6-9B94-AB31-4D91-57E9951A4168}"/>
              </a:ext>
            </a:extLst>
          </p:cNvPr>
          <p:cNvSpPr>
            <a:spLocks noGrp="1"/>
          </p:cNvSpPr>
          <p:nvPr>
            <p:ph idx="1"/>
          </p:nvPr>
        </p:nvSpPr>
        <p:spPr>
          <a:xfrm>
            <a:off x="1154954" y="2603499"/>
            <a:ext cx="9976466" cy="3895271"/>
          </a:xfrm>
        </p:spPr>
        <p:txBody>
          <a:bodyPr/>
          <a:lstStyle/>
          <a:p>
            <a:r>
              <a:rPr lang="en-US" dirty="0"/>
              <a:t>Imagine an </a:t>
            </a:r>
            <a:r>
              <a:rPr lang="en-US" b="1" dirty="0"/>
              <a:t>Asynchronous Pub-Sub</a:t>
            </a:r>
            <a:r>
              <a:rPr lang="en-US" dirty="0"/>
              <a:t> channel (using a </a:t>
            </a:r>
            <a:r>
              <a:rPr lang="en-US" dirty="0" err="1"/>
              <a:t>TaskExecutor</a:t>
            </a:r>
            <a:r>
              <a:rPr lang="en-US" dirty="0"/>
              <a:t>).</a:t>
            </a:r>
            <a:br>
              <a:rPr lang="en-US" dirty="0"/>
            </a:br>
            <a:r>
              <a:rPr lang="en-US" dirty="0"/>
              <a:t>If a subscriber throws a </a:t>
            </a:r>
            <a:r>
              <a:rPr lang="en-US" dirty="0" err="1"/>
              <a:t>RuntimeException</a:t>
            </a:r>
            <a:r>
              <a:rPr lang="en-US" dirty="0"/>
              <a:t> deep inside its code, will the original </a:t>
            </a:r>
            <a:r>
              <a:rPr lang="en-US" b="1" dirty="0"/>
              <a:t>Sender</a:t>
            </a:r>
            <a:r>
              <a:rPr lang="en-US" dirty="0"/>
              <a:t> (the thread that called .send()) see that exception in its try-catch block?</a:t>
            </a:r>
          </a:p>
          <a:p>
            <a:r>
              <a:rPr lang="en-US" b="1" dirty="0"/>
              <a:t>Why or why not?</a:t>
            </a:r>
            <a:endParaRPr lang="en-US" dirty="0"/>
          </a:p>
          <a:p>
            <a:endParaRPr lang="en-IN" dirty="0"/>
          </a:p>
        </p:txBody>
      </p:sp>
    </p:spTree>
    <p:extLst>
      <p:ext uri="{BB962C8B-B14F-4D97-AF65-F5344CB8AC3E}">
        <p14:creationId xmlns:p14="http://schemas.microsoft.com/office/powerpoint/2010/main" val="10810795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CA6A9-469B-A954-6255-3C2CBF81D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785994-BEEF-4A1F-81EC-89B216952C7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D953619-4018-CC4F-19CF-B1A5347ECDA2}"/>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22799591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9623C-691A-C8CB-715E-FE752A94E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A8EA52-F704-AF18-29B4-4A327B00F0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D13D73-0E4A-65F3-359D-CF0DA3927FDE}"/>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9089911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163C-DCA7-E369-CA61-D3CF03704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11F4C-C049-3CE4-1B02-CE8CF9A7F09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1738177-9245-426D-6F89-1A80C1317BCB}"/>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2713783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F83B2-595D-318E-A77E-423BEFCE81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3ED9D2-B552-7002-A090-5D1709CD9C1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E9DFCAC-139E-4311-FE92-522E83E35315}"/>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421690696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61E66-0DC3-607A-F727-8655D967E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D188B2-A11C-2DC6-2EE5-DFAE41835A3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19D8A81-C79A-4BB4-5680-CE356F9BDD43}"/>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357120409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F0499-CD6E-8A14-0217-5C39A3D4B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437FAD-7F27-FB43-F714-9CD7044C06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C9FD793-35E1-7E75-0850-474A41D3CE42}"/>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958948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D7AF2-E1E8-9ADB-8FD1-C67DD888C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168F6-3D09-2D73-B9DB-8CEB2580C49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9D6586-F638-1A90-A3DD-015870144D4F}"/>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45151285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937A-5846-21DA-48E8-CCC641EBC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9E081-575F-B369-BC2C-957C091C858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A6C8CCE-D082-F68D-2999-334AADB81668}"/>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27988106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6D626-AE44-1E29-945C-AFBE703C5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73ECE-12CA-9E67-5910-F47A171329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1F0DCD-860F-BF05-F2E9-9B8B1117413F}"/>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9282699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66458-4952-EFC5-809E-A744F1B3A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F074B5-535B-2F28-9338-289343FEFF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CBB0724-9C70-260C-5E6B-32F7A3B1D20A}"/>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5526984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EBAF8-8D71-FCBD-F111-DF0884884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A7B8E-864D-04E0-4278-1E683F0596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DB3DED-D1D9-4A5F-2DD2-EC515278EA6E}"/>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210191732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74FE6-8127-BFAF-7C3C-190070F653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3D2B9-7D8B-39F7-79EC-6B16ADF8896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A3A840A-C6EC-D423-033B-C9279C65AC86}"/>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57125446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242C2-4818-3C8F-45EC-E1871D6BD8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0C40F-DAF7-A73B-A341-AE3012E5DB8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B34CC3-D6F3-4F79-F40F-A9771DC37364}"/>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9878536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EC08C-A4CD-BD00-9279-4576A2A06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5FAC7A-0B02-5149-A0C6-F317AFF6D1A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B1A626-50F1-724D-8C6E-4B09B896F70A}"/>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8246805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A4CC0-0FED-B0DC-F038-09AB8C78D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52A0E-EF0D-D70C-FFCF-A7E64094BC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BF1CEAF-0839-D856-EEAC-E42B00DDFA54}"/>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369287494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F90FD-552B-93C7-1291-C7DF0D5FB1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BF478F-E178-34E4-9A52-EB6059663E2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24EBA6-A4B5-461D-03BF-2E04E4C2560C}"/>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362864864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6E1C5-D777-F270-F674-4073BD6CF9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2AA04-8890-4BCC-82B0-BF80824D8C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76D369E-AD11-50FA-C120-E75CEB03456A}"/>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35289330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163F7-5578-1229-E6E2-A44B3972E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C4E0A6-3C9E-23CA-04A8-984FE19FE3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4D5BDF-721E-9B55-5FD5-5D5328BCBF09}"/>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120978077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9C80E-9E40-9F89-24D4-7EC863D18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A5ACE3-55AF-C25C-42D9-172071490F9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8F3E2C-4B36-A5FC-3A32-8C89784F5A73}"/>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424847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0C5C5-67B4-A6DD-73BE-12F5055D3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546FA9-8667-9195-CD7A-BCD8C1E9113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6EE21C9-080A-F6D8-655D-20B430868D3B}"/>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353387988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03FB4-B2D5-8BCF-632B-CBCB60E815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59438-0729-DEB0-67F2-4808FBE6A0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B9BF8A-1C20-7631-D224-468B00069D63}"/>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217508906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2773D-3FB7-DE13-D74E-26E5FDD46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F415E-B2F2-674E-0FBD-C2E0512A736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1222EB-A9B6-A058-C6E9-06D7FDA6AD84}"/>
              </a:ext>
            </a:extLst>
          </p:cNvPr>
          <p:cNvSpPr>
            <a:spLocks noGrp="1"/>
          </p:cNvSpPr>
          <p:nvPr>
            <p:ph idx="1"/>
          </p:nvPr>
        </p:nvSpPr>
        <p:spPr>
          <a:xfrm>
            <a:off x="1154954" y="2603499"/>
            <a:ext cx="9976466" cy="3895271"/>
          </a:xfrm>
        </p:spPr>
        <p:txBody>
          <a:bodyPr/>
          <a:lstStyle/>
          <a:p>
            <a:endParaRPr lang="en-IN" dirty="0"/>
          </a:p>
        </p:txBody>
      </p:sp>
    </p:spTree>
    <p:extLst>
      <p:ext uri="{BB962C8B-B14F-4D97-AF65-F5344CB8AC3E}">
        <p14:creationId xmlns:p14="http://schemas.microsoft.com/office/powerpoint/2010/main" val="30298005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{DCEB915B-8333-485A-9EA5-2574048B2464}TF229edf6a-8a49-49ee-a0a6-5037052947485fb3ca0c-bc27bf41d645</Template>
  <TotalTime>581</TotalTime>
  <Words>8031</Words>
  <Application>Microsoft Office PowerPoint</Application>
  <PresentationFormat>Widescreen</PresentationFormat>
  <Paragraphs>852</Paragraphs>
  <Slides>117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117</vt:i4>
      </vt:variant>
    </vt:vector>
  </HeadingPairs>
  <TitlesOfParts>
    <vt:vector size="124" baseType="lpstr">
      <vt:lpstr>Arial</vt:lpstr>
      <vt:lpstr>Calibri</vt:lpstr>
      <vt:lpstr>Century Gothic</vt:lpstr>
      <vt:lpstr>DM Mono</vt:lpstr>
      <vt:lpstr>Inter</vt:lpstr>
      <vt:lpstr>Wingdings 3</vt:lpstr>
      <vt:lpstr>Ion Boardroom</vt:lpstr>
      <vt:lpstr>Message Routing Strategies</vt:lpstr>
      <vt:lpstr>"Trinity" of Spring Integration:</vt:lpstr>
      <vt:lpstr>Message</vt:lpstr>
      <vt:lpstr>DirectChannel</vt:lpstr>
      <vt:lpstr>Error Handling in Direct Channel</vt:lpstr>
      <vt:lpstr>PowerPoint Presentation</vt:lpstr>
      <vt:lpstr>"Load Balancer" Nuance</vt:lpstr>
      <vt:lpstr>Error Handling with "Advice" (The Proper Way)</vt:lpstr>
      <vt:lpstr>Error Handling with "Advice" (The Proper Way)</vt:lpstr>
      <vt:lpstr>errorChannel Header</vt:lpstr>
      <vt:lpstr>Summary Checklist for Direct Channel</vt:lpstr>
      <vt:lpstr>Publish-Subscribe (One-to-Many)</vt:lpstr>
      <vt:lpstr> Core Component: PublishSubscribeChannel </vt:lpstr>
      <vt:lpstr>Synchronous vs. Asynchronous</vt:lpstr>
      <vt:lpstr>Synchronous vs. Asynchronous</vt:lpstr>
      <vt:lpstr>Synchronous vs. Asynchronous</vt:lpstr>
      <vt:lpstr>Engine: TaskExecutor</vt:lpstr>
      <vt:lpstr>Asynchronous</vt:lpstr>
      <vt:lpstr>Error Handling in Pub-Sub</vt:lpstr>
      <vt:lpstr>Transaction Management</vt:lpstr>
      <vt:lpstr> Order of Execution</vt:lpstr>
      <vt:lpstr>When to use Async Pub-Sub?</vt:lpstr>
      <vt:lpstr>Synchronous vs Asynchronous</vt:lpstr>
      <vt:lpstr>Why pubsub</vt:lpstr>
      <vt:lpstr>Summary Checklist for Pub-Sub:</vt:lpstr>
      <vt:lpstr>Error handling in pubsub -- synchronous</vt:lpstr>
      <vt:lpstr>Simple "Try-Catch" (At the Sender)</vt:lpstr>
      <vt:lpstr>ExpressionEvaluatingRequestHandlerAdvice (The "Logic" Way)</vt:lpstr>
      <vt:lpstr>PowerPoint Presentation</vt:lpstr>
      <vt:lpstr>errorChannel Header (The "Dynamic" Way)</vt:lpstr>
      <vt:lpstr>Transactional Rollback</vt:lpstr>
      <vt:lpstr>Sync vs Async Error Handling</vt:lpstr>
      <vt:lpstr>Comparison: Which one should you use?</vt:lpstr>
      <vt:lpstr>Asynchronous error handling in pubsub</vt:lpstr>
      <vt:lpstr>Global Error Channel</vt:lpstr>
      <vt:lpstr>Global Error Channel</vt:lpstr>
      <vt:lpstr>Custom Error Handler for a Specific Channel</vt:lpstr>
      <vt:lpstr>PowerPoint Presentation</vt:lpstr>
      <vt:lpstr>Fine-Grained Handling (The "Advice" Chain)</vt:lpstr>
      <vt:lpstr>Fine-Grained Handling (The "Advice" Chain)</vt:lpstr>
      <vt:lpstr>Which one should you use?</vt:lpstr>
      <vt:lpstr>Golden Rule of Async Errors</vt:lpstr>
      <vt:lpstr>Recipient List Router</vt:lpstr>
      <vt:lpstr>Core Concept: Static vs. Conditional</vt:lpstr>
      <vt:lpstr>Example</vt:lpstr>
      <vt:lpstr>PowerPoint Presentation</vt:lpstr>
      <vt:lpstr>PowerPoint Presentation</vt:lpstr>
      <vt:lpstr>PowerPoint Presentation</vt:lpstr>
      <vt:lpstr>Why use Recipient List Router instead of Pub-Sub?</vt:lpstr>
      <vt:lpstr>How the "Conditions" Work</vt:lpstr>
      <vt:lpstr>Order of Execution (Synchronous)</vt:lpstr>
      <vt:lpstr>Default Output Channel</vt:lpstr>
      <vt:lpstr>Methods</vt:lpstr>
      <vt:lpstr>Quick Exercise:</vt:lpstr>
      <vt:lpstr>Error Handling: The "Ignore Failures" Switch</vt:lpstr>
      <vt:lpstr>Error Handling: The "Ignore Failures" Switch</vt:lpstr>
      <vt:lpstr>Message Sequencing (The "Breadcrumbs")</vt:lpstr>
      <vt:lpstr>Message Sequencing (The "Breadcrumbs")</vt:lpstr>
      <vt:lpstr>Order of Execution</vt:lpstr>
      <vt:lpstr>Dynamic Recipients</vt:lpstr>
      <vt:lpstr>Properties</vt:lpstr>
      <vt:lpstr>Scatter-Gather</vt:lpstr>
      <vt:lpstr>Real-World Analogy: Travel Booking</vt:lpstr>
      <vt:lpstr>Components of Scatter-Gather</vt:lpstr>
      <vt:lpstr>Example</vt:lpstr>
      <vt:lpstr>PowerPoint Presentation</vt:lpstr>
      <vt:lpstr>PowerPoint Presentation</vt:lpstr>
      <vt:lpstr>Correlation ID (The "Paperclip")</vt:lpstr>
      <vt:lpstr>Release Strategy</vt:lpstr>
      <vt:lpstr>Timeout</vt:lpstr>
      <vt:lpstr>Why is this Advanced?</vt:lpstr>
      <vt:lpstr>Quick Check:</vt:lpstr>
      <vt:lpstr>Error handling in Scatter-Gather</vt:lpstr>
      <vt:lpstr>Part 1: Error Handling in Scatter-Gather</vt:lpstr>
      <vt:lpstr>Synchronous Scatter (Direct Channels)</vt:lpstr>
      <vt:lpstr>Synchronous Scatter (Direct Channels)</vt:lpstr>
      <vt:lpstr>Asynchronous Scatter (Executor Channels)</vt:lpstr>
      <vt:lpstr>Handling Scatter Errors "Inside the Branch"</vt:lpstr>
      <vt:lpstr>PowerPoint Presentation</vt:lpstr>
      <vt:lpstr>What happens to the "Gatherer" when Scatter fails?</vt:lpstr>
      <vt:lpstr>Scatter Phase Errors</vt:lpstr>
      <vt:lpstr>Gather" Timeout (The most important setting)</vt:lpstr>
      <vt:lpstr>discardChannel</vt:lpstr>
      <vt:lpstr>Payload Type Router</vt:lpstr>
      <vt:lpstr>Header Value Router</vt:lpstr>
      <vt:lpstr>Exception Type Router (The Error Specialist)</vt:lpstr>
      <vt:lpstr>Routing Slip (The "Itinerary" Pattern)</vt:lpstr>
      <vt:lpstr>Which Router to Pick?</vt:lpstr>
      <vt:lpstr>Message Routing</vt:lpstr>
      <vt:lpstr>Question 1:</vt:lpstr>
      <vt:lpstr>Question 2:</vt:lpstr>
      <vt:lpstr>Question 3:</vt:lpstr>
      <vt:lpstr>Question 4:</vt:lpstr>
      <vt:lpstr>Question 5:</vt:lpstr>
      <vt:lpstr>Question 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anju munoth</dc:creator>
  <cp:lastModifiedBy>anju munoth</cp:lastModifiedBy>
  <cp:revision>98</cp:revision>
  <dcterms:created xsi:type="dcterms:W3CDTF">2026-03-22T04:19:53Z</dcterms:created>
  <dcterms:modified xsi:type="dcterms:W3CDTF">2026-03-22T14:02:25Z</dcterms:modified>
</cp:coreProperties>
</file>