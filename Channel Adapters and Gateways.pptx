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6" r:id="rId3"/>
    <p:sldId id="257" r:id="rId4"/>
    <p:sldId id="258" r:id="rId5"/>
    <p:sldId id="259" r:id="rId6"/>
    <p:sldId id="308" r:id="rId7"/>
    <p:sldId id="260" r:id="rId8"/>
    <p:sldId id="261" r:id="rId9"/>
    <p:sldId id="262" r:id="rId10"/>
    <p:sldId id="263" r:id="rId11"/>
    <p:sldId id="309" r:id="rId12"/>
    <p:sldId id="264" r:id="rId13"/>
    <p:sldId id="265" r:id="rId14"/>
    <p:sldId id="307" r:id="rId15"/>
    <p:sldId id="310" r:id="rId16"/>
    <p:sldId id="271" r:id="rId17"/>
    <p:sldId id="266" r:id="rId18"/>
    <p:sldId id="267" r:id="rId19"/>
    <p:sldId id="268" r:id="rId20"/>
    <p:sldId id="269" r:id="rId21"/>
    <p:sldId id="270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311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312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13" r:id="rId59"/>
    <p:sldId id="314" r:id="rId60"/>
    <p:sldId id="315" r:id="rId61"/>
    <p:sldId id="316" r:id="rId62"/>
    <p:sldId id="338" r:id="rId63"/>
    <p:sldId id="339" r:id="rId64"/>
    <p:sldId id="340" r:id="rId65"/>
    <p:sldId id="317" r:id="rId66"/>
    <p:sldId id="318" r:id="rId67"/>
    <p:sldId id="319" r:id="rId68"/>
    <p:sldId id="341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>
        <p:scale>
          <a:sx n="82" d="100"/>
          <a:sy n="82" d="100"/>
        </p:scale>
        <p:origin x="29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FC0EB3D-A223-418C-9CC9-6491961C907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5815535-1EBC-4581-B297-941EDA809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616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EB3D-A223-418C-9CC9-6491961C907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5535-1EBC-4581-B297-941EDA809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226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EB3D-A223-418C-9CC9-6491961C907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5535-1EBC-4581-B297-941EDA809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436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EB3D-A223-418C-9CC9-6491961C907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5535-1EBC-4581-B297-941EDA809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36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EB3D-A223-418C-9CC9-6491961C907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5535-1EBC-4581-B297-941EDA809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630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EB3D-A223-418C-9CC9-6491961C907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5535-1EBC-4581-B297-941EDA809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075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EB3D-A223-418C-9CC9-6491961C907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5535-1EBC-4581-B297-941EDA809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755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EB3D-A223-418C-9CC9-6491961C907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5535-1EBC-4581-B297-941EDA809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40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EB3D-A223-418C-9CC9-6491961C907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5535-1EBC-4581-B297-941EDA809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1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EB3D-A223-418C-9CC9-6491961C907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5535-1EBC-4581-B297-941EDA809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618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EB3D-A223-418C-9CC9-6491961C907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5535-1EBC-4581-B297-941EDA809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191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EB3D-A223-418C-9CC9-6491961C907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5535-1EBC-4581-B297-941EDA809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8078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EB3D-A223-418C-9CC9-6491961C907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5535-1EBC-4581-B297-941EDA809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383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EB3D-A223-418C-9CC9-6491961C907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5535-1EBC-4581-B297-941EDA809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4173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EB3D-A223-418C-9CC9-6491961C907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5535-1EBC-4581-B297-941EDA809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8910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FC0EB3D-A223-418C-9CC9-6491961C907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5535-1EBC-4581-B297-941EDA809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57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FC0EB3D-A223-418C-9CC9-6491961C907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5535-1EBC-4581-B297-941EDA809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219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FC0EB3D-A223-418C-9CC9-6491961C907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5815535-1EBC-4581-B297-941EDA809A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284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5A868-7FF7-4925-69A9-C27AFFA872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Channel Adapters and Gateways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2A1B54-19C3-A6FE-A03F-19F7FA0D9E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Anju munoth</a:t>
            </a:r>
          </a:p>
        </p:txBody>
      </p:sp>
    </p:spTree>
    <p:extLst>
      <p:ext uri="{BB962C8B-B14F-4D97-AF65-F5344CB8AC3E}">
        <p14:creationId xmlns:p14="http://schemas.microsoft.com/office/powerpoint/2010/main" val="3658661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F51AC-99A6-8618-0F33-D1D3015E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Channel Adapters and Gateways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6B411-7350-61DC-895E-FFEB14664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237724" cy="3801965"/>
          </a:xfrm>
        </p:spPr>
        <p:txBody>
          <a:bodyPr/>
          <a:lstStyle/>
          <a:p>
            <a:r>
              <a:rPr lang="en-US" dirty="0"/>
              <a:t>In Spring Integration, </a:t>
            </a:r>
            <a:r>
              <a:rPr lang="en-US" b="1" dirty="0"/>
              <a:t>Channel Adapters</a:t>
            </a:r>
            <a:r>
              <a:rPr lang="en-US" dirty="0"/>
              <a:t> and </a:t>
            </a:r>
            <a:r>
              <a:rPr lang="en-US" b="1" dirty="0"/>
              <a:t>Gateways</a:t>
            </a:r>
            <a:r>
              <a:rPr lang="en-US" dirty="0"/>
              <a:t> represent the "Boundary" of your application. </a:t>
            </a:r>
          </a:p>
          <a:p>
            <a:r>
              <a:rPr lang="en-US" dirty="0"/>
              <a:t>Are the components that bridge your internal message channels to the outside world (File systems, Databases, REST APIs, Message Brokers like Kafka/RabbitMQ).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47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1E680-153E-7E2F-59B9-9BAF412C9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Channel Adapters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E63DB-08A1-B45C-C9AE-84EE61422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US" dirty="0"/>
              <a:t>Think of them as the </a:t>
            </a:r>
            <a:r>
              <a:rPr lang="en-US" b="1" dirty="0"/>
              <a:t>"Device Drivers"</a:t>
            </a:r>
            <a:r>
              <a:rPr lang="en-US" dirty="0"/>
              <a:t> of Spring Integration. </a:t>
            </a:r>
          </a:p>
          <a:p>
            <a:r>
              <a:rPr lang="en-US" dirty="0"/>
              <a:t>Just as a USB driver connects a physical mouse to your OS, a Channel Adapter connects a specific protocol (File, MQTT, Kafka, JDBC) to a Spring Integration </a:t>
            </a:r>
            <a:r>
              <a:rPr lang="en-US" dirty="0" err="1"/>
              <a:t>MessageChannel</a:t>
            </a:r>
            <a:r>
              <a:rPr lang="en-US" dirty="0"/>
              <a:t>.</a:t>
            </a:r>
          </a:p>
          <a:p>
            <a:r>
              <a:rPr lang="en-US" dirty="0"/>
              <a:t>Defining characteristic of a Channel Adapter is that it is </a:t>
            </a:r>
            <a:r>
              <a:rPr lang="en-US" b="1" dirty="0"/>
              <a:t>Unidirectional</a:t>
            </a:r>
            <a:r>
              <a:rPr lang="en-US" dirty="0"/>
              <a:t> (One-Way).</a:t>
            </a:r>
          </a:p>
          <a:p>
            <a:r>
              <a:rPr lang="en-US" dirty="0"/>
              <a:t>Channel Adapter is used for </a:t>
            </a:r>
            <a:r>
              <a:rPr lang="en-US" b="1" dirty="0"/>
              <a:t>one-way</a:t>
            </a:r>
            <a:r>
              <a:rPr lang="en-US" dirty="0"/>
              <a:t> communication. </a:t>
            </a:r>
          </a:p>
          <a:p>
            <a:r>
              <a:rPr lang="en-US" dirty="0"/>
              <a:t>Either brings data in or sends data out, but it does not expect a functional response back through the same flow.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8758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C960C-3BD2-311F-01CE-65A00A8BA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5FC4B-AED3-2A55-D4A9-26B04CFD6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Inbound Channel Adapters (Source)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2A932-D1A0-F658-CD0C-53E5D262D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US" dirty="0"/>
              <a:t>An Inbound Adapter is the </a:t>
            </a:r>
            <a:r>
              <a:rPr lang="en-US" b="1" dirty="0"/>
              <a:t>starting point</a:t>
            </a:r>
            <a:r>
              <a:rPr lang="en-US" dirty="0"/>
              <a:t> of a flow. </a:t>
            </a:r>
          </a:p>
          <a:p>
            <a:r>
              <a:rPr lang="en-US" dirty="0"/>
              <a:t>Listens to the outside world, wraps the data into a Message&lt;T&gt;, and sends it into a channel.</a:t>
            </a:r>
          </a:p>
          <a:p>
            <a:r>
              <a:rPr lang="en-US" dirty="0"/>
              <a:t>Two distinct forms of Inbound Adapters: </a:t>
            </a:r>
            <a:r>
              <a:rPr lang="en-US" b="1" dirty="0"/>
              <a:t>Polling</a:t>
            </a:r>
            <a:r>
              <a:rPr lang="en-US" dirty="0"/>
              <a:t> and </a:t>
            </a:r>
            <a:r>
              <a:rPr lang="en-US" b="1" dirty="0"/>
              <a:t>Event-Driven</a:t>
            </a:r>
            <a:r>
              <a:rPr lang="en-US" dirty="0"/>
              <a:t>.</a:t>
            </a:r>
          </a:p>
          <a:p>
            <a:r>
              <a:rPr lang="en-US" b="1" dirty="0"/>
              <a:t>Event-Driven:</a:t>
            </a:r>
            <a:r>
              <a:rPr lang="en-US" dirty="0"/>
              <a:t> Reacts immediately when something happens (e.g., an HTTP request arrives).</a:t>
            </a:r>
          </a:p>
          <a:p>
            <a:r>
              <a:rPr lang="en-US" b="1" dirty="0"/>
              <a:t>Polling:</a:t>
            </a:r>
            <a:r>
              <a:rPr lang="en-US" dirty="0"/>
              <a:t> Checks the source at intervals (e.g., check a folder for new files every 5 seconds).</a:t>
            </a:r>
          </a:p>
          <a:p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4658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5A54-6830-042C-4188-E2089E48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5D33D-B821-9AA9-5E51-9DDF7A908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Polling Inbound Adapter (Passive)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62200-8E5E-0AE8-9FC6-A88253FA2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US" dirty="0"/>
              <a:t>Use this when the external system </a:t>
            </a:r>
            <a:r>
              <a:rPr lang="en-US" b="1" dirty="0"/>
              <a:t>doesn't tell you</a:t>
            </a:r>
            <a:r>
              <a:rPr lang="en-US" dirty="0"/>
              <a:t> when new data is ready. </a:t>
            </a:r>
          </a:p>
          <a:p>
            <a:r>
              <a:rPr lang="en-US" dirty="0"/>
              <a:t>Have to go and check (poll) manually at a specific interval.</a:t>
            </a:r>
          </a:p>
          <a:p>
            <a:r>
              <a:rPr lang="en-US" b="1" dirty="0"/>
              <a:t>Examples:</a:t>
            </a:r>
            <a:r>
              <a:rPr lang="en-US" dirty="0"/>
              <a:t> Reading files from a directory, querying a database table, checking an FTP server.</a:t>
            </a:r>
          </a:p>
          <a:p>
            <a:r>
              <a:rPr lang="en-US" dirty="0"/>
              <a:t>Poller is the "heartbeat." Without it, a polling adapter won't do anything.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546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D1EF9C-85D5-D9B4-E951-19DADEF5C9A7}"/>
              </a:ext>
            </a:extLst>
          </p:cNvPr>
          <p:cNvSpPr txBox="1"/>
          <p:nvPr/>
        </p:nvSpPr>
        <p:spPr>
          <a:xfrm>
            <a:off x="583163" y="1179393"/>
            <a:ext cx="1031965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@Bean</a:t>
            </a:r>
          </a:p>
          <a:p>
            <a:r>
              <a:rPr lang="en-IN" dirty="0"/>
              <a:t>public </a:t>
            </a:r>
            <a:r>
              <a:rPr lang="en-IN" dirty="0" err="1"/>
              <a:t>IntegrationFlow</a:t>
            </a:r>
            <a:r>
              <a:rPr lang="en-IN" dirty="0"/>
              <a:t> </a:t>
            </a:r>
            <a:r>
              <a:rPr lang="en-IN" dirty="0" err="1"/>
              <a:t>filePollingFlow</a:t>
            </a:r>
            <a:r>
              <a:rPr lang="en-IN" dirty="0"/>
              <a:t>() {</a:t>
            </a:r>
          </a:p>
          <a:p>
            <a:r>
              <a:rPr lang="en-IN" dirty="0"/>
              <a:t>    return </a:t>
            </a:r>
            <a:r>
              <a:rPr lang="en-IN" dirty="0" err="1"/>
              <a:t>IntegrationFlow.from</a:t>
            </a:r>
            <a:r>
              <a:rPr lang="en-IN" dirty="0"/>
              <a:t>(</a:t>
            </a:r>
          </a:p>
          <a:p>
            <a:r>
              <a:rPr lang="en-IN" dirty="0"/>
              <a:t>            </a:t>
            </a:r>
            <a:r>
              <a:rPr lang="en-IN" b="1" dirty="0"/>
              <a:t>// 1. Specify the Source (The Adapter)</a:t>
            </a:r>
          </a:p>
          <a:p>
            <a:r>
              <a:rPr lang="en-IN" dirty="0"/>
              <a:t>            </a:t>
            </a:r>
            <a:r>
              <a:rPr lang="en-IN" dirty="0" err="1"/>
              <a:t>Files.inboundAdapter</a:t>
            </a:r>
            <a:r>
              <a:rPr lang="en-IN" dirty="0"/>
              <a:t>(new File("C:/inputs/orders"))</a:t>
            </a:r>
          </a:p>
          <a:p>
            <a:r>
              <a:rPr lang="en-IN" dirty="0"/>
              <a:t>                 .</a:t>
            </a:r>
            <a:r>
              <a:rPr lang="en-IN" dirty="0" err="1"/>
              <a:t>patternFilter</a:t>
            </a:r>
            <a:r>
              <a:rPr lang="en-IN" dirty="0"/>
              <a:t>("*.csv") // Only pick up CSVs</a:t>
            </a:r>
          </a:p>
          <a:p>
            <a:r>
              <a:rPr lang="en-IN" dirty="0"/>
              <a:t>                 .</a:t>
            </a:r>
            <a:r>
              <a:rPr lang="en-IN" dirty="0" err="1"/>
              <a:t>preventDuplicates</a:t>
            </a:r>
            <a:r>
              <a:rPr lang="en-IN" dirty="0"/>
              <a:t>(true), // Don't process the same file twice</a:t>
            </a:r>
          </a:p>
          <a:p>
            <a:r>
              <a:rPr lang="en-IN" dirty="0"/>
              <a:t>            </a:t>
            </a:r>
          </a:p>
          <a:p>
            <a:r>
              <a:rPr lang="en-IN" dirty="0"/>
              <a:t>           </a:t>
            </a:r>
            <a:r>
              <a:rPr lang="en-IN" b="1" dirty="0"/>
              <a:t> // 2. Specify the "Heartbeat" (The Poller)</a:t>
            </a:r>
          </a:p>
          <a:p>
            <a:r>
              <a:rPr lang="en-IN" dirty="0"/>
              <a:t>            // Without this, the adapter won't know WHEN to check.</a:t>
            </a:r>
          </a:p>
          <a:p>
            <a:r>
              <a:rPr lang="en-IN" dirty="0"/>
              <a:t>            e -&gt; </a:t>
            </a:r>
            <a:r>
              <a:rPr lang="en-IN" dirty="0" err="1"/>
              <a:t>e.poller</a:t>
            </a:r>
            <a:r>
              <a:rPr lang="en-IN" dirty="0"/>
              <a:t>(</a:t>
            </a:r>
            <a:r>
              <a:rPr lang="en-IN" dirty="0" err="1"/>
              <a:t>Pollers.fixedDelay</a:t>
            </a:r>
            <a:r>
              <a:rPr lang="en-IN" dirty="0"/>
              <a:t>(5000)) </a:t>
            </a:r>
          </a:p>
          <a:p>
            <a:r>
              <a:rPr lang="en-IN" dirty="0"/>
              <a:t>        )</a:t>
            </a:r>
          </a:p>
          <a:p>
            <a:r>
              <a:rPr lang="en-IN" dirty="0"/>
              <a:t>        // 3. The payload here is a </a:t>
            </a:r>
            <a:r>
              <a:rPr lang="en-IN" dirty="0" err="1"/>
              <a:t>java.io.File</a:t>
            </a:r>
            <a:r>
              <a:rPr lang="en-IN" dirty="0"/>
              <a:t> object</a:t>
            </a:r>
          </a:p>
          <a:p>
            <a:r>
              <a:rPr lang="en-IN" dirty="0"/>
              <a:t>        </a:t>
            </a:r>
            <a:r>
              <a:rPr lang="en-IN" b="1" dirty="0"/>
              <a:t>.handle(message -&gt; {</a:t>
            </a:r>
          </a:p>
          <a:p>
            <a:r>
              <a:rPr lang="en-IN" dirty="0"/>
              <a:t>            File </a:t>
            </a:r>
            <a:r>
              <a:rPr lang="en-IN" dirty="0" err="1"/>
              <a:t>file</a:t>
            </a:r>
            <a:r>
              <a:rPr lang="en-IN" dirty="0"/>
              <a:t> = (File) </a:t>
            </a:r>
            <a:r>
              <a:rPr lang="en-IN" dirty="0" err="1"/>
              <a:t>message.getPayload</a:t>
            </a:r>
            <a:r>
              <a:rPr lang="en-IN" dirty="0"/>
              <a:t>();</a:t>
            </a:r>
          </a:p>
          <a:p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("Processing file: " + </a:t>
            </a:r>
            <a:r>
              <a:rPr lang="en-IN" dirty="0" err="1"/>
              <a:t>file.getAbsolutePath</a:t>
            </a:r>
            <a:r>
              <a:rPr lang="en-IN" dirty="0"/>
              <a:t>());</a:t>
            </a:r>
          </a:p>
          <a:p>
            <a:r>
              <a:rPr lang="en-IN" dirty="0"/>
              <a:t>        })</a:t>
            </a:r>
          </a:p>
          <a:p>
            <a:r>
              <a:rPr lang="en-IN" dirty="0"/>
              <a:t>        .get();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30362F-8DA6-D390-BA5C-84113B940184}"/>
              </a:ext>
            </a:extLst>
          </p:cNvPr>
          <p:cNvSpPr txBox="1"/>
          <p:nvPr/>
        </p:nvSpPr>
        <p:spPr>
          <a:xfrm>
            <a:off x="677634" y="323295"/>
            <a:ext cx="94367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2"/>
                </a:solidFill>
                <a:effectLst/>
                <a:latin typeface="Inter"/>
              </a:rPr>
              <a:t>Scenario:</a:t>
            </a:r>
            <a:r>
              <a:rPr lang="en-US" b="0" i="0" dirty="0">
                <a:solidFill>
                  <a:schemeClr val="tx2"/>
                </a:solidFill>
                <a:effectLst/>
                <a:latin typeface="Inter"/>
              </a:rPr>
              <a:t> You have a legacy system that drops CSV files into a folder. Your application needs to check that folder every 5 seconds and process any new files.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550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85AA8-EA21-3BA8-55EF-6568463BA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C595F-8589-83C4-2453-3EF41AFB9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Example: Reading Files from a folder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B35D5-5792-1872-EB33-44C97009D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@Bean</a:t>
            </a:r>
          </a:p>
          <a:p>
            <a:pPr marL="0" indent="0">
              <a:buNone/>
            </a:pPr>
            <a:r>
              <a:rPr lang="en-IN" dirty="0"/>
              <a:t>public </a:t>
            </a:r>
            <a:r>
              <a:rPr lang="en-IN" dirty="0" err="1"/>
              <a:t>IntegrationFlow</a:t>
            </a:r>
            <a:r>
              <a:rPr lang="en-IN" dirty="0"/>
              <a:t> </a:t>
            </a:r>
            <a:r>
              <a:rPr lang="en-IN" dirty="0" err="1"/>
              <a:t>filePollingFlow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return </a:t>
            </a:r>
            <a:r>
              <a:rPr lang="en-IN" dirty="0" err="1"/>
              <a:t>IntegrationFlow.from</a:t>
            </a:r>
            <a:r>
              <a:rPr lang="en-IN" dirty="0"/>
              <a:t>(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Files.inboundAdapter</a:t>
            </a:r>
            <a:r>
              <a:rPr lang="en-IN" dirty="0"/>
              <a:t>(new File("/</a:t>
            </a:r>
            <a:r>
              <a:rPr lang="en-IN" dirty="0" err="1"/>
              <a:t>tmp</a:t>
            </a:r>
            <a:r>
              <a:rPr lang="en-IN" dirty="0"/>
              <a:t>/inputs")) // The Source</a:t>
            </a:r>
          </a:p>
          <a:p>
            <a:pPr marL="0" indent="0">
              <a:buNone/>
            </a:pPr>
            <a:r>
              <a:rPr lang="en-IN" dirty="0"/>
              <a:t>                 .</a:t>
            </a:r>
            <a:r>
              <a:rPr lang="en-IN" dirty="0" err="1"/>
              <a:t>patternFilter</a:t>
            </a:r>
            <a:r>
              <a:rPr lang="en-IN" dirty="0"/>
              <a:t>("*.csv"),                 // Only CSV files</a:t>
            </a:r>
          </a:p>
          <a:p>
            <a:pPr marL="0" indent="0">
              <a:buNone/>
            </a:pPr>
            <a:r>
              <a:rPr lang="en-IN" dirty="0"/>
              <a:t>            e -&gt; </a:t>
            </a:r>
            <a:r>
              <a:rPr lang="en-IN" dirty="0" err="1"/>
              <a:t>e.poller</a:t>
            </a:r>
            <a:r>
              <a:rPr lang="en-IN" dirty="0"/>
              <a:t>(</a:t>
            </a:r>
            <a:r>
              <a:rPr lang="en-IN" dirty="0" err="1"/>
              <a:t>Pollers.fixedDelay</a:t>
            </a:r>
            <a:r>
              <a:rPr lang="en-IN" dirty="0"/>
              <a:t>(10000))      // CHECK EVERY 10 SECONDS</a:t>
            </a:r>
          </a:p>
          <a:p>
            <a:pPr marL="0" indent="0">
              <a:buNone/>
            </a:pPr>
            <a:r>
              <a:rPr lang="en-IN" dirty="0"/>
              <a:t>        )</a:t>
            </a:r>
          </a:p>
          <a:p>
            <a:pPr marL="0" indent="0">
              <a:buNone/>
            </a:pPr>
            <a:r>
              <a:rPr lang="en-IN" dirty="0"/>
              <a:t>        .handle(message -&gt; {</a:t>
            </a:r>
          </a:p>
          <a:p>
            <a:pPr marL="0" indent="0">
              <a:buNone/>
            </a:pPr>
            <a:r>
              <a:rPr lang="en-IN" dirty="0"/>
              <a:t>            File </a:t>
            </a:r>
            <a:r>
              <a:rPr lang="en-IN" dirty="0" err="1"/>
              <a:t>file</a:t>
            </a:r>
            <a:r>
              <a:rPr lang="en-IN" dirty="0"/>
              <a:t> = (File) </a:t>
            </a:r>
            <a:r>
              <a:rPr lang="en-IN" dirty="0" err="1"/>
              <a:t>message.getPayload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("Processing file: " + </a:t>
            </a:r>
            <a:r>
              <a:rPr lang="en-IN" dirty="0" err="1"/>
              <a:t>file.getName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})</a:t>
            </a:r>
          </a:p>
          <a:p>
            <a:pPr marL="0" indent="0">
              <a:buNone/>
            </a:pPr>
            <a:r>
              <a:rPr lang="en-IN" dirty="0"/>
              <a:t>        .get();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3851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FD481-E8BD-E73A-D886-C68BCCBD4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5DCBA-F9F6-64FC-3C4A-9AC41DA13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Event-Driven Inbound Adapter (Active)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8C0EB-3FA5-B256-3E0A-C2708855B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IN" dirty="0"/>
              <a:t>Use this when the external system </a:t>
            </a:r>
            <a:r>
              <a:rPr lang="en-IN" b="1" dirty="0"/>
              <a:t>pushes</a:t>
            </a:r>
            <a:r>
              <a:rPr lang="en-IN" dirty="0"/>
              <a:t> data to you. </a:t>
            </a:r>
          </a:p>
          <a:p>
            <a:r>
              <a:rPr lang="en-IN" dirty="0"/>
              <a:t>Adapter stays connected and reacts immediately when a message arrives.</a:t>
            </a:r>
          </a:p>
          <a:p>
            <a:r>
              <a:rPr lang="en-IN" b="1" dirty="0"/>
              <a:t>Examples:</a:t>
            </a:r>
            <a:r>
              <a:rPr lang="en-IN" dirty="0"/>
              <a:t> MQTT Subscriptions, RabbitMQ (AMQP) listeners, Kafka consumers, TCP sockets.</a:t>
            </a:r>
          </a:p>
          <a:p>
            <a:r>
              <a:rPr lang="en-US" dirty="0"/>
              <a:t>No Poller is needed here because the connection is active/persistent.</a:t>
            </a:r>
          </a:p>
          <a:p>
            <a:r>
              <a:rPr lang="en-US" b="1" dirty="0"/>
              <a:t>Event-Driven</a:t>
            </a:r>
            <a:r>
              <a:rPr lang="en-US" dirty="0"/>
              <a:t>: The adapter maintains a live connection. As soon as data hits the queue, the adapter’s internal listener receives it.</a:t>
            </a:r>
          </a:p>
          <a:p>
            <a:r>
              <a:rPr lang="en-US" b="1" dirty="0"/>
              <a:t>Efficiency</a:t>
            </a:r>
            <a:r>
              <a:rPr lang="en-US" dirty="0"/>
              <a:t>: Better than polling for high-frequency data because there is no "empty" checking; it only works when there is actual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3961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F03D4-3227-4E9D-05B1-7929A56BC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D169B-1808-44F5-077C-07E84799045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0412963" cy="708025"/>
          </a:xfrm>
        </p:spPr>
        <p:txBody>
          <a:bodyPr/>
          <a:lstStyle/>
          <a:p>
            <a:r>
              <a:rPr lang="en-IN" b="1" dirty="0">
                <a:solidFill>
                  <a:schemeClr val="tx2"/>
                </a:solidFill>
              </a:rPr>
              <a:t>Event-Driven Inbound Adapter (Active)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0301FC-F6D4-2D74-DF3A-9C8084405CCE}"/>
              </a:ext>
            </a:extLst>
          </p:cNvPr>
          <p:cNvSpPr txBox="1"/>
          <p:nvPr/>
        </p:nvSpPr>
        <p:spPr>
          <a:xfrm>
            <a:off x="326572" y="1705112"/>
            <a:ext cx="1090748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@Bean</a:t>
            </a:r>
          </a:p>
          <a:p>
            <a:r>
              <a:rPr lang="en-IN" dirty="0"/>
              <a:t>public </a:t>
            </a:r>
            <a:r>
              <a:rPr lang="en-IN" dirty="0" err="1"/>
              <a:t>IntegrationFlow</a:t>
            </a:r>
            <a:r>
              <a:rPr lang="en-IN" dirty="0"/>
              <a:t> </a:t>
            </a:r>
            <a:r>
              <a:rPr lang="en-IN" dirty="0" err="1"/>
              <a:t>amqpInboundFlow</a:t>
            </a:r>
            <a:r>
              <a:rPr lang="en-IN" dirty="0"/>
              <a:t>(</a:t>
            </a:r>
            <a:r>
              <a:rPr lang="en-IN" dirty="0" err="1"/>
              <a:t>ConnectionFactory</a:t>
            </a:r>
            <a:r>
              <a:rPr lang="en-IN" dirty="0"/>
              <a:t> </a:t>
            </a:r>
            <a:r>
              <a:rPr lang="en-IN" dirty="0" err="1"/>
              <a:t>connectionFactory</a:t>
            </a:r>
            <a:r>
              <a:rPr lang="en-IN" dirty="0"/>
              <a:t>) {</a:t>
            </a:r>
          </a:p>
          <a:p>
            <a:r>
              <a:rPr lang="en-IN" dirty="0"/>
              <a:t>    return </a:t>
            </a:r>
            <a:r>
              <a:rPr lang="en-IN" dirty="0" err="1"/>
              <a:t>IntegrationFlow.from</a:t>
            </a:r>
            <a:r>
              <a:rPr lang="en-IN" dirty="0"/>
              <a:t>(</a:t>
            </a:r>
          </a:p>
          <a:p>
            <a:r>
              <a:rPr lang="en-IN" dirty="0"/>
              <a:t>            // 1. Specify the Source (The Adapter)</a:t>
            </a:r>
          </a:p>
          <a:p>
            <a:r>
              <a:rPr lang="en-IN" dirty="0"/>
              <a:t>            </a:t>
            </a:r>
            <a:r>
              <a:rPr lang="en-IN" dirty="0" err="1"/>
              <a:t>Amqp.inboundAdapter</a:t>
            </a:r>
            <a:r>
              <a:rPr lang="en-IN" dirty="0"/>
              <a:t>(</a:t>
            </a:r>
            <a:r>
              <a:rPr lang="en-IN" dirty="0" err="1"/>
              <a:t>connectionFactory</a:t>
            </a:r>
            <a:r>
              <a:rPr lang="en-IN" dirty="0"/>
              <a:t>, "</a:t>
            </a:r>
            <a:r>
              <a:rPr lang="en-IN" dirty="0" err="1"/>
              <a:t>myQueueName</a:t>
            </a:r>
            <a:r>
              <a:rPr lang="en-IN" dirty="0"/>
              <a:t>")</a:t>
            </a:r>
          </a:p>
          <a:p>
            <a:r>
              <a:rPr lang="en-IN" dirty="0"/>
              <a:t>        )</a:t>
            </a:r>
          </a:p>
          <a:p>
            <a:r>
              <a:rPr lang="en-IN" dirty="0"/>
              <a:t>        // 2. No </a:t>
            </a:r>
            <a:r>
              <a:rPr lang="en-IN" dirty="0" err="1"/>
              <a:t>poller</a:t>
            </a:r>
            <a:r>
              <a:rPr lang="en-IN" dirty="0"/>
              <a:t> needed! RabbitMQ "pushes" the data to us.</a:t>
            </a:r>
          </a:p>
          <a:p>
            <a:r>
              <a:rPr lang="en-IN" dirty="0"/>
              <a:t>        </a:t>
            </a:r>
          </a:p>
          <a:p>
            <a:r>
              <a:rPr lang="en-IN" dirty="0"/>
              <a:t>        // 3. Transform the byte[] from RabbitMQ into a String</a:t>
            </a:r>
          </a:p>
          <a:p>
            <a:r>
              <a:rPr lang="en-IN" dirty="0"/>
              <a:t>        .transform(</a:t>
            </a:r>
            <a:r>
              <a:rPr lang="en-IN" dirty="0" err="1"/>
              <a:t>Transformers.objectToString</a:t>
            </a:r>
            <a:r>
              <a:rPr lang="en-IN" dirty="0"/>
              <a:t>())</a:t>
            </a:r>
          </a:p>
          <a:p>
            <a:r>
              <a:rPr lang="en-IN" dirty="0"/>
              <a:t>        </a:t>
            </a:r>
          </a:p>
          <a:p>
            <a:r>
              <a:rPr lang="en-IN" dirty="0"/>
              <a:t>        .handle(payload -&gt; {</a:t>
            </a:r>
          </a:p>
          <a:p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("Received from RabbitMQ: " + payload);</a:t>
            </a:r>
          </a:p>
          <a:p>
            <a:r>
              <a:rPr lang="en-IN" dirty="0"/>
              <a:t>        })</a:t>
            </a:r>
          </a:p>
          <a:p>
            <a:r>
              <a:rPr lang="en-IN" dirty="0"/>
              <a:t>        .get();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89D9E8-3CB3-FC7B-058E-000274F68289}"/>
              </a:ext>
            </a:extLst>
          </p:cNvPr>
          <p:cNvSpPr txBox="1"/>
          <p:nvPr/>
        </p:nvSpPr>
        <p:spPr>
          <a:xfrm>
            <a:off x="229767" y="744903"/>
            <a:ext cx="10075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Inter"/>
              </a:rPr>
              <a:t>Scenario:</a:t>
            </a:r>
            <a:r>
              <a:rPr lang="en-US" b="0" i="0" dirty="0">
                <a:effectLst/>
                <a:latin typeface="Inter"/>
              </a:rPr>
              <a:t> You are subscribed to a RabbitMQ (AMQP) queue. Whenever a message is pushed to that queue by the broker, your application reacts immediately.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7986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6AEC8-0B4C-893C-BDE0-627BB03A9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A723E-958E-D2CC-ED65-BEABBD0F9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Outbound Channel Adapters (Sink)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24E7C-9EE2-62F2-05A1-A3005AC99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US" dirty="0"/>
              <a:t>Outbound Adapter is the </a:t>
            </a:r>
            <a:r>
              <a:rPr lang="en-US" b="1" dirty="0"/>
              <a:t>end point</a:t>
            </a:r>
            <a:r>
              <a:rPr lang="en-US" dirty="0"/>
              <a:t> of a flow. </a:t>
            </a:r>
          </a:p>
          <a:p>
            <a:r>
              <a:rPr lang="en-US" dirty="0"/>
              <a:t>Takes a message from a channel and sends it to an external system. </a:t>
            </a:r>
          </a:p>
          <a:p>
            <a:r>
              <a:rPr lang="en-US" dirty="0"/>
              <a:t>Because it is a "One-Way" adapter, it does </a:t>
            </a:r>
            <a:r>
              <a:rPr lang="en-US" b="1" dirty="0"/>
              <a:t>not</a:t>
            </a:r>
            <a:r>
              <a:rPr lang="en-US" dirty="0"/>
              <a:t> wait for a response or bring any data back into the flow.</a:t>
            </a:r>
          </a:p>
          <a:p>
            <a:r>
              <a:rPr lang="en-US" dirty="0"/>
              <a:t>Used to send a message to an external system where no response is needed (Fire and Forget).</a:t>
            </a:r>
          </a:p>
          <a:p>
            <a:r>
              <a:rPr lang="en-US" b="1" dirty="0"/>
              <a:t>.handle()</a:t>
            </a:r>
            <a:r>
              <a:rPr lang="en-US" dirty="0"/>
              <a:t>: In Spring Integration, .handle() is used for Outbound Adapters.</a:t>
            </a:r>
          </a:p>
          <a:p>
            <a:pPr lvl="1"/>
            <a:r>
              <a:rPr lang="en-US" dirty="0"/>
              <a:t>"handles" the message by sending it out of the system.</a:t>
            </a:r>
          </a:p>
          <a:p>
            <a:r>
              <a:rPr lang="en-US" b="1" dirty="0"/>
              <a:t>No Return</a:t>
            </a:r>
            <a:r>
              <a:rPr lang="en-US" dirty="0"/>
              <a:t>: Unlike a Gateway , this adapter returns void.</a:t>
            </a:r>
          </a:p>
          <a:p>
            <a:pPr lvl="1"/>
            <a:r>
              <a:rPr lang="en-US" dirty="0"/>
              <a:t>Consumes the message and the flow terminates.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7715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239E42-7771-53D6-6CD5-758F12629EC7}"/>
              </a:ext>
            </a:extLst>
          </p:cNvPr>
          <p:cNvSpPr txBox="1"/>
          <p:nvPr/>
        </p:nvSpPr>
        <p:spPr>
          <a:xfrm>
            <a:off x="569168" y="2299353"/>
            <a:ext cx="1119673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@Bean</a:t>
            </a:r>
          </a:p>
          <a:p>
            <a:r>
              <a:rPr lang="en-IN" dirty="0"/>
              <a:t>public </a:t>
            </a:r>
            <a:r>
              <a:rPr lang="en-IN" dirty="0" err="1"/>
              <a:t>IntegrationFlow</a:t>
            </a:r>
            <a:r>
              <a:rPr lang="en-IN" dirty="0"/>
              <a:t> </a:t>
            </a:r>
            <a:r>
              <a:rPr lang="en-IN" dirty="0" err="1"/>
              <a:t>dbLoggingFlow</a:t>
            </a:r>
            <a:r>
              <a:rPr lang="en-IN" dirty="0"/>
              <a:t>(</a:t>
            </a:r>
            <a:r>
              <a:rPr lang="en-IN" dirty="0" err="1"/>
              <a:t>DataSource</a:t>
            </a:r>
            <a:r>
              <a:rPr lang="en-IN" dirty="0"/>
              <a:t> </a:t>
            </a:r>
            <a:r>
              <a:rPr lang="en-IN" dirty="0" err="1"/>
              <a:t>dataSource</a:t>
            </a:r>
            <a:r>
              <a:rPr lang="en-IN" dirty="0"/>
              <a:t>) {</a:t>
            </a:r>
          </a:p>
          <a:p>
            <a:r>
              <a:rPr lang="en-IN" dirty="0"/>
              <a:t>    return </a:t>
            </a:r>
            <a:r>
              <a:rPr lang="en-IN" dirty="0" err="1"/>
              <a:t>IntegrationFlow.from</a:t>
            </a:r>
            <a:r>
              <a:rPr lang="en-IN" dirty="0"/>
              <a:t>("</a:t>
            </a:r>
            <a:r>
              <a:rPr lang="en-IN" dirty="0" err="1"/>
              <a:t>loggingChannel</a:t>
            </a:r>
            <a:r>
              <a:rPr lang="en-IN" dirty="0"/>
              <a:t>") // Flow starts when a </a:t>
            </a:r>
            <a:r>
              <a:rPr lang="en-IN" dirty="0" err="1"/>
              <a:t>msg</a:t>
            </a:r>
            <a:r>
              <a:rPr lang="en-IN" dirty="0"/>
              <a:t> hits this channel</a:t>
            </a:r>
          </a:p>
          <a:p>
            <a:r>
              <a:rPr lang="en-IN" dirty="0"/>
              <a:t>            </a:t>
            </a:r>
          </a:p>
          <a:p>
            <a:r>
              <a:rPr lang="en-IN" dirty="0"/>
              <a:t>          </a:t>
            </a:r>
            <a:r>
              <a:rPr lang="en-IN" b="1" dirty="0"/>
              <a:t>  // 1. The Adapter (The Sink)</a:t>
            </a:r>
          </a:p>
          <a:p>
            <a:r>
              <a:rPr lang="en-IN" dirty="0"/>
              <a:t>            .handle(</a:t>
            </a:r>
            <a:r>
              <a:rPr lang="en-IN" dirty="0" err="1"/>
              <a:t>Jdbc.outboundAdapter</a:t>
            </a:r>
            <a:r>
              <a:rPr lang="en-IN" dirty="0"/>
              <a:t>(</a:t>
            </a:r>
            <a:r>
              <a:rPr lang="en-IN" dirty="0" err="1"/>
              <a:t>dataSource</a:t>
            </a:r>
            <a:r>
              <a:rPr lang="en-IN" dirty="0"/>
              <a:t>)</a:t>
            </a:r>
          </a:p>
          <a:p>
            <a:r>
              <a:rPr lang="en-IN" dirty="0"/>
              <a:t>                    .update("INSERT INTO logs (</a:t>
            </a:r>
            <a:r>
              <a:rPr lang="en-IN" dirty="0" err="1"/>
              <a:t>message_text</a:t>
            </a:r>
            <a:r>
              <a:rPr lang="en-IN" dirty="0"/>
              <a:t>, </a:t>
            </a:r>
            <a:r>
              <a:rPr lang="en-IN" dirty="0" err="1"/>
              <a:t>created_at</a:t>
            </a:r>
            <a:r>
              <a:rPr lang="en-IN" dirty="0"/>
              <a:t>) VALUES (?, NOW())")</a:t>
            </a:r>
          </a:p>
          <a:p>
            <a:r>
              <a:rPr lang="en-IN" dirty="0"/>
              <a:t>                    .</a:t>
            </a:r>
            <a:r>
              <a:rPr lang="en-IN" dirty="0" err="1"/>
              <a:t>payloadSetter</a:t>
            </a:r>
            <a:r>
              <a:rPr lang="en-IN" dirty="0"/>
              <a:t>((</a:t>
            </a:r>
            <a:r>
              <a:rPr lang="en-IN" dirty="0" err="1"/>
              <a:t>ps</a:t>
            </a:r>
            <a:r>
              <a:rPr lang="en-IN" dirty="0"/>
              <a:t>, </a:t>
            </a:r>
            <a:r>
              <a:rPr lang="en-IN" dirty="0" err="1"/>
              <a:t>msg</a:t>
            </a:r>
            <a:r>
              <a:rPr lang="en-IN" dirty="0"/>
              <a:t>) -&gt; {</a:t>
            </a:r>
          </a:p>
          <a:p>
            <a:r>
              <a:rPr lang="en-IN" dirty="0"/>
              <a:t>                        // </a:t>
            </a:r>
            <a:r>
              <a:rPr lang="en-IN" dirty="0" err="1"/>
              <a:t>msg.getPayload</a:t>
            </a:r>
            <a:r>
              <a:rPr lang="en-IN" dirty="0"/>
              <a:t>() contains the text we want to log</a:t>
            </a:r>
          </a:p>
          <a:p>
            <a:r>
              <a:rPr lang="en-IN" dirty="0"/>
              <a:t>                        </a:t>
            </a:r>
            <a:r>
              <a:rPr lang="en-IN" dirty="0" err="1"/>
              <a:t>ps.setString</a:t>
            </a:r>
            <a:r>
              <a:rPr lang="en-IN" dirty="0"/>
              <a:t>(1, </a:t>
            </a:r>
            <a:r>
              <a:rPr lang="en-IN" dirty="0" err="1"/>
              <a:t>msg.getPayload</a:t>
            </a:r>
            <a:r>
              <a:rPr lang="en-IN" dirty="0"/>
              <a:t>().</a:t>
            </a:r>
            <a:r>
              <a:rPr lang="en-IN" dirty="0" err="1"/>
              <a:t>toString</a:t>
            </a:r>
            <a:r>
              <a:rPr lang="en-IN" dirty="0"/>
              <a:t>());</a:t>
            </a:r>
          </a:p>
          <a:p>
            <a:r>
              <a:rPr lang="en-IN" dirty="0"/>
              <a:t>                    })</a:t>
            </a:r>
          </a:p>
          <a:p>
            <a:r>
              <a:rPr lang="en-IN" dirty="0"/>
              <a:t>            )</a:t>
            </a:r>
          </a:p>
          <a:p>
            <a:r>
              <a:rPr lang="en-IN" dirty="0"/>
              <a:t>            </a:t>
            </a:r>
            <a:r>
              <a:rPr lang="en-IN" b="1" dirty="0"/>
              <a:t>// 2. The flow ENDS here.</a:t>
            </a:r>
          </a:p>
          <a:p>
            <a:r>
              <a:rPr lang="en-IN" dirty="0"/>
              <a:t>            .get();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1F8A55-B8DF-B61D-AE1E-9C07AFC7A604}"/>
              </a:ext>
            </a:extLst>
          </p:cNvPr>
          <p:cNvSpPr txBox="1"/>
          <p:nvPr/>
        </p:nvSpPr>
        <p:spPr>
          <a:xfrm>
            <a:off x="602990" y="531449"/>
            <a:ext cx="9562711" cy="109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1" i="0" dirty="0">
                <a:effectLst/>
                <a:latin typeface="Inter"/>
              </a:rPr>
              <a:t>Outbound Channel Adapter (Fire and Forget)</a:t>
            </a:r>
          </a:p>
          <a:p>
            <a:pPr algn="l">
              <a:buNone/>
            </a:pPr>
            <a:endParaRPr lang="en-US" b="1" i="0" dirty="0">
              <a:solidFill>
                <a:srgbClr val="D4D4D4"/>
              </a:solidFill>
              <a:effectLst/>
              <a:latin typeface="Inter"/>
            </a:endParaRPr>
          </a:p>
          <a:p>
            <a:pPr algn="l">
              <a:lnSpc>
                <a:spcPts val="1575"/>
              </a:lnSpc>
              <a:spcAft>
                <a:spcPts val="1350"/>
              </a:spcAft>
              <a:buNone/>
            </a:pPr>
            <a:r>
              <a:rPr lang="en-US" b="1" i="0" dirty="0">
                <a:effectLst/>
                <a:latin typeface="Inter"/>
              </a:rPr>
              <a:t>Scenario:</a:t>
            </a:r>
            <a:r>
              <a:rPr lang="en-US" b="0" i="0" dirty="0">
                <a:effectLst/>
                <a:latin typeface="Inter"/>
              </a:rPr>
              <a:t> After processing an order, you want to log the result into a Database. You don't need the database to send anything back; you just want to "dump" the data there.</a:t>
            </a:r>
          </a:p>
        </p:txBody>
      </p:sp>
    </p:spTree>
    <p:extLst>
      <p:ext uri="{BB962C8B-B14F-4D97-AF65-F5344CB8AC3E}">
        <p14:creationId xmlns:p14="http://schemas.microsoft.com/office/powerpoint/2010/main" val="2006283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EEF43-14D2-7869-09AA-11AECB9E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689B-4E7B-E8A9-D07D-C413424AF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Example: Writing to a Database (JDBC Outbound)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F404A-D1C4-5607-9EDD-09E91705B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@Bean</a:t>
            </a:r>
          </a:p>
          <a:p>
            <a:pPr marL="0" indent="0">
              <a:buNone/>
            </a:pPr>
            <a:r>
              <a:rPr lang="en-IN" dirty="0"/>
              <a:t>public </a:t>
            </a:r>
            <a:r>
              <a:rPr lang="en-IN" dirty="0" err="1"/>
              <a:t>IntegrationFlow</a:t>
            </a:r>
            <a:r>
              <a:rPr lang="en-IN" dirty="0"/>
              <a:t> </a:t>
            </a:r>
            <a:r>
              <a:rPr lang="en-IN" dirty="0" err="1"/>
              <a:t>databaseOutboundFlow</a:t>
            </a:r>
            <a:r>
              <a:rPr lang="en-IN" dirty="0"/>
              <a:t>(</a:t>
            </a:r>
            <a:r>
              <a:rPr lang="en-IN" dirty="0" err="1"/>
              <a:t>DataSource</a:t>
            </a:r>
            <a:r>
              <a:rPr lang="en-IN" dirty="0"/>
              <a:t> </a:t>
            </a:r>
            <a:r>
              <a:rPr lang="en-IN" dirty="0" err="1"/>
              <a:t>dataSource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return </a:t>
            </a:r>
            <a:r>
              <a:rPr lang="en-IN" dirty="0" err="1"/>
              <a:t>IntegrationFlow.from</a:t>
            </a:r>
            <a:r>
              <a:rPr lang="en-IN" dirty="0"/>
              <a:t>("</a:t>
            </a:r>
            <a:r>
              <a:rPr lang="en-IN" dirty="0" err="1"/>
              <a:t>saveOrderChannel</a:t>
            </a:r>
            <a:r>
              <a:rPr lang="en-IN" dirty="0"/>
              <a:t>")</a:t>
            </a:r>
          </a:p>
          <a:p>
            <a:pPr marL="0" indent="0">
              <a:buNone/>
            </a:pPr>
            <a:r>
              <a:rPr lang="en-IN" dirty="0"/>
              <a:t>        .handle(</a:t>
            </a:r>
            <a:r>
              <a:rPr lang="en-IN" dirty="0" err="1"/>
              <a:t>Jdbc.outboundAdapter</a:t>
            </a:r>
            <a:r>
              <a:rPr lang="en-IN" dirty="0"/>
              <a:t>(</a:t>
            </a:r>
            <a:r>
              <a:rPr lang="en-IN" dirty="0" err="1"/>
              <a:t>dataSource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           .update("INSERT INTO orders (id, status) VALUES (:payload.id, :</a:t>
            </a:r>
            <a:r>
              <a:rPr lang="en-IN" dirty="0" err="1"/>
              <a:t>payload.status</a:t>
            </a:r>
            <a:r>
              <a:rPr lang="en-IN" dirty="0"/>
              <a:t>)")</a:t>
            </a:r>
          </a:p>
          <a:p>
            <a:pPr marL="0" indent="0">
              <a:buNone/>
            </a:pPr>
            <a:r>
              <a:rPr lang="en-IN" dirty="0"/>
              <a:t>                .</a:t>
            </a:r>
            <a:r>
              <a:rPr lang="en-IN" dirty="0" err="1"/>
              <a:t>payloadSetter</a:t>
            </a:r>
            <a:r>
              <a:rPr lang="en-IN" dirty="0"/>
              <a:t>((</a:t>
            </a:r>
            <a:r>
              <a:rPr lang="en-IN" dirty="0" err="1"/>
              <a:t>ps</a:t>
            </a:r>
            <a:r>
              <a:rPr lang="en-IN" dirty="0"/>
              <a:t>, </a:t>
            </a:r>
            <a:r>
              <a:rPr lang="en-IN" dirty="0" err="1"/>
              <a:t>msg</a:t>
            </a:r>
            <a:r>
              <a:rPr lang="en-IN" dirty="0"/>
              <a:t>) -&gt; {</a:t>
            </a:r>
          </a:p>
          <a:p>
            <a:pPr marL="0" indent="0">
              <a:buNone/>
            </a:pPr>
            <a:r>
              <a:rPr lang="en-IN" dirty="0"/>
              <a:t>                   // Custom logic to set parameters if needed</a:t>
            </a:r>
          </a:p>
          <a:p>
            <a:pPr marL="0" indent="0">
              <a:buNone/>
            </a:pPr>
            <a:r>
              <a:rPr lang="en-IN" dirty="0"/>
              <a:t>                })</a:t>
            </a:r>
          </a:p>
          <a:p>
            <a:pPr marL="0" indent="0">
              <a:buNone/>
            </a:pPr>
            <a:r>
              <a:rPr lang="en-IN" dirty="0"/>
              <a:t>        )</a:t>
            </a:r>
          </a:p>
          <a:p>
            <a:pPr marL="0" indent="0">
              <a:buNone/>
            </a:pPr>
            <a:r>
              <a:rPr lang="en-IN" dirty="0"/>
              <a:t>        // Flow ends here. Nothing is returned.</a:t>
            </a:r>
          </a:p>
          <a:p>
            <a:pPr marL="0" indent="0">
              <a:buNone/>
            </a:pPr>
            <a:r>
              <a:rPr lang="en-IN" dirty="0"/>
              <a:t>        .get();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0498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D44C9-48C5-3A64-AAF9-2DC1FC29E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0E6EA-C0F2-FA01-1C2E-15C6299CD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Example: Sending an Email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7645F-0B91-2CCD-2012-3AABDE854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@Bean</a:t>
            </a:r>
          </a:p>
          <a:p>
            <a:pPr marL="0" indent="0">
              <a:buNone/>
            </a:pPr>
            <a:r>
              <a:rPr lang="en-IN" dirty="0"/>
              <a:t>public </a:t>
            </a:r>
            <a:r>
              <a:rPr lang="en-IN" dirty="0" err="1"/>
              <a:t>IntegrationFlow</a:t>
            </a:r>
            <a:r>
              <a:rPr lang="en-IN" dirty="0"/>
              <a:t> </a:t>
            </a:r>
            <a:r>
              <a:rPr lang="en-IN" dirty="0" err="1"/>
              <a:t>emailOutboundFlow</a:t>
            </a:r>
            <a:r>
              <a:rPr lang="en-IN" dirty="0"/>
              <a:t>(</a:t>
            </a:r>
            <a:r>
              <a:rPr lang="en-IN" dirty="0" err="1"/>
              <a:t>MailSender</a:t>
            </a:r>
            <a:r>
              <a:rPr lang="en-IN" dirty="0"/>
              <a:t> </a:t>
            </a:r>
            <a:r>
              <a:rPr lang="en-IN" dirty="0" err="1"/>
              <a:t>mailSender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return </a:t>
            </a:r>
            <a:r>
              <a:rPr lang="en-IN" dirty="0" err="1"/>
              <a:t>IntegrationFlow.from</a:t>
            </a:r>
            <a:r>
              <a:rPr lang="en-IN" dirty="0"/>
              <a:t>("</a:t>
            </a:r>
            <a:r>
              <a:rPr lang="en-IN" dirty="0" err="1"/>
              <a:t>alertChannel</a:t>
            </a:r>
            <a:r>
              <a:rPr lang="en-IN" dirty="0"/>
              <a:t>")</a:t>
            </a:r>
          </a:p>
          <a:p>
            <a:pPr marL="0" indent="0">
              <a:buNone/>
            </a:pPr>
            <a:r>
              <a:rPr lang="en-IN" dirty="0"/>
              <a:t>        .handle(</a:t>
            </a:r>
            <a:r>
              <a:rPr lang="en-IN" dirty="0" err="1"/>
              <a:t>Mail.outboundAdapter</a:t>
            </a:r>
            <a:r>
              <a:rPr lang="en-IN" dirty="0"/>
              <a:t>("smtp.example.com")</a:t>
            </a:r>
          </a:p>
          <a:p>
            <a:pPr marL="0" indent="0">
              <a:buNone/>
            </a:pPr>
            <a:r>
              <a:rPr lang="en-IN" dirty="0"/>
              <a:t>                .from("alerts@company.com")</a:t>
            </a:r>
          </a:p>
          <a:p>
            <a:pPr marL="0" indent="0">
              <a:buNone/>
            </a:pPr>
            <a:r>
              <a:rPr lang="en-IN" dirty="0"/>
              <a:t>                .to("admin@company.com")</a:t>
            </a:r>
          </a:p>
          <a:p>
            <a:pPr marL="0" indent="0">
              <a:buNone/>
            </a:pPr>
            <a:r>
              <a:rPr lang="en-IN" dirty="0"/>
              <a:t>                .subject("System Error")</a:t>
            </a:r>
          </a:p>
          <a:p>
            <a:pPr marL="0" indent="0">
              <a:buNone/>
            </a:pPr>
            <a:r>
              <a:rPr lang="en-IN" dirty="0"/>
              <a:t>        )</a:t>
            </a:r>
          </a:p>
          <a:p>
            <a:pPr marL="0" indent="0">
              <a:buNone/>
            </a:pPr>
            <a:r>
              <a:rPr lang="en-IN" dirty="0"/>
              <a:t>        .get();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7152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A05EA-610B-298E-859F-5BC3E42B3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Example Logging Outbound Adapter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2B3B7-46A1-0FEF-8085-D367B789B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@Bean</a:t>
            </a:r>
          </a:p>
          <a:p>
            <a:pPr marL="0" indent="0">
              <a:buNone/>
            </a:pPr>
            <a:r>
              <a:rPr lang="en-IN" dirty="0"/>
              <a:t>public </a:t>
            </a:r>
            <a:r>
              <a:rPr lang="en-IN" dirty="0" err="1"/>
              <a:t>IntegrationFlow</a:t>
            </a:r>
            <a:r>
              <a:rPr lang="en-IN" dirty="0"/>
              <a:t> </a:t>
            </a:r>
            <a:r>
              <a:rPr lang="en-IN" dirty="0" err="1"/>
              <a:t>logFlow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return </a:t>
            </a:r>
            <a:r>
              <a:rPr lang="en-IN" dirty="0" err="1"/>
              <a:t>IntegrationFlow.from</a:t>
            </a:r>
            <a:r>
              <a:rPr lang="en-IN" dirty="0"/>
              <a:t>("</a:t>
            </a:r>
            <a:r>
              <a:rPr lang="en-IN" dirty="0" err="1"/>
              <a:t>dataChannel</a:t>
            </a:r>
            <a:r>
              <a:rPr lang="en-IN" dirty="0"/>
              <a:t>")</a:t>
            </a:r>
          </a:p>
          <a:p>
            <a:pPr marL="0" indent="0">
              <a:buNone/>
            </a:pPr>
            <a:r>
              <a:rPr lang="en-IN" dirty="0"/>
              <a:t>            .handle(</a:t>
            </a:r>
            <a:r>
              <a:rPr lang="en-IN" dirty="0" err="1"/>
              <a:t>Files.outboundAdapter</a:t>
            </a:r>
            <a:r>
              <a:rPr lang="en-IN" dirty="0"/>
              <a:t>(new File("output-</a:t>
            </a:r>
            <a:r>
              <a:rPr lang="en-IN" dirty="0" err="1"/>
              <a:t>dir</a:t>
            </a:r>
            <a:r>
              <a:rPr lang="en-IN" dirty="0"/>
              <a:t>"))</a:t>
            </a:r>
          </a:p>
          <a:p>
            <a:pPr marL="0" indent="0">
              <a:buNone/>
            </a:pPr>
            <a:r>
              <a:rPr lang="en-IN" dirty="0"/>
              <a:t>                .</a:t>
            </a:r>
            <a:r>
              <a:rPr lang="en-IN" dirty="0" err="1"/>
              <a:t>fileNameGenerator</a:t>
            </a:r>
            <a:r>
              <a:rPr lang="en-IN" dirty="0"/>
              <a:t>(m -&gt; "log-" + </a:t>
            </a:r>
            <a:r>
              <a:rPr lang="en-IN" dirty="0" err="1"/>
              <a:t>System.currentTimeMillis</a:t>
            </a:r>
            <a:r>
              <a:rPr lang="en-IN" dirty="0"/>
              <a:t>() + ".txt"))</a:t>
            </a:r>
          </a:p>
          <a:p>
            <a:pPr marL="0" indent="0">
              <a:buNone/>
            </a:pPr>
            <a:r>
              <a:rPr lang="en-IN" dirty="0"/>
              <a:t>            .get();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23595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F32CAE-BB0A-F598-C96C-D8F83E961D3B}"/>
              </a:ext>
            </a:extLst>
          </p:cNvPr>
          <p:cNvSpPr txBox="1"/>
          <p:nvPr/>
        </p:nvSpPr>
        <p:spPr>
          <a:xfrm>
            <a:off x="797766" y="2358829"/>
            <a:ext cx="1071154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@Bean</a:t>
            </a:r>
          </a:p>
          <a:p>
            <a:r>
              <a:rPr lang="en-IN" dirty="0"/>
              <a:t>public </a:t>
            </a:r>
            <a:r>
              <a:rPr lang="en-IN" dirty="0" err="1"/>
              <a:t>IntegrationFlow</a:t>
            </a:r>
            <a:r>
              <a:rPr lang="en-IN" dirty="0"/>
              <a:t> </a:t>
            </a:r>
            <a:r>
              <a:rPr lang="en-IN" dirty="0" err="1"/>
              <a:t>slackNotificationFlow</a:t>
            </a:r>
            <a:r>
              <a:rPr lang="en-IN" dirty="0"/>
              <a:t>() {</a:t>
            </a:r>
          </a:p>
          <a:p>
            <a:r>
              <a:rPr lang="en-IN" dirty="0"/>
              <a:t>    return </a:t>
            </a:r>
            <a:r>
              <a:rPr lang="en-IN" dirty="0" err="1"/>
              <a:t>IntegrationFlow.from</a:t>
            </a:r>
            <a:r>
              <a:rPr lang="en-IN" dirty="0"/>
              <a:t>("</a:t>
            </a:r>
            <a:r>
              <a:rPr lang="en-IN" dirty="0" err="1"/>
              <a:t>errorChannel</a:t>
            </a:r>
            <a:r>
              <a:rPr lang="en-IN" dirty="0"/>
              <a:t>")</a:t>
            </a:r>
          </a:p>
          <a:p>
            <a:r>
              <a:rPr lang="en-IN" dirty="0"/>
              <a:t>           </a:t>
            </a:r>
            <a:r>
              <a:rPr lang="en-IN" b="1" dirty="0"/>
              <a:t> // 1. Convert the error into a JSON Map</a:t>
            </a:r>
          </a:p>
          <a:p>
            <a:r>
              <a:rPr lang="en-IN" b="1" dirty="0"/>
              <a:t>           </a:t>
            </a:r>
            <a:r>
              <a:rPr lang="en-IN" dirty="0"/>
              <a:t> .transform(m -&gt; </a:t>
            </a:r>
            <a:r>
              <a:rPr lang="en-IN" dirty="0" err="1"/>
              <a:t>Collections.singletonMap</a:t>
            </a:r>
            <a:r>
              <a:rPr lang="en-IN" dirty="0"/>
              <a:t>("content", "Error: " + </a:t>
            </a:r>
            <a:r>
              <a:rPr lang="en-IN" dirty="0" err="1"/>
              <a:t>m.toString</a:t>
            </a:r>
            <a:r>
              <a:rPr lang="en-IN" dirty="0"/>
              <a:t>()))</a:t>
            </a:r>
          </a:p>
          <a:p>
            <a:r>
              <a:rPr lang="en-IN" dirty="0"/>
              <a:t>            </a:t>
            </a:r>
          </a:p>
          <a:p>
            <a:r>
              <a:rPr lang="en-IN" dirty="0"/>
              <a:t>           </a:t>
            </a:r>
            <a:r>
              <a:rPr lang="en-IN" b="1" dirty="0"/>
              <a:t> // 2. Outbound Adapter (Fire and Forget)</a:t>
            </a:r>
          </a:p>
          <a:p>
            <a:r>
              <a:rPr lang="en-IN" dirty="0"/>
              <a:t>            .handle(</a:t>
            </a:r>
            <a:r>
              <a:rPr lang="en-IN" dirty="0" err="1"/>
              <a:t>Http.outboundChannelAdapter</a:t>
            </a:r>
            <a:r>
              <a:rPr lang="en-IN" dirty="0"/>
              <a:t>("https://discord.com/</a:t>
            </a:r>
            <a:r>
              <a:rPr lang="en-IN" dirty="0" err="1"/>
              <a:t>api</a:t>
            </a:r>
            <a:r>
              <a:rPr lang="en-IN" dirty="0"/>
              <a:t>/webhooks/...")</a:t>
            </a:r>
          </a:p>
          <a:p>
            <a:r>
              <a:rPr lang="en-IN" dirty="0"/>
              <a:t>                    .</a:t>
            </a:r>
            <a:r>
              <a:rPr lang="en-IN" dirty="0" err="1"/>
              <a:t>httpMethod</a:t>
            </a:r>
            <a:r>
              <a:rPr lang="en-IN" dirty="0"/>
              <a:t>(</a:t>
            </a:r>
            <a:r>
              <a:rPr lang="en-IN" dirty="0" err="1"/>
              <a:t>HttpMethod.POST</a:t>
            </a:r>
            <a:r>
              <a:rPr lang="en-IN" dirty="0"/>
              <a:t>)</a:t>
            </a:r>
          </a:p>
          <a:p>
            <a:r>
              <a:rPr lang="en-IN" dirty="0"/>
              <a:t>                    .</a:t>
            </a:r>
            <a:r>
              <a:rPr lang="en-IN" dirty="0" err="1"/>
              <a:t>expectedResponseType</a:t>
            </a:r>
            <a:r>
              <a:rPr lang="en-IN" dirty="0"/>
              <a:t>(</a:t>
            </a:r>
            <a:r>
              <a:rPr lang="en-IN" dirty="0" err="1"/>
              <a:t>String.class</a:t>
            </a:r>
            <a:r>
              <a:rPr lang="en-IN" dirty="0"/>
              <a:t>))</a:t>
            </a:r>
          </a:p>
          <a:p>
            <a:r>
              <a:rPr lang="en-IN" dirty="0"/>
              <a:t>            .get();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09D932-C77B-FF65-77BD-F4A197FB533E}"/>
              </a:ext>
            </a:extLst>
          </p:cNvPr>
          <p:cNvSpPr txBox="1"/>
          <p:nvPr/>
        </p:nvSpPr>
        <p:spPr>
          <a:xfrm>
            <a:off x="486358" y="746053"/>
            <a:ext cx="9609364" cy="1266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dirty="0">
                <a:effectLst/>
                <a:latin typeface="Inter"/>
              </a:rPr>
              <a:t>Outbound "Webhook" Adapter (HTTP)</a:t>
            </a:r>
          </a:p>
          <a:p>
            <a:pPr algn="l">
              <a:lnSpc>
                <a:spcPts val="1575"/>
              </a:lnSpc>
              <a:spcAft>
                <a:spcPts val="1350"/>
              </a:spcAft>
              <a:buNone/>
            </a:pPr>
            <a:endParaRPr lang="en-US" b="1" i="0" dirty="0">
              <a:effectLst/>
              <a:latin typeface="Inter"/>
            </a:endParaRPr>
          </a:p>
          <a:p>
            <a:pPr algn="l">
              <a:lnSpc>
                <a:spcPts val="1575"/>
              </a:lnSpc>
              <a:spcAft>
                <a:spcPts val="1350"/>
              </a:spcAft>
              <a:buNone/>
            </a:pPr>
            <a:r>
              <a:rPr lang="en-US" b="1" i="0" dirty="0">
                <a:effectLst/>
                <a:latin typeface="Inter"/>
              </a:rPr>
              <a:t>Scenario:</a:t>
            </a:r>
            <a:r>
              <a:rPr lang="en-US" b="0" i="0" dirty="0">
                <a:effectLst/>
                <a:latin typeface="Inter"/>
              </a:rPr>
              <a:t> You want to send a notification to a Discord or Slack Webhook every time an error occurs. Don't care about the response from Slack; just want to send the POST request.</a:t>
            </a:r>
          </a:p>
        </p:txBody>
      </p:sp>
    </p:spTree>
    <p:extLst>
      <p:ext uri="{BB962C8B-B14F-4D97-AF65-F5344CB8AC3E}">
        <p14:creationId xmlns:p14="http://schemas.microsoft.com/office/powerpoint/2010/main" val="417366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54EF0-CC2E-7BC6-5D2F-17399FC1C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59D1-DB83-79DF-DB0E-A14505614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Adapter usage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F34A3F-1284-3E10-5CC6-AD6D2A74074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55700" y="2603500"/>
          <a:ext cx="9952396" cy="334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8099">
                  <a:extLst>
                    <a:ext uri="{9D8B030D-6E8A-4147-A177-3AD203B41FA5}">
                      <a16:colId xmlns:a16="http://schemas.microsoft.com/office/drawing/2014/main" val="121181824"/>
                    </a:ext>
                  </a:extLst>
                </a:gridCol>
                <a:gridCol w="2488099">
                  <a:extLst>
                    <a:ext uri="{9D8B030D-6E8A-4147-A177-3AD203B41FA5}">
                      <a16:colId xmlns:a16="http://schemas.microsoft.com/office/drawing/2014/main" val="1832336728"/>
                    </a:ext>
                  </a:extLst>
                </a:gridCol>
                <a:gridCol w="2488099">
                  <a:extLst>
                    <a:ext uri="{9D8B030D-6E8A-4147-A177-3AD203B41FA5}">
                      <a16:colId xmlns:a16="http://schemas.microsoft.com/office/drawing/2014/main" val="886037066"/>
                    </a:ext>
                  </a:extLst>
                </a:gridCol>
                <a:gridCol w="2488099">
                  <a:extLst>
                    <a:ext uri="{9D8B030D-6E8A-4147-A177-3AD203B41FA5}">
                      <a16:colId xmlns:a16="http://schemas.microsoft.com/office/drawing/2014/main" val="181923435"/>
                    </a:ext>
                  </a:extLst>
                </a:gridCol>
              </a:tblGrid>
              <a:tr h="554720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effectLst/>
                          <a:latin typeface="Inter"/>
                        </a:rPr>
                        <a:t>If you are...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Use this Adapter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Key DSL Method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>
                          <a:effectLst/>
                          <a:latin typeface="Inter"/>
                        </a:rPr>
                        <a:t>Must provide...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811008680"/>
                  </a:ext>
                </a:extLst>
              </a:tr>
              <a:tr h="696345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Reading a File/FTP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Inbound Polling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.from(Files.inbound...)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A </a:t>
                      </a: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Poller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2350082431"/>
                  </a:ext>
                </a:extLst>
              </a:tr>
              <a:tr h="696345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Subscribing to MQTT/Kafka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Inbound Event-Driven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.from(Mqtt.inbound...)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Connection Factory/Client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1387624074"/>
                  </a:ext>
                </a:extLst>
              </a:tr>
              <a:tr h="696345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Writing to DB/JMS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Outbound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.handle(Jdbc.outbound...)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DataSource/Connection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3618972604"/>
                  </a:ext>
                </a:extLst>
              </a:tr>
              <a:tr h="696345"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Sending a Webhook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Outbound</a:t>
                      </a: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.handle(</a:t>
                      </a:r>
                      <a:r>
                        <a:rPr lang="en-IN" b="0" dirty="0" err="1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Http.outbound</a:t>
                      </a: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DM Mono" panose="020B0509040201040103" pitchFamily="49" charset="0"/>
                        </a:rPr>
                        <a:t>...)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Inter"/>
                      </a:endParaRPr>
                    </a:p>
                  </a:txBody>
                  <a:tcPr marL="45720" marR="45720" marT="22860" marB="228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575"/>
                        </a:lnSpc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  <a:latin typeface="Inter"/>
                        </a:rPr>
                        <a:t>Target URL</a:t>
                      </a:r>
                    </a:p>
                  </a:txBody>
                  <a:tcPr marL="45720" marR="45720" marT="22860" marB="22860" anchor="ctr"/>
                </a:tc>
                <a:extLst>
                  <a:ext uri="{0D108BD9-81ED-4DB2-BD59-A6C34878D82A}">
                    <a16:rowId xmlns:a16="http://schemas.microsoft.com/office/drawing/2014/main" val="468241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838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8BE0E-127F-EA24-48B4-CA875A254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F9099-038D-4ACC-E725-8D0E6C524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Channel Adapters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64D97B91-41BD-2D71-5C8B-6EC9EC2D503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76242574"/>
                  </p:ext>
                </p:extLst>
              </p:nvPr>
            </p:nvGraphicFramePr>
            <p:xfrm>
              <a:off x="1155699" y="2603500"/>
              <a:ext cx="10185660" cy="31115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46415">
                      <a:extLst>
                        <a:ext uri="{9D8B030D-6E8A-4147-A177-3AD203B41FA5}">
                          <a16:colId xmlns:a16="http://schemas.microsoft.com/office/drawing/2014/main" val="1211577391"/>
                        </a:ext>
                      </a:extLst>
                    </a:gridCol>
                    <a:gridCol w="2546415">
                      <a:extLst>
                        <a:ext uri="{9D8B030D-6E8A-4147-A177-3AD203B41FA5}">
                          <a16:colId xmlns:a16="http://schemas.microsoft.com/office/drawing/2014/main" val="2452738163"/>
                        </a:ext>
                      </a:extLst>
                    </a:gridCol>
                    <a:gridCol w="2546415">
                      <a:extLst>
                        <a:ext uri="{9D8B030D-6E8A-4147-A177-3AD203B41FA5}">
                          <a16:colId xmlns:a16="http://schemas.microsoft.com/office/drawing/2014/main" val="2036329259"/>
                        </a:ext>
                      </a:extLst>
                    </a:gridCol>
                    <a:gridCol w="2546415">
                      <a:extLst>
                        <a:ext uri="{9D8B030D-6E8A-4147-A177-3AD203B41FA5}">
                          <a16:colId xmlns:a16="http://schemas.microsoft.com/office/drawing/2014/main" val="4141037890"/>
                        </a:ext>
                      </a:extLst>
                    </a:gridCol>
                  </a:tblGrid>
                  <a:tr h="475921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1" dirty="0">
                              <a:effectLst/>
                              <a:latin typeface="Inter"/>
                            </a:rPr>
                            <a:t>Feature</a:t>
                          </a: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1">
                              <a:effectLst/>
                              <a:latin typeface="Inter"/>
                            </a:rPr>
                            <a:t>Polling Inbound</a:t>
                          </a: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1">
                              <a:effectLst/>
                              <a:latin typeface="Inter"/>
                            </a:rPr>
                            <a:t>Event-Driven Inbound</a:t>
                          </a: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1">
                              <a:effectLst/>
                              <a:latin typeface="Inter"/>
                            </a:rPr>
                            <a:t>Outbound Adapter</a:t>
                          </a:r>
                        </a:p>
                      </a:txBody>
                      <a:tcPr marL="45720" marR="45720" marT="22860" marB="22860" anchor="ctr"/>
                    </a:tc>
                    <a:extLst>
                      <a:ext uri="{0D108BD9-81ED-4DB2-BD59-A6C34878D82A}">
                        <a16:rowId xmlns:a16="http://schemas.microsoft.com/office/drawing/2014/main" val="735583172"/>
                      </a:ext>
                    </a:extLst>
                  </a:tr>
                  <a:tr h="853236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1" dirty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Direction</a:t>
                          </a:r>
                          <a:endParaRPr lang="en-IN" b="0" dirty="0">
                            <a:solidFill>
                              <a:schemeClr val="tx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 dirty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External </a:t>
                          </a:r>
                        </a:p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IN" b="0" dirty="0">
                            <a:solidFill>
                              <a:schemeClr val="tx1"/>
                            </a:solidFill>
                            <a:effectLst/>
                            <a:latin typeface="Courier New" panose="02070309020205020404" pitchFamily="49" charset="0"/>
                          </a:endParaRPr>
                        </a:p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 dirty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 Flow</a:t>
                          </a: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External </a:t>
                          </a:r>
                        </a:p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IN" b="0">
                            <a:solidFill>
                              <a:schemeClr val="tx1"/>
                            </a:solidFill>
                            <a:effectLst/>
                            <a:latin typeface="Courier New" panose="02070309020205020404" pitchFamily="49" charset="0"/>
                          </a:endParaRPr>
                        </a:p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 Flow</a:t>
                          </a: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Flow </a:t>
                          </a:r>
                        </a:p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en-IN" b="0">
                            <a:solidFill>
                              <a:schemeClr val="tx1"/>
                            </a:solidFill>
                            <a:effectLst/>
                            <a:latin typeface="Courier New" panose="02070309020205020404" pitchFamily="49" charset="0"/>
                          </a:endParaRPr>
                        </a:p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 External</a:t>
                          </a:r>
                        </a:p>
                      </a:txBody>
                      <a:tcPr marL="45720" marR="45720" marT="22860" marB="22860" anchor="ctr"/>
                    </a:tc>
                    <a:extLst>
                      <a:ext uri="{0D108BD9-81ED-4DB2-BD59-A6C34878D82A}">
                        <a16:rowId xmlns:a16="http://schemas.microsoft.com/office/drawing/2014/main" val="156934966"/>
                      </a:ext>
                    </a:extLst>
                  </a:tr>
                  <a:tr h="592457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1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Trigger</a:t>
                          </a:r>
                          <a:endParaRPr lang="en-IN" b="0">
                            <a:solidFill>
                              <a:schemeClr val="tx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 dirty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Clock/Timer (Internal)</a:t>
                          </a: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External Event (External)</a:t>
                          </a: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 dirty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Message on Channel</a:t>
                          </a:r>
                        </a:p>
                      </a:txBody>
                      <a:tcPr marL="45720" marR="45720" marT="22860" marB="22860" anchor="ctr"/>
                    </a:tc>
                    <a:extLst>
                      <a:ext uri="{0D108BD9-81ED-4DB2-BD59-A6C34878D82A}">
                        <a16:rowId xmlns:a16="http://schemas.microsoft.com/office/drawing/2014/main" val="1093048910"/>
                      </a:ext>
                    </a:extLst>
                  </a:tr>
                  <a:tr h="592457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1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Resource Usage</a:t>
                          </a:r>
                          <a:endParaRPr lang="en-IN" b="0">
                            <a:solidFill>
                              <a:schemeClr val="tx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 dirty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Low (Sleeps between polls)</a:t>
                          </a: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High (Keeps connection open)</a:t>
                          </a: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On-demand</a:t>
                          </a:r>
                        </a:p>
                      </a:txBody>
                      <a:tcPr marL="45720" marR="45720" marT="22860" marB="22860" anchor="ctr"/>
                    </a:tc>
                    <a:extLst>
                      <a:ext uri="{0D108BD9-81ED-4DB2-BD59-A6C34878D82A}">
                        <a16:rowId xmlns:a16="http://schemas.microsoft.com/office/drawing/2014/main" val="4037148002"/>
                      </a:ext>
                    </a:extLst>
                  </a:tr>
                  <a:tr h="597429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1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DSL Method</a:t>
                          </a:r>
                          <a:endParaRPr lang="en-IN" b="0">
                            <a:solidFill>
                              <a:schemeClr val="tx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 dirty="0">
                              <a:solidFill>
                                <a:schemeClr val="tx1"/>
                              </a:solidFill>
                              <a:effectLst/>
                              <a:latin typeface="DM Mono" panose="020B0509040201040103" pitchFamily="49" charset="0"/>
                            </a:rPr>
                            <a:t>.from(Adapter, Poller)</a:t>
                          </a:r>
                          <a:endParaRPr lang="en-IN" b="0" dirty="0">
                            <a:solidFill>
                              <a:schemeClr val="tx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 dirty="0">
                              <a:solidFill>
                                <a:schemeClr val="tx1"/>
                              </a:solidFill>
                              <a:effectLst/>
                              <a:latin typeface="DM Mono" panose="020B0509040201040103" pitchFamily="49" charset="0"/>
                            </a:rPr>
                            <a:t>.from(Adapter)</a:t>
                          </a:r>
                          <a:endParaRPr lang="en-IN" b="0" dirty="0">
                            <a:solidFill>
                              <a:schemeClr val="tx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 dirty="0">
                              <a:solidFill>
                                <a:schemeClr val="tx1"/>
                              </a:solidFill>
                              <a:effectLst/>
                              <a:latin typeface="DM Mono" panose="020B0509040201040103" pitchFamily="49" charset="0"/>
                            </a:rPr>
                            <a:t>.handle(Adapter)</a:t>
                          </a:r>
                          <a:endParaRPr lang="en-IN" b="0" dirty="0">
                            <a:solidFill>
                              <a:schemeClr val="tx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45720" marR="45720" marT="22860" marB="22860" anchor="ctr"/>
                    </a:tc>
                    <a:extLst>
                      <a:ext uri="{0D108BD9-81ED-4DB2-BD59-A6C34878D82A}">
                        <a16:rowId xmlns:a16="http://schemas.microsoft.com/office/drawing/2014/main" val="24604316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64D97B91-41BD-2D71-5C8B-6EC9EC2D503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76242574"/>
                  </p:ext>
                </p:extLst>
              </p:nvPr>
            </p:nvGraphicFramePr>
            <p:xfrm>
              <a:off x="1155699" y="2603500"/>
              <a:ext cx="10185660" cy="31115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46415">
                      <a:extLst>
                        <a:ext uri="{9D8B030D-6E8A-4147-A177-3AD203B41FA5}">
                          <a16:colId xmlns:a16="http://schemas.microsoft.com/office/drawing/2014/main" val="1211577391"/>
                        </a:ext>
                      </a:extLst>
                    </a:gridCol>
                    <a:gridCol w="2546415">
                      <a:extLst>
                        <a:ext uri="{9D8B030D-6E8A-4147-A177-3AD203B41FA5}">
                          <a16:colId xmlns:a16="http://schemas.microsoft.com/office/drawing/2014/main" val="2452738163"/>
                        </a:ext>
                      </a:extLst>
                    </a:gridCol>
                    <a:gridCol w="2546415">
                      <a:extLst>
                        <a:ext uri="{9D8B030D-6E8A-4147-A177-3AD203B41FA5}">
                          <a16:colId xmlns:a16="http://schemas.microsoft.com/office/drawing/2014/main" val="2036329259"/>
                        </a:ext>
                      </a:extLst>
                    </a:gridCol>
                    <a:gridCol w="2546415">
                      <a:extLst>
                        <a:ext uri="{9D8B030D-6E8A-4147-A177-3AD203B41FA5}">
                          <a16:colId xmlns:a16="http://schemas.microsoft.com/office/drawing/2014/main" val="4141037890"/>
                        </a:ext>
                      </a:extLst>
                    </a:gridCol>
                  </a:tblGrid>
                  <a:tr h="475921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1" dirty="0">
                              <a:effectLst/>
                              <a:latin typeface="Inter"/>
                            </a:rPr>
                            <a:t>Feature</a:t>
                          </a: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1">
                              <a:effectLst/>
                              <a:latin typeface="Inter"/>
                            </a:rPr>
                            <a:t>Polling Inbound</a:t>
                          </a: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1">
                              <a:effectLst/>
                              <a:latin typeface="Inter"/>
                            </a:rPr>
                            <a:t>Event-Driven Inbound</a:t>
                          </a: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1">
                              <a:effectLst/>
                              <a:latin typeface="Inter"/>
                            </a:rPr>
                            <a:t>Outbound Adapter</a:t>
                          </a:r>
                        </a:p>
                      </a:txBody>
                      <a:tcPr marL="45720" marR="45720" marT="22860" marB="22860" anchor="ctr"/>
                    </a:tc>
                    <a:extLst>
                      <a:ext uri="{0D108BD9-81ED-4DB2-BD59-A6C34878D82A}">
                        <a16:rowId xmlns:a16="http://schemas.microsoft.com/office/drawing/2014/main" val="735583172"/>
                      </a:ext>
                    </a:extLst>
                  </a:tr>
                  <a:tr h="853236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1" dirty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Direction</a:t>
                          </a:r>
                          <a:endParaRPr lang="en-IN" b="0" dirty="0">
                            <a:solidFill>
                              <a:schemeClr val="tx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22860" marB="22860" anchor="ctr">
                        <a:blipFill>
                          <a:blip r:embed="rId2"/>
                          <a:stretch>
                            <a:fillRect l="-100239" t="-56429" r="-200957" b="-2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22860" marB="22860" anchor="ctr">
                        <a:blipFill>
                          <a:blip r:embed="rId2"/>
                          <a:stretch>
                            <a:fillRect l="-200239" t="-56429" r="-100957" b="-2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marT="22860" marB="22860" anchor="ctr">
                        <a:blipFill>
                          <a:blip r:embed="rId2"/>
                          <a:stretch>
                            <a:fillRect l="-300239" t="-56429" r="-957" b="-21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934966"/>
                      </a:ext>
                    </a:extLst>
                  </a:tr>
                  <a:tr h="592457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1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Trigger</a:t>
                          </a:r>
                          <a:endParaRPr lang="en-IN" b="0">
                            <a:solidFill>
                              <a:schemeClr val="tx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 dirty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Clock/Timer (Internal)</a:t>
                          </a: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External Event (External)</a:t>
                          </a: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 dirty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Message on Channel</a:t>
                          </a:r>
                        </a:p>
                      </a:txBody>
                      <a:tcPr marL="45720" marR="45720" marT="22860" marB="22860" anchor="ctr"/>
                    </a:tc>
                    <a:extLst>
                      <a:ext uri="{0D108BD9-81ED-4DB2-BD59-A6C34878D82A}">
                        <a16:rowId xmlns:a16="http://schemas.microsoft.com/office/drawing/2014/main" val="1093048910"/>
                      </a:ext>
                    </a:extLst>
                  </a:tr>
                  <a:tr h="592457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1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Resource Usage</a:t>
                          </a:r>
                          <a:endParaRPr lang="en-IN" b="0">
                            <a:solidFill>
                              <a:schemeClr val="tx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 dirty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Low (Sleeps between polls)</a:t>
                          </a: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High (Keeps connection open)</a:t>
                          </a: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On-demand</a:t>
                          </a:r>
                        </a:p>
                      </a:txBody>
                      <a:tcPr marL="45720" marR="45720" marT="22860" marB="22860" anchor="ctr"/>
                    </a:tc>
                    <a:extLst>
                      <a:ext uri="{0D108BD9-81ED-4DB2-BD59-A6C34878D82A}">
                        <a16:rowId xmlns:a16="http://schemas.microsoft.com/office/drawing/2014/main" val="4037148002"/>
                      </a:ext>
                    </a:extLst>
                  </a:tr>
                  <a:tr h="597429"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1">
                              <a:solidFill>
                                <a:schemeClr val="tx1"/>
                              </a:solidFill>
                              <a:effectLst/>
                              <a:latin typeface="Inter"/>
                            </a:rPr>
                            <a:t>DSL Method</a:t>
                          </a:r>
                          <a:endParaRPr lang="en-IN" b="0">
                            <a:solidFill>
                              <a:schemeClr val="tx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 dirty="0">
                              <a:solidFill>
                                <a:schemeClr val="tx1"/>
                              </a:solidFill>
                              <a:effectLst/>
                              <a:latin typeface="DM Mono" panose="020B0509040201040103" pitchFamily="49" charset="0"/>
                            </a:rPr>
                            <a:t>.from(Adapter, Poller)</a:t>
                          </a:r>
                          <a:endParaRPr lang="en-IN" b="0" dirty="0">
                            <a:solidFill>
                              <a:schemeClr val="tx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 dirty="0">
                              <a:solidFill>
                                <a:schemeClr val="tx1"/>
                              </a:solidFill>
                              <a:effectLst/>
                              <a:latin typeface="DM Mono" panose="020B0509040201040103" pitchFamily="49" charset="0"/>
                            </a:rPr>
                            <a:t>.from(Adapter)</a:t>
                          </a:r>
                          <a:endParaRPr lang="en-IN" b="0" dirty="0">
                            <a:solidFill>
                              <a:schemeClr val="tx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45720" marR="45720" marT="22860" marB="2286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ts val="1575"/>
                            </a:lnSpc>
                            <a:buNone/>
                          </a:pPr>
                          <a:r>
                            <a:rPr lang="en-IN" b="0" dirty="0">
                              <a:solidFill>
                                <a:schemeClr val="tx1"/>
                              </a:solidFill>
                              <a:effectLst/>
                              <a:latin typeface="DM Mono" panose="020B0509040201040103" pitchFamily="49" charset="0"/>
                            </a:rPr>
                            <a:t>.handle(Adapter)</a:t>
                          </a:r>
                          <a:endParaRPr lang="en-IN" b="0" dirty="0">
                            <a:solidFill>
                              <a:schemeClr val="tx1"/>
                            </a:solidFill>
                            <a:effectLst/>
                            <a:latin typeface="Inter"/>
                          </a:endParaRPr>
                        </a:p>
                      </a:txBody>
                      <a:tcPr marL="45720" marR="45720" marT="22860" marB="22860" anchor="ctr"/>
                    </a:tc>
                    <a:extLst>
                      <a:ext uri="{0D108BD9-81ED-4DB2-BD59-A6C34878D82A}">
                        <a16:rowId xmlns:a16="http://schemas.microsoft.com/office/drawing/2014/main" val="24604316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20397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EE301-7049-5FFD-5334-F50490A44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0A0C5-7D69-4882-BB35-A23F27EF0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Transactional Poller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E6610-43DF-2636-8904-13298BC52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US" dirty="0"/>
              <a:t>If you are polling a Database or JMS queue, you often want the "Poll" and the "Processing" to be part of the same transaction. </a:t>
            </a:r>
          </a:p>
          <a:p>
            <a:r>
              <a:rPr lang="en-US" dirty="0"/>
              <a:t>If the processing fails, the message shouldn't be deleted from the source.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e -&gt; </a:t>
            </a:r>
            <a:r>
              <a:rPr lang="en-US" b="1" dirty="0" err="1">
                <a:solidFill>
                  <a:srgbClr val="C00000"/>
                </a:solidFill>
              </a:rPr>
              <a:t>e.poller</a:t>
            </a:r>
            <a:r>
              <a:rPr lang="en-US" b="1" dirty="0">
                <a:solidFill>
                  <a:srgbClr val="C00000"/>
                </a:solidFill>
              </a:rPr>
              <a:t>(</a:t>
            </a:r>
            <a:r>
              <a:rPr lang="en-US" b="1" dirty="0" err="1">
                <a:solidFill>
                  <a:srgbClr val="C00000"/>
                </a:solidFill>
              </a:rPr>
              <a:t>Pollers.fixedDelay</a:t>
            </a:r>
            <a:r>
              <a:rPr lang="en-US" b="1" dirty="0">
                <a:solidFill>
                  <a:srgbClr val="C00000"/>
                </a:solidFill>
              </a:rPr>
              <a:t>(1000)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             .transactional(</a:t>
            </a:r>
            <a:r>
              <a:rPr lang="en-US" b="1" dirty="0" err="1">
                <a:solidFill>
                  <a:srgbClr val="C00000"/>
                </a:solidFill>
              </a:rPr>
              <a:t>transactionManager</a:t>
            </a:r>
            <a:r>
              <a:rPr lang="en-US" b="1" dirty="0">
                <a:solidFill>
                  <a:srgbClr val="C00000"/>
                </a:solidFill>
              </a:rPr>
              <a:t>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93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024B3-1BBA-6763-CF2B-1D755B15A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7CC51-6679-9612-D0B5-DE7701BF9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Protocol Mapping (Payload Conversion)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E203E-A108-061E-695D-BA0B4DE13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US" dirty="0"/>
              <a:t>Adapters usually have a default way of converting data.</a:t>
            </a:r>
          </a:p>
          <a:p>
            <a:r>
              <a:rPr lang="en-US" b="1" dirty="0"/>
              <a:t>File Adapter:</a:t>
            </a:r>
            <a:r>
              <a:rPr lang="en-US" dirty="0"/>
              <a:t> Converts a file on disk into a </a:t>
            </a:r>
            <a:r>
              <a:rPr lang="en-US" dirty="0" err="1"/>
              <a:t>java.io.File</a:t>
            </a:r>
            <a:r>
              <a:rPr lang="en-US" dirty="0"/>
              <a:t> object.</a:t>
            </a:r>
          </a:p>
          <a:p>
            <a:r>
              <a:rPr lang="en-US" b="1" dirty="0"/>
              <a:t>HTTP Adapter:</a:t>
            </a:r>
            <a:r>
              <a:rPr lang="en-US" dirty="0"/>
              <a:t> Converts a JSON request body into a String or byte[].</a:t>
            </a:r>
          </a:p>
          <a:p>
            <a:r>
              <a:rPr lang="en-US" b="1" dirty="0"/>
              <a:t>MQTT Adapter:</a:t>
            </a:r>
            <a:r>
              <a:rPr lang="en-US" dirty="0"/>
              <a:t> Converts the MQTT byte array into a String.</a:t>
            </a:r>
          </a:p>
          <a:p>
            <a:r>
              <a:rPr lang="en-US" dirty="0"/>
              <a:t>Can often customize this using a </a:t>
            </a:r>
            <a:r>
              <a:rPr lang="en-US" dirty="0" err="1"/>
              <a:t>MessageConverter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9075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0C3FF-5337-5826-D772-1B97E9DD8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DB07E-9DC9-E297-9048-EF2A86E1A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Error Handling in Adapters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1BF50-3A78-3C9B-E6F6-9BE92C79B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Since Inbound Adapters are often the "start" of a thread, if an exception happens downstream, there is no "caller" to catch it. </a:t>
            </a:r>
          </a:p>
          <a:p>
            <a:r>
              <a:rPr lang="en-US" dirty="0"/>
              <a:t>Must configure an </a:t>
            </a:r>
            <a:r>
              <a:rPr lang="en-US" dirty="0" err="1"/>
              <a:t>errorChannel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@Bean</a:t>
            </a:r>
          </a:p>
          <a:p>
            <a:pPr marL="0" indent="0">
              <a:buNone/>
            </a:pPr>
            <a:r>
              <a:rPr lang="en-US" dirty="0"/>
              <a:t>public </a:t>
            </a:r>
            <a:r>
              <a:rPr lang="en-US" dirty="0" err="1"/>
              <a:t>IntegrationFlow</a:t>
            </a:r>
            <a:r>
              <a:rPr lang="en-US" dirty="0"/>
              <a:t> </a:t>
            </a:r>
            <a:r>
              <a:rPr lang="en-US" dirty="0" err="1"/>
              <a:t>secureFlow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IntegrationFlow.from</a:t>
            </a:r>
            <a:r>
              <a:rPr lang="en-US" dirty="0"/>
              <a:t>(</a:t>
            </a:r>
            <a:r>
              <a:rPr lang="en-US" dirty="0" err="1"/>
              <a:t>Files.inboundAdapter</a:t>
            </a:r>
            <a:r>
              <a:rPr lang="en-US" dirty="0"/>
              <a:t>(...), </a:t>
            </a:r>
          </a:p>
          <a:p>
            <a:pPr marL="0" indent="0">
              <a:buNone/>
            </a:pPr>
            <a:r>
              <a:rPr lang="en-US" dirty="0"/>
              <a:t>                                e -&gt; </a:t>
            </a:r>
            <a:r>
              <a:rPr lang="en-US" dirty="0" err="1"/>
              <a:t>e.poller</a:t>
            </a:r>
            <a:r>
              <a:rPr lang="en-US" dirty="0"/>
              <a:t>(p -&gt; </a:t>
            </a:r>
            <a:r>
              <a:rPr lang="en-US" dirty="0" err="1"/>
              <a:t>p.fixedDelay</a:t>
            </a:r>
            <a:r>
              <a:rPr lang="en-US" dirty="0"/>
              <a:t>(1000)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</a:t>
            </a:r>
            <a:r>
              <a:rPr lang="en-US" b="1" dirty="0"/>
              <a:t>.</a:t>
            </a:r>
            <a:r>
              <a:rPr lang="en-US" b="1" dirty="0" err="1"/>
              <a:t>errorChannel</a:t>
            </a:r>
            <a:r>
              <a:rPr lang="en-US" b="1" dirty="0"/>
              <a:t>("</a:t>
            </a:r>
            <a:r>
              <a:rPr lang="en-US" b="1" dirty="0" err="1"/>
              <a:t>myErrorChannel</a:t>
            </a:r>
            <a:r>
              <a:rPr lang="en-US" b="1" dirty="0"/>
              <a:t>")))</a:t>
            </a:r>
          </a:p>
          <a:p>
            <a:pPr marL="0" indent="0">
              <a:buNone/>
            </a:pPr>
            <a:r>
              <a:rPr lang="en-US" dirty="0"/>
              <a:t>            // ... logic ...</a:t>
            </a:r>
          </a:p>
          <a:p>
            <a:pPr marL="0" indent="0">
              <a:buNone/>
            </a:pPr>
            <a:r>
              <a:rPr lang="en-US" dirty="0"/>
              <a:t>            .get();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529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47A9C-C2F6-B0EC-7692-071C520C3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3D9B5-213D-C809-2E32-34EA60192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to use an Adapter vs. a Gateway?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AB2C3-791D-1E0D-1361-10DDD840F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US" b="1" dirty="0"/>
              <a:t>Use an Adapter</a:t>
            </a:r>
            <a:r>
              <a:rPr lang="en-US" dirty="0"/>
              <a:t> if you are sending a log, updating a DB record (where you don't need the result), or processing a file. (Fire and Forget).</a:t>
            </a:r>
          </a:p>
          <a:p>
            <a:r>
              <a:rPr lang="en-US" b="1" dirty="0"/>
              <a:t>Use a Gateway</a:t>
            </a:r>
            <a:r>
              <a:rPr lang="en-US" dirty="0"/>
              <a:t> if you are calling a REST API to get data, or if you are exposing a REST API where the user expects a response body. (Request-Response).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6881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73483-CAF4-2D80-3DDE-CC49BEB1C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1E815-1FFB-3DD8-1161-BDB9E3D2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Gateway in Spring Integration?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3ED4E-5B1B-60E6-AA6E-7B14BA219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gateway</a:t>
            </a:r>
            <a:r>
              <a:rPr lang="en-US" dirty="0"/>
              <a:t> is a component that lets your application call a messaging flow </a:t>
            </a:r>
            <a:r>
              <a:rPr lang="en-US" b="1" dirty="0"/>
              <a:t>as if it were a normal Java method</a:t>
            </a:r>
            <a:r>
              <a:rPr lang="en-US" dirty="0"/>
              <a:t>.</a:t>
            </a:r>
          </a:p>
          <a:p>
            <a:r>
              <a:rPr lang="en-US" dirty="0"/>
              <a:t>Instead of your controller/service manually creating a Message&lt;?&gt;, sending it to a channel, waiting for a reply, handling headers, timeouts, errors, and conversions — the gateway does that for you.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9389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8EA33-C523-DA5F-3A2E-0A3872D19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AA2AB-BE68-3EA1-C099-BDF26631F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Gateway in Spring Integration?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2088F-A6F4-D88D-24B5-C6BFDE43C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String result = </a:t>
            </a:r>
            <a:r>
              <a:rPr lang="en-US" b="1" dirty="0" err="1">
                <a:solidFill>
                  <a:srgbClr val="FF0000"/>
                </a:solidFill>
              </a:rPr>
              <a:t>orderGateway.placeOrder</a:t>
            </a:r>
            <a:r>
              <a:rPr lang="en-US" b="1" dirty="0">
                <a:solidFill>
                  <a:srgbClr val="FF0000"/>
                </a:solidFill>
              </a:rPr>
              <a:t>(order);</a:t>
            </a:r>
          </a:p>
          <a:p>
            <a:pPr marL="0" indent="0">
              <a:buNone/>
            </a:pPr>
            <a:r>
              <a:rPr lang="en-US" dirty="0"/>
              <a:t>Can internally become:</a:t>
            </a:r>
          </a:p>
          <a:p>
            <a:r>
              <a:rPr lang="en-US" dirty="0"/>
              <a:t>create a message </a:t>
            </a:r>
          </a:p>
          <a:p>
            <a:r>
              <a:rPr lang="en-US" dirty="0"/>
              <a:t>put order as payload </a:t>
            </a:r>
          </a:p>
          <a:p>
            <a:r>
              <a:rPr lang="en-US" dirty="0"/>
              <a:t>send it to a request channel </a:t>
            </a:r>
          </a:p>
          <a:p>
            <a:r>
              <a:rPr lang="en-US" dirty="0"/>
              <a:t>wait for reply on a reply channel </a:t>
            </a:r>
          </a:p>
          <a:p>
            <a:r>
              <a:rPr lang="en-US" dirty="0"/>
              <a:t>convert reply payload to String </a:t>
            </a:r>
          </a:p>
          <a:p>
            <a:r>
              <a:rPr lang="en-US" dirty="0"/>
              <a:t>propagate or map exceptions </a:t>
            </a:r>
          </a:p>
          <a:p>
            <a:r>
              <a:rPr lang="en-US" dirty="0"/>
              <a:t>That is the core idea.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1709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BAAE4-7B58-BF90-1607-0CC7252F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69ED-CA1D-281F-720D-7D76F69B5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do we need a gateway?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1AFA1-07AA-43AD-5C67-072DA26AE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Without a gateway, your code would interact with Spring Integration infrastructure directly.</a:t>
            </a:r>
          </a:p>
          <a:p>
            <a:pPr marL="0" indent="0">
              <a:buNone/>
            </a:pPr>
            <a:r>
              <a:rPr lang="en-US" dirty="0"/>
              <a:t>Example without gateway: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Message&lt;Order&gt; message = </a:t>
            </a:r>
            <a:r>
              <a:rPr lang="en-US" b="1" dirty="0" err="1">
                <a:solidFill>
                  <a:srgbClr val="FF0000"/>
                </a:solidFill>
              </a:rPr>
              <a:t>MessageBuilder.withPayload</a:t>
            </a:r>
            <a:r>
              <a:rPr lang="en-US" b="1" dirty="0">
                <a:solidFill>
                  <a:srgbClr val="FF0000"/>
                </a:solidFill>
              </a:rPr>
              <a:t>(order).build();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Message&lt;?&gt; reply = </a:t>
            </a:r>
            <a:r>
              <a:rPr lang="en-US" b="1" dirty="0" err="1">
                <a:solidFill>
                  <a:srgbClr val="FF0000"/>
                </a:solidFill>
              </a:rPr>
              <a:t>messagingTemplate.sendAndReceive</a:t>
            </a:r>
            <a:r>
              <a:rPr lang="en-US" b="1" dirty="0">
                <a:solidFill>
                  <a:srgbClr val="FF0000"/>
                </a:solidFill>
              </a:rPr>
              <a:t>("</a:t>
            </a:r>
            <a:r>
              <a:rPr lang="en-US" b="1" dirty="0" err="1">
                <a:solidFill>
                  <a:srgbClr val="FF0000"/>
                </a:solidFill>
              </a:rPr>
              <a:t>ordersChannel</a:t>
            </a:r>
            <a:r>
              <a:rPr lang="en-US" b="1" dirty="0">
                <a:solidFill>
                  <a:srgbClr val="FF0000"/>
                </a:solidFill>
              </a:rPr>
              <a:t>", message);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String result = (String) </a:t>
            </a:r>
            <a:r>
              <a:rPr lang="en-US" b="1" dirty="0" err="1">
                <a:solidFill>
                  <a:srgbClr val="FF0000"/>
                </a:solidFill>
              </a:rPr>
              <a:t>reply.getPayload</a:t>
            </a:r>
            <a:r>
              <a:rPr lang="en-US" b="1" dirty="0">
                <a:solidFill>
                  <a:srgbClr val="FF0000"/>
                </a:solidFill>
              </a:rPr>
              <a:t>();</a:t>
            </a:r>
          </a:p>
          <a:p>
            <a:r>
              <a:rPr lang="en-US" dirty="0"/>
              <a:t>This works, but it couples your business code to:</a:t>
            </a:r>
          </a:p>
          <a:p>
            <a:r>
              <a:rPr lang="en-US" dirty="0"/>
              <a:t>message creation </a:t>
            </a:r>
          </a:p>
          <a:p>
            <a:r>
              <a:rPr lang="en-US" dirty="0"/>
              <a:t>channels </a:t>
            </a:r>
          </a:p>
          <a:p>
            <a:r>
              <a:rPr lang="en-US" dirty="0"/>
              <a:t>messaging template APIs </a:t>
            </a:r>
          </a:p>
          <a:p>
            <a:r>
              <a:rPr lang="en-US" dirty="0"/>
              <a:t>reply handling </a:t>
            </a:r>
          </a:p>
          <a:p>
            <a:r>
              <a:rPr lang="en-US" b="1" dirty="0"/>
              <a:t>A gateway hides all that.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2231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28B2D-F0B9-7CE4-1D47-FDDC7B08A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4411-99A7-246E-F393-BC68B57F7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do we need a gateway?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F9818-0B9C-8FDA-E0F4-2CEF08753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US" dirty="0"/>
              <a:t>So the gateway gives you: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 clean method-based API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loose coupling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easier testing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better readability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 more service-like programming model over messaging infrastructure </a:t>
            </a:r>
          </a:p>
          <a:p>
            <a:r>
              <a:rPr lang="en-US" dirty="0"/>
              <a:t>Think of it like an </a:t>
            </a:r>
            <a:r>
              <a:rPr lang="en-US" b="1" dirty="0"/>
              <a:t>adapter between regular method invocation and message-based integration flow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57004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78D74-7352-552B-3EF5-FDB6FF523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5A75A-ADA0-6858-A6D8-C1D60F0C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Mental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E178C-8B79-F19C-6F63-7C84D104B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US" dirty="0"/>
              <a:t>Easiest mental model is:</a:t>
            </a:r>
          </a:p>
          <a:p>
            <a:r>
              <a:rPr lang="en-US" b="1" dirty="0"/>
              <a:t>Gateway = proxy + message conversion + request/reply bridge</a:t>
            </a:r>
            <a:endParaRPr lang="en-US" dirty="0"/>
          </a:p>
          <a:p>
            <a:r>
              <a:rPr lang="en-US" dirty="0"/>
              <a:t>It acts as:</a:t>
            </a:r>
          </a:p>
          <a:p>
            <a:r>
              <a:rPr lang="en-US" b="1" dirty="0"/>
              <a:t>method call in</a:t>
            </a:r>
            <a:r>
              <a:rPr lang="en-US" dirty="0"/>
              <a:t> </a:t>
            </a:r>
          </a:p>
          <a:p>
            <a:r>
              <a:rPr lang="en-US" b="1" dirty="0"/>
              <a:t>message sent into integration flow</a:t>
            </a:r>
            <a:r>
              <a:rPr lang="en-US" dirty="0"/>
              <a:t> </a:t>
            </a:r>
          </a:p>
          <a:p>
            <a:r>
              <a:rPr lang="en-US" b="1" dirty="0"/>
              <a:t>reply converted back to method return value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83029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08B18-B2EF-070F-4C90-D0314D02D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28A66-042B-F0EF-0D00-46CE74517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Mental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2117A-8813-5152-9B80-8D7794828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>
            <a:normAutofit fontScale="55000" lnSpcReduction="20000"/>
          </a:bodyPr>
          <a:lstStyle/>
          <a:p>
            <a:r>
              <a:rPr lang="en-IN" dirty="0" err="1"/>
              <a:t>CustomerResponse</a:t>
            </a:r>
            <a:r>
              <a:rPr lang="en-IN" dirty="0"/>
              <a:t> </a:t>
            </a:r>
            <a:r>
              <a:rPr lang="en-IN" dirty="0" err="1"/>
              <a:t>getCustomer</a:t>
            </a:r>
            <a:r>
              <a:rPr lang="en-IN" dirty="0"/>
              <a:t>(</a:t>
            </a:r>
            <a:r>
              <a:rPr lang="en-IN" dirty="0" err="1"/>
              <a:t>CustomerRequest</a:t>
            </a:r>
            <a:r>
              <a:rPr lang="en-IN" dirty="0"/>
              <a:t> request);</a:t>
            </a:r>
          </a:p>
          <a:p>
            <a:pPr marL="0" indent="0">
              <a:buNone/>
            </a:pPr>
            <a:r>
              <a:rPr lang="en-IN" dirty="0"/>
              <a:t>Becomes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FF0000"/>
                </a:solidFill>
              </a:rPr>
              <a:t>Java method call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FF0000"/>
                </a:solidFill>
              </a:rPr>
              <a:t>   ↓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FF0000"/>
                </a:solidFill>
              </a:rPr>
              <a:t>Gateway creates Message&lt;</a:t>
            </a:r>
            <a:r>
              <a:rPr lang="en-US" sz="1900" b="1" dirty="0" err="1">
                <a:solidFill>
                  <a:srgbClr val="FF0000"/>
                </a:solidFill>
              </a:rPr>
              <a:t>CustomerRequest</a:t>
            </a:r>
            <a:r>
              <a:rPr lang="en-US" sz="1900" b="1" dirty="0">
                <a:solidFill>
                  <a:srgbClr val="FF0000"/>
                </a:solidFill>
              </a:rPr>
              <a:t>&gt;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FF0000"/>
                </a:solidFill>
              </a:rPr>
              <a:t>   ↓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FF0000"/>
                </a:solidFill>
              </a:rPr>
              <a:t>Sends to request channel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FF0000"/>
                </a:solidFill>
              </a:rPr>
              <a:t>   ↓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FF0000"/>
                </a:solidFill>
              </a:rPr>
              <a:t>Flow processes it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FF0000"/>
                </a:solidFill>
              </a:rPr>
              <a:t>   ↓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FF0000"/>
                </a:solidFill>
              </a:rPr>
              <a:t>Reply message comes back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FF0000"/>
                </a:solidFill>
              </a:rPr>
              <a:t>   ↓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FF0000"/>
                </a:solidFill>
              </a:rPr>
              <a:t>Gateway extracts payload / converts return type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FF0000"/>
                </a:solidFill>
              </a:rPr>
              <a:t>   ↓</a:t>
            </a:r>
          </a:p>
          <a:p>
            <a:pPr marL="0" indent="0">
              <a:buNone/>
            </a:pPr>
            <a:r>
              <a:rPr lang="en-US" sz="1900" b="1" dirty="0">
                <a:solidFill>
                  <a:srgbClr val="FF0000"/>
                </a:solidFill>
              </a:rPr>
              <a:t>Returns </a:t>
            </a:r>
            <a:r>
              <a:rPr lang="en-US" sz="1900" b="1" dirty="0" err="1">
                <a:solidFill>
                  <a:srgbClr val="FF0000"/>
                </a:solidFill>
              </a:rPr>
              <a:t>CustomerResponse</a:t>
            </a:r>
            <a:endParaRPr lang="en-IN" sz="19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6610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61F82-0DFA-B18F-D83E-6F2C09EF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24D7-083D-E92E-4194-D42DE796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Main kinds of gateways in Spring Integration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5E056-7993-59E4-A62B-23F50B58B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US" dirty="0"/>
              <a:t>There are two big ways to define gateways:</a:t>
            </a:r>
          </a:p>
          <a:p>
            <a:r>
              <a:rPr lang="en-US" b="1" dirty="0"/>
              <a:t>A. Messaging Gateway Interface</a:t>
            </a:r>
          </a:p>
          <a:p>
            <a:pPr lvl="1"/>
            <a:r>
              <a:rPr lang="en-US" dirty="0"/>
              <a:t>This is the most common and cleanest style.</a:t>
            </a:r>
          </a:p>
          <a:p>
            <a:r>
              <a:rPr lang="en-US" b="1" dirty="0"/>
              <a:t>B. Gateway endpoint in a flow / XML / DSL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246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29AC8-5992-C4A2-C681-AC974C82B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00446-D75F-5095-3DCF-CFE859948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Messaging Gateway Interface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51729-D3B3-5573-34A7-625A58743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>
            <a:normAutofit/>
          </a:bodyPr>
          <a:lstStyle/>
          <a:p>
            <a:r>
              <a:rPr lang="en-US" dirty="0"/>
              <a:t>Most common and cleanest style.</a:t>
            </a:r>
          </a:p>
          <a:p>
            <a:pPr marL="0" indent="0">
              <a:buNone/>
            </a:pPr>
            <a:r>
              <a:rPr lang="en-US" dirty="0"/>
              <a:t>Define an interface: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@MessagingGateway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public interface </a:t>
            </a:r>
            <a:r>
              <a:rPr lang="en-US" b="1" dirty="0" err="1">
                <a:solidFill>
                  <a:srgbClr val="FF0000"/>
                </a:solidFill>
              </a:rPr>
              <a:t>MyGateway</a:t>
            </a:r>
            <a:r>
              <a:rPr lang="en-US" b="1" dirty="0">
                <a:solidFill>
                  <a:srgbClr val="FF0000"/>
                </a:solidFill>
              </a:rPr>
              <a:t> {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   @Gateway(requestChannel = "</a:t>
            </a:r>
            <a:r>
              <a:rPr lang="en-US" b="1" dirty="0" err="1">
                <a:solidFill>
                  <a:srgbClr val="FF0000"/>
                </a:solidFill>
              </a:rPr>
              <a:t>inputChannel</a:t>
            </a:r>
            <a:r>
              <a:rPr lang="en-US" b="1" dirty="0">
                <a:solidFill>
                  <a:srgbClr val="FF0000"/>
                </a:solidFill>
              </a:rPr>
              <a:t>")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   String process(String input);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}</a:t>
            </a:r>
          </a:p>
          <a:p>
            <a:r>
              <a:rPr lang="en-US" dirty="0"/>
              <a:t>Spring creates a proxy implementation for this interface.</a:t>
            </a:r>
          </a:p>
          <a:p>
            <a:r>
              <a:rPr lang="en-US" dirty="0"/>
              <a:t>You inject and call it like a normal bean: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@Autowired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private </a:t>
            </a:r>
            <a:r>
              <a:rPr lang="en-US" b="1" dirty="0" err="1">
                <a:solidFill>
                  <a:srgbClr val="FF0000"/>
                </a:solidFill>
              </a:rPr>
              <a:t>MyGateway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myGateway</a:t>
            </a:r>
            <a:r>
              <a:rPr lang="en-US" b="1" dirty="0">
                <a:solidFill>
                  <a:srgbClr val="FF0000"/>
                </a:solidFill>
              </a:rPr>
              <a:t>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037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1DFD0-A021-524B-799E-F353F5E6A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2E47E-8AB3-2A82-0878-90C70EF29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Gateway endpoint in a flow / XML / DSL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CF95D-7B30-DC74-A977-B1A6B9A5F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US" dirty="0"/>
              <a:t>Can also define a gateway as a messaging endpoint inside an integration configuration. This is more about wiring flows together.</a:t>
            </a:r>
          </a:p>
          <a:p>
            <a:r>
              <a:rPr lang="en-US" dirty="0"/>
              <a:t>For example in Java DSL, you may use </a:t>
            </a:r>
            <a:r>
              <a:rPr lang="en-US" dirty="0" err="1"/>
              <a:t>subflow</a:t>
            </a:r>
            <a:r>
              <a:rPr lang="en-US" dirty="0"/>
              <a:t> gateways or route to other flows using gateway-like behavior.</a:t>
            </a:r>
          </a:p>
          <a:p>
            <a:r>
              <a:rPr lang="en-US" dirty="0"/>
              <a:t>This becomes important in advanced integration design when one flow invokes another flow and expects a reply.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48945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CD6AEF-8E88-7DDF-487A-A1077F0D8336}"/>
              </a:ext>
            </a:extLst>
          </p:cNvPr>
          <p:cNvSpPr txBox="1"/>
          <p:nvPr/>
        </p:nvSpPr>
        <p:spPr>
          <a:xfrm>
            <a:off x="919065" y="190348"/>
            <a:ext cx="1060890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Basic gateway example</a:t>
            </a:r>
          </a:p>
          <a:p>
            <a:pPr>
              <a:buNone/>
            </a:pPr>
            <a:r>
              <a:rPr lang="en-IN" b="1" dirty="0"/>
              <a:t>Gateway interface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@MessagingGateway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public interface </a:t>
            </a:r>
            <a:r>
              <a:rPr lang="en-IN" dirty="0" err="1">
                <a:latin typeface="Courier New" panose="02070309020205020404" pitchFamily="49" charset="0"/>
              </a:rPr>
              <a:t>GreetingGateway</a:t>
            </a:r>
            <a:r>
              <a:rPr lang="en-IN" dirty="0">
                <a:latin typeface="Courier New" panose="02070309020205020404" pitchFamily="49" charset="0"/>
              </a:rPr>
              <a:t> {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@Gateway(requestChannel = "</a:t>
            </a:r>
            <a:r>
              <a:rPr lang="en-IN" dirty="0" err="1">
                <a:latin typeface="Courier New" panose="02070309020205020404" pitchFamily="49" charset="0"/>
              </a:rPr>
              <a:t>greetingInputChannel</a:t>
            </a:r>
            <a:r>
              <a:rPr lang="en-IN" dirty="0">
                <a:latin typeface="Courier New" panose="02070309020205020404" pitchFamily="49" charset="0"/>
              </a:rPr>
              <a:t>")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String greet(String name);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b="1" dirty="0"/>
              <a:t>Flow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@Bean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public </a:t>
            </a:r>
            <a:r>
              <a:rPr lang="en-IN" dirty="0" err="1">
                <a:latin typeface="Courier New" panose="02070309020205020404" pitchFamily="49" charset="0"/>
              </a:rPr>
              <a:t>IntegrationFlow</a:t>
            </a:r>
            <a:r>
              <a:rPr lang="en-IN" dirty="0">
                <a:latin typeface="Courier New" panose="02070309020205020404" pitchFamily="49" charset="0"/>
              </a:rPr>
              <a:t> </a:t>
            </a:r>
            <a:r>
              <a:rPr lang="en-IN" dirty="0" err="1">
                <a:latin typeface="Courier New" panose="02070309020205020404" pitchFamily="49" charset="0"/>
              </a:rPr>
              <a:t>greetingFlow</a:t>
            </a:r>
            <a:r>
              <a:rPr lang="en-IN" dirty="0">
                <a:latin typeface="Courier New" panose="02070309020205020404" pitchFamily="49" charset="0"/>
              </a:rPr>
              <a:t>() 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return </a:t>
            </a:r>
            <a:r>
              <a:rPr lang="en-IN" dirty="0" err="1">
                <a:latin typeface="Courier New" panose="02070309020205020404" pitchFamily="49" charset="0"/>
              </a:rPr>
              <a:t>IntegrationFlow.from</a:t>
            </a:r>
            <a:r>
              <a:rPr lang="en-IN" dirty="0">
                <a:latin typeface="Courier New" panose="02070309020205020404" pitchFamily="49" charset="0"/>
              </a:rPr>
              <a:t>("</a:t>
            </a:r>
            <a:r>
              <a:rPr lang="en-IN" dirty="0" err="1">
                <a:latin typeface="Courier New" panose="02070309020205020404" pitchFamily="49" charset="0"/>
              </a:rPr>
              <a:t>greetingInputChannel</a:t>
            </a:r>
            <a:r>
              <a:rPr lang="en-IN" dirty="0">
                <a:latin typeface="Courier New" panose="02070309020205020404" pitchFamily="49" charset="0"/>
              </a:rPr>
              <a:t>")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.transform(</a:t>
            </a:r>
            <a:r>
              <a:rPr lang="en-IN" dirty="0" err="1">
                <a:latin typeface="Courier New" panose="02070309020205020404" pitchFamily="49" charset="0"/>
              </a:rPr>
              <a:t>String.class</a:t>
            </a:r>
            <a:r>
              <a:rPr lang="en-IN" dirty="0">
                <a:latin typeface="Courier New" panose="02070309020205020404" pitchFamily="49" charset="0"/>
              </a:rPr>
              <a:t>, name -&gt; "Hello, " + name)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.get();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b="1" dirty="0"/>
              <a:t>Usage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String result = </a:t>
            </a:r>
            <a:r>
              <a:rPr lang="en-IN" dirty="0" err="1">
                <a:latin typeface="Courier New" panose="02070309020205020404" pitchFamily="49" charset="0"/>
              </a:rPr>
              <a:t>greetingGateway.greet</a:t>
            </a:r>
            <a:r>
              <a:rPr lang="en-IN" dirty="0">
                <a:latin typeface="Courier New" panose="02070309020205020404" pitchFamily="49" charset="0"/>
              </a:rPr>
              <a:t>(“Sara");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 err="1">
                <a:latin typeface="Courier New" panose="02070309020205020404" pitchFamily="49" charset="0"/>
              </a:rPr>
              <a:t>System.out.println</a:t>
            </a:r>
            <a:r>
              <a:rPr lang="en-IN" dirty="0">
                <a:latin typeface="Courier New" panose="02070309020205020404" pitchFamily="49" charset="0"/>
              </a:rPr>
              <a:t>(result); // Hello, Sara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510D0C-6B49-111B-32B8-28E8FEA24C33}"/>
              </a:ext>
            </a:extLst>
          </p:cNvPr>
          <p:cNvSpPr txBox="1"/>
          <p:nvPr/>
        </p:nvSpPr>
        <p:spPr>
          <a:xfrm>
            <a:off x="919065" y="5305240"/>
            <a:ext cx="60952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What happened internally: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“Sara"</a:t>
            </a:r>
            <a:r>
              <a:rPr lang="en-US" dirty="0"/>
              <a:t> became message payload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sent to </a:t>
            </a:r>
            <a:r>
              <a:rPr lang="en-US" dirty="0" err="1">
                <a:latin typeface="Courier New" panose="02070309020205020404" pitchFamily="49" charset="0"/>
              </a:rPr>
              <a:t>greetingInputChannel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transformer produced reply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reply payload returned as </a:t>
            </a:r>
            <a:r>
              <a:rPr lang="en-US" dirty="0">
                <a:latin typeface="Courier New" panose="02070309020205020404" pitchFamily="49" charset="0"/>
              </a:rPr>
              <a:t>String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5920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21F4-CF80-6448-D7A4-FED96C070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ED6A9-765C-5FA2-E646-27DEDB5ED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Gateway anatomy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2FD1C-6B40-2E2E-D55B-B5F70864D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 gateway usually deals with these things:</a:t>
            </a:r>
          </a:p>
          <a:p>
            <a:r>
              <a:rPr lang="en-US" b="1" dirty="0"/>
              <a:t>Request channel</a:t>
            </a:r>
          </a:p>
          <a:p>
            <a:pPr lvl="1"/>
            <a:r>
              <a:rPr lang="en-US" dirty="0"/>
              <a:t>Where the request message is sent.</a:t>
            </a:r>
          </a:p>
          <a:p>
            <a:pPr lvl="1"/>
            <a:r>
              <a:rPr lang="en-US" dirty="0"/>
              <a:t>@Gateway(requestChannel = "</a:t>
            </a:r>
            <a:r>
              <a:rPr lang="en-US" dirty="0" err="1"/>
              <a:t>inputChannel</a:t>
            </a:r>
            <a:r>
              <a:rPr lang="en-US" dirty="0"/>
              <a:t>")</a:t>
            </a:r>
          </a:p>
          <a:p>
            <a:r>
              <a:rPr lang="en-US" b="1" dirty="0"/>
              <a:t>Reply channel</a:t>
            </a:r>
          </a:p>
          <a:p>
            <a:pPr lvl="1"/>
            <a:r>
              <a:rPr lang="en-US" dirty="0"/>
              <a:t>Where the gateway expects the response from the flow.</a:t>
            </a:r>
          </a:p>
          <a:p>
            <a:pPr lvl="1"/>
            <a:r>
              <a:rPr lang="en-US" dirty="0"/>
              <a:t>Usually this is managed automatically, but you can configure it explicitly in some cases.</a:t>
            </a:r>
          </a:p>
          <a:p>
            <a:r>
              <a:rPr lang="en-US" b="1" dirty="0"/>
              <a:t>Error channel -</a:t>
            </a:r>
            <a:r>
              <a:rPr lang="en-US" dirty="0"/>
              <a:t>Where exceptions can be routed.</a:t>
            </a:r>
          </a:p>
          <a:p>
            <a:r>
              <a:rPr lang="en-US" b="1" dirty="0"/>
              <a:t>Request timeout -</a:t>
            </a:r>
            <a:r>
              <a:rPr lang="en-US" dirty="0"/>
              <a:t>How long to wait when sending request.</a:t>
            </a:r>
          </a:p>
          <a:p>
            <a:r>
              <a:rPr lang="en-US" b="1" dirty="0"/>
              <a:t>Reply timeout -</a:t>
            </a:r>
            <a:r>
              <a:rPr lang="en-US" dirty="0"/>
              <a:t>How long to wait for a response.</a:t>
            </a:r>
          </a:p>
          <a:p>
            <a:r>
              <a:rPr lang="en-US" b="1" dirty="0"/>
              <a:t>Payload mapping -</a:t>
            </a:r>
            <a:r>
              <a:rPr lang="en-US" dirty="0"/>
              <a:t>How method arguments become message payload.</a:t>
            </a:r>
          </a:p>
          <a:p>
            <a:r>
              <a:rPr lang="en-US" b="1" dirty="0"/>
              <a:t>Header mapping -</a:t>
            </a:r>
            <a:r>
              <a:rPr lang="en-US" dirty="0"/>
              <a:t>How method parameters / annotations become message headers.</a:t>
            </a:r>
          </a:p>
          <a:p>
            <a:r>
              <a:rPr lang="en-US" b="1" dirty="0"/>
              <a:t>Return value mapping -</a:t>
            </a:r>
            <a:r>
              <a:rPr lang="en-US" dirty="0"/>
              <a:t>How reply payload or message becomes method return value.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99824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8C95F-93C8-C62F-CEB4-76E669608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871E6-AB4D-22E4-BA75-3D0BF960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method parameters are mapped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F8DBB-6B65-4E79-0AE5-FBFADE1CF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>
            <a:normAutofit/>
          </a:bodyPr>
          <a:lstStyle/>
          <a:p>
            <a:r>
              <a:rPr lang="en-US" dirty="0"/>
              <a:t>This part is super important.</a:t>
            </a:r>
          </a:p>
          <a:p>
            <a:pPr marL="0" indent="0">
              <a:buNone/>
            </a:pPr>
            <a:r>
              <a:rPr lang="en-US" dirty="0"/>
              <a:t>When you call a gateway method, Spring has to decide:</a:t>
            </a:r>
          </a:p>
          <a:p>
            <a:r>
              <a:rPr lang="en-US" dirty="0"/>
              <a:t>what becomes payload </a:t>
            </a:r>
          </a:p>
          <a:p>
            <a:r>
              <a:rPr lang="en-US" dirty="0"/>
              <a:t>what becomes headers </a:t>
            </a:r>
          </a:p>
          <a:p>
            <a:r>
              <a:rPr lang="en-US" dirty="0"/>
              <a:t>whether full Message&lt;?&gt; is being passed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4825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34892-F7F7-8D49-A387-7C3A716CF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8221E-A532-C003-A5D6-404D6C472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10321699" cy="706964"/>
          </a:xfrm>
        </p:spPr>
        <p:txBody>
          <a:bodyPr/>
          <a:lstStyle/>
          <a:p>
            <a:r>
              <a:rPr lang="en-US" b="1" dirty="0"/>
              <a:t>Case 1: Single plain argument → payload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3FB32-E0B9-DF67-FBB3-29BD7EC38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@Gateway(requestChannel = "</a:t>
            </a:r>
            <a:r>
              <a:rPr lang="en-US" b="1" dirty="0" err="1">
                <a:solidFill>
                  <a:srgbClr val="FF0000"/>
                </a:solidFill>
              </a:rPr>
              <a:t>inputChannel</a:t>
            </a:r>
            <a:r>
              <a:rPr lang="en-US" b="1" dirty="0">
                <a:solidFill>
                  <a:srgbClr val="FF0000"/>
                </a:solidFill>
              </a:rPr>
              <a:t>")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String process(String input);</a:t>
            </a:r>
          </a:p>
          <a:p>
            <a:r>
              <a:rPr lang="en-US" dirty="0"/>
              <a:t>Here input becomes the message payload.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49120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F1FBA-2CE0-8C90-41A8-5184FAD2D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CA704-3FBF-2CCF-D811-C21C0188B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Case 2: Use @Header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C1EF4-FFA0-8968-82B2-766143D6C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@Gateway(requestChannel = "</a:t>
            </a:r>
            <a:r>
              <a:rPr lang="en-US" b="1" dirty="0" err="1">
                <a:solidFill>
                  <a:srgbClr val="FF0000"/>
                </a:solidFill>
              </a:rPr>
              <a:t>inputChannel</a:t>
            </a:r>
            <a:r>
              <a:rPr lang="en-US" b="1" dirty="0">
                <a:solidFill>
                  <a:srgbClr val="FF0000"/>
                </a:solidFill>
              </a:rPr>
              <a:t>")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String process(String input, @Header("source") String source);</a:t>
            </a:r>
          </a:p>
          <a:p>
            <a:r>
              <a:rPr lang="en-US" dirty="0"/>
              <a:t>Here:</a:t>
            </a:r>
          </a:p>
          <a:p>
            <a:r>
              <a:rPr lang="en-US" dirty="0"/>
              <a:t>input → payload </a:t>
            </a:r>
          </a:p>
          <a:p>
            <a:r>
              <a:rPr lang="en-US" dirty="0"/>
              <a:t>source → message header "source"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24410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BF0DE-AAC9-E3C2-C4C8-0D41AD2A6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CD738-9579-982F-C859-BF7914FC8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Case 3: Use @Headers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0A488-D71D-9952-FC55-187C1FD99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@Gateway(requestChannel = "</a:t>
            </a:r>
            <a:r>
              <a:rPr lang="en-US" b="1" dirty="0" err="1"/>
              <a:t>inputChannel</a:t>
            </a:r>
            <a:r>
              <a:rPr lang="en-US" b="1" dirty="0"/>
              <a:t>")</a:t>
            </a:r>
            <a:br>
              <a:rPr lang="en-US" b="1" dirty="0"/>
            </a:br>
            <a:r>
              <a:rPr lang="en-US" b="1" dirty="0"/>
              <a:t>String process(String input, @Headers Map&lt;String, Object&gt; headers);</a:t>
            </a:r>
          </a:p>
          <a:p>
            <a:r>
              <a:rPr lang="en-US" dirty="0"/>
              <a:t>The map entries become message headers.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30775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08CB-7489-68F0-D150-6A568C1F9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6184C-0384-811C-880A-13216DC69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Case 4: Pass full Message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40BBE-AC9D-4170-A49C-C2602D5FB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@Gateway(requestChannel = "</a:t>
            </a:r>
            <a:r>
              <a:rPr lang="en-US" b="1" dirty="0" err="1">
                <a:solidFill>
                  <a:srgbClr val="FF0000"/>
                </a:solidFill>
              </a:rPr>
              <a:t>inputChannel</a:t>
            </a:r>
            <a:r>
              <a:rPr lang="en-US" b="1" dirty="0">
                <a:solidFill>
                  <a:srgbClr val="FF0000"/>
                </a:solidFill>
              </a:rPr>
              <a:t>")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String process(Message&lt;String&gt; message);</a:t>
            </a:r>
          </a:p>
          <a:p>
            <a:r>
              <a:rPr lang="en-US" dirty="0"/>
              <a:t>Now the gateway sends your message as-is.</a:t>
            </a:r>
          </a:p>
          <a:p>
            <a:r>
              <a:rPr lang="en-US" dirty="0"/>
              <a:t>This is useful when you want complete control over headers and payload.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13848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CFB7E-C760-A1C0-738F-045999F36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8E8E8-4AFA-554D-4181-FC9CE492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Return types in gateways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83561-2AAE-637E-8301-BFADF8BD7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US" dirty="0"/>
              <a:t>Gateway methods can return different things depending on the flow design.</a:t>
            </a:r>
          </a:p>
          <a:p>
            <a:pPr>
              <a:buAutoNum type="alphaUcPeriod"/>
            </a:pPr>
            <a:r>
              <a:rPr lang="en-US" b="1" dirty="0"/>
              <a:t>Synchronous reply</a:t>
            </a:r>
          </a:p>
          <a:p>
            <a:pPr>
              <a:buFont typeface="Wingdings 3" charset="2"/>
              <a:buAutoNum type="alphaUcPeriod"/>
            </a:pPr>
            <a:r>
              <a:rPr lang="en-US" b="1" dirty="0"/>
              <a:t>Void return type</a:t>
            </a:r>
          </a:p>
          <a:p>
            <a:pPr>
              <a:buFont typeface="Wingdings 3" charset="2"/>
              <a:buAutoNum type="alphaUcPeriod"/>
            </a:pPr>
            <a:r>
              <a:rPr lang="en-US" b="1" dirty="0"/>
              <a:t>Return Message&lt;?&gt;</a:t>
            </a:r>
          </a:p>
          <a:p>
            <a:pPr>
              <a:buFont typeface="Wingdings 3" charset="2"/>
              <a:buAutoNum type="alphaUcPeriod"/>
            </a:pPr>
            <a:r>
              <a:rPr lang="en-US" b="1" dirty="0"/>
              <a:t>Future / async-style return types</a:t>
            </a:r>
          </a:p>
          <a:p>
            <a:pPr>
              <a:buFont typeface="Wingdings 3" charset="2"/>
              <a:buAutoNum type="alphaUcPeriod"/>
            </a:pPr>
            <a:endParaRPr lang="en-US" b="1" dirty="0"/>
          </a:p>
          <a:p>
            <a:pPr>
              <a:buFont typeface="Wingdings 3" charset="2"/>
              <a:buAutoNum type="alphaUcPeriod"/>
            </a:pPr>
            <a:endParaRPr lang="en-US" b="1" dirty="0"/>
          </a:p>
          <a:p>
            <a:pPr>
              <a:buAutoNum type="alphaUcPeriod"/>
            </a:pP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46240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32A1C-BE9C-C87B-E37D-54497FBF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Synchronous reply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66160-AC9A-5FA3-BD6A-4030C2DCE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String process(String input);</a:t>
            </a:r>
          </a:p>
          <a:p>
            <a:r>
              <a:rPr lang="en-US" dirty="0"/>
              <a:t>The flow must produce a reply.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00439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83E76-30AE-ACB6-531C-6A0C954A6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1A287-DEA0-E81F-0384-D77F49453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Void return type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A53FD-E6B2-2B0D-D494-A4637006E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void send(String input);</a:t>
            </a:r>
          </a:p>
          <a:p>
            <a:r>
              <a:rPr lang="en-US" dirty="0"/>
              <a:t>This is a </a:t>
            </a:r>
            <a:r>
              <a:rPr lang="en-US" b="1" dirty="0"/>
              <a:t>one-way gateway</a:t>
            </a:r>
            <a:r>
              <a:rPr lang="en-US" dirty="0"/>
              <a:t>. No reply is expected.</a:t>
            </a:r>
          </a:p>
          <a:p>
            <a:r>
              <a:rPr lang="en-US" dirty="0"/>
              <a:t>This is useful for fire-and-forget operations like logging, notifications, auditing, async submission.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1268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DBA89-C111-A9A6-6D81-782E32FFA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2505A-04E1-0EFB-0638-543ACE765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Return Message&lt;?&gt;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F39BE-C9BF-A1DA-C1FE-47025A27D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Message&lt;String&gt; process(String input);</a:t>
            </a:r>
          </a:p>
          <a:p>
            <a:r>
              <a:rPr lang="en-US" dirty="0"/>
              <a:t>Useful when you want access to reply headers and not only payload.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70327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96459-9460-DEF6-F416-CD411C0C4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C5BE1-34FB-674D-D88D-18A83DC61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/ async-style return types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440CD-4068-63FB-8BFA-7A9631582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US" dirty="0"/>
              <a:t>Depending on configuration and flow behavior, gateways can support asynchronous replies in more advanced scenarios, especially with async channels or async downstream components.</a:t>
            </a:r>
          </a:p>
          <a:p>
            <a:r>
              <a:rPr lang="en-US" dirty="0"/>
              <a:t>Examples can involve: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Future&lt;?&gt; 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CompletableFuture</a:t>
            </a:r>
            <a:r>
              <a:rPr lang="en-US" b="1" dirty="0">
                <a:solidFill>
                  <a:srgbClr val="FF0000"/>
                </a:solidFill>
              </a:rPr>
              <a:t>&lt;?&gt;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reactive types in some architectures </a:t>
            </a:r>
          </a:p>
          <a:p>
            <a:r>
              <a:rPr lang="en-US" dirty="0"/>
              <a:t>This is more advanced and depends on the rest of the flow.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94946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31329-2F43-8A79-09E6-0009A36E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5BAE9-0B43-076D-3CF8-FEFD580DE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@MessagingGateway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CFC85-259F-24B9-DF13-3EE05625C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Main annotation 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@MessagingGateway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public interface </a:t>
            </a:r>
            <a:r>
              <a:rPr lang="en-IN" b="1" dirty="0" err="1">
                <a:solidFill>
                  <a:srgbClr val="FF0000"/>
                </a:solidFill>
              </a:rPr>
              <a:t>OrderGateway</a:t>
            </a:r>
            <a:r>
              <a:rPr lang="en-IN" b="1" dirty="0">
                <a:solidFill>
                  <a:srgbClr val="FF0000"/>
                </a:solidFill>
              </a:rPr>
              <a:t> {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@Gateway(requestChannel = "</a:t>
            </a:r>
            <a:r>
              <a:rPr lang="en-IN" b="1" dirty="0" err="1">
                <a:solidFill>
                  <a:srgbClr val="FF0000"/>
                </a:solidFill>
              </a:rPr>
              <a:t>ordersChannel</a:t>
            </a:r>
            <a:r>
              <a:rPr lang="en-IN" b="1" dirty="0">
                <a:solidFill>
                  <a:srgbClr val="FF0000"/>
                </a:solidFill>
              </a:rPr>
              <a:t>")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String </a:t>
            </a:r>
            <a:r>
              <a:rPr lang="en-IN" b="1" dirty="0" err="1">
                <a:solidFill>
                  <a:srgbClr val="FF0000"/>
                </a:solidFill>
              </a:rPr>
              <a:t>placeOrder</a:t>
            </a:r>
            <a:r>
              <a:rPr lang="en-IN" b="1" dirty="0">
                <a:solidFill>
                  <a:srgbClr val="FF0000"/>
                </a:solidFill>
              </a:rPr>
              <a:t>(Order order);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}</a:t>
            </a:r>
          </a:p>
          <a:p>
            <a:r>
              <a:rPr lang="en-IN" dirty="0"/>
              <a:t>You can also put defaults at interface level: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@MessagingGateway(defaultRequestChannel = "</a:t>
            </a:r>
            <a:r>
              <a:rPr lang="en-IN" b="1" dirty="0" err="1">
                <a:solidFill>
                  <a:srgbClr val="FF0000"/>
                </a:solidFill>
              </a:rPr>
              <a:t>ordersChannel</a:t>
            </a:r>
            <a:r>
              <a:rPr lang="en-IN" b="1" dirty="0">
                <a:solidFill>
                  <a:srgbClr val="FF0000"/>
                </a:solidFill>
              </a:rPr>
              <a:t>")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public interface </a:t>
            </a:r>
            <a:r>
              <a:rPr lang="en-IN" b="1" dirty="0" err="1">
                <a:solidFill>
                  <a:srgbClr val="FF0000"/>
                </a:solidFill>
              </a:rPr>
              <a:t>OrderGateway</a:t>
            </a:r>
            <a:r>
              <a:rPr lang="en-IN" b="1" dirty="0">
                <a:solidFill>
                  <a:srgbClr val="FF0000"/>
                </a:solidFill>
              </a:rPr>
              <a:t> {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String </a:t>
            </a:r>
            <a:r>
              <a:rPr lang="en-IN" b="1" dirty="0" err="1">
                <a:solidFill>
                  <a:srgbClr val="FF0000"/>
                </a:solidFill>
              </a:rPr>
              <a:t>placeOrder</a:t>
            </a:r>
            <a:r>
              <a:rPr lang="en-IN" b="1" dirty="0">
                <a:solidFill>
                  <a:srgbClr val="FF0000"/>
                </a:solidFill>
              </a:rPr>
              <a:t>(Order order);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String </a:t>
            </a:r>
            <a:r>
              <a:rPr lang="en-IN" b="1" dirty="0" err="1">
                <a:solidFill>
                  <a:srgbClr val="FF0000"/>
                </a:solidFill>
              </a:rPr>
              <a:t>cancelOrder</a:t>
            </a:r>
            <a:r>
              <a:rPr lang="en-IN" b="1" dirty="0">
                <a:solidFill>
                  <a:srgbClr val="FF0000"/>
                </a:solidFill>
              </a:rPr>
              <a:t>(String </a:t>
            </a:r>
            <a:r>
              <a:rPr lang="en-IN" b="1" dirty="0" err="1">
                <a:solidFill>
                  <a:srgbClr val="FF0000"/>
                </a:solidFill>
              </a:rPr>
              <a:t>orderId</a:t>
            </a:r>
            <a:r>
              <a:rPr lang="en-IN" b="1" dirty="0">
                <a:solidFill>
                  <a:srgbClr val="FF0000"/>
                </a:solidFill>
              </a:rPr>
              <a:t>);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}</a:t>
            </a:r>
          </a:p>
          <a:p>
            <a:r>
              <a:rPr lang="en-IN" dirty="0"/>
              <a:t>Then methods use the default unless overridden.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72375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AC0E6-6388-8A3C-8B95-DED62B715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FAB63-6782-8600-CF75-0F645D116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@MessagingGateway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6685D-54EB-C836-2A6E-EACBC8D89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Useful attributes include:</a:t>
            </a:r>
          </a:p>
          <a:p>
            <a:r>
              <a:rPr lang="en-IN" dirty="0" err="1"/>
              <a:t>defaultRequestChannel</a:t>
            </a:r>
            <a:r>
              <a:rPr lang="en-IN" dirty="0"/>
              <a:t> </a:t>
            </a:r>
          </a:p>
          <a:p>
            <a:r>
              <a:rPr lang="en-IN" dirty="0" err="1"/>
              <a:t>defaultReplyChannel</a:t>
            </a:r>
            <a:r>
              <a:rPr lang="en-IN" dirty="0"/>
              <a:t> </a:t>
            </a:r>
          </a:p>
          <a:p>
            <a:r>
              <a:rPr lang="en-IN" dirty="0" err="1"/>
              <a:t>defaultErrorChannel</a:t>
            </a:r>
            <a:r>
              <a:rPr lang="en-IN" dirty="0"/>
              <a:t> </a:t>
            </a:r>
          </a:p>
          <a:p>
            <a:r>
              <a:rPr lang="en-IN" dirty="0" err="1"/>
              <a:t>defaultRequestTimeout</a:t>
            </a:r>
            <a:r>
              <a:rPr lang="en-IN" dirty="0"/>
              <a:t> </a:t>
            </a:r>
          </a:p>
          <a:p>
            <a:r>
              <a:rPr lang="en-IN" dirty="0" err="1"/>
              <a:t>defaultReplyTimeout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@MessagingGateway(</a:t>
            </a:r>
            <a:br>
              <a:rPr lang="en-IN" dirty="0"/>
            </a:br>
            <a:r>
              <a:rPr lang="en-IN" dirty="0" err="1"/>
              <a:t>defaultRequestChannel</a:t>
            </a:r>
            <a:r>
              <a:rPr lang="en-IN" dirty="0"/>
              <a:t> = "</a:t>
            </a:r>
            <a:r>
              <a:rPr lang="en-IN" dirty="0" err="1"/>
              <a:t>ordersChannel</a:t>
            </a:r>
            <a:r>
              <a:rPr lang="en-IN" dirty="0"/>
              <a:t>",</a:t>
            </a:r>
            <a:br>
              <a:rPr lang="en-IN" dirty="0"/>
            </a:br>
            <a:r>
              <a:rPr lang="en-IN" dirty="0" err="1"/>
              <a:t>defaultReplyTimeout</a:t>
            </a:r>
            <a:r>
              <a:rPr lang="en-IN" dirty="0"/>
              <a:t> = "5000",</a:t>
            </a:r>
            <a:br>
              <a:rPr lang="en-IN" dirty="0"/>
            </a:br>
            <a:r>
              <a:rPr lang="en-IN" dirty="0" err="1"/>
              <a:t>errorChannel</a:t>
            </a:r>
            <a:r>
              <a:rPr lang="en-IN" dirty="0"/>
              <a:t> = "</a:t>
            </a:r>
            <a:r>
              <a:rPr lang="en-IN" dirty="0" err="1"/>
              <a:t>gatewayErrors</a:t>
            </a:r>
            <a:r>
              <a:rPr lang="en-IN" dirty="0"/>
              <a:t>"</a:t>
            </a:r>
            <a:br>
              <a:rPr lang="en-IN" dirty="0"/>
            </a:b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public interface </a:t>
            </a:r>
            <a:r>
              <a:rPr lang="en-IN" dirty="0" err="1"/>
              <a:t>OrderGateway</a:t>
            </a:r>
            <a:r>
              <a:rPr lang="en-IN" dirty="0"/>
              <a:t> {</a:t>
            </a:r>
            <a:br>
              <a:rPr lang="en-IN" dirty="0"/>
            </a:br>
            <a:r>
              <a:rPr lang="en-IN" dirty="0"/>
              <a:t>String </a:t>
            </a:r>
            <a:r>
              <a:rPr lang="en-IN" dirty="0" err="1"/>
              <a:t>placeOrder</a:t>
            </a:r>
            <a:r>
              <a:rPr lang="en-IN" dirty="0"/>
              <a:t>(Order order);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53990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5B08D-5491-B22F-5FC0-C8903CCA1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56829-11C6-D246-3912-F99E36A2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@Gateway annotation on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558A-47C7-7062-6EFE-3355EDDB8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IN" dirty="0"/>
              <a:t>Method-level @Gateway lets you customize specific methods.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@MessagingGateway(defaultRequestChannel = "</a:t>
            </a:r>
            <a:r>
              <a:rPr lang="en-IN" b="1" dirty="0" err="1">
                <a:solidFill>
                  <a:srgbClr val="FF0000"/>
                </a:solidFill>
              </a:rPr>
              <a:t>inputChannel</a:t>
            </a:r>
            <a:r>
              <a:rPr lang="en-IN" b="1" dirty="0">
                <a:solidFill>
                  <a:srgbClr val="FF0000"/>
                </a:solidFill>
              </a:rPr>
              <a:t>")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public interface </a:t>
            </a:r>
            <a:r>
              <a:rPr lang="en-IN" b="1" dirty="0" err="1">
                <a:solidFill>
                  <a:srgbClr val="FF0000"/>
                </a:solidFill>
              </a:rPr>
              <a:t>MyGateway</a:t>
            </a:r>
            <a:r>
              <a:rPr lang="en-IN" b="1" dirty="0">
                <a:solidFill>
                  <a:srgbClr val="FF0000"/>
                </a:solidFill>
              </a:rPr>
              <a:t> {</a:t>
            </a:r>
            <a:br>
              <a:rPr lang="en-IN" b="1" dirty="0">
                <a:solidFill>
                  <a:srgbClr val="FF0000"/>
                </a:solidFill>
              </a:rPr>
            </a:b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String method1(String input);</a:t>
            </a:r>
            <a:br>
              <a:rPr lang="en-IN" b="1" dirty="0">
                <a:solidFill>
                  <a:srgbClr val="FF0000"/>
                </a:solidFill>
              </a:rPr>
            </a:b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@Gateway(requestChannel = "</a:t>
            </a:r>
            <a:r>
              <a:rPr lang="en-IN" b="1" dirty="0" err="1">
                <a:solidFill>
                  <a:srgbClr val="FF0000"/>
                </a:solidFill>
              </a:rPr>
              <a:t>specialChannel</a:t>
            </a:r>
            <a:r>
              <a:rPr lang="en-IN" b="1" dirty="0">
                <a:solidFill>
                  <a:srgbClr val="FF0000"/>
                </a:solidFill>
              </a:rPr>
              <a:t>", </a:t>
            </a:r>
            <a:r>
              <a:rPr lang="en-IN" b="1" dirty="0" err="1">
                <a:solidFill>
                  <a:srgbClr val="FF0000"/>
                </a:solidFill>
              </a:rPr>
              <a:t>replyTimeout</a:t>
            </a:r>
            <a:r>
              <a:rPr lang="en-IN" b="1" dirty="0">
                <a:solidFill>
                  <a:srgbClr val="FF0000"/>
                </a:solidFill>
              </a:rPr>
              <a:t> = 10000)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String method2(String input);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}</a:t>
            </a:r>
          </a:p>
          <a:p>
            <a:r>
              <a:rPr lang="en-IN" dirty="0"/>
              <a:t>Method-level config overrides interface defaults.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61361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1671D-17ED-3F8A-AD8A-AB5DA7A24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B718E-C49B-C226-A23C-D2E5348F4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@Gateway annotation on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81F8-F30F-FEA2-AF29-86D32E3E3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IN" dirty="0"/>
              <a:t>Common options include:</a:t>
            </a:r>
          </a:p>
          <a:p>
            <a:r>
              <a:rPr lang="en-IN" dirty="0" err="1"/>
              <a:t>requestChannel</a:t>
            </a:r>
            <a:r>
              <a:rPr lang="en-IN" dirty="0"/>
              <a:t> </a:t>
            </a:r>
          </a:p>
          <a:p>
            <a:r>
              <a:rPr lang="en-IN" dirty="0" err="1"/>
              <a:t>replyChannel</a:t>
            </a:r>
            <a:r>
              <a:rPr lang="en-IN" dirty="0"/>
              <a:t> </a:t>
            </a:r>
          </a:p>
          <a:p>
            <a:r>
              <a:rPr lang="en-IN" dirty="0" err="1"/>
              <a:t>requestTimeout</a:t>
            </a:r>
            <a:r>
              <a:rPr lang="en-IN" dirty="0"/>
              <a:t> </a:t>
            </a:r>
          </a:p>
          <a:p>
            <a:r>
              <a:rPr lang="en-IN" dirty="0" err="1"/>
              <a:t>replyTimeout</a:t>
            </a:r>
            <a:r>
              <a:rPr lang="en-IN" dirty="0"/>
              <a:t> </a:t>
            </a:r>
          </a:p>
          <a:p>
            <a:r>
              <a:rPr lang="en-IN" dirty="0" err="1"/>
              <a:t>payloadExpression</a:t>
            </a:r>
            <a:r>
              <a:rPr lang="en-IN" dirty="0"/>
              <a:t> </a:t>
            </a:r>
          </a:p>
          <a:p>
            <a:r>
              <a:rPr lang="en-IN" dirty="0" err="1"/>
              <a:t>headerExpressions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3635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82EF-68CF-763C-094A-F9F4D1F9A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25184-4C56-3443-8216-DC262F2DF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Payload expressions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A2A0-0627-ADAB-EB0C-FBADA7F1D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US" dirty="0"/>
              <a:t>Sometimes method arguments are complex and you want only part of them as payload.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@Gateway(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   </a:t>
            </a:r>
            <a:r>
              <a:rPr lang="en-US" b="1" dirty="0" err="1">
                <a:solidFill>
                  <a:srgbClr val="FF0000"/>
                </a:solidFill>
              </a:rPr>
              <a:t>requestChannel</a:t>
            </a:r>
            <a:r>
              <a:rPr lang="en-US" b="1" dirty="0">
                <a:solidFill>
                  <a:srgbClr val="FF0000"/>
                </a:solidFill>
              </a:rPr>
              <a:t> = "</a:t>
            </a:r>
            <a:r>
              <a:rPr lang="en-US" b="1" dirty="0" err="1">
                <a:solidFill>
                  <a:srgbClr val="FF0000"/>
                </a:solidFill>
              </a:rPr>
              <a:t>inputChannel</a:t>
            </a:r>
            <a:r>
              <a:rPr lang="en-US" b="1" dirty="0">
                <a:solidFill>
                  <a:srgbClr val="FF0000"/>
                </a:solidFill>
              </a:rPr>
              <a:t>",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   </a:t>
            </a:r>
            <a:r>
              <a:rPr lang="en-US" b="1" dirty="0" err="1">
                <a:solidFill>
                  <a:srgbClr val="FF0000"/>
                </a:solidFill>
              </a:rPr>
              <a:t>payloadExpression</a:t>
            </a:r>
            <a:r>
              <a:rPr lang="en-US" b="1" dirty="0">
                <a:solidFill>
                  <a:srgbClr val="FF0000"/>
                </a:solidFill>
              </a:rPr>
              <a:t> = "#</a:t>
            </a:r>
            <a:r>
              <a:rPr lang="en-US" b="1" dirty="0" err="1">
                <a:solidFill>
                  <a:srgbClr val="FF0000"/>
                </a:solidFill>
              </a:rPr>
              <a:t>args</a:t>
            </a:r>
            <a:r>
              <a:rPr lang="en-US" b="1" dirty="0">
                <a:solidFill>
                  <a:srgbClr val="FF0000"/>
                </a:solidFill>
              </a:rPr>
              <a:t>[0].</a:t>
            </a:r>
            <a:r>
              <a:rPr lang="en-US" b="1" dirty="0" err="1">
                <a:solidFill>
                  <a:srgbClr val="FF0000"/>
                </a:solidFill>
              </a:rPr>
              <a:t>customerId</a:t>
            </a:r>
            <a:r>
              <a:rPr lang="en-US" b="1" dirty="0">
                <a:solidFill>
                  <a:srgbClr val="FF0000"/>
                </a:solidFill>
              </a:rPr>
              <a:t>"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)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String process(</a:t>
            </a:r>
            <a:r>
              <a:rPr lang="en-US" b="1" dirty="0" err="1">
                <a:solidFill>
                  <a:srgbClr val="FF0000"/>
                </a:solidFill>
              </a:rPr>
              <a:t>CustomerRequest</a:t>
            </a:r>
            <a:r>
              <a:rPr lang="en-US" b="1" dirty="0">
                <a:solidFill>
                  <a:srgbClr val="FF0000"/>
                </a:solidFill>
              </a:rPr>
              <a:t> request);</a:t>
            </a:r>
          </a:p>
          <a:p>
            <a:r>
              <a:rPr lang="en-US" dirty="0"/>
              <a:t>Instead of sending the whole </a:t>
            </a:r>
            <a:r>
              <a:rPr lang="en-US" dirty="0" err="1"/>
              <a:t>CustomerRequest</a:t>
            </a:r>
            <a:r>
              <a:rPr lang="en-US" dirty="0"/>
              <a:t>, this sends only </a:t>
            </a:r>
            <a:r>
              <a:rPr lang="en-US" dirty="0" err="1"/>
              <a:t>customerId</a:t>
            </a:r>
            <a:r>
              <a:rPr lang="en-US" dirty="0"/>
              <a:t> as payload.</a:t>
            </a:r>
          </a:p>
          <a:p>
            <a:r>
              <a:rPr lang="en-US" dirty="0"/>
              <a:t>This uses </a:t>
            </a:r>
            <a:r>
              <a:rPr lang="en-US" dirty="0" err="1"/>
              <a:t>SpEL</a:t>
            </a:r>
            <a:r>
              <a:rPr lang="en-US" dirty="0"/>
              <a:t>.</a:t>
            </a:r>
          </a:p>
          <a:p>
            <a:r>
              <a:rPr lang="en-US" dirty="0"/>
              <a:t>Very useful, but do not overuse it. If expressions become too clever, readability suffers.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23749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AF84D-B2BE-A334-A880-09FCE0E9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4C4BA-4D9C-44EE-3E0B-43D6378FC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Header expressions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B1BBD-EDFF-C38C-E603-01919B4A2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US" dirty="0"/>
              <a:t>You can create headers dynamically.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@Gateway(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   </a:t>
            </a:r>
            <a:r>
              <a:rPr lang="en-US" b="1" dirty="0" err="1">
                <a:solidFill>
                  <a:srgbClr val="FF0000"/>
                </a:solidFill>
              </a:rPr>
              <a:t>requestChannel</a:t>
            </a:r>
            <a:r>
              <a:rPr lang="en-US" b="1" dirty="0">
                <a:solidFill>
                  <a:srgbClr val="FF0000"/>
                </a:solidFill>
              </a:rPr>
              <a:t> = "</a:t>
            </a:r>
            <a:r>
              <a:rPr lang="en-US" b="1" dirty="0" err="1">
                <a:solidFill>
                  <a:srgbClr val="FF0000"/>
                </a:solidFill>
              </a:rPr>
              <a:t>inputChannel</a:t>
            </a:r>
            <a:r>
              <a:rPr lang="en-US" b="1" dirty="0">
                <a:solidFill>
                  <a:srgbClr val="FF0000"/>
                </a:solidFill>
              </a:rPr>
              <a:t>",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   </a:t>
            </a:r>
            <a:r>
              <a:rPr lang="en-US" b="1" dirty="0" err="1">
                <a:solidFill>
                  <a:srgbClr val="FF0000"/>
                </a:solidFill>
              </a:rPr>
              <a:t>headerExpressions</a:t>
            </a:r>
            <a:r>
              <a:rPr lang="en-US" b="1" dirty="0">
                <a:solidFill>
                  <a:srgbClr val="FF0000"/>
                </a:solidFill>
              </a:rPr>
              <a:t> = {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       @GatewayHeader(name = "operation", expression = "'CREATE'"),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       @GatewayHeader(name = "</a:t>
            </a:r>
            <a:r>
              <a:rPr lang="en-US" b="1" dirty="0" err="1">
                <a:solidFill>
                  <a:srgbClr val="FF0000"/>
                </a:solidFill>
              </a:rPr>
              <a:t>customerType</a:t>
            </a:r>
            <a:r>
              <a:rPr lang="en-US" b="1" dirty="0">
                <a:solidFill>
                  <a:srgbClr val="FF0000"/>
                </a:solidFill>
              </a:rPr>
              <a:t>", expression = "#</a:t>
            </a:r>
            <a:r>
              <a:rPr lang="en-US" b="1" dirty="0" err="1">
                <a:solidFill>
                  <a:srgbClr val="FF0000"/>
                </a:solidFill>
              </a:rPr>
              <a:t>args</a:t>
            </a:r>
            <a:r>
              <a:rPr lang="en-US" b="1" dirty="0">
                <a:solidFill>
                  <a:srgbClr val="FF0000"/>
                </a:solidFill>
              </a:rPr>
              <a:t>[0].type")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   }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)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String process(</a:t>
            </a:r>
            <a:r>
              <a:rPr lang="en-US" b="1" dirty="0" err="1">
                <a:solidFill>
                  <a:srgbClr val="FF0000"/>
                </a:solidFill>
              </a:rPr>
              <a:t>CustomerRequest</a:t>
            </a:r>
            <a:r>
              <a:rPr lang="en-US" b="1" dirty="0">
                <a:solidFill>
                  <a:srgbClr val="FF0000"/>
                </a:solidFill>
              </a:rPr>
              <a:t> request);</a:t>
            </a:r>
          </a:p>
          <a:p>
            <a:r>
              <a:rPr lang="en-US" dirty="0"/>
              <a:t>This is great when downstream routers/filters/service activators depend on headers.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87201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59261-EFBC-4F27-0B9F-E10BE0C62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F1B3B2-6C04-4043-735E-1187555B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Synchronous vs asynchronous gateway </a:t>
            </a:r>
            <a:r>
              <a:rPr lang="en-IN" dirty="0" err="1"/>
              <a:t>behavior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A5E9EB-E172-87C1-9C15-B5E63CC1D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Synchronous gateway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DA8C75-EAA1-D9F8-77A1-27041BFA6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>
              <a:schemeClr val="accent1"/>
            </a:solidFill>
          </a:ln>
        </p:spPr>
        <p:txBody>
          <a:bodyPr>
            <a:normAutofit fontScale="85000" lnSpcReduction="20000"/>
          </a:bodyPr>
          <a:lstStyle/>
          <a:p>
            <a:r>
              <a:rPr lang="en-US" dirty="0"/>
              <a:t>Caller thread invokes method and waits for reply.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String result = </a:t>
            </a:r>
            <a:r>
              <a:rPr lang="en-US" b="1" dirty="0" err="1">
                <a:solidFill>
                  <a:srgbClr val="FF0000"/>
                </a:solidFill>
              </a:rPr>
              <a:t>gateway.process</a:t>
            </a:r>
            <a:r>
              <a:rPr lang="en-US" b="1" dirty="0">
                <a:solidFill>
                  <a:srgbClr val="FF0000"/>
                </a:solidFill>
              </a:rPr>
              <a:t>("hello");</a:t>
            </a:r>
          </a:p>
          <a:p>
            <a:r>
              <a:rPr lang="en-US" dirty="0"/>
              <a:t>If the flow runs on a direct channel and synchronous handlers, the same thread may go through the whole flow.</a:t>
            </a:r>
          </a:p>
          <a:p>
            <a:r>
              <a:rPr lang="en-US" dirty="0"/>
              <a:t>Good for:</a:t>
            </a:r>
          </a:p>
          <a:p>
            <a:r>
              <a:rPr lang="en-US" dirty="0"/>
              <a:t>request/reply business operations </a:t>
            </a:r>
          </a:p>
          <a:p>
            <a:r>
              <a:rPr lang="en-US" dirty="0"/>
              <a:t>controller-to-flow integration </a:t>
            </a:r>
          </a:p>
          <a:p>
            <a:r>
              <a:rPr lang="en-US" dirty="0"/>
              <a:t>simple orchestration</a:t>
            </a:r>
          </a:p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9D257F-4F22-9ABB-B586-89275F63D8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b="1" dirty="0"/>
              <a:t>Asynchronous gateway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2EF49E9-746C-5D22-FD3A-42196A6971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>
            <a:solidFill>
              <a:schemeClr val="accent1"/>
            </a:solidFill>
          </a:ln>
        </p:spPr>
        <p:txBody>
          <a:bodyPr>
            <a:normAutofit fontScale="85000" lnSpcReduction="20000"/>
          </a:bodyPr>
          <a:lstStyle/>
          <a:p>
            <a:r>
              <a:rPr lang="en-US" dirty="0"/>
              <a:t>Caller invokes method but downstream processing may continue on another thread or channel type.</a:t>
            </a:r>
          </a:p>
          <a:p>
            <a:r>
              <a:rPr lang="en-US" dirty="0"/>
              <a:t>Examples:</a:t>
            </a:r>
          </a:p>
          <a:p>
            <a:r>
              <a:rPr lang="en-US" dirty="0" err="1"/>
              <a:t>ExecutorChannel</a:t>
            </a:r>
            <a:r>
              <a:rPr lang="en-US" dirty="0"/>
              <a:t> </a:t>
            </a:r>
          </a:p>
          <a:p>
            <a:r>
              <a:rPr lang="en-US" dirty="0"/>
              <a:t>async outbound adapters </a:t>
            </a:r>
          </a:p>
          <a:p>
            <a:r>
              <a:rPr lang="en-US" dirty="0"/>
              <a:t>async handlers </a:t>
            </a:r>
          </a:p>
          <a:p>
            <a:r>
              <a:rPr lang="en-US" dirty="0"/>
              <a:t>message-driven endpoints </a:t>
            </a:r>
          </a:p>
          <a:p>
            <a:r>
              <a:rPr lang="en-US" dirty="0"/>
              <a:t>In such cases, reply handling becomes more nuanced.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91899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4943F-6A5D-3D02-3731-C7BB95F71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4F70-1FB8-3550-49AE-C5200348D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Asynchronous gateway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2504D-D88F-6F40-C3AD-6E48FFCB5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US" dirty="0"/>
              <a:t>Important point: A gateway method with a normal return type still usually expects a reply, so the framework has to coordinate async completion. </a:t>
            </a:r>
          </a:p>
          <a:p>
            <a:r>
              <a:rPr lang="en-US" dirty="0"/>
              <a:t>If no reply arrives within timeout, you may get timeout-related exceptions or null behavior depending on setup.</a:t>
            </a:r>
          </a:p>
          <a:p>
            <a:r>
              <a:rPr lang="en-US" dirty="0"/>
              <a:t>So async flows and gateway contracts must be designed carefully.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53139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E7428-8CB3-624C-F6EE-E5483A95D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DCDD-D3D8-008B-D395-C1BD5CD51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One-way gateways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6AB71-B1E0-C66E-A599-8DDA05887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one-way gateway is when the method returns void.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@MessagingGateway(defaultRequestChannel = "</a:t>
            </a:r>
            <a:r>
              <a:rPr lang="en-US" b="1" dirty="0" err="1">
                <a:solidFill>
                  <a:srgbClr val="FF0000"/>
                </a:solidFill>
              </a:rPr>
              <a:t>auditChannel</a:t>
            </a:r>
            <a:r>
              <a:rPr lang="en-US" b="1" dirty="0">
                <a:solidFill>
                  <a:srgbClr val="FF0000"/>
                </a:solidFill>
              </a:rPr>
              <a:t>")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public interface </a:t>
            </a:r>
            <a:r>
              <a:rPr lang="en-US" b="1" dirty="0" err="1">
                <a:solidFill>
                  <a:srgbClr val="FF0000"/>
                </a:solidFill>
              </a:rPr>
              <a:t>AuditGateway</a:t>
            </a:r>
            <a:r>
              <a:rPr lang="en-US" b="1" dirty="0">
                <a:solidFill>
                  <a:srgbClr val="FF0000"/>
                </a:solidFill>
              </a:rPr>
              <a:t> {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   void publish(String event);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}</a:t>
            </a:r>
          </a:p>
          <a:p>
            <a:r>
              <a:rPr lang="en-US" dirty="0"/>
              <a:t>This is basically a convenient façade for sending a message into a flow without expecting any response.</a:t>
            </a:r>
          </a:p>
          <a:p>
            <a:pPr marL="0" indent="0">
              <a:buNone/>
            </a:pPr>
            <a:r>
              <a:rPr lang="en-US" dirty="0"/>
              <a:t>Important:</a:t>
            </a:r>
          </a:p>
          <a:p>
            <a:r>
              <a:rPr lang="en-US" dirty="0"/>
              <a:t>no reply expected </a:t>
            </a:r>
          </a:p>
          <a:p>
            <a:r>
              <a:rPr lang="en-US" dirty="0"/>
              <a:t>downstream handlers should not rely on request-reply semantics for that method </a:t>
            </a:r>
          </a:p>
          <a:p>
            <a:r>
              <a:rPr lang="en-US" dirty="0"/>
              <a:t>commonly used with queueing / async processing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08942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CC468-6F10-14C2-F841-30AE49761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5B3C8-729D-0A93-4C65-A7318B2D2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Error handling in gateways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766DC-4528-C58A-FED6-15239B973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>
            <a:normAutofit/>
          </a:bodyPr>
          <a:lstStyle/>
          <a:p>
            <a:r>
              <a:rPr lang="en-US" dirty="0"/>
              <a:t>When something fails in the flow, what happens to the gateway caller?</a:t>
            </a:r>
          </a:p>
          <a:p>
            <a:r>
              <a:rPr lang="en-US" b="1" dirty="0"/>
              <a:t>Default behavior</a:t>
            </a:r>
          </a:p>
          <a:p>
            <a:r>
              <a:rPr lang="en-US" dirty="0"/>
              <a:t>For synchronous request-reply flows, exceptions usually propagate back to the caller.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b="1" dirty="0"/>
              <a:t>try {</a:t>
            </a:r>
            <a:br>
              <a:rPr lang="en-US" b="1" dirty="0"/>
            </a:br>
            <a:r>
              <a:rPr lang="en-US" b="1" dirty="0"/>
              <a:t>    </a:t>
            </a:r>
            <a:r>
              <a:rPr lang="en-US" b="1" dirty="0" err="1"/>
              <a:t>gateway.process</a:t>
            </a:r>
            <a:r>
              <a:rPr lang="en-US" b="1" dirty="0"/>
              <a:t>("bad data");</a:t>
            </a:r>
            <a:br>
              <a:rPr lang="en-US" b="1" dirty="0"/>
            </a:br>
            <a:r>
              <a:rPr lang="en-US" b="1" dirty="0"/>
              <a:t>} catch (Exception e) {</a:t>
            </a:r>
            <a:br>
              <a:rPr lang="en-US" b="1" dirty="0"/>
            </a:br>
            <a:r>
              <a:rPr lang="en-US" b="1" dirty="0"/>
              <a:t>    // handle</a:t>
            </a:r>
            <a:br>
              <a:rPr lang="en-US" b="1" dirty="0"/>
            </a:br>
            <a:r>
              <a:rPr lang="en-US" b="1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49919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6A5D2-C62B-CBC5-F24D-71E6EA7FA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41DED-8E49-3F3D-652F-EA634988D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Error handling in gateways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7DD5D-4C1A-261B-2823-267151AED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Error channel</a:t>
            </a:r>
          </a:p>
          <a:p>
            <a:r>
              <a:rPr lang="en-US" dirty="0"/>
              <a:t>Can route errors to an error channel.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@MessagingGateway(errorChannel = "</a:t>
            </a:r>
            <a:r>
              <a:rPr lang="en-US" b="1" dirty="0" err="1">
                <a:solidFill>
                  <a:srgbClr val="FF0000"/>
                </a:solidFill>
              </a:rPr>
              <a:t>gatewayErrorChannel</a:t>
            </a:r>
            <a:r>
              <a:rPr lang="en-US" b="1" dirty="0">
                <a:solidFill>
                  <a:srgbClr val="FF0000"/>
                </a:solidFill>
              </a:rPr>
              <a:t>")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public interface </a:t>
            </a:r>
            <a:r>
              <a:rPr lang="en-US" b="1" dirty="0" err="1">
                <a:solidFill>
                  <a:srgbClr val="FF0000"/>
                </a:solidFill>
              </a:rPr>
              <a:t>MyGateway</a:t>
            </a:r>
            <a:r>
              <a:rPr lang="en-US" b="1" dirty="0">
                <a:solidFill>
                  <a:srgbClr val="FF0000"/>
                </a:solidFill>
              </a:rPr>
              <a:t> {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   String process(String input);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}</a:t>
            </a:r>
          </a:p>
          <a:p>
            <a:r>
              <a:rPr lang="en-US" dirty="0"/>
              <a:t>Then can process </a:t>
            </a:r>
            <a:r>
              <a:rPr lang="en-US" dirty="0" err="1"/>
              <a:t>ErrorMessage</a:t>
            </a:r>
            <a:r>
              <a:rPr lang="en-US" dirty="0"/>
              <a:t> objects in a flow.</a:t>
            </a:r>
          </a:p>
          <a:p>
            <a:pPr marL="0" indent="0">
              <a:buNone/>
            </a:pPr>
            <a:r>
              <a:rPr lang="en-IN" dirty="0"/>
              <a:t>Example flow: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@Bean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public </a:t>
            </a:r>
            <a:r>
              <a:rPr lang="en-IN" b="1" dirty="0" err="1">
                <a:solidFill>
                  <a:srgbClr val="FF0000"/>
                </a:solidFill>
              </a:rPr>
              <a:t>IntegrationFlow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IN" b="1" dirty="0" err="1">
                <a:solidFill>
                  <a:srgbClr val="FF0000"/>
                </a:solidFill>
              </a:rPr>
              <a:t>errorFlow</a:t>
            </a:r>
            <a:r>
              <a:rPr lang="en-IN" b="1" dirty="0">
                <a:solidFill>
                  <a:srgbClr val="FF0000"/>
                </a:solidFill>
              </a:rPr>
              <a:t>() {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return </a:t>
            </a:r>
            <a:r>
              <a:rPr lang="en-IN" b="1" dirty="0" err="1">
                <a:solidFill>
                  <a:srgbClr val="FF0000"/>
                </a:solidFill>
              </a:rPr>
              <a:t>IntegrationFlow.from</a:t>
            </a:r>
            <a:r>
              <a:rPr lang="en-IN" b="1" dirty="0">
                <a:solidFill>
                  <a:srgbClr val="FF0000"/>
                </a:solidFill>
              </a:rPr>
              <a:t>("</a:t>
            </a:r>
            <a:r>
              <a:rPr lang="en-IN" b="1" dirty="0" err="1">
                <a:solidFill>
                  <a:srgbClr val="FF0000"/>
                </a:solidFill>
              </a:rPr>
              <a:t>gatewayErrorChannel</a:t>
            </a:r>
            <a:r>
              <a:rPr lang="en-IN" b="1" dirty="0">
                <a:solidFill>
                  <a:srgbClr val="FF0000"/>
                </a:solidFill>
              </a:rPr>
              <a:t>")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.handle(message -&gt; {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    Throwable t = (Throwable) </a:t>
            </a:r>
            <a:r>
              <a:rPr lang="en-IN" b="1" dirty="0" err="1">
                <a:solidFill>
                  <a:srgbClr val="FF0000"/>
                </a:solidFill>
              </a:rPr>
              <a:t>message.getPayload</a:t>
            </a:r>
            <a:r>
              <a:rPr lang="en-IN" b="1" dirty="0">
                <a:solidFill>
                  <a:srgbClr val="FF0000"/>
                </a:solidFill>
              </a:rPr>
              <a:t>();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    </a:t>
            </a:r>
            <a:r>
              <a:rPr lang="en-IN" b="1" dirty="0" err="1">
                <a:solidFill>
                  <a:srgbClr val="FF0000"/>
                </a:solidFill>
              </a:rPr>
              <a:t>System.out.println</a:t>
            </a:r>
            <a:r>
              <a:rPr lang="en-IN" b="1" dirty="0">
                <a:solidFill>
                  <a:srgbClr val="FF0000"/>
                </a:solidFill>
              </a:rPr>
              <a:t>("Error: " + </a:t>
            </a:r>
            <a:r>
              <a:rPr lang="en-IN" b="1" dirty="0" err="1">
                <a:solidFill>
                  <a:srgbClr val="FF0000"/>
                </a:solidFill>
              </a:rPr>
              <a:t>t.getMessage</a:t>
            </a:r>
            <a:r>
              <a:rPr lang="en-IN" b="1" dirty="0">
                <a:solidFill>
                  <a:srgbClr val="FF0000"/>
                </a:solidFill>
              </a:rPr>
              <a:t>());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})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.get();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}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71319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AB6C9-61B2-38BE-FA16-34E170280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ABC08-996F-BDE4-EF46-F7B99756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Error handling in gateways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A5240-ED8A-E540-80CF-9EF65C3C2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error channel handling can:</a:t>
            </a:r>
          </a:p>
          <a:p>
            <a:r>
              <a:rPr lang="en-US" dirty="0"/>
              <a:t>transform exceptions </a:t>
            </a:r>
          </a:p>
          <a:p>
            <a:r>
              <a:rPr lang="en-US" dirty="0"/>
              <a:t>map technical errors to business responses </a:t>
            </a:r>
          </a:p>
          <a:p>
            <a:r>
              <a:rPr lang="en-US" dirty="0"/>
              <a:t>audit failures </a:t>
            </a:r>
          </a:p>
          <a:p>
            <a:r>
              <a:rPr lang="en-US" dirty="0"/>
              <a:t>notify monitoring systems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54679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0C649-9231-3DFA-D950-E8A8F4C8E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D3FD7-328B-165F-FB3D-43BA66AC3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Exception mapping patterns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852-70CE-D084-5179-281D51706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powerful pattern is to catch technical exceptions in the integration flow and return business-friendly responses.</a:t>
            </a:r>
          </a:p>
          <a:p>
            <a:r>
              <a:rPr lang="en-US" dirty="0"/>
              <a:t>For example:</a:t>
            </a:r>
          </a:p>
          <a:p>
            <a:pPr lvl="1"/>
            <a:r>
              <a:rPr lang="en-US" dirty="0"/>
              <a:t>downstream HTTP timeout </a:t>
            </a:r>
          </a:p>
          <a:p>
            <a:pPr lvl="1"/>
            <a:r>
              <a:rPr lang="en-US" dirty="0"/>
              <a:t>database exception </a:t>
            </a:r>
          </a:p>
          <a:p>
            <a:pPr lvl="1"/>
            <a:r>
              <a:rPr lang="en-US" dirty="0"/>
              <a:t>RabbitMQ connectivity issue </a:t>
            </a:r>
          </a:p>
          <a:p>
            <a:r>
              <a:rPr lang="en-US" dirty="0"/>
              <a:t>Instead of exposing raw exception to caller, you can:</a:t>
            </a:r>
          </a:p>
          <a:p>
            <a:pPr lvl="1"/>
            <a:r>
              <a:rPr lang="en-US" dirty="0"/>
              <a:t>send error to error flow </a:t>
            </a:r>
          </a:p>
          <a:p>
            <a:pPr lvl="1"/>
            <a:r>
              <a:rPr lang="en-US" dirty="0"/>
              <a:t>transform it into structured error object </a:t>
            </a:r>
          </a:p>
          <a:p>
            <a:pPr lvl="1"/>
            <a:r>
              <a:rPr lang="en-US" dirty="0"/>
              <a:t>return fallback reply </a:t>
            </a:r>
          </a:p>
          <a:p>
            <a:r>
              <a:rPr lang="en-US" dirty="0"/>
              <a:t>This makes gateways valuable as a stable service façade.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9979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42425-9F03-CB83-4D60-5C55A2B91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8C0EF-12B9-2D03-5ABB-F73EA46A8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Timeouts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699D0-5EE1-2ED1-CDC4-8BE07E70C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r>
              <a:rPr lang="en-US" dirty="0"/>
              <a:t>Gateways care a lot about timeouts because they sit at request/reply boundaries.</a:t>
            </a:r>
          </a:p>
          <a:p>
            <a:pPr marL="0" indent="0">
              <a:buNone/>
            </a:pPr>
            <a:r>
              <a:rPr lang="en-US" b="1" dirty="0"/>
              <a:t>Request timeout</a:t>
            </a:r>
          </a:p>
          <a:p>
            <a:r>
              <a:rPr lang="en-US" dirty="0"/>
              <a:t>How long the gateway waits to send the request to the channel.</a:t>
            </a:r>
          </a:p>
          <a:p>
            <a:r>
              <a:rPr lang="en-US" dirty="0"/>
              <a:t>Relevant when channel send may block.</a:t>
            </a:r>
          </a:p>
          <a:p>
            <a:pPr marL="0" indent="0">
              <a:buNone/>
            </a:pPr>
            <a:r>
              <a:rPr lang="en-US" b="1" dirty="0"/>
              <a:t>Reply timeout</a:t>
            </a:r>
          </a:p>
          <a:p>
            <a:r>
              <a:rPr lang="en-US" dirty="0"/>
              <a:t>How long it waits for a reply.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88736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13E22-5218-3926-83A4-4707B409B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4C56-24B9-A371-1DE9-6D7FA3A82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Reply timeout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6952B-7BF4-D737-8271-9EA0FFC17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85593" cy="385328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@Gateway(requestChannel = "</a:t>
            </a:r>
            <a:r>
              <a:rPr lang="en-US" b="1" dirty="0" err="1">
                <a:solidFill>
                  <a:srgbClr val="FF0000"/>
                </a:solidFill>
              </a:rPr>
              <a:t>inputChannel</a:t>
            </a:r>
            <a:r>
              <a:rPr lang="en-US" b="1" dirty="0">
                <a:solidFill>
                  <a:srgbClr val="FF0000"/>
                </a:solidFill>
              </a:rPr>
              <a:t>", </a:t>
            </a:r>
            <a:r>
              <a:rPr lang="en-US" b="1" dirty="0" err="1">
                <a:solidFill>
                  <a:srgbClr val="FF0000"/>
                </a:solidFill>
              </a:rPr>
              <a:t>replyTimeout</a:t>
            </a:r>
            <a:r>
              <a:rPr lang="en-US" b="1" dirty="0">
                <a:solidFill>
                  <a:srgbClr val="FF0000"/>
                </a:solidFill>
              </a:rPr>
              <a:t> = 5000)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String process(String input);</a:t>
            </a:r>
          </a:p>
          <a:p>
            <a:r>
              <a:rPr lang="en-US" dirty="0"/>
              <a:t>If the flow does not reply in time, behavior depends on configuration and context, often resulting in timeout exception or null for some return signatures.</a:t>
            </a:r>
          </a:p>
          <a:p>
            <a:r>
              <a:rPr lang="en-US" dirty="0"/>
              <a:t>In real systems, reply timeout is critical when calling:</a:t>
            </a:r>
          </a:p>
          <a:p>
            <a:pPr lvl="1"/>
            <a:r>
              <a:rPr lang="en-US" dirty="0"/>
              <a:t>remote services </a:t>
            </a:r>
          </a:p>
          <a:p>
            <a:pPr lvl="1"/>
            <a:r>
              <a:rPr lang="en-US" dirty="0"/>
              <a:t>slow processors </a:t>
            </a:r>
          </a:p>
          <a:p>
            <a:pPr lvl="1"/>
            <a:r>
              <a:rPr lang="en-US" dirty="0"/>
              <a:t>async downstream flows </a:t>
            </a:r>
          </a:p>
          <a:p>
            <a:pPr lvl="1"/>
            <a:r>
              <a:rPr lang="en-US" dirty="0"/>
              <a:t>queue-backed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7516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C9A3D-A20C-D760-2EB2-0D51A89F6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Request-reply contract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BAC10-79C5-070B-2693-7E43B7B1B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508311" cy="3857949"/>
          </a:xfrm>
        </p:spPr>
        <p:txBody>
          <a:bodyPr>
            <a:normAutofit/>
          </a:bodyPr>
          <a:lstStyle/>
          <a:p>
            <a:r>
              <a:rPr lang="en-US" dirty="0"/>
              <a:t>A gateway with a non-void return type implies </a:t>
            </a:r>
            <a:r>
              <a:rPr lang="en-US" b="1" dirty="0"/>
              <a:t>request-reply semantics</a:t>
            </a:r>
            <a:r>
              <a:rPr lang="en-US" dirty="0"/>
              <a:t>.</a:t>
            </a:r>
          </a:p>
          <a:p>
            <a:r>
              <a:rPr lang="en-US" dirty="0"/>
              <a:t>That means your flow must eventually produce a reply.</a:t>
            </a:r>
          </a:p>
          <a:p>
            <a:r>
              <a:rPr lang="en-US" dirty="0"/>
              <a:t>Common reply-producing components:</a:t>
            </a:r>
          </a:p>
          <a:p>
            <a:pPr lvl="1"/>
            <a:r>
              <a:rPr lang="en-US" dirty="0"/>
              <a:t>transformer </a:t>
            </a:r>
          </a:p>
          <a:p>
            <a:pPr lvl="1"/>
            <a:r>
              <a:rPr lang="en-US" dirty="0"/>
              <a:t>service activator returning a value </a:t>
            </a:r>
          </a:p>
          <a:p>
            <a:pPr lvl="1"/>
            <a:r>
              <a:rPr lang="en-US" dirty="0"/>
              <a:t>outbound gateway </a:t>
            </a:r>
          </a:p>
          <a:p>
            <a:pPr lvl="1"/>
            <a:r>
              <a:rPr lang="en-US" dirty="0"/>
              <a:t>enricher </a:t>
            </a:r>
          </a:p>
          <a:p>
            <a:pPr lvl="1"/>
            <a:r>
              <a:rPr lang="en-US" dirty="0"/>
              <a:t>aggregator </a:t>
            </a:r>
          </a:p>
          <a:p>
            <a:pPr lvl="1"/>
            <a:r>
              <a:rPr lang="en-US" dirty="0" err="1"/>
              <a:t>subflow</a:t>
            </a:r>
            <a:r>
              <a:rPr lang="en-US" dirty="0"/>
              <a:t> gateway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1001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A92E-2FAF-5573-31C5-C96CCE9A1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Gateway vs channel adapter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FDD21-AECD-3315-DBBF-0520BFE58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598835"/>
            <a:ext cx="10387013" cy="389060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Gateway</a:t>
            </a:r>
          </a:p>
          <a:p>
            <a:r>
              <a:rPr lang="en-US" dirty="0"/>
              <a:t>request/reply or method façade </a:t>
            </a:r>
          </a:p>
          <a:p>
            <a:r>
              <a:rPr lang="en-US" dirty="0"/>
              <a:t>bridges method invocation ↔ messaging </a:t>
            </a:r>
          </a:p>
          <a:p>
            <a:r>
              <a:rPr lang="en-US" dirty="0"/>
              <a:t>often used by application code </a:t>
            </a:r>
          </a:p>
          <a:p>
            <a:pPr marL="0" indent="0">
              <a:buNone/>
            </a:pPr>
            <a:r>
              <a:rPr lang="en-US" b="1" dirty="0"/>
              <a:t>Channel adapter</a:t>
            </a:r>
          </a:p>
          <a:p>
            <a:r>
              <a:rPr lang="en-US" dirty="0"/>
              <a:t>usually one-way </a:t>
            </a:r>
          </a:p>
          <a:p>
            <a:r>
              <a:rPr lang="en-US" dirty="0"/>
              <a:t>bridges external system ↔ messaging </a:t>
            </a:r>
          </a:p>
          <a:p>
            <a:r>
              <a:rPr lang="en-US" dirty="0"/>
              <a:t>examples: file inbound adapter, JMS outbound adapter </a:t>
            </a:r>
          </a:p>
          <a:p>
            <a:r>
              <a:rPr lang="en-US" dirty="0"/>
              <a:t>Simple distinction:</a:t>
            </a:r>
          </a:p>
          <a:p>
            <a:r>
              <a:rPr lang="en-US" b="1" dirty="0"/>
              <a:t>gateway</a:t>
            </a:r>
            <a:r>
              <a:rPr lang="en-US" dirty="0"/>
              <a:t> is conversational </a:t>
            </a:r>
          </a:p>
          <a:p>
            <a:r>
              <a:rPr lang="en-US" b="1" dirty="0"/>
              <a:t>adapter</a:t>
            </a:r>
            <a:r>
              <a:rPr lang="en-US" dirty="0"/>
              <a:t> is connective </a:t>
            </a:r>
          </a:p>
          <a:p>
            <a:r>
              <a:rPr lang="en-US" dirty="0"/>
              <a:t>A gateway usually expects a structured interaction.</a:t>
            </a:r>
            <a:br>
              <a:rPr lang="en-US" dirty="0"/>
            </a:br>
            <a:r>
              <a:rPr lang="en-US" dirty="0"/>
              <a:t>An adapter usually just moves messages in or out.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050704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BBBD0-59E8-8F26-280F-754FE924A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Gateway vs messaging template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E9CA0-11DE-98E0-1955-FB8944BC4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5654" cy="384861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Can use </a:t>
            </a:r>
            <a:r>
              <a:rPr lang="en-US" dirty="0" err="1"/>
              <a:t>MessagingTemplate</a:t>
            </a:r>
            <a:r>
              <a:rPr lang="en-US" dirty="0"/>
              <a:t> directly, but gateway is preferred for clean architecture.</a:t>
            </a:r>
          </a:p>
          <a:p>
            <a:r>
              <a:rPr lang="en-US" b="1" dirty="0" err="1"/>
              <a:t>MessagingTemplate</a:t>
            </a:r>
            <a:endParaRPr lang="en-US" b="1" dirty="0"/>
          </a:p>
          <a:p>
            <a:pPr lvl="1"/>
            <a:r>
              <a:rPr lang="en-US" dirty="0"/>
              <a:t>more imperative </a:t>
            </a:r>
          </a:p>
          <a:p>
            <a:pPr lvl="1"/>
            <a:r>
              <a:rPr lang="en-US" dirty="0"/>
              <a:t>more infrastructure-aware </a:t>
            </a:r>
          </a:p>
          <a:p>
            <a:pPr lvl="1"/>
            <a:r>
              <a:rPr lang="en-US" dirty="0"/>
              <a:t>useful in dynamic cases </a:t>
            </a:r>
          </a:p>
          <a:p>
            <a:r>
              <a:rPr lang="en-US" b="1" dirty="0"/>
              <a:t>Gateway</a:t>
            </a:r>
          </a:p>
          <a:p>
            <a:pPr lvl="1"/>
            <a:r>
              <a:rPr lang="en-US" dirty="0"/>
              <a:t>more declarative </a:t>
            </a:r>
          </a:p>
          <a:p>
            <a:pPr lvl="1"/>
            <a:r>
              <a:rPr lang="en-US" dirty="0"/>
              <a:t>cleaner API </a:t>
            </a:r>
          </a:p>
          <a:p>
            <a:pPr lvl="1"/>
            <a:r>
              <a:rPr lang="en-US" dirty="0"/>
              <a:t>easier to inject/test </a:t>
            </a:r>
          </a:p>
          <a:p>
            <a:pPr lvl="1"/>
            <a:r>
              <a:rPr lang="en-US" dirty="0"/>
              <a:t>service-oriented style </a:t>
            </a:r>
          </a:p>
          <a:p>
            <a:r>
              <a:rPr lang="en-US" dirty="0"/>
              <a:t>Use a gateway when the operation is a known business contract.</a:t>
            </a:r>
            <a:br>
              <a:rPr lang="en-US" dirty="0"/>
            </a:br>
            <a:r>
              <a:rPr lang="en-US" dirty="0"/>
              <a:t>Use template when interaction is highly dynamic or infrastructure-level.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99585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1CEFB-16C5-CC83-0609-ABE24E933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Gateway vs service activator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466B9-9F3C-1488-54FB-A91B6E83E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>
            <a:normAutofit/>
          </a:bodyPr>
          <a:lstStyle/>
          <a:p>
            <a:r>
              <a:rPr lang="en-US" b="1" dirty="0"/>
              <a:t>Gateway --</a:t>
            </a:r>
            <a:r>
              <a:rPr lang="en-US" dirty="0"/>
              <a:t>Used to enter or invoke a flow.</a:t>
            </a:r>
          </a:p>
          <a:p>
            <a:r>
              <a:rPr lang="en-US" b="1" dirty="0"/>
              <a:t>Service activator --</a:t>
            </a:r>
            <a:r>
              <a:rPr lang="en-US" dirty="0"/>
              <a:t>Used inside the flow to invoke business logic.</a:t>
            </a:r>
          </a:p>
          <a:p>
            <a:r>
              <a:rPr lang="en-US" dirty="0"/>
              <a:t>gateway = front door </a:t>
            </a:r>
          </a:p>
          <a:p>
            <a:r>
              <a:rPr lang="en-US" dirty="0"/>
              <a:t>service activator = worker inside the building 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Controller → Gateway → Channel → Transformer → Service Activator → Reply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95366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586BDE-1993-8474-8159-7687A708BEA3}"/>
              </a:ext>
            </a:extLst>
          </p:cNvPr>
          <p:cNvSpPr txBox="1"/>
          <p:nvPr/>
        </p:nvSpPr>
        <p:spPr>
          <a:xfrm>
            <a:off x="909736" y="804423"/>
            <a:ext cx="1023101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Gateway with headers for routing</a:t>
            </a:r>
          </a:p>
          <a:p>
            <a:pPr>
              <a:buNone/>
            </a:pPr>
            <a:r>
              <a:rPr lang="en-IN" dirty="0"/>
              <a:t>A very practical use case is sending headers through the gateway so routers can branch logic.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@MessagingGateway(defaultRequestChannel = "</a:t>
            </a:r>
            <a:r>
              <a:rPr lang="en-IN" b="1" dirty="0" err="1">
                <a:latin typeface="Courier New" panose="02070309020205020404" pitchFamily="49" charset="0"/>
              </a:rPr>
              <a:t>routingChannel</a:t>
            </a:r>
            <a:r>
              <a:rPr lang="en-IN" b="1" dirty="0">
                <a:latin typeface="Courier New" panose="02070309020205020404" pitchFamily="49" charset="0"/>
              </a:rPr>
              <a:t>")</a:t>
            </a:r>
            <a:br>
              <a:rPr lang="en-IN" b="1" dirty="0">
                <a:latin typeface="Courier New" panose="02070309020205020404" pitchFamily="49" charset="0"/>
              </a:rPr>
            </a:br>
            <a:r>
              <a:rPr lang="en-IN" b="1" dirty="0">
                <a:latin typeface="Courier New" panose="02070309020205020404" pitchFamily="49" charset="0"/>
              </a:rPr>
              <a:t>public interface </a:t>
            </a:r>
            <a:r>
              <a:rPr lang="en-IN" b="1" dirty="0" err="1">
                <a:latin typeface="Courier New" panose="02070309020205020404" pitchFamily="49" charset="0"/>
              </a:rPr>
              <a:t>RoutingGateway</a:t>
            </a:r>
            <a:r>
              <a:rPr lang="en-IN" b="1" dirty="0">
                <a:latin typeface="Courier New" panose="02070309020205020404" pitchFamily="49" charset="0"/>
              </a:rPr>
              <a:t> {</a:t>
            </a:r>
            <a:br>
              <a:rPr lang="en-IN" b="1" dirty="0">
                <a:latin typeface="Courier New" panose="02070309020205020404" pitchFamily="49" charset="0"/>
              </a:rPr>
            </a:br>
            <a:r>
              <a:rPr lang="en-IN" b="1" dirty="0">
                <a:latin typeface="Courier New" panose="02070309020205020404" pitchFamily="49" charset="0"/>
              </a:rPr>
              <a:t>    String process(String payload, @Header("type") String type);</a:t>
            </a:r>
            <a:br>
              <a:rPr lang="en-IN" b="1" dirty="0">
                <a:latin typeface="Courier New" panose="02070309020205020404" pitchFamily="49" charset="0"/>
              </a:rPr>
            </a:br>
            <a:r>
              <a:rPr lang="en-IN" b="1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dirty="0"/>
              <a:t>Flow: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@Bean</a:t>
            </a:r>
            <a:br>
              <a:rPr lang="en-IN" b="1" dirty="0">
                <a:latin typeface="Courier New" panose="02070309020205020404" pitchFamily="49" charset="0"/>
              </a:rPr>
            </a:br>
            <a:r>
              <a:rPr lang="en-IN" b="1" dirty="0">
                <a:latin typeface="Courier New" panose="02070309020205020404" pitchFamily="49" charset="0"/>
              </a:rPr>
              <a:t>public </a:t>
            </a:r>
            <a:r>
              <a:rPr lang="en-IN" b="1" dirty="0" err="1">
                <a:latin typeface="Courier New" panose="02070309020205020404" pitchFamily="49" charset="0"/>
              </a:rPr>
              <a:t>IntegrationFlow</a:t>
            </a:r>
            <a:r>
              <a:rPr lang="en-IN" b="1" dirty="0">
                <a:latin typeface="Courier New" panose="02070309020205020404" pitchFamily="49" charset="0"/>
              </a:rPr>
              <a:t> </a:t>
            </a:r>
            <a:r>
              <a:rPr lang="en-IN" b="1" dirty="0" err="1">
                <a:latin typeface="Courier New" panose="02070309020205020404" pitchFamily="49" charset="0"/>
              </a:rPr>
              <a:t>routingFlow</a:t>
            </a:r>
            <a:r>
              <a:rPr lang="en-IN" b="1" dirty="0">
                <a:latin typeface="Courier New" panose="02070309020205020404" pitchFamily="49" charset="0"/>
              </a:rPr>
              <a:t>() {</a:t>
            </a:r>
            <a:br>
              <a:rPr lang="en-IN" b="1" dirty="0">
                <a:latin typeface="Courier New" panose="02070309020205020404" pitchFamily="49" charset="0"/>
              </a:rPr>
            </a:br>
            <a:r>
              <a:rPr lang="en-IN" b="1" dirty="0">
                <a:latin typeface="Courier New" panose="02070309020205020404" pitchFamily="49" charset="0"/>
              </a:rPr>
              <a:t>    return </a:t>
            </a:r>
            <a:r>
              <a:rPr lang="en-IN" b="1" dirty="0" err="1">
                <a:latin typeface="Courier New" panose="02070309020205020404" pitchFamily="49" charset="0"/>
              </a:rPr>
              <a:t>IntegrationFlow.from</a:t>
            </a:r>
            <a:r>
              <a:rPr lang="en-IN" b="1" dirty="0">
                <a:latin typeface="Courier New" panose="02070309020205020404" pitchFamily="49" charset="0"/>
              </a:rPr>
              <a:t>("</a:t>
            </a:r>
            <a:r>
              <a:rPr lang="en-IN" b="1" dirty="0" err="1">
                <a:latin typeface="Courier New" panose="02070309020205020404" pitchFamily="49" charset="0"/>
              </a:rPr>
              <a:t>routingChannel</a:t>
            </a:r>
            <a:r>
              <a:rPr lang="en-IN" b="1" dirty="0">
                <a:latin typeface="Courier New" panose="02070309020205020404" pitchFamily="49" charset="0"/>
              </a:rPr>
              <a:t>")</a:t>
            </a:r>
            <a:br>
              <a:rPr lang="en-IN" b="1" dirty="0">
                <a:latin typeface="Courier New" panose="02070309020205020404" pitchFamily="49" charset="0"/>
              </a:rPr>
            </a:br>
            <a:r>
              <a:rPr lang="en-IN" b="1" dirty="0">
                <a:latin typeface="Courier New" panose="02070309020205020404" pitchFamily="49" charset="0"/>
              </a:rPr>
              <a:t>            </a:t>
            </a:r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.route(</a:t>
            </a:r>
            <a:r>
              <a:rPr lang="en-I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Message.class</a:t>
            </a:r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, </a:t>
            </a:r>
            <a:r>
              <a:rPr lang="en-I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msg</a:t>
            </a:r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 -&gt; </a:t>
            </a:r>
            <a:r>
              <a:rPr lang="en-I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msg.getHeaders</a:t>
            </a:r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().get("type"),</a:t>
            </a:r>
            <a:b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                    mapping -&gt; mapping</a:t>
            </a:r>
            <a:b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                            .</a:t>
            </a:r>
            <a:r>
              <a:rPr lang="en-I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subFlowMapping</a:t>
            </a:r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("A", sf -&gt; </a:t>
            </a:r>
            <a:r>
              <a:rPr lang="en-I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sf.transform</a:t>
            </a:r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(p -&gt; "Processed by A: " + p))</a:t>
            </a:r>
            <a:b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                            .</a:t>
            </a:r>
            <a:r>
              <a:rPr lang="en-I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subFlowMapping</a:t>
            </a:r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("B", sf -&gt; </a:t>
            </a:r>
            <a:r>
              <a:rPr lang="en-I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sf.transform</a:t>
            </a:r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(p -&gt; "Processed by B: " + p)))</a:t>
            </a:r>
            <a:b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IN" b="1" dirty="0">
                <a:latin typeface="Courier New" panose="02070309020205020404" pitchFamily="49" charset="0"/>
              </a:rPr>
              <a:t>            .get();</a:t>
            </a:r>
            <a:br>
              <a:rPr lang="en-IN" b="1" dirty="0">
                <a:latin typeface="Courier New" panose="02070309020205020404" pitchFamily="49" charset="0"/>
              </a:rPr>
            </a:br>
            <a:r>
              <a:rPr lang="en-IN" b="1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013993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54EBA7-F9D2-D2DF-3129-2D37AECE3536}"/>
              </a:ext>
            </a:extLst>
          </p:cNvPr>
          <p:cNvSpPr txBox="1"/>
          <p:nvPr/>
        </p:nvSpPr>
        <p:spPr>
          <a:xfrm>
            <a:off x="755778" y="509049"/>
            <a:ext cx="1058091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Gateway with REST controller</a:t>
            </a:r>
          </a:p>
          <a:p>
            <a:pPr>
              <a:buNone/>
            </a:pPr>
            <a:r>
              <a:rPr lang="en-IN" dirty="0"/>
              <a:t>This is probably the most common enterprise usage.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Controller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@RestController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@RequiredArgsConstructor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public class </a:t>
            </a:r>
            <a:r>
              <a:rPr lang="en-IN" dirty="0" err="1">
                <a:latin typeface="Courier New" panose="02070309020205020404" pitchFamily="49" charset="0"/>
              </a:rPr>
              <a:t>OrderController</a:t>
            </a:r>
            <a:r>
              <a:rPr lang="en-IN" dirty="0">
                <a:latin typeface="Courier New" panose="02070309020205020404" pitchFamily="49" charset="0"/>
              </a:rPr>
              <a:t> {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</a:t>
            </a:r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private final </a:t>
            </a:r>
            <a:r>
              <a:rPr lang="en-I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OrderGateway</a:t>
            </a:r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I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orderGateway</a:t>
            </a:r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;</a:t>
            </a:r>
            <a:b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@PostMapping("/orders")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public String </a:t>
            </a:r>
            <a:r>
              <a:rPr lang="en-IN" dirty="0" err="1">
                <a:latin typeface="Courier New" panose="02070309020205020404" pitchFamily="49" charset="0"/>
              </a:rPr>
              <a:t>placeOrder</a:t>
            </a:r>
            <a:r>
              <a:rPr lang="en-IN" dirty="0">
                <a:latin typeface="Courier New" panose="02070309020205020404" pitchFamily="49" charset="0"/>
              </a:rPr>
              <a:t>(@RequestBody Order order) 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        return </a:t>
            </a:r>
            <a:r>
              <a:rPr lang="en-I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orderGateway.placeOrder</a:t>
            </a:r>
            <a: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  <a:t>(order);</a:t>
            </a:r>
            <a:br>
              <a:rPr lang="en-IN" b="1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}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b="1" dirty="0"/>
              <a:t>Gateway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@MessagingGateway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public interface </a:t>
            </a:r>
            <a:r>
              <a:rPr lang="en-I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OrderGateway</a:t>
            </a:r>
            <a:r>
              <a:rPr lang="en-IN" dirty="0">
                <a:latin typeface="Courier New" panose="02070309020205020404" pitchFamily="49" charset="0"/>
              </a:rPr>
              <a:t> 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@Gateway(requestChannel = "</a:t>
            </a:r>
            <a:r>
              <a:rPr lang="en-IN" dirty="0" err="1">
                <a:latin typeface="Courier New" panose="02070309020205020404" pitchFamily="49" charset="0"/>
              </a:rPr>
              <a:t>ordersChannel</a:t>
            </a:r>
            <a:r>
              <a:rPr lang="en-IN" dirty="0">
                <a:latin typeface="Courier New" panose="02070309020205020404" pitchFamily="49" charset="0"/>
              </a:rPr>
              <a:t>")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String </a:t>
            </a:r>
            <a:r>
              <a:rPr lang="en-IN" dirty="0" err="1">
                <a:latin typeface="Courier New" panose="02070309020205020404" pitchFamily="49" charset="0"/>
              </a:rPr>
              <a:t>placeOrder</a:t>
            </a:r>
            <a:r>
              <a:rPr lang="en-IN" dirty="0">
                <a:latin typeface="Courier New" panose="02070309020205020404" pitchFamily="49" charset="0"/>
              </a:rPr>
              <a:t>(Order order);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520357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0E2164-366A-BBD1-6183-8FAEB425EB87}"/>
              </a:ext>
            </a:extLst>
          </p:cNvPr>
          <p:cNvSpPr txBox="1"/>
          <p:nvPr/>
        </p:nvSpPr>
        <p:spPr>
          <a:xfrm>
            <a:off x="937726" y="197346"/>
            <a:ext cx="1100079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Gateway with transformer, filter, router, service activator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@MessagingGateway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public interface </a:t>
            </a:r>
            <a:r>
              <a:rPr lang="en-IN" dirty="0" err="1">
                <a:latin typeface="Courier New" panose="02070309020205020404" pitchFamily="49" charset="0"/>
              </a:rPr>
              <a:t>OrderGateway</a:t>
            </a:r>
            <a:r>
              <a:rPr lang="en-IN" dirty="0">
                <a:latin typeface="Courier New" panose="02070309020205020404" pitchFamily="49" charset="0"/>
              </a:rPr>
              <a:t> 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@Gateway(requestChannel = "</a:t>
            </a:r>
            <a:r>
              <a:rPr lang="en-IN" dirty="0" err="1">
                <a:latin typeface="Courier New" panose="02070309020205020404" pitchFamily="49" charset="0"/>
              </a:rPr>
              <a:t>orderInputChannel</a:t>
            </a:r>
            <a:r>
              <a:rPr lang="en-IN" dirty="0">
                <a:latin typeface="Courier New" panose="02070309020205020404" pitchFamily="49" charset="0"/>
              </a:rPr>
              <a:t>")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String process(Order order);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@Bean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public </a:t>
            </a:r>
            <a:r>
              <a:rPr lang="en-IN" dirty="0" err="1">
                <a:latin typeface="Courier New" panose="02070309020205020404" pitchFamily="49" charset="0"/>
              </a:rPr>
              <a:t>IntegrationFlow</a:t>
            </a:r>
            <a:r>
              <a:rPr lang="en-IN" dirty="0">
                <a:latin typeface="Courier New" panose="02070309020205020404" pitchFamily="49" charset="0"/>
              </a:rPr>
              <a:t> </a:t>
            </a:r>
            <a:r>
              <a:rPr lang="en-IN" dirty="0" err="1">
                <a:latin typeface="Courier New" panose="02070309020205020404" pitchFamily="49" charset="0"/>
              </a:rPr>
              <a:t>orderFlow</a:t>
            </a:r>
            <a:r>
              <a:rPr lang="en-IN" dirty="0">
                <a:latin typeface="Courier New" panose="02070309020205020404" pitchFamily="49" charset="0"/>
              </a:rPr>
              <a:t>() 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return </a:t>
            </a:r>
            <a:r>
              <a:rPr lang="en-IN" dirty="0" err="1">
                <a:latin typeface="Courier New" panose="02070309020205020404" pitchFamily="49" charset="0"/>
              </a:rPr>
              <a:t>IntegrationFlow.from</a:t>
            </a:r>
            <a:r>
              <a:rPr lang="en-IN" dirty="0">
                <a:latin typeface="Courier New" panose="02070309020205020404" pitchFamily="49" charset="0"/>
              </a:rPr>
              <a:t>("</a:t>
            </a:r>
            <a:r>
              <a:rPr lang="en-IN" dirty="0" err="1">
                <a:latin typeface="Courier New" panose="02070309020205020404" pitchFamily="49" charset="0"/>
              </a:rPr>
              <a:t>orderInputChannel</a:t>
            </a:r>
            <a:r>
              <a:rPr lang="en-IN" dirty="0">
                <a:latin typeface="Courier New" panose="02070309020205020404" pitchFamily="49" charset="0"/>
              </a:rPr>
              <a:t>")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.transform(</a:t>
            </a:r>
            <a:r>
              <a:rPr lang="en-IN" dirty="0" err="1">
                <a:latin typeface="Courier New" panose="02070309020205020404" pitchFamily="49" charset="0"/>
              </a:rPr>
              <a:t>Order.class</a:t>
            </a:r>
            <a:r>
              <a:rPr lang="en-IN" dirty="0">
                <a:latin typeface="Courier New" panose="02070309020205020404" pitchFamily="49" charset="0"/>
              </a:rPr>
              <a:t>, order -&gt; {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    </a:t>
            </a:r>
            <a:r>
              <a:rPr lang="en-IN" dirty="0" err="1">
                <a:latin typeface="Courier New" panose="02070309020205020404" pitchFamily="49" charset="0"/>
              </a:rPr>
              <a:t>order.setCustomerName</a:t>
            </a:r>
            <a:r>
              <a:rPr lang="en-IN" dirty="0">
                <a:latin typeface="Courier New" panose="02070309020205020404" pitchFamily="49" charset="0"/>
              </a:rPr>
              <a:t>(</a:t>
            </a:r>
            <a:r>
              <a:rPr lang="en-IN" dirty="0" err="1">
                <a:latin typeface="Courier New" panose="02070309020205020404" pitchFamily="49" charset="0"/>
              </a:rPr>
              <a:t>order.getCustomerName</a:t>
            </a:r>
            <a:r>
              <a:rPr lang="en-IN" dirty="0">
                <a:latin typeface="Courier New" panose="02070309020205020404" pitchFamily="49" charset="0"/>
              </a:rPr>
              <a:t>().trim());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    return order;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})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.filter(</a:t>
            </a:r>
            <a:r>
              <a:rPr lang="en-IN" dirty="0" err="1">
                <a:latin typeface="Courier New" panose="02070309020205020404" pitchFamily="49" charset="0"/>
              </a:rPr>
              <a:t>Order.class</a:t>
            </a:r>
            <a:r>
              <a:rPr lang="en-IN" dirty="0">
                <a:latin typeface="Courier New" panose="02070309020205020404" pitchFamily="49" charset="0"/>
              </a:rPr>
              <a:t>, order -&gt; </a:t>
            </a:r>
            <a:r>
              <a:rPr lang="en-IN" dirty="0" err="1">
                <a:latin typeface="Courier New" panose="02070309020205020404" pitchFamily="49" charset="0"/>
              </a:rPr>
              <a:t>order.getAmount</a:t>
            </a:r>
            <a:r>
              <a:rPr lang="en-IN" dirty="0">
                <a:latin typeface="Courier New" panose="02070309020205020404" pitchFamily="49" charset="0"/>
              </a:rPr>
              <a:t>() &gt; 0)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.route(</a:t>
            </a:r>
            <a:r>
              <a:rPr lang="en-IN" dirty="0" err="1">
                <a:latin typeface="Courier New" panose="02070309020205020404" pitchFamily="49" charset="0"/>
              </a:rPr>
              <a:t>Order.class</a:t>
            </a:r>
            <a:r>
              <a:rPr lang="en-IN" dirty="0">
                <a:latin typeface="Courier New" panose="02070309020205020404" pitchFamily="49" charset="0"/>
              </a:rPr>
              <a:t>, order -&gt; </a:t>
            </a:r>
            <a:r>
              <a:rPr lang="en-IN" dirty="0" err="1">
                <a:latin typeface="Courier New" panose="02070309020205020404" pitchFamily="49" charset="0"/>
              </a:rPr>
              <a:t>order.getType</a:t>
            </a:r>
            <a:r>
              <a:rPr lang="en-IN" dirty="0">
                <a:latin typeface="Courier New" panose="02070309020205020404" pitchFamily="49" charset="0"/>
              </a:rPr>
              <a:t>(), mapping -&gt; mapping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        .</a:t>
            </a:r>
            <a:r>
              <a:rPr lang="en-IN" dirty="0" err="1">
                <a:latin typeface="Courier New" panose="02070309020205020404" pitchFamily="49" charset="0"/>
              </a:rPr>
              <a:t>subFlowMapping</a:t>
            </a:r>
            <a:r>
              <a:rPr lang="en-IN" dirty="0">
                <a:latin typeface="Courier New" panose="02070309020205020404" pitchFamily="49" charset="0"/>
              </a:rPr>
              <a:t>("ONLINE", sf -&gt; </a:t>
            </a:r>
            <a:r>
              <a:rPr lang="en-IN" dirty="0" err="1">
                <a:latin typeface="Courier New" panose="02070309020205020404" pitchFamily="49" charset="0"/>
              </a:rPr>
              <a:t>sf.handle</a:t>
            </a:r>
            <a:r>
              <a:rPr lang="en-IN" dirty="0">
                <a:latin typeface="Courier New" panose="02070309020205020404" pitchFamily="49" charset="0"/>
              </a:rPr>
              <a:t>((payload, headers) -&gt; "Processed online order"))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        .</a:t>
            </a:r>
            <a:r>
              <a:rPr lang="en-IN" dirty="0" err="1">
                <a:latin typeface="Courier New" panose="02070309020205020404" pitchFamily="49" charset="0"/>
              </a:rPr>
              <a:t>subFlowMapping</a:t>
            </a:r>
            <a:r>
              <a:rPr lang="en-IN" dirty="0">
                <a:latin typeface="Courier New" panose="02070309020205020404" pitchFamily="49" charset="0"/>
              </a:rPr>
              <a:t>("STORE", sf -&gt; </a:t>
            </a:r>
            <a:r>
              <a:rPr lang="en-IN" dirty="0" err="1">
                <a:latin typeface="Courier New" panose="02070309020205020404" pitchFamily="49" charset="0"/>
              </a:rPr>
              <a:t>sf.handle</a:t>
            </a:r>
            <a:r>
              <a:rPr lang="en-IN" dirty="0">
                <a:latin typeface="Courier New" panose="02070309020205020404" pitchFamily="49" charset="0"/>
              </a:rPr>
              <a:t>((payload, headers) -&gt; "Processed store order"))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)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      .get();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748332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7F8B5-728D-6039-BCF9-2FF0B513D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AA8-F790-B202-526B-9B2D6DF9C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happens when a filter drops a message?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9CA8D-4551-2D02-1B4E-1D242C8F3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>
            <a:normAutofit/>
          </a:bodyPr>
          <a:lstStyle/>
          <a:p>
            <a:r>
              <a:rPr lang="en-US" dirty="0"/>
              <a:t>If a gateway expects a reply and a filter silently drops the message, there may be </a:t>
            </a:r>
            <a:r>
              <a:rPr lang="en-US" b="1" dirty="0"/>
              <a:t>no reply</a:t>
            </a:r>
            <a:r>
              <a:rPr lang="en-US" dirty="0"/>
              <a:t>.</a:t>
            </a:r>
          </a:p>
          <a:p>
            <a:r>
              <a:rPr lang="en-US" dirty="0"/>
              <a:t>Then the gateway may time out.</a:t>
            </a:r>
          </a:p>
          <a:p>
            <a:r>
              <a:rPr lang="en-US" dirty="0"/>
              <a:t>So in gateway-driven request/reply flows, filters should be designed carefully.</a:t>
            </a:r>
          </a:p>
          <a:p>
            <a:r>
              <a:rPr lang="en-US" dirty="0"/>
              <a:t>Common strategies:</a:t>
            </a:r>
          </a:p>
          <a:p>
            <a:pPr lvl="1"/>
            <a:r>
              <a:rPr lang="en-US" dirty="0"/>
              <a:t>throw an exception when message is invalid </a:t>
            </a:r>
          </a:p>
          <a:p>
            <a:pPr lvl="1"/>
            <a:r>
              <a:rPr lang="en-US" dirty="0"/>
              <a:t>send rejected messages to discard channel </a:t>
            </a:r>
          </a:p>
          <a:p>
            <a:pPr lvl="1"/>
            <a:r>
              <a:rPr lang="en-US" dirty="0"/>
              <a:t>return explicit rejection response 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throwExceptionOnRejection</a:t>
            </a:r>
            <a:r>
              <a:rPr lang="en-US" dirty="0"/>
              <a:t>(true) where appropriate </a:t>
            </a:r>
          </a:p>
          <a:p>
            <a:r>
              <a:rPr lang="en-US" dirty="0"/>
              <a:t>This is a classic production bug source.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72101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11F2E-9705-9BC7-A687-22DB1088C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722CB-913D-8A49-E930-2415E4E98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Gateway with async channels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9DF9A-E7D9-300A-DC6F-5C085CEA4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>
            <a:normAutofit fontScale="92500" lnSpcReduction="10000"/>
          </a:bodyPr>
          <a:lstStyle/>
          <a:p>
            <a:r>
              <a:rPr lang="en-US" sz="1200" dirty="0"/>
              <a:t>Suppose request channel is an </a:t>
            </a:r>
            <a:r>
              <a:rPr lang="en-US" sz="1200" dirty="0" err="1"/>
              <a:t>ExecutorChannel</a:t>
            </a:r>
            <a:r>
              <a:rPr lang="en-US" sz="1200" dirty="0"/>
              <a:t> then processing may happen on another thread.</a:t>
            </a:r>
          </a:p>
          <a:p>
            <a:r>
              <a:rPr lang="en-US" sz="1200" dirty="0"/>
              <a:t>This affects:</a:t>
            </a:r>
          </a:p>
          <a:p>
            <a:pPr lvl="1"/>
            <a:r>
              <a:rPr lang="en-US" sz="1100" dirty="0"/>
              <a:t>thread boundaries </a:t>
            </a:r>
          </a:p>
          <a:p>
            <a:pPr lvl="1"/>
            <a:r>
              <a:rPr lang="en-US" sz="1100" dirty="0"/>
              <a:t>transactions </a:t>
            </a:r>
          </a:p>
          <a:p>
            <a:pPr lvl="1"/>
            <a:r>
              <a:rPr lang="en-US" sz="1100" dirty="0"/>
              <a:t>security context propagation </a:t>
            </a:r>
          </a:p>
          <a:p>
            <a:pPr lvl="1"/>
            <a:r>
              <a:rPr lang="en-US" sz="1100" dirty="0"/>
              <a:t>MDC/log correlation </a:t>
            </a:r>
          </a:p>
          <a:p>
            <a:pPr lvl="1"/>
            <a:r>
              <a:rPr lang="en-US" sz="1100" dirty="0"/>
              <a:t>timeout behavior </a:t>
            </a:r>
          </a:p>
          <a:p>
            <a:r>
              <a:rPr lang="en-US" sz="1200" dirty="0"/>
              <a:t>A lot of beginners assume gateway semantics stay the same no matter the channel type. Not true.</a:t>
            </a:r>
          </a:p>
          <a:p>
            <a:r>
              <a:rPr lang="en-US" sz="1200" dirty="0"/>
              <a:t>With async channels:</a:t>
            </a:r>
          </a:p>
          <a:p>
            <a:pPr lvl="1"/>
            <a:r>
              <a:rPr lang="en-US" sz="1100" dirty="0"/>
              <a:t>caller thread may block waiting for async reply </a:t>
            </a:r>
          </a:p>
          <a:p>
            <a:pPr lvl="1"/>
            <a:r>
              <a:rPr lang="en-US" sz="1100" dirty="0"/>
              <a:t>transaction context may not propagate automatically </a:t>
            </a:r>
          </a:p>
          <a:p>
            <a:pPr lvl="1"/>
            <a:r>
              <a:rPr lang="en-US" sz="1100" dirty="0"/>
              <a:t>exceptions may come back differently </a:t>
            </a:r>
          </a:p>
          <a:p>
            <a:pPr lvl="1"/>
            <a:r>
              <a:rPr lang="en-US" sz="1100" dirty="0"/>
              <a:t>timing becomes much more important </a:t>
            </a:r>
          </a:p>
          <a:p>
            <a:r>
              <a:rPr lang="en-US" sz="1200" dirty="0"/>
              <a:t>So when you introduce async channels behind a gateway, you should revisit the whole contract.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6879025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25202-D7AE-793A-448B-00E628716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3064D-D402-4AD1-B7E1-CF533385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should you use a gateway?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6D4C2-8093-0F89-0800-514AFFEE5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>
            <a:normAutofit/>
          </a:bodyPr>
          <a:lstStyle/>
          <a:p>
            <a:r>
              <a:rPr lang="en-US" dirty="0"/>
              <a:t>Use a gateway when:</a:t>
            </a:r>
          </a:p>
          <a:p>
            <a:r>
              <a:rPr lang="en-US" dirty="0"/>
              <a:t>application code needs to call an integration flow </a:t>
            </a:r>
          </a:p>
          <a:p>
            <a:r>
              <a:rPr lang="en-US" dirty="0"/>
              <a:t>you want request/reply abstraction </a:t>
            </a:r>
          </a:p>
          <a:p>
            <a:r>
              <a:rPr lang="en-US" dirty="0"/>
              <a:t>you want method-based API over messaging </a:t>
            </a:r>
          </a:p>
          <a:p>
            <a:r>
              <a:rPr lang="en-US" dirty="0"/>
              <a:t>you want clean controller/service integration </a:t>
            </a:r>
          </a:p>
          <a:p>
            <a:r>
              <a:rPr lang="en-US" dirty="0"/>
              <a:t>you want better testability </a:t>
            </a:r>
          </a:p>
          <a:p>
            <a:r>
              <a:rPr lang="en-US" dirty="0"/>
              <a:t>Do not force a gateway everywhere when simple event publishing is enough.</a:t>
            </a:r>
          </a:p>
          <a:p>
            <a:r>
              <a:rPr lang="en-US" dirty="0"/>
              <a:t>For event-driven fire-and-forget use cases, direct messaging or outbound adapters may be a better fit.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54870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BCB89-6B11-5F91-BF14-0CC2369A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04E04-9330-075C-7D58-085BB3B20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8904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2EB0B-367F-1DD8-3612-6CB62620A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EC069-3730-C447-03BF-2E131C55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4A430-76D6-E3FF-77D6-0471DBDB2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37279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AA0B6-A063-80C1-2224-30720D1C9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67B5-65C6-3EE1-F435-A2B527637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A4F83-A51B-8BE3-BEE2-7111B96B5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218723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8CA1A-F04A-1A10-AE62-62175333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14CC-20F6-939A-5B1B-F1977F4B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B2112-30CF-A621-9E8A-B2164A6C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04200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EB7AB-B110-D018-8B42-032F062BA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3435B-7151-0E2D-A959-4929646AE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E3ED2-0FC7-C330-19A8-88BA0D523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544944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13D4C-E005-3E89-BE94-1DC706250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C0E17-7B59-960B-AA9E-BB245096B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88710-6B59-4A3A-CF66-FF041BD1A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180840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922BC-B9BD-5D35-29CC-F6DD353B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FE76B-7745-A39C-0387-8042F44F5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8A686-0B72-6BE5-1D09-54D2D7F56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04687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53926-7DBB-A45C-8E46-B900D9C3F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C6593-DF41-E82E-4434-703F9032E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62D48-573E-58F1-D081-EB531BC6F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40943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AD084-9D01-A022-2C85-90B7B5A56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8C7F3-D8AA-D5F8-2352-94A9946B6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7B723-5FE8-E833-3A05-40C72E9B3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518275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82016-B695-9A18-37D9-B33134B59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025F2-AB42-FA80-5C81-285B5537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A19A5-1705-D894-8D73-740A75156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24194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D5A03-9728-4B74-F036-C61556A9C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12717-CC9F-9D7D-11AF-3C77961B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4748C-50C6-4041-B546-0CEF2E23C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0120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47A43-349A-7C13-EC7A-500DF2806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1AAB9-C358-F639-AA13-52BD8502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6F585-9E43-B4AE-F13A-7582A5C8A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174456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A64D-D33E-591F-DEA9-F73E96146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290BB-9B0B-5B5B-350B-37D13539B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55DAF-16A3-95FE-7B00-2FCF0B6F0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52189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F6B71-E344-B6ED-B0D3-C5C191150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9581C-2E43-FD5A-4719-234CAD94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95E66-3A41-0EE1-5FA6-36BCB522A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3517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D3B3A-F74D-5FF4-3C99-87C98B9F9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7DE8C-C03E-E53C-461B-8901D9279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4DF79-1A8F-AF3C-DE03-1E452169B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151800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CEF99-4693-9520-4AEC-7E3A67E7A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5B051-34F1-8F65-F06E-3FBF9B9BB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3F6C0-72F1-545D-7B69-B4B13D036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86813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3DEDE-70F7-D2AF-91F8-1FEC99736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F0411-C22A-3901-BADA-7F41D3D27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6BA63-E4F1-8BF0-8294-DE7546F40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32096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1E3FB-F5D0-97A7-5868-EBE92CF00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45242-E914-5A25-130C-FA46642C4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BC97B-8808-9677-4B58-C290D7BE9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823442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92507-56AE-3E46-3295-82570F7BE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F03A7-79A4-69E6-5CAA-AD95D993B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02192-CEBB-53C7-3992-B96CA0366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0989" cy="373198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98853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91</TotalTime>
  <Words>4950</Words>
  <Application>Microsoft Office PowerPoint</Application>
  <PresentationFormat>Widescreen</PresentationFormat>
  <Paragraphs>575</Paragraphs>
  <Slides>86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5" baseType="lpstr">
      <vt:lpstr>Arial</vt:lpstr>
      <vt:lpstr>Cambria Math</vt:lpstr>
      <vt:lpstr>Century Gothic</vt:lpstr>
      <vt:lpstr>Courier New</vt:lpstr>
      <vt:lpstr>DM Mono</vt:lpstr>
      <vt:lpstr>Inter</vt:lpstr>
      <vt:lpstr>Wingdings</vt:lpstr>
      <vt:lpstr>Wingdings 3</vt:lpstr>
      <vt:lpstr>Ion Boardroom</vt:lpstr>
      <vt:lpstr>Channel Adapters and Gateways</vt:lpstr>
      <vt:lpstr>Channel Adapters and Gateways</vt:lpstr>
      <vt:lpstr>Channel Adapters</vt:lpstr>
      <vt:lpstr>Inbound Channel Adapters (Source)</vt:lpstr>
      <vt:lpstr>Polling Inbound Adapter (Passive)</vt:lpstr>
      <vt:lpstr>PowerPoint Presentation</vt:lpstr>
      <vt:lpstr>Code Example: Reading Files from a folder</vt:lpstr>
      <vt:lpstr>Event-Driven Inbound Adapter (Active)</vt:lpstr>
      <vt:lpstr>Event-Driven Inbound Adapter (Active)</vt:lpstr>
      <vt:lpstr>Outbound Channel Adapters (Sink)</vt:lpstr>
      <vt:lpstr>PowerPoint Presentation</vt:lpstr>
      <vt:lpstr>Code Example: Writing to a Database (JDBC Outbound)</vt:lpstr>
      <vt:lpstr>Code Example: Sending an Email</vt:lpstr>
      <vt:lpstr>Code Example Logging Outbound Adapter</vt:lpstr>
      <vt:lpstr>PowerPoint Presentation</vt:lpstr>
      <vt:lpstr>Adapter usage</vt:lpstr>
      <vt:lpstr>Channel Adapters</vt:lpstr>
      <vt:lpstr>Transactional Poller</vt:lpstr>
      <vt:lpstr>Protocol Mapping (Payload Conversion)</vt:lpstr>
      <vt:lpstr>Error Handling in Adapters</vt:lpstr>
      <vt:lpstr>When to use an Adapter vs. a Gateway?</vt:lpstr>
      <vt:lpstr>Gateway in Spring Integration?</vt:lpstr>
      <vt:lpstr>Gateway in Spring Integration?</vt:lpstr>
      <vt:lpstr>Why do we need a gateway?</vt:lpstr>
      <vt:lpstr>Why do we need a gateway?</vt:lpstr>
      <vt:lpstr>Mental model</vt:lpstr>
      <vt:lpstr>Mental model</vt:lpstr>
      <vt:lpstr>Main kinds of gateways in Spring Integration</vt:lpstr>
      <vt:lpstr>Messaging Gateway Interface</vt:lpstr>
      <vt:lpstr>Gateway endpoint in a flow / XML / DSL</vt:lpstr>
      <vt:lpstr>PowerPoint Presentation</vt:lpstr>
      <vt:lpstr>Gateway anatomy</vt:lpstr>
      <vt:lpstr>How method parameters are mapped</vt:lpstr>
      <vt:lpstr>Case 1: Single plain argument → payload</vt:lpstr>
      <vt:lpstr>Case 2: Use @Header</vt:lpstr>
      <vt:lpstr>Case 3: Use @Headers</vt:lpstr>
      <vt:lpstr>Case 4: Pass full Message</vt:lpstr>
      <vt:lpstr>Return types in gateways</vt:lpstr>
      <vt:lpstr>Synchronous reply</vt:lpstr>
      <vt:lpstr>Void return type</vt:lpstr>
      <vt:lpstr>Return Message&lt;?&gt;</vt:lpstr>
      <vt:lpstr>Future / async-style return types</vt:lpstr>
      <vt:lpstr>@MessagingGateway</vt:lpstr>
      <vt:lpstr>@MessagingGateway</vt:lpstr>
      <vt:lpstr>@Gateway annotation on methods</vt:lpstr>
      <vt:lpstr>@Gateway annotation on methods</vt:lpstr>
      <vt:lpstr>Payload expressions</vt:lpstr>
      <vt:lpstr>Header expressions</vt:lpstr>
      <vt:lpstr>Synchronous vs asynchronous gateway behavior</vt:lpstr>
      <vt:lpstr>Asynchronous gateway</vt:lpstr>
      <vt:lpstr>One-way gateways</vt:lpstr>
      <vt:lpstr>Error handling in gateways</vt:lpstr>
      <vt:lpstr>Error handling in gateways</vt:lpstr>
      <vt:lpstr>Error handling in gateways</vt:lpstr>
      <vt:lpstr>Exception mapping patterns</vt:lpstr>
      <vt:lpstr>Timeouts</vt:lpstr>
      <vt:lpstr>Reply timeout</vt:lpstr>
      <vt:lpstr>Request-reply contract</vt:lpstr>
      <vt:lpstr>Gateway vs channel adapter</vt:lpstr>
      <vt:lpstr>Gateway vs messaging template</vt:lpstr>
      <vt:lpstr>Gateway vs service activator</vt:lpstr>
      <vt:lpstr>PowerPoint Presentation</vt:lpstr>
      <vt:lpstr>PowerPoint Presentation</vt:lpstr>
      <vt:lpstr>PowerPoint Presentation</vt:lpstr>
      <vt:lpstr>What happens when a filter drops a message?</vt:lpstr>
      <vt:lpstr>Gateway with async channels</vt:lpstr>
      <vt:lpstr>When should you use a gateway?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munoth</dc:creator>
  <cp:lastModifiedBy>anju munoth</cp:lastModifiedBy>
  <cp:revision>69</cp:revision>
  <dcterms:created xsi:type="dcterms:W3CDTF">2026-03-23T00:55:50Z</dcterms:created>
  <dcterms:modified xsi:type="dcterms:W3CDTF">2026-03-24T04:40:17Z</dcterms:modified>
</cp:coreProperties>
</file>