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63" r:id="rId19"/>
    <p:sldId id="264" r:id="rId20"/>
    <p:sldId id="280" r:id="rId21"/>
    <p:sldId id="281" r:id="rId22"/>
    <p:sldId id="282" r:id="rId23"/>
    <p:sldId id="311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65" r:id="rId32"/>
    <p:sldId id="266" r:id="rId33"/>
    <p:sldId id="267" r:id="rId34"/>
    <p:sldId id="268" r:id="rId35"/>
    <p:sldId id="26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0" autoAdjust="0"/>
    <p:restoredTop sz="94660"/>
  </p:normalViewPr>
  <p:slideViewPr>
    <p:cSldViewPr snapToGrid="0">
      <p:cViewPr>
        <p:scale>
          <a:sx n="82" d="100"/>
          <a:sy n="82" d="100"/>
        </p:scale>
        <p:origin x="290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B237889F-4686-4F20-9BE0-22CEFD19DCC9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8973F3AF-FF5A-49E3-BB58-0D00704AA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4883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889F-4686-4F20-9BE0-22CEFD19DCC9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3F3AF-FF5A-49E3-BB58-0D00704AA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627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889F-4686-4F20-9BE0-22CEFD19DCC9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3F3AF-FF5A-49E3-BB58-0D00704AA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569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889F-4686-4F20-9BE0-22CEFD19DCC9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3F3AF-FF5A-49E3-BB58-0D00704AA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907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889F-4686-4F20-9BE0-22CEFD19DCC9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3F3AF-FF5A-49E3-BB58-0D00704AA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6901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889F-4686-4F20-9BE0-22CEFD19DCC9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3F3AF-FF5A-49E3-BB58-0D00704AA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6655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889F-4686-4F20-9BE0-22CEFD19DCC9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3F3AF-FF5A-49E3-BB58-0D00704AA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8274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889F-4686-4F20-9BE0-22CEFD19DCC9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3F3AF-FF5A-49E3-BB58-0D00704AA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011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889F-4686-4F20-9BE0-22CEFD19DCC9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3F3AF-FF5A-49E3-BB58-0D00704AA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2810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889F-4686-4F20-9BE0-22CEFD19DCC9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3F3AF-FF5A-49E3-BB58-0D00704AA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916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889F-4686-4F20-9BE0-22CEFD19DCC9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3F3AF-FF5A-49E3-BB58-0D00704AA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9622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889F-4686-4F20-9BE0-22CEFD19DCC9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3F3AF-FF5A-49E3-BB58-0D00704AA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7126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889F-4686-4F20-9BE0-22CEFD19DCC9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3F3AF-FF5A-49E3-BB58-0D00704AA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5901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889F-4686-4F20-9BE0-22CEFD19DCC9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3F3AF-FF5A-49E3-BB58-0D00704AA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17786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7889F-4686-4F20-9BE0-22CEFD19DCC9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3F3AF-FF5A-49E3-BB58-0D00704AA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6422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B237889F-4686-4F20-9BE0-22CEFD19DCC9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3F3AF-FF5A-49E3-BB58-0D00704AA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068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B237889F-4686-4F20-9BE0-22CEFD19DCC9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3F3AF-FF5A-49E3-BB58-0D00704AA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9625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B237889F-4686-4F20-9BE0-22CEFD19DCC9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8973F3AF-FF5A-49E3-BB58-0D00704AA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603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15DFC-50E0-016E-13FA-1D36FB8CC9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Message Transformation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573077-72BA-7CE0-C658-8980C97C13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Anju munoth</a:t>
            </a:r>
          </a:p>
        </p:txBody>
      </p:sp>
    </p:spTree>
    <p:extLst>
      <p:ext uri="{BB962C8B-B14F-4D97-AF65-F5344CB8AC3E}">
        <p14:creationId xmlns:p14="http://schemas.microsoft.com/office/powerpoint/2010/main" val="53205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6021E-C02D-E0DF-4F01-C933C6842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Messages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1F09A-D9EA-7E94-F095-489AA99B4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94315" cy="3750647"/>
          </a:xfrm>
        </p:spPr>
        <p:txBody>
          <a:bodyPr/>
          <a:lstStyle/>
          <a:p>
            <a:r>
              <a:rPr lang="en-US" dirty="0"/>
              <a:t>In a real system, System A talks in JSON, but System B wants XML. Or System A sends an Id, but System B needs the full User object.</a:t>
            </a:r>
          </a:p>
          <a:p>
            <a:pPr marL="0" indent="0">
              <a:buNone/>
            </a:pPr>
            <a:r>
              <a:rPr lang="en-US" dirty="0"/>
              <a:t>3 main tools </a:t>
            </a:r>
          </a:p>
          <a:p>
            <a:r>
              <a:rPr lang="en-US" b="1" dirty="0"/>
              <a:t>Transformers:</a:t>
            </a:r>
            <a:r>
              <a:rPr lang="en-US" dirty="0"/>
              <a:t> Converting data types (e.g., Object to String, Map to JSON).</a:t>
            </a:r>
          </a:p>
          <a:p>
            <a:r>
              <a:rPr lang="en-US" b="1" dirty="0"/>
              <a:t>Filters:</a:t>
            </a:r>
            <a:r>
              <a:rPr lang="en-US" dirty="0"/>
              <a:t> Dropping messages entirely if they don't meet a "quality" bar (e.g., "Delete all messages where price &lt; 0").</a:t>
            </a:r>
          </a:p>
          <a:p>
            <a:r>
              <a:rPr lang="en-US" b="1" dirty="0"/>
              <a:t>Content Enrichers:</a:t>
            </a:r>
            <a:r>
              <a:rPr lang="en-US" dirty="0"/>
              <a:t> Adding </a:t>
            </a:r>
            <a:r>
              <a:rPr lang="en-US" i="1" dirty="0"/>
              <a:t>more</a:t>
            </a:r>
            <a:r>
              <a:rPr lang="en-US" dirty="0"/>
              <a:t> data to a message (e.g., Calling a database to get a user's address and adding it to the payload).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0155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9F888-0D8A-551B-6E87-8D1F6B96C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Message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6D09F-1B87-1A12-C512-7155572DB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87013" cy="3769308"/>
          </a:xfrm>
        </p:spPr>
        <p:txBody>
          <a:bodyPr>
            <a:normAutofit/>
          </a:bodyPr>
          <a:lstStyle/>
          <a:p>
            <a:r>
              <a:rPr lang="en-US" dirty="0"/>
              <a:t>Message Transformation is one of the core patterns in Enterprise Integration Patterns (EIP) and a fundamental pillar of </a:t>
            </a:r>
            <a:r>
              <a:rPr lang="en-US" b="1" dirty="0"/>
              <a:t>Spring Integration</a:t>
            </a:r>
            <a:r>
              <a:rPr lang="en-US" dirty="0"/>
              <a:t>. </a:t>
            </a:r>
          </a:p>
          <a:p>
            <a:r>
              <a:rPr lang="en-US" dirty="0"/>
              <a:t>Addresses the problem of incompatible data formats between different systems.</a:t>
            </a:r>
          </a:p>
          <a:p>
            <a:r>
              <a:rPr lang="en-US" dirty="0"/>
              <a:t>In a messaging architecture, the "Producer" might send data in </a:t>
            </a:r>
            <a:r>
              <a:rPr lang="en-US" b="1" dirty="0"/>
              <a:t>JSON</a:t>
            </a:r>
            <a:r>
              <a:rPr lang="en-US" dirty="0"/>
              <a:t>, but the "Consumer" might only understand </a:t>
            </a:r>
            <a:r>
              <a:rPr lang="en-US" b="1" dirty="0"/>
              <a:t>XML</a:t>
            </a:r>
            <a:r>
              <a:rPr lang="en-US" dirty="0"/>
              <a:t> or a </a:t>
            </a:r>
            <a:r>
              <a:rPr lang="en-US" b="1" dirty="0"/>
              <a:t>Java POJO</a:t>
            </a:r>
            <a:r>
              <a:rPr lang="en-US" dirty="0"/>
              <a:t>.</a:t>
            </a:r>
          </a:p>
          <a:p>
            <a:r>
              <a:rPr lang="en-US" dirty="0"/>
              <a:t>A </a:t>
            </a:r>
            <a:r>
              <a:rPr lang="en-US" b="1" dirty="0"/>
              <a:t>Transformer</a:t>
            </a:r>
            <a:r>
              <a:rPr lang="en-US" dirty="0"/>
              <a:t> is a component that:</a:t>
            </a:r>
          </a:p>
          <a:p>
            <a:r>
              <a:rPr lang="en-US" dirty="0"/>
              <a:t>Modifies the message payload (Content conversion).</a:t>
            </a:r>
          </a:p>
          <a:p>
            <a:r>
              <a:rPr lang="en-US" dirty="0"/>
              <a:t>Modifies message headers (Adding/removing metadata).</a:t>
            </a:r>
          </a:p>
          <a:p>
            <a:r>
              <a:rPr lang="en-US" dirty="0"/>
              <a:t>Changes the message structure entirely.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0201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9DB26-728E-BAD5-85CC-75CB3416A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CDDA9-E87A-B9DA-DC13-35D19519F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Core Concepts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2FDFE-84CA-8368-EF10-399DF740A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87013" cy="3769308"/>
          </a:xfrm>
        </p:spPr>
        <p:txBody>
          <a:bodyPr>
            <a:normAutofit/>
          </a:bodyPr>
          <a:lstStyle/>
          <a:p>
            <a:r>
              <a:rPr lang="en-US" b="1" dirty="0"/>
              <a:t>Transformer:</a:t>
            </a:r>
            <a:r>
              <a:rPr lang="en-US" dirty="0"/>
              <a:t> A functional component that takes a Message and returns a modified Message.</a:t>
            </a:r>
          </a:p>
          <a:p>
            <a:r>
              <a:rPr lang="en-US" b="1" dirty="0"/>
              <a:t>Payload Transformer:</a:t>
            </a:r>
            <a:r>
              <a:rPr lang="en-US" dirty="0"/>
              <a:t> Focuses strictly on the body of the message.</a:t>
            </a:r>
          </a:p>
          <a:p>
            <a:r>
              <a:rPr lang="en-US" b="1" dirty="0"/>
              <a:t>Header Enricher:</a:t>
            </a:r>
            <a:r>
              <a:rPr lang="en-US" dirty="0"/>
              <a:t> Adds metadata (e.g., Correlation-ID, Content-Type) without changing the payload.</a:t>
            </a:r>
          </a:p>
          <a:p>
            <a:r>
              <a:rPr lang="en-US" b="1" dirty="0"/>
              <a:t>Header Filter:</a:t>
            </a:r>
            <a:r>
              <a:rPr lang="en-US" dirty="0"/>
              <a:t> Removes specific headers for security or protocol compatibility.</a:t>
            </a:r>
          </a:p>
          <a:p>
            <a:r>
              <a:rPr lang="en-US" b="1" dirty="0"/>
              <a:t>Content Enricher:</a:t>
            </a:r>
            <a:r>
              <a:rPr lang="en-US" dirty="0"/>
              <a:t> A specialized transformer that reaches out to an external system (DB/Web Service) to add data to the message.</a:t>
            </a:r>
          </a:p>
          <a:p>
            <a:r>
              <a:rPr lang="en-US" b="1" dirty="0"/>
              <a:t>Claim Check:</a:t>
            </a:r>
            <a:r>
              <a:rPr lang="en-US" dirty="0"/>
              <a:t> A pattern where a large payload is stored in a database, and only a "pointer" (ID) is sent through the bus to save memory.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7112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BABCF-CC19-7D1A-4343-7B5A8C65D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8BA89-7189-7F28-F2D5-270CC4AE4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Simple POJO Transformer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C68CD-38C3-A41C-796D-45BCFD5D8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87013" cy="3769308"/>
          </a:xfrm>
        </p:spPr>
        <p:txBody>
          <a:bodyPr/>
          <a:lstStyle/>
          <a:p>
            <a:r>
              <a:rPr lang="en-US" dirty="0"/>
              <a:t>Don't need to implement Spring interfaces. You can use a simple Java class.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OrderTransformer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public </a:t>
            </a:r>
            <a:r>
              <a:rPr lang="en-US" dirty="0" err="1"/>
              <a:t>ShippingRequest</a:t>
            </a:r>
            <a:r>
              <a:rPr lang="en-US" dirty="0"/>
              <a:t> </a:t>
            </a:r>
            <a:r>
              <a:rPr lang="en-US" dirty="0" err="1"/>
              <a:t>transformOrder</a:t>
            </a:r>
            <a:r>
              <a:rPr lang="en-US" dirty="0"/>
              <a:t>(Order order) {</a:t>
            </a:r>
          </a:p>
          <a:p>
            <a:pPr marL="0" indent="0">
              <a:buNone/>
            </a:pPr>
            <a:r>
              <a:rPr lang="en-US" dirty="0"/>
              <a:t>        return new </a:t>
            </a:r>
            <a:r>
              <a:rPr lang="en-US" dirty="0" err="1"/>
              <a:t>ShippingRequest</a:t>
            </a:r>
            <a:r>
              <a:rPr lang="en-US" dirty="0"/>
              <a:t>(</a:t>
            </a:r>
            <a:r>
              <a:rPr lang="en-US" dirty="0" err="1"/>
              <a:t>order.getOrderId</a:t>
            </a:r>
            <a:r>
              <a:rPr lang="en-US" dirty="0"/>
              <a:t>(), </a:t>
            </a:r>
            <a:r>
              <a:rPr lang="en-US" dirty="0" err="1"/>
              <a:t>order.getAddress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5958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8E94F-98BA-769D-1061-DA63CE0CE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D8794-D5B8-779A-8A9D-070F9877E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 Annotation-Based Implementation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C674C-C164-945B-6324-D228D44B3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87013" cy="376930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@Component</a:t>
            </a:r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MyIntegrationLogic</a:t>
            </a:r>
            <a:r>
              <a:rPr lang="en-IN" dirty="0"/>
              <a:t>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@Transformer(inputChannel = "</a:t>
            </a:r>
            <a:r>
              <a:rPr lang="en-IN" dirty="0" err="1"/>
              <a:t>jsonInChannel</a:t>
            </a:r>
            <a:r>
              <a:rPr lang="en-IN" dirty="0"/>
              <a:t>", </a:t>
            </a:r>
            <a:r>
              <a:rPr lang="en-IN" dirty="0" err="1"/>
              <a:t>outputChannel</a:t>
            </a:r>
            <a:r>
              <a:rPr lang="en-IN" dirty="0"/>
              <a:t> = "</a:t>
            </a:r>
            <a:r>
              <a:rPr lang="en-IN" dirty="0" err="1"/>
              <a:t>pojoOutChannel</a:t>
            </a:r>
            <a:r>
              <a:rPr lang="en-IN" dirty="0"/>
              <a:t>")</a:t>
            </a:r>
          </a:p>
          <a:p>
            <a:pPr marL="0" indent="0">
              <a:buNone/>
            </a:pPr>
            <a:r>
              <a:rPr lang="en-IN" dirty="0"/>
              <a:t>    public User </a:t>
            </a:r>
            <a:r>
              <a:rPr lang="en-IN" dirty="0" err="1"/>
              <a:t>convertToUser</a:t>
            </a:r>
            <a:r>
              <a:rPr lang="en-IN" dirty="0"/>
              <a:t>(String </a:t>
            </a:r>
            <a:r>
              <a:rPr lang="en-IN" dirty="0" err="1"/>
              <a:t>json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// Logic to convert JSON string to User object</a:t>
            </a:r>
          </a:p>
          <a:p>
            <a:pPr marL="0" indent="0">
              <a:buNone/>
            </a:pPr>
            <a:r>
              <a:rPr lang="en-IN" dirty="0"/>
              <a:t>        return new </a:t>
            </a:r>
            <a:r>
              <a:rPr lang="en-IN" dirty="0" err="1"/>
              <a:t>Gson</a:t>
            </a:r>
            <a:r>
              <a:rPr lang="en-IN" dirty="0"/>
              <a:t>().</a:t>
            </a:r>
            <a:r>
              <a:rPr lang="en-IN" dirty="0" err="1"/>
              <a:t>fromJson</a:t>
            </a:r>
            <a:r>
              <a:rPr lang="en-IN" dirty="0"/>
              <a:t>(</a:t>
            </a:r>
            <a:r>
              <a:rPr lang="en-IN" dirty="0" err="1"/>
              <a:t>json</a:t>
            </a:r>
            <a:r>
              <a:rPr lang="en-IN" dirty="0"/>
              <a:t>, </a:t>
            </a:r>
            <a:r>
              <a:rPr lang="en-IN" dirty="0" err="1"/>
              <a:t>User.class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06579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62757-62BE-A21B-880A-A89269870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F5E26-7BA1-7D8F-4A7D-472C1AD51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Java DSL (Modern/Advanced Approach)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07F3E-8DF7-4EF4-F7CB-475796DF4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456" y="2262933"/>
            <a:ext cx="10387013" cy="3769308"/>
          </a:xfrm>
        </p:spPr>
        <p:txBody>
          <a:bodyPr/>
          <a:lstStyle/>
          <a:p>
            <a:r>
              <a:rPr lang="en-US" dirty="0"/>
              <a:t>This is the most flexible and readable way to build flows in Spring Integration.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F67142-7FB8-F937-8261-A2DADAE4D3AF}"/>
              </a:ext>
            </a:extLst>
          </p:cNvPr>
          <p:cNvSpPr txBox="1"/>
          <p:nvPr/>
        </p:nvSpPr>
        <p:spPr>
          <a:xfrm>
            <a:off x="629815" y="2563168"/>
            <a:ext cx="1132736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@Bean</a:t>
            </a:r>
          </a:p>
          <a:p>
            <a:r>
              <a:rPr lang="en-IN" dirty="0"/>
              <a:t>public </a:t>
            </a:r>
            <a:r>
              <a:rPr lang="en-IN" dirty="0" err="1"/>
              <a:t>IntegrationFlow</a:t>
            </a:r>
            <a:r>
              <a:rPr lang="en-IN" dirty="0"/>
              <a:t> </a:t>
            </a:r>
            <a:r>
              <a:rPr lang="en-IN" dirty="0" err="1"/>
              <a:t>transformFlow</a:t>
            </a:r>
            <a:r>
              <a:rPr lang="en-IN" dirty="0"/>
              <a:t>() {</a:t>
            </a:r>
          </a:p>
          <a:p>
            <a:r>
              <a:rPr lang="en-IN" dirty="0"/>
              <a:t>    return </a:t>
            </a:r>
            <a:r>
              <a:rPr lang="en-IN" dirty="0" err="1"/>
              <a:t>IntegrationFlow.from</a:t>
            </a:r>
            <a:r>
              <a:rPr lang="en-IN" dirty="0"/>
              <a:t>("</a:t>
            </a:r>
            <a:r>
              <a:rPr lang="en-IN" dirty="0" err="1"/>
              <a:t>inputChannel</a:t>
            </a:r>
            <a:r>
              <a:rPr lang="en-IN" dirty="0"/>
              <a:t>")</a:t>
            </a:r>
          </a:p>
          <a:p>
            <a:r>
              <a:rPr lang="en-IN" dirty="0"/>
              <a:t>            // 1. Simple Lambda Transformation</a:t>
            </a:r>
          </a:p>
          <a:p>
            <a:r>
              <a:rPr lang="en-IN" dirty="0"/>
              <a:t>            .transform(</a:t>
            </a:r>
            <a:r>
              <a:rPr lang="en-IN" dirty="0" err="1"/>
              <a:t>String.class</a:t>
            </a:r>
            <a:r>
              <a:rPr lang="en-IN" dirty="0"/>
              <a:t>, String::</a:t>
            </a:r>
            <a:r>
              <a:rPr lang="en-IN" dirty="0" err="1"/>
              <a:t>toUpperCase</a:t>
            </a:r>
            <a:r>
              <a:rPr lang="en-IN" dirty="0"/>
              <a:t>)</a:t>
            </a:r>
          </a:p>
          <a:p>
            <a:r>
              <a:rPr lang="en-IN" dirty="0"/>
              <a:t>            </a:t>
            </a:r>
          </a:p>
          <a:p>
            <a:r>
              <a:rPr lang="en-IN" dirty="0"/>
              <a:t>            // 2. Object to JSON</a:t>
            </a:r>
          </a:p>
          <a:p>
            <a:r>
              <a:rPr lang="en-IN" dirty="0"/>
              <a:t>            .transform(new </a:t>
            </a:r>
            <a:r>
              <a:rPr lang="en-IN" dirty="0" err="1"/>
              <a:t>ObjectToJsonTransformer</a:t>
            </a:r>
            <a:r>
              <a:rPr lang="en-IN" dirty="0"/>
              <a:t>())</a:t>
            </a:r>
          </a:p>
          <a:p>
            <a:r>
              <a:rPr lang="en-IN" dirty="0"/>
              <a:t>            </a:t>
            </a:r>
          </a:p>
          <a:p>
            <a:r>
              <a:rPr lang="en-IN" dirty="0"/>
              <a:t>            // 3. Header Enrichment</a:t>
            </a:r>
          </a:p>
          <a:p>
            <a:r>
              <a:rPr lang="en-IN" dirty="0"/>
              <a:t>            .</a:t>
            </a:r>
            <a:r>
              <a:rPr lang="en-IN" dirty="0" err="1"/>
              <a:t>enrichHeaders</a:t>
            </a:r>
            <a:r>
              <a:rPr lang="en-IN" dirty="0"/>
              <a:t>(h -&gt; </a:t>
            </a:r>
            <a:r>
              <a:rPr lang="en-IN" dirty="0" err="1"/>
              <a:t>h.header</a:t>
            </a:r>
            <a:r>
              <a:rPr lang="en-IN" dirty="0"/>
              <a:t>("</a:t>
            </a:r>
            <a:r>
              <a:rPr lang="en-IN" dirty="0" err="1"/>
              <a:t>processedBy</a:t>
            </a:r>
            <a:r>
              <a:rPr lang="en-IN" dirty="0"/>
              <a:t>", "Spring-Integration")</a:t>
            </a:r>
          </a:p>
          <a:p>
            <a:r>
              <a:rPr lang="en-IN" dirty="0"/>
              <a:t>                                 .</a:t>
            </a:r>
            <a:r>
              <a:rPr lang="en-IN" dirty="0" err="1"/>
              <a:t>headerExpression</a:t>
            </a:r>
            <a:r>
              <a:rPr lang="en-IN" dirty="0"/>
              <a:t>("timestamp", "new </a:t>
            </a:r>
            <a:r>
              <a:rPr lang="en-IN" dirty="0" err="1"/>
              <a:t>java.util.Date</a:t>
            </a:r>
            <a:r>
              <a:rPr lang="en-IN" dirty="0"/>
              <a:t>()"))</a:t>
            </a:r>
          </a:p>
          <a:p>
            <a:r>
              <a:rPr lang="en-IN" dirty="0"/>
              <a:t>	     .handle(</a:t>
            </a:r>
            <a:r>
              <a:rPr lang="en-IN" dirty="0" err="1"/>
              <a:t>System.out</a:t>
            </a:r>
            <a:r>
              <a:rPr lang="en-IN" dirty="0"/>
              <a:t>::</a:t>
            </a:r>
            <a:r>
              <a:rPr lang="en-IN" dirty="0" err="1"/>
              <a:t>println</a:t>
            </a:r>
            <a:r>
              <a:rPr lang="en-IN" dirty="0"/>
              <a:t>)</a:t>
            </a:r>
          </a:p>
          <a:p>
            <a:r>
              <a:rPr lang="en-IN" dirty="0"/>
              <a:t>            .get();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11584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8C974-CAE0-CE52-CCFF-300E5DCC6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1562D-E1E1-CCC4-877A-BFB049A12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Message headers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B0B1B-D488-0F64-E806-C6CFE54D1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87013" cy="3769308"/>
          </a:xfrm>
        </p:spPr>
        <p:txBody>
          <a:bodyPr/>
          <a:lstStyle/>
          <a:p>
            <a:r>
              <a:rPr lang="en-US" dirty="0"/>
              <a:t>In Spring Integration, a Message consists of two parts: the </a:t>
            </a:r>
            <a:r>
              <a:rPr lang="en-US" b="1" dirty="0"/>
              <a:t>Payload</a:t>
            </a:r>
            <a:r>
              <a:rPr lang="en-US" dirty="0"/>
              <a:t> (the data) and the </a:t>
            </a:r>
            <a:r>
              <a:rPr lang="en-US" b="1" dirty="0"/>
              <a:t>Headers</a:t>
            </a:r>
            <a:r>
              <a:rPr lang="en-US" dirty="0"/>
              <a:t> (the metadata). </a:t>
            </a:r>
          </a:p>
          <a:p>
            <a:r>
              <a:rPr lang="en-US" dirty="0"/>
              <a:t>While Transformers usually focus on the payload, </a:t>
            </a:r>
            <a:r>
              <a:rPr lang="en-US" b="1" dirty="0"/>
              <a:t>Header Enrichers</a:t>
            </a:r>
            <a:r>
              <a:rPr lang="en-US" dirty="0"/>
              <a:t> and </a:t>
            </a:r>
            <a:r>
              <a:rPr lang="en-US" b="1" dirty="0"/>
              <a:t>Header Filters</a:t>
            </a:r>
            <a:r>
              <a:rPr lang="en-US" dirty="0"/>
              <a:t> are specialized tools for managing the metadata.</a:t>
            </a:r>
          </a:p>
          <a:p>
            <a:r>
              <a:rPr lang="en-US" dirty="0"/>
              <a:t>Because </a:t>
            </a:r>
            <a:r>
              <a:rPr lang="en-US" dirty="0" err="1"/>
              <a:t>MessageHeaders</a:t>
            </a:r>
            <a:r>
              <a:rPr lang="en-US" dirty="0"/>
              <a:t> in Spring Integration are </a:t>
            </a:r>
            <a:r>
              <a:rPr lang="en-US" b="1" dirty="0"/>
              <a:t>immutable</a:t>
            </a:r>
            <a:r>
              <a:rPr lang="en-US" dirty="0"/>
              <a:t>, these components do not modify the existing headers. </a:t>
            </a:r>
          </a:p>
          <a:p>
            <a:r>
              <a:rPr lang="en-US" dirty="0"/>
              <a:t>Instead, they create a </a:t>
            </a:r>
            <a:r>
              <a:rPr lang="en-US" b="1" dirty="0"/>
              <a:t>new Message</a:t>
            </a:r>
            <a:r>
              <a:rPr lang="en-US" dirty="0"/>
              <a:t> with the updated header set and the original payload.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3320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50C0A-1FC0-F12A-7096-4AF56566C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56D9C-ECD3-9CCE-F9E6-E0E4CAA09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Header Enricher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71B76-394E-BFD4-06CB-D4B7BA9DF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87013" cy="3769308"/>
          </a:xfrm>
        </p:spPr>
        <p:txBody>
          <a:bodyPr/>
          <a:lstStyle/>
          <a:p>
            <a:r>
              <a:rPr lang="en-US" dirty="0"/>
              <a:t>A Header Enricher is used to add new headers or change the values of existing ones.</a:t>
            </a:r>
          </a:p>
          <a:p>
            <a:r>
              <a:rPr lang="en-US" b="1" dirty="0"/>
              <a:t>Why use it?</a:t>
            </a:r>
          </a:p>
          <a:p>
            <a:r>
              <a:rPr lang="en-US" b="1" dirty="0"/>
              <a:t>Routing:</a:t>
            </a:r>
            <a:r>
              <a:rPr lang="en-US" dirty="0"/>
              <a:t> Adding a </a:t>
            </a:r>
            <a:r>
              <a:rPr lang="en-US" dirty="0" err="1"/>
              <a:t>routingKey</a:t>
            </a:r>
            <a:r>
              <a:rPr lang="en-US" dirty="0"/>
              <a:t> so a Router knows where to send the message next.</a:t>
            </a:r>
          </a:p>
          <a:p>
            <a:r>
              <a:rPr lang="en-US" b="1" dirty="0"/>
              <a:t>Tracing:</a:t>
            </a:r>
            <a:r>
              <a:rPr lang="en-US" dirty="0"/>
              <a:t> Adding a </a:t>
            </a:r>
            <a:r>
              <a:rPr lang="en-US" dirty="0" err="1"/>
              <a:t>correlationId</a:t>
            </a:r>
            <a:r>
              <a:rPr lang="en-US" dirty="0"/>
              <a:t> or </a:t>
            </a:r>
            <a:r>
              <a:rPr lang="en-US" dirty="0" err="1"/>
              <a:t>transactionId</a:t>
            </a:r>
            <a:r>
              <a:rPr lang="en-US" dirty="0"/>
              <a:t> for logging and debugging.</a:t>
            </a:r>
          </a:p>
          <a:p>
            <a:r>
              <a:rPr lang="en-US" b="1" dirty="0"/>
              <a:t>Protocol Requirements:</a:t>
            </a:r>
            <a:r>
              <a:rPr lang="en-US" dirty="0"/>
              <a:t> Adding </a:t>
            </a:r>
            <a:r>
              <a:rPr lang="en-US" dirty="0" err="1"/>
              <a:t>contentType</a:t>
            </a:r>
            <a:r>
              <a:rPr lang="en-US" dirty="0"/>
              <a:t> (e.g., application/</a:t>
            </a:r>
            <a:r>
              <a:rPr lang="en-US" dirty="0" err="1"/>
              <a:t>json</a:t>
            </a:r>
            <a:r>
              <a:rPr lang="en-US" dirty="0"/>
              <a:t>) before sending to an HTTP or RabbitMQ outbound gateway.</a:t>
            </a:r>
          </a:p>
          <a:p>
            <a:r>
              <a:rPr lang="en-US" b="1" dirty="0"/>
              <a:t>Security:</a:t>
            </a:r>
            <a:r>
              <a:rPr lang="en-US" dirty="0"/>
              <a:t> Adding an API Key or Auth Token to the headers.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8428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15B07-E7DB-03DF-0F2D-F074B39A6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001490-CED0-B2BF-1FFD-B6A6AB5CC81E}"/>
              </a:ext>
            </a:extLst>
          </p:cNvPr>
          <p:cNvSpPr txBox="1"/>
          <p:nvPr/>
        </p:nvSpPr>
        <p:spPr>
          <a:xfrm>
            <a:off x="471973" y="48357"/>
            <a:ext cx="11248053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@Bean</a:t>
            </a:r>
          </a:p>
          <a:p>
            <a:r>
              <a:rPr lang="en-IN" dirty="0"/>
              <a:t>public </a:t>
            </a:r>
            <a:r>
              <a:rPr lang="en-IN" dirty="0" err="1"/>
              <a:t>IntegrationFlow</a:t>
            </a:r>
            <a:r>
              <a:rPr lang="en-IN" dirty="0"/>
              <a:t> </a:t>
            </a:r>
            <a:r>
              <a:rPr lang="en-IN" dirty="0" err="1"/>
              <a:t>headerEnricherFlow</a:t>
            </a:r>
            <a:r>
              <a:rPr lang="en-IN" dirty="0"/>
              <a:t>() {</a:t>
            </a:r>
          </a:p>
          <a:p>
            <a:r>
              <a:rPr lang="en-IN" dirty="0"/>
              <a:t>    return </a:t>
            </a:r>
            <a:r>
              <a:rPr lang="en-IN" dirty="0" err="1"/>
              <a:t>IntegrationFlow.from</a:t>
            </a:r>
            <a:r>
              <a:rPr lang="en-IN" dirty="0"/>
              <a:t>("</a:t>
            </a:r>
            <a:r>
              <a:rPr lang="en-IN" dirty="0" err="1"/>
              <a:t>inputChannel</a:t>
            </a:r>
            <a:r>
              <a:rPr lang="en-IN" dirty="0"/>
              <a:t>")</a:t>
            </a:r>
          </a:p>
          <a:p>
            <a:r>
              <a:rPr lang="en-IN" dirty="0"/>
              <a:t>            .</a:t>
            </a:r>
            <a:r>
              <a:rPr lang="en-IN" dirty="0" err="1"/>
              <a:t>enrichHeaders</a:t>
            </a:r>
            <a:r>
              <a:rPr lang="en-IN" dirty="0"/>
              <a:t>(h -&gt; h</a:t>
            </a:r>
          </a:p>
          <a:p>
            <a:r>
              <a:rPr lang="en-IN" dirty="0"/>
              <a:t>                // 1. Static value</a:t>
            </a:r>
          </a:p>
          <a:p>
            <a:r>
              <a:rPr lang="en-IN" dirty="0"/>
              <a:t>                .header("</a:t>
            </a:r>
            <a:r>
              <a:rPr lang="en-IN" dirty="0" err="1"/>
              <a:t>serviceSource</a:t>
            </a:r>
            <a:r>
              <a:rPr lang="en-IN" dirty="0"/>
              <a:t>", "PAYMENT_GATEWAY")</a:t>
            </a:r>
          </a:p>
          <a:p>
            <a:r>
              <a:rPr lang="en-IN" dirty="0"/>
              <a:t>                </a:t>
            </a:r>
          </a:p>
          <a:p>
            <a:r>
              <a:rPr lang="en-IN" dirty="0"/>
              <a:t>                // 2. Using </a:t>
            </a:r>
            <a:r>
              <a:rPr lang="en-IN" dirty="0" err="1"/>
              <a:t>SpEL</a:t>
            </a:r>
            <a:r>
              <a:rPr lang="en-IN" dirty="0"/>
              <a:t> (Spring Expression Language)</a:t>
            </a:r>
          </a:p>
          <a:p>
            <a:r>
              <a:rPr lang="en-IN" dirty="0"/>
              <a:t>                // Accessing payload properties</a:t>
            </a:r>
          </a:p>
          <a:p>
            <a:r>
              <a:rPr lang="en-IN" dirty="0"/>
              <a:t>                .</a:t>
            </a:r>
            <a:r>
              <a:rPr lang="en-IN" dirty="0" err="1"/>
              <a:t>headerExpression</a:t>
            </a:r>
            <a:r>
              <a:rPr lang="en-IN" dirty="0"/>
              <a:t>("</a:t>
            </a:r>
            <a:r>
              <a:rPr lang="en-IN" dirty="0" err="1"/>
              <a:t>customerType</a:t>
            </a:r>
            <a:r>
              <a:rPr lang="en-IN" dirty="0"/>
              <a:t>", "</a:t>
            </a:r>
            <a:r>
              <a:rPr lang="en-IN" dirty="0" err="1"/>
              <a:t>payload.priorityUser</a:t>
            </a:r>
            <a:r>
              <a:rPr lang="en-IN" dirty="0"/>
              <a:t> ? 'VIP' : 'STANDARD'")</a:t>
            </a:r>
          </a:p>
          <a:p>
            <a:r>
              <a:rPr lang="en-IN" dirty="0"/>
              <a:t>                </a:t>
            </a:r>
          </a:p>
          <a:p>
            <a:r>
              <a:rPr lang="en-IN" dirty="0"/>
              <a:t>                // 3. Dynamic value using a Java Function</a:t>
            </a:r>
          </a:p>
          <a:p>
            <a:r>
              <a:rPr lang="en-IN" dirty="0"/>
              <a:t>                .</a:t>
            </a:r>
            <a:r>
              <a:rPr lang="en-IN" dirty="0" err="1"/>
              <a:t>headerFunction</a:t>
            </a:r>
            <a:r>
              <a:rPr lang="en-IN" dirty="0"/>
              <a:t>("timestamp", m -&gt; </a:t>
            </a:r>
            <a:r>
              <a:rPr lang="en-IN" dirty="0" err="1"/>
              <a:t>System.currentTimeMillis</a:t>
            </a:r>
            <a:r>
              <a:rPr lang="en-IN" dirty="0"/>
              <a:t>())</a:t>
            </a:r>
          </a:p>
          <a:p>
            <a:r>
              <a:rPr lang="en-IN" dirty="0"/>
              <a:t>                </a:t>
            </a:r>
          </a:p>
          <a:p>
            <a:r>
              <a:rPr lang="en-IN" dirty="0"/>
              <a:t>                // 4. Using a Bean method</a:t>
            </a:r>
          </a:p>
          <a:p>
            <a:r>
              <a:rPr lang="en-IN" dirty="0"/>
              <a:t>                .header(</a:t>
            </a:r>
            <a:r>
              <a:rPr lang="en-IN" dirty="0" err="1"/>
              <a:t>MessageHeaders.REPLY_CHANNEL</a:t>
            </a:r>
            <a:r>
              <a:rPr lang="en-IN" dirty="0"/>
              <a:t>, "</a:t>
            </a:r>
            <a:r>
              <a:rPr lang="en-IN" dirty="0" err="1"/>
              <a:t>myReplyChannel</a:t>
            </a:r>
            <a:r>
              <a:rPr lang="en-IN" dirty="0"/>
              <a:t>")</a:t>
            </a:r>
          </a:p>
          <a:p>
            <a:r>
              <a:rPr lang="en-IN" dirty="0"/>
              <a:t>            )</a:t>
            </a:r>
          </a:p>
          <a:p>
            <a:r>
              <a:rPr lang="en-IN" dirty="0"/>
              <a:t>            .handle(message -&gt; {</a:t>
            </a:r>
          </a:p>
          <a:p>
            <a:r>
              <a:rPr lang="en-IN" dirty="0"/>
              <a:t>                </a:t>
            </a:r>
            <a:r>
              <a:rPr lang="en-IN" dirty="0" err="1"/>
              <a:t>System.out.println</a:t>
            </a:r>
            <a:r>
              <a:rPr lang="en-IN" dirty="0"/>
              <a:t>("Headers: " + </a:t>
            </a:r>
            <a:r>
              <a:rPr lang="en-IN" dirty="0" err="1"/>
              <a:t>message.getHeaders</a:t>
            </a:r>
            <a:r>
              <a:rPr lang="en-IN" dirty="0"/>
              <a:t>());</a:t>
            </a:r>
          </a:p>
          <a:p>
            <a:r>
              <a:rPr lang="en-IN" dirty="0"/>
              <a:t>            })</a:t>
            </a:r>
          </a:p>
          <a:p>
            <a:r>
              <a:rPr lang="en-IN" dirty="0"/>
              <a:t>            .get();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48789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70F06-1889-45A4-644C-59727D0D1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98D25-1DFE-D7D9-9A7F-4189F66B4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Header Enricher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FF41C-E9E1-BB85-7A02-AE99F64A1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87013" cy="3769308"/>
          </a:xfrm>
        </p:spPr>
        <p:txBody>
          <a:bodyPr/>
          <a:lstStyle/>
          <a:p>
            <a:r>
              <a:rPr lang="en-US" b="1" dirty="0"/>
              <a:t>"Overwrite" Feature</a:t>
            </a:r>
          </a:p>
          <a:p>
            <a:r>
              <a:rPr lang="en-US" dirty="0"/>
              <a:t>By default, if a header already exists, the Header Enricher will </a:t>
            </a:r>
            <a:r>
              <a:rPr lang="en-US" b="1" dirty="0"/>
              <a:t>not</a:t>
            </a:r>
            <a:r>
              <a:rPr lang="en-US" dirty="0"/>
              <a:t> overwrite it. </a:t>
            </a:r>
          </a:p>
          <a:p>
            <a:r>
              <a:rPr lang="en-US" dirty="0"/>
              <a:t>Can change this behavior:</a:t>
            </a:r>
          </a:p>
          <a:p>
            <a:pPr marL="0" indent="0">
              <a:buNone/>
            </a:pPr>
            <a:r>
              <a:rPr lang="en-US" b="1" dirty="0"/>
              <a:t>.</a:t>
            </a:r>
            <a:r>
              <a:rPr lang="en-US" b="1" dirty="0" err="1"/>
              <a:t>enrichHeaders</a:t>
            </a:r>
            <a:r>
              <a:rPr lang="en-US" b="1" dirty="0"/>
              <a:t>(h -&gt; </a:t>
            </a:r>
            <a:r>
              <a:rPr lang="en-US" b="1" dirty="0" err="1"/>
              <a:t>h.header</a:t>
            </a:r>
            <a:r>
              <a:rPr lang="en-US" b="1" dirty="0"/>
              <a:t>("</a:t>
            </a:r>
            <a:r>
              <a:rPr lang="en-US" b="1" dirty="0" err="1"/>
              <a:t>myHeader</a:t>
            </a:r>
            <a:r>
              <a:rPr lang="en-US" b="1" dirty="0"/>
              <a:t>", "</a:t>
            </a:r>
            <a:r>
              <a:rPr lang="en-US" b="1" dirty="0" err="1"/>
              <a:t>newValue</a:t>
            </a:r>
            <a:r>
              <a:rPr lang="en-US" b="1" dirty="0"/>
              <a:t>", true)) // 'true' means overwrite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414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73479-10E2-8712-D558-C1F396297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7F571-BCD5-2E8E-D82F-25F90FE61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Header Filter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4917B-CFA9-C2B6-05EB-BE6DF5453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87013" cy="3769308"/>
          </a:xfrm>
        </p:spPr>
        <p:txBody>
          <a:bodyPr/>
          <a:lstStyle/>
          <a:p>
            <a:r>
              <a:rPr lang="en-US" dirty="0"/>
              <a:t>A Header Filter is used to </a:t>
            </a:r>
            <a:r>
              <a:rPr lang="en-US" b="1" dirty="0"/>
              <a:t>remove</a:t>
            </a:r>
            <a:r>
              <a:rPr lang="en-US" dirty="0"/>
              <a:t> specific headers from a message.</a:t>
            </a:r>
          </a:p>
          <a:p>
            <a:r>
              <a:rPr lang="en-US" b="1" dirty="0"/>
              <a:t>Why use it?</a:t>
            </a:r>
          </a:p>
          <a:p>
            <a:r>
              <a:rPr lang="en-US" b="1" dirty="0"/>
              <a:t>Security:</a:t>
            </a:r>
            <a:r>
              <a:rPr lang="en-US" dirty="0"/>
              <a:t> Removing sensitive internal headers (like internal-</a:t>
            </a:r>
            <a:r>
              <a:rPr lang="en-US" dirty="0" err="1"/>
              <a:t>db</a:t>
            </a:r>
            <a:r>
              <a:rPr lang="en-US" dirty="0"/>
              <a:t>-password or user-id) before sending a message to an external third-party API.</a:t>
            </a:r>
          </a:p>
          <a:p>
            <a:r>
              <a:rPr lang="en-US" b="1" dirty="0"/>
              <a:t>Protocol Clean-up:</a:t>
            </a:r>
            <a:r>
              <a:rPr lang="en-US" dirty="0"/>
              <a:t> Some protocols (like JMS or specific HTTP servers) may throw errors if they encounter "illegal" or "custom" headers they don't recognize.</a:t>
            </a:r>
          </a:p>
          <a:p>
            <a:r>
              <a:rPr lang="en-US" b="1" dirty="0"/>
              <a:t>Reducing Overhead:</a:t>
            </a:r>
            <a:r>
              <a:rPr lang="en-US" dirty="0"/>
              <a:t> Removing large, unnecessary headers before serializing a message for a message broker (Kafka/RabbitMQ).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0285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BC732-2500-86AD-C519-AE02A2BE5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E8A368B-E10F-BCBF-318E-696813A5ADBB}"/>
              </a:ext>
            </a:extLst>
          </p:cNvPr>
          <p:cNvSpPr txBox="1"/>
          <p:nvPr/>
        </p:nvSpPr>
        <p:spPr>
          <a:xfrm>
            <a:off x="644590" y="2053838"/>
            <a:ext cx="1090282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@Bean</a:t>
            </a:r>
          </a:p>
          <a:p>
            <a:r>
              <a:rPr lang="en-IN" dirty="0"/>
              <a:t>public </a:t>
            </a:r>
            <a:r>
              <a:rPr lang="en-IN" dirty="0" err="1"/>
              <a:t>IntegrationFlow</a:t>
            </a:r>
            <a:r>
              <a:rPr lang="en-IN" dirty="0"/>
              <a:t> </a:t>
            </a:r>
            <a:r>
              <a:rPr lang="en-IN" dirty="0" err="1"/>
              <a:t>headerFilterFlow</a:t>
            </a:r>
            <a:r>
              <a:rPr lang="en-IN" dirty="0"/>
              <a:t>() {</a:t>
            </a:r>
          </a:p>
          <a:p>
            <a:r>
              <a:rPr lang="en-IN" dirty="0"/>
              <a:t>    return </a:t>
            </a:r>
            <a:r>
              <a:rPr lang="en-IN" dirty="0" err="1"/>
              <a:t>IntegrationFlow.from</a:t>
            </a:r>
            <a:r>
              <a:rPr lang="en-IN" dirty="0"/>
              <a:t>("</a:t>
            </a:r>
            <a:r>
              <a:rPr lang="en-IN" dirty="0" err="1"/>
              <a:t>internalChannel</a:t>
            </a:r>
            <a:r>
              <a:rPr lang="en-IN" dirty="0"/>
              <a:t>")</a:t>
            </a:r>
          </a:p>
          <a:p>
            <a:r>
              <a:rPr lang="en-IN" dirty="0"/>
              <a:t>            // 1. Filter a single header</a:t>
            </a:r>
          </a:p>
          <a:p>
            <a:r>
              <a:rPr lang="en-IN" dirty="0"/>
              <a:t>            .</a:t>
            </a:r>
            <a:r>
              <a:rPr lang="en-IN" dirty="0" err="1"/>
              <a:t>headerFilter</a:t>
            </a:r>
            <a:r>
              <a:rPr lang="en-IN" dirty="0"/>
              <a:t>("</a:t>
            </a:r>
            <a:r>
              <a:rPr lang="en-IN" dirty="0" err="1"/>
              <a:t>internalDebugInfo</a:t>
            </a:r>
            <a:r>
              <a:rPr lang="en-IN" dirty="0"/>
              <a:t>")</a:t>
            </a:r>
          </a:p>
          <a:p>
            <a:r>
              <a:rPr lang="en-IN" dirty="0"/>
              <a:t>            </a:t>
            </a:r>
          </a:p>
          <a:p>
            <a:r>
              <a:rPr lang="en-IN" dirty="0"/>
              <a:t>            // 2. Filter multiple headers</a:t>
            </a:r>
          </a:p>
          <a:p>
            <a:r>
              <a:rPr lang="en-IN" dirty="0"/>
              <a:t>            .</a:t>
            </a:r>
            <a:r>
              <a:rPr lang="en-IN" dirty="0" err="1"/>
              <a:t>headerFilter</a:t>
            </a:r>
            <a:r>
              <a:rPr lang="en-IN" dirty="0"/>
              <a:t>("</a:t>
            </a:r>
            <a:r>
              <a:rPr lang="en-IN" dirty="0" err="1"/>
              <a:t>tempData</a:t>
            </a:r>
            <a:r>
              <a:rPr lang="en-IN" dirty="0"/>
              <a:t>", "</a:t>
            </a:r>
            <a:r>
              <a:rPr lang="en-IN" dirty="0" err="1"/>
              <a:t>processorId</a:t>
            </a:r>
            <a:r>
              <a:rPr lang="en-IN" dirty="0"/>
              <a:t>", "</a:t>
            </a:r>
            <a:r>
              <a:rPr lang="en-IN" dirty="0" err="1"/>
              <a:t>originalSource</a:t>
            </a:r>
            <a:r>
              <a:rPr lang="en-IN" dirty="0"/>
              <a:t>")</a:t>
            </a:r>
          </a:p>
          <a:p>
            <a:r>
              <a:rPr lang="en-IN" dirty="0"/>
              <a:t>            </a:t>
            </a:r>
          </a:p>
          <a:p>
            <a:r>
              <a:rPr lang="en-IN" dirty="0"/>
              <a:t>            // 3. Using Wildcards (Pattern Matching)</a:t>
            </a:r>
          </a:p>
          <a:p>
            <a:r>
              <a:rPr lang="en-IN" dirty="0"/>
              <a:t>            // Removes all headers starting with 'private_'</a:t>
            </a:r>
          </a:p>
          <a:p>
            <a:r>
              <a:rPr lang="en-IN" dirty="0"/>
              <a:t>            .</a:t>
            </a:r>
            <a:r>
              <a:rPr lang="en-IN" dirty="0" err="1"/>
              <a:t>headerFilter</a:t>
            </a:r>
            <a:r>
              <a:rPr lang="en-IN" dirty="0"/>
              <a:t>("private_*", false) // false means "pattern match" mode</a:t>
            </a:r>
          </a:p>
          <a:p>
            <a:r>
              <a:rPr lang="en-IN" dirty="0"/>
              <a:t>            </a:t>
            </a:r>
          </a:p>
          <a:p>
            <a:r>
              <a:rPr lang="en-IN" dirty="0"/>
              <a:t>            .handle("</a:t>
            </a:r>
            <a:r>
              <a:rPr lang="en-IN" dirty="0" err="1"/>
              <a:t>externalService</a:t>
            </a:r>
            <a:r>
              <a:rPr lang="en-IN" dirty="0"/>
              <a:t>", "send")</a:t>
            </a:r>
          </a:p>
          <a:p>
            <a:r>
              <a:rPr lang="en-IN" dirty="0"/>
              <a:t>            .get();</a:t>
            </a:r>
          </a:p>
          <a:p>
            <a:r>
              <a:rPr lang="en-IN" dirty="0"/>
              <a:t>}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5A88C2C-3DD1-932C-47DC-FB32DC253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Header Filter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1199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397C7-3772-655D-1B75-304887432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C931E-FDAD-083F-33A8-5AA8AAF1E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Headers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6108C6F-3C02-A783-554C-EC56F0A6042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55700" y="2603500"/>
          <a:ext cx="8824911" cy="2588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1637">
                  <a:extLst>
                    <a:ext uri="{9D8B030D-6E8A-4147-A177-3AD203B41FA5}">
                      <a16:colId xmlns:a16="http://schemas.microsoft.com/office/drawing/2014/main" val="401367002"/>
                    </a:ext>
                  </a:extLst>
                </a:gridCol>
                <a:gridCol w="2941637">
                  <a:extLst>
                    <a:ext uri="{9D8B030D-6E8A-4147-A177-3AD203B41FA5}">
                      <a16:colId xmlns:a16="http://schemas.microsoft.com/office/drawing/2014/main" val="2497273547"/>
                    </a:ext>
                  </a:extLst>
                </a:gridCol>
                <a:gridCol w="2941637">
                  <a:extLst>
                    <a:ext uri="{9D8B030D-6E8A-4147-A177-3AD203B41FA5}">
                      <a16:colId xmlns:a16="http://schemas.microsoft.com/office/drawing/2014/main" val="30761128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 dirty="0">
                          <a:effectLst/>
                          <a:latin typeface="Inter"/>
                        </a:rPr>
                        <a:t>Feature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>
                          <a:effectLst/>
                          <a:latin typeface="Inter"/>
                        </a:rPr>
                        <a:t>Header Enricher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>
                          <a:effectLst/>
                          <a:latin typeface="Inter"/>
                        </a:rPr>
                        <a:t>Header Filter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4279489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>
                          <a:effectLst/>
                          <a:latin typeface="Inter"/>
                        </a:rPr>
                        <a:t>Primary Action</a:t>
                      </a:r>
                      <a:endParaRPr lang="en-IN" b="0"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0">
                          <a:effectLst/>
                          <a:latin typeface="Inter"/>
                        </a:rPr>
                        <a:t>Adds or Updates metadata.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0">
                          <a:effectLst/>
                          <a:latin typeface="Inter"/>
                        </a:rPr>
                        <a:t>Removes metadata.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564885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>
                          <a:effectLst/>
                          <a:latin typeface="Inter"/>
                        </a:rPr>
                        <a:t>Immutability</a:t>
                      </a:r>
                      <a:endParaRPr lang="en-IN" b="0"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b="0">
                          <a:effectLst/>
                          <a:latin typeface="Inter"/>
                        </a:rPr>
                        <a:t>Creates a new message with more headers.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b="0">
                          <a:effectLst/>
                          <a:latin typeface="Inter"/>
                        </a:rPr>
                        <a:t>Creates a new message with fewer headers.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3137051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 dirty="0">
                          <a:effectLst/>
                          <a:latin typeface="Inter"/>
                        </a:rPr>
                        <a:t>Common Use Case</a:t>
                      </a:r>
                      <a:endParaRPr lang="en-IN" b="0" dirty="0"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b="0">
                          <a:effectLst/>
                          <a:latin typeface="Inter"/>
                        </a:rPr>
                        <a:t>Adding Correlation IDs, Auth Tokens.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b="0">
                          <a:effectLst/>
                          <a:latin typeface="Inter"/>
                        </a:rPr>
                        <a:t>Removing sensitive info before external calls.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3694498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>
                          <a:effectLst/>
                          <a:latin typeface="Inter"/>
                        </a:rPr>
                        <a:t>Logic</a:t>
                      </a:r>
                      <a:endParaRPr lang="en-IN" b="0"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b="0">
                          <a:effectLst/>
                          <a:latin typeface="Inter"/>
                        </a:rPr>
                        <a:t>Static values, SpEL, or POJO methods.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b="0">
                          <a:effectLst/>
                          <a:latin typeface="Inter"/>
                        </a:rPr>
                        <a:t>Explicit names or Wildcard patterns.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3388028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>
                          <a:effectLst/>
                          <a:latin typeface="Inter"/>
                        </a:rPr>
                        <a:t>Default Behavior</a:t>
                      </a:r>
                      <a:endParaRPr lang="en-IN" b="0"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b="0">
                          <a:effectLst/>
                          <a:latin typeface="Inter"/>
                        </a:rPr>
                        <a:t>Does not overwrite existing headers (unless specified).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Inter"/>
                        </a:rPr>
                        <a:t>Silently ignores if the header doesn't exist.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4194771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1995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2BB17-DB23-0D2A-4196-00815187B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72C56-E947-B932-C10C-9755667D5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Header Wiretap" Pattern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B0064-F91C-C11D-A533-CFB638D70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87013" cy="3769308"/>
          </a:xfrm>
        </p:spPr>
        <p:txBody>
          <a:bodyPr/>
          <a:lstStyle/>
          <a:p>
            <a:r>
              <a:rPr lang="en-US" dirty="0"/>
              <a:t>Sometimes you need to enrich headers, perform a task, and then filter them out so they don't leak into the next system.</a:t>
            </a:r>
          </a:p>
          <a:p>
            <a:r>
              <a:rPr lang="en-US" b="1" dirty="0"/>
              <a:t>Scenario:</a:t>
            </a:r>
            <a:endParaRPr lang="en-US" dirty="0"/>
          </a:p>
          <a:p>
            <a:r>
              <a:rPr lang="en-US" dirty="0"/>
              <a:t>Receive an Order.</a:t>
            </a:r>
          </a:p>
          <a:p>
            <a:r>
              <a:rPr lang="en-US" b="1" dirty="0"/>
              <a:t>Enrich</a:t>
            </a:r>
            <a:r>
              <a:rPr lang="en-US" dirty="0"/>
              <a:t> with a "Internal-Audit-ID".</a:t>
            </a:r>
          </a:p>
          <a:p>
            <a:r>
              <a:rPr lang="en-US" dirty="0"/>
              <a:t>Send to an internal Logging service.</a:t>
            </a:r>
          </a:p>
          <a:p>
            <a:r>
              <a:rPr lang="en-US" b="1" dirty="0"/>
              <a:t>Filter</a:t>
            </a:r>
            <a:r>
              <a:rPr lang="en-US" dirty="0"/>
              <a:t> out the "Internal-Audit-ID".</a:t>
            </a:r>
          </a:p>
          <a:p>
            <a:r>
              <a:rPr lang="en-US" dirty="0"/>
              <a:t>Send to an external Shipping Vendor.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2752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356C4-848F-AE8A-DBFD-A61C0F638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D19F8EF-6771-0BAB-617A-FCA8CB92B8D8}"/>
              </a:ext>
            </a:extLst>
          </p:cNvPr>
          <p:cNvSpPr txBox="1"/>
          <p:nvPr/>
        </p:nvSpPr>
        <p:spPr>
          <a:xfrm>
            <a:off x="457200" y="467347"/>
            <a:ext cx="1046428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@Bean</a:t>
            </a:r>
          </a:p>
          <a:p>
            <a:r>
              <a:rPr lang="en-IN" dirty="0"/>
              <a:t>public </a:t>
            </a:r>
            <a:r>
              <a:rPr lang="en-IN" dirty="0" err="1"/>
              <a:t>IntegrationFlow</a:t>
            </a:r>
            <a:r>
              <a:rPr lang="en-IN" dirty="0"/>
              <a:t> </a:t>
            </a:r>
            <a:r>
              <a:rPr lang="en-IN" dirty="0" err="1"/>
              <a:t>complexFlow</a:t>
            </a:r>
            <a:r>
              <a:rPr lang="en-IN" dirty="0"/>
              <a:t>() {</a:t>
            </a:r>
          </a:p>
          <a:p>
            <a:r>
              <a:rPr lang="en-IN" dirty="0"/>
              <a:t>    return </a:t>
            </a:r>
            <a:r>
              <a:rPr lang="en-IN" dirty="0" err="1"/>
              <a:t>IntegrationFlow.from</a:t>
            </a:r>
            <a:r>
              <a:rPr lang="en-IN" dirty="0"/>
              <a:t>("orders")</a:t>
            </a:r>
          </a:p>
          <a:p>
            <a:r>
              <a:rPr lang="en-IN" dirty="0"/>
              <a:t>            // Add internal tracking</a:t>
            </a:r>
          </a:p>
          <a:p>
            <a:r>
              <a:rPr lang="en-IN" dirty="0"/>
              <a:t>            .</a:t>
            </a:r>
            <a:r>
              <a:rPr lang="en-IN" dirty="0" err="1"/>
              <a:t>enrichHeaders</a:t>
            </a:r>
            <a:r>
              <a:rPr lang="en-IN" dirty="0"/>
              <a:t>(h -&gt; </a:t>
            </a:r>
            <a:r>
              <a:rPr lang="en-IN" dirty="0" err="1"/>
              <a:t>h.header</a:t>
            </a:r>
            <a:r>
              <a:rPr lang="en-IN" dirty="0"/>
              <a:t>("audit.id", </a:t>
            </a:r>
            <a:r>
              <a:rPr lang="en-IN" dirty="0" err="1"/>
              <a:t>UUID.randomUUID</a:t>
            </a:r>
            <a:r>
              <a:rPr lang="en-IN" dirty="0"/>
              <a:t>().</a:t>
            </a:r>
            <a:r>
              <a:rPr lang="en-IN" dirty="0" err="1"/>
              <a:t>toString</a:t>
            </a:r>
            <a:r>
              <a:rPr lang="en-IN" dirty="0"/>
              <a:t>()))</a:t>
            </a:r>
          </a:p>
          <a:p>
            <a:r>
              <a:rPr lang="en-IN" dirty="0"/>
              <a:t>            </a:t>
            </a:r>
          </a:p>
          <a:p>
            <a:r>
              <a:rPr lang="en-IN" dirty="0"/>
              <a:t>            // Send a copy to logs (Wiretap)</a:t>
            </a:r>
          </a:p>
          <a:p>
            <a:r>
              <a:rPr lang="en-IN" dirty="0"/>
              <a:t>            .</a:t>
            </a:r>
            <a:r>
              <a:rPr lang="en-IN" dirty="0" err="1"/>
              <a:t>wireTap</a:t>
            </a:r>
            <a:r>
              <a:rPr lang="en-IN" dirty="0"/>
              <a:t>(f -&gt; </a:t>
            </a:r>
            <a:r>
              <a:rPr lang="en-IN" dirty="0" err="1"/>
              <a:t>f.handle</a:t>
            </a:r>
            <a:r>
              <a:rPr lang="en-IN" dirty="0"/>
              <a:t>("</a:t>
            </a:r>
            <a:r>
              <a:rPr lang="en-IN" dirty="0" err="1"/>
              <a:t>loggerService</a:t>
            </a:r>
            <a:r>
              <a:rPr lang="en-IN" dirty="0"/>
              <a:t>", "log"))</a:t>
            </a:r>
          </a:p>
          <a:p>
            <a:r>
              <a:rPr lang="en-IN" dirty="0"/>
              <a:t>            </a:t>
            </a:r>
          </a:p>
          <a:p>
            <a:r>
              <a:rPr lang="en-IN" dirty="0"/>
              <a:t>            // Remove the internal header before it hits the external API</a:t>
            </a:r>
          </a:p>
          <a:p>
            <a:r>
              <a:rPr lang="en-IN" dirty="0"/>
              <a:t>            .</a:t>
            </a:r>
            <a:r>
              <a:rPr lang="en-IN" dirty="0" err="1"/>
              <a:t>headerFilter</a:t>
            </a:r>
            <a:r>
              <a:rPr lang="en-IN" dirty="0"/>
              <a:t>("audit.id")</a:t>
            </a:r>
          </a:p>
          <a:p>
            <a:r>
              <a:rPr lang="en-IN" dirty="0"/>
              <a:t>            </a:t>
            </a:r>
          </a:p>
          <a:p>
            <a:r>
              <a:rPr lang="en-IN" dirty="0"/>
              <a:t>            // Send to external vendor</a:t>
            </a:r>
          </a:p>
          <a:p>
            <a:r>
              <a:rPr lang="en-IN" dirty="0"/>
              <a:t>            .handle(</a:t>
            </a:r>
            <a:r>
              <a:rPr lang="en-IN" dirty="0" err="1"/>
              <a:t>Http.outboundGateway</a:t>
            </a:r>
            <a:r>
              <a:rPr lang="en-IN" dirty="0"/>
              <a:t>("https://api.shipping-vendor.com/v1/orders")</a:t>
            </a:r>
          </a:p>
          <a:p>
            <a:r>
              <a:rPr lang="en-IN" dirty="0"/>
              <a:t>                    .</a:t>
            </a:r>
            <a:r>
              <a:rPr lang="en-IN" dirty="0" err="1"/>
              <a:t>httpMethod</a:t>
            </a:r>
            <a:r>
              <a:rPr lang="en-IN" dirty="0"/>
              <a:t>(</a:t>
            </a:r>
            <a:r>
              <a:rPr lang="en-IN" dirty="0" err="1"/>
              <a:t>HttpMethod.POST</a:t>
            </a:r>
            <a:r>
              <a:rPr lang="en-IN" dirty="0"/>
              <a:t>))</a:t>
            </a:r>
          </a:p>
          <a:p>
            <a:r>
              <a:rPr lang="en-IN" dirty="0"/>
              <a:t>            .get();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23745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92689-4C3A-06E7-BC7C-67551E8B2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D249-EE06-09D7-F347-89CFFC44F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 Checklist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C77E2-7972-AC6D-C3DB-225396E61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87013" cy="3769308"/>
          </a:xfrm>
        </p:spPr>
        <p:txBody>
          <a:bodyPr/>
          <a:lstStyle/>
          <a:p>
            <a:r>
              <a:rPr lang="en-US" dirty="0"/>
              <a:t>Use </a:t>
            </a:r>
            <a:r>
              <a:rPr lang="en-US" b="1" dirty="0"/>
              <a:t>Header Enricher</a:t>
            </a:r>
            <a:r>
              <a:rPr lang="en-US" dirty="0"/>
              <a:t> when you need to "tag" a message with metadata for downstream logic.</a:t>
            </a:r>
          </a:p>
          <a:p>
            <a:r>
              <a:rPr lang="en-US" dirty="0"/>
              <a:t>Use </a:t>
            </a:r>
            <a:r>
              <a:rPr lang="en-US" b="1" dirty="0" err="1"/>
              <a:t>SpEL</a:t>
            </a:r>
            <a:r>
              <a:rPr lang="en-US" b="1" dirty="0"/>
              <a:t> expressions</a:t>
            </a:r>
            <a:r>
              <a:rPr lang="en-US" dirty="0"/>
              <a:t> in Enrichers to access payload properties (e.g., payload.id).</a:t>
            </a:r>
          </a:p>
          <a:p>
            <a:r>
              <a:rPr lang="en-US" dirty="0"/>
              <a:t>Always use </a:t>
            </a:r>
            <a:r>
              <a:rPr lang="en-US" b="1" dirty="0"/>
              <a:t>Header Filter</a:t>
            </a:r>
            <a:r>
              <a:rPr lang="en-US" dirty="0"/>
              <a:t> when crossing security boundaries (internal to external network).</a:t>
            </a:r>
          </a:p>
          <a:p>
            <a:r>
              <a:rPr lang="en-US" dirty="0"/>
              <a:t>Remember that </a:t>
            </a:r>
            <a:r>
              <a:rPr lang="en-US" b="1" dirty="0" err="1"/>
              <a:t>MessageHeaders</a:t>
            </a:r>
            <a:r>
              <a:rPr lang="en-US" b="1" dirty="0"/>
              <a:t> are immutable</a:t>
            </a:r>
            <a:r>
              <a:rPr lang="en-US" dirty="0"/>
              <a:t>; these operations always result in a new message object being passed down the pipe.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47436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B14CA-74AD-BB90-D9AB-59D5A044A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0E10A-7B81-30F4-C1F2-95C8BB7C2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Built-in Transformers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D77C8-3383-72C1-038E-70294995C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87013" cy="3769308"/>
          </a:xfrm>
        </p:spPr>
        <p:txBody>
          <a:bodyPr/>
          <a:lstStyle/>
          <a:p>
            <a:r>
              <a:rPr lang="en-US" dirty="0"/>
              <a:t>Spring Integration provides several "out-of-the-box" transformers so you don't have to write manual code for common tasks.</a:t>
            </a:r>
          </a:p>
          <a:p>
            <a:r>
              <a:rPr lang="en-US" b="1" dirty="0"/>
              <a:t>Object-to-JSON / JSON-to-Object:</a:t>
            </a:r>
            <a:r>
              <a:rPr lang="en-US" dirty="0"/>
              <a:t> Uses Jackson or </a:t>
            </a:r>
            <a:r>
              <a:rPr lang="en-US" dirty="0" err="1"/>
              <a:t>Gson</a:t>
            </a:r>
            <a:r>
              <a:rPr lang="en-US" dirty="0"/>
              <a:t>.</a:t>
            </a:r>
          </a:p>
          <a:p>
            <a:r>
              <a:rPr lang="en-US" b="1" dirty="0"/>
              <a:t>Object-to-Map / Map-to-Object:</a:t>
            </a:r>
            <a:r>
              <a:rPr lang="en-US" dirty="0"/>
              <a:t> Useful for database interactions.</a:t>
            </a:r>
          </a:p>
          <a:p>
            <a:r>
              <a:rPr lang="en-US" b="1" dirty="0"/>
              <a:t>Object-to-String:</a:t>
            </a:r>
            <a:r>
              <a:rPr lang="en-US" dirty="0"/>
              <a:t> Calls .</a:t>
            </a:r>
            <a:r>
              <a:rPr lang="en-US" dirty="0" err="1"/>
              <a:t>toString</a:t>
            </a:r>
            <a:r>
              <a:rPr lang="en-US" dirty="0"/>
              <a:t>() or uses a Serializer.</a:t>
            </a:r>
          </a:p>
          <a:p>
            <a:r>
              <a:rPr lang="en-US" b="1" dirty="0"/>
              <a:t>Payload-to-Header Transformer:</a:t>
            </a:r>
            <a:r>
              <a:rPr lang="en-US" dirty="0"/>
              <a:t> Moves a piece of data from the body into a header.</a:t>
            </a:r>
          </a:p>
          <a:p>
            <a:r>
              <a:rPr lang="en-US" b="1" dirty="0"/>
              <a:t>Syslog / File / Mail Transformers:</a:t>
            </a:r>
            <a:r>
              <a:rPr lang="en-US" dirty="0"/>
              <a:t> Converts protocol-specific data to standard Message objects.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31204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803E8-20C1-CC6B-5C7F-2FA15DA4F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8733B-60BA-E7C0-336D-35FD84886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Content Enricher (Fetching External Data)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D0E7C-A821-11F1-351E-F65F88FDB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87013" cy="376930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Unlike a standard transformer, an Enricher performs a "request-reply" to get more data.</a:t>
            </a:r>
          </a:p>
          <a:p>
            <a:r>
              <a:rPr lang="en-US" b="1" dirty="0"/>
              <a:t>Example Use Case:</a:t>
            </a:r>
            <a:r>
              <a:rPr lang="en-US" dirty="0"/>
              <a:t> You have an </a:t>
            </a:r>
            <a:r>
              <a:rPr lang="en-US" dirty="0" err="1"/>
              <a:t>OrderId</a:t>
            </a:r>
            <a:r>
              <a:rPr lang="en-US" dirty="0"/>
              <a:t>, but you need the full </a:t>
            </a:r>
            <a:r>
              <a:rPr lang="en-US" dirty="0" err="1"/>
              <a:t>CustomerProfile</a:t>
            </a:r>
            <a:r>
              <a:rPr lang="en-US" dirty="0"/>
              <a:t> from a database before sending the message to the warehouse</a:t>
            </a:r>
          </a:p>
          <a:p>
            <a:pPr marL="0" indent="0">
              <a:buNone/>
            </a:pPr>
            <a:r>
              <a:rPr lang="en-US" dirty="0"/>
              <a:t>@Bean</a:t>
            </a:r>
          </a:p>
          <a:p>
            <a:pPr marL="0" indent="0">
              <a:buNone/>
            </a:pPr>
            <a:r>
              <a:rPr lang="en-US" dirty="0"/>
              <a:t>public </a:t>
            </a:r>
            <a:r>
              <a:rPr lang="en-US" dirty="0" err="1"/>
              <a:t>IntegrationFlow</a:t>
            </a:r>
            <a:r>
              <a:rPr lang="en-US" dirty="0"/>
              <a:t> </a:t>
            </a:r>
            <a:r>
              <a:rPr lang="en-US" dirty="0" err="1"/>
              <a:t>enricherFlow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return </a:t>
            </a:r>
            <a:r>
              <a:rPr lang="en-US" dirty="0" err="1"/>
              <a:t>IntegrationFlow.from</a:t>
            </a:r>
            <a:r>
              <a:rPr lang="en-US" dirty="0"/>
              <a:t>("</a:t>
            </a:r>
            <a:r>
              <a:rPr lang="en-US" dirty="0" err="1"/>
              <a:t>orderInput</a:t>
            </a:r>
            <a:r>
              <a:rPr lang="en-US" dirty="0"/>
              <a:t>")</a:t>
            </a:r>
          </a:p>
          <a:p>
            <a:pPr marL="0" indent="0">
              <a:buNone/>
            </a:pPr>
            <a:r>
              <a:rPr lang="en-US" dirty="0"/>
              <a:t>            .enrich(e -&gt; </a:t>
            </a:r>
            <a:r>
              <a:rPr lang="en-US" dirty="0" err="1"/>
              <a:t>e.requestChannel</a:t>
            </a:r>
            <a:r>
              <a:rPr lang="en-US" dirty="0"/>
              <a:t>("</a:t>
            </a:r>
            <a:r>
              <a:rPr lang="en-US" dirty="0" err="1"/>
              <a:t>dbQueryChannel</a:t>
            </a:r>
            <a:r>
              <a:rPr lang="en-US" dirty="0"/>
              <a:t>") // Send ID here</a:t>
            </a:r>
          </a:p>
          <a:p>
            <a:pPr marL="0" indent="0">
              <a:buNone/>
            </a:pPr>
            <a:r>
              <a:rPr lang="en-US" dirty="0"/>
              <a:t>                         .</a:t>
            </a:r>
            <a:r>
              <a:rPr lang="en-US" dirty="0" err="1"/>
              <a:t>propertyExpression</a:t>
            </a:r>
            <a:r>
              <a:rPr lang="en-US" dirty="0"/>
              <a:t>("</a:t>
            </a:r>
            <a:r>
              <a:rPr lang="en-US" dirty="0" err="1"/>
              <a:t>customerEmail</a:t>
            </a:r>
            <a:r>
              <a:rPr lang="en-US" dirty="0"/>
              <a:t>", "</a:t>
            </a:r>
            <a:r>
              <a:rPr lang="en-US" dirty="0" err="1"/>
              <a:t>payload.email</a:t>
            </a:r>
            <a:r>
              <a:rPr lang="en-US" dirty="0"/>
              <a:t>")) // Map result back</a:t>
            </a:r>
          </a:p>
          <a:p>
            <a:pPr marL="0" indent="0">
              <a:buNone/>
            </a:pPr>
            <a:r>
              <a:rPr lang="en-US" dirty="0"/>
              <a:t>            .handle("</a:t>
            </a:r>
            <a:r>
              <a:rPr lang="en-US" dirty="0" err="1"/>
              <a:t>orderService</a:t>
            </a:r>
            <a:r>
              <a:rPr lang="en-US" dirty="0"/>
              <a:t>", "</a:t>
            </a:r>
            <a:r>
              <a:rPr lang="en-US" dirty="0" err="1"/>
              <a:t>processCompleteOrder</a:t>
            </a:r>
            <a:r>
              <a:rPr lang="en-US" dirty="0"/>
              <a:t>")</a:t>
            </a:r>
          </a:p>
          <a:p>
            <a:pPr marL="0" indent="0">
              <a:buNone/>
            </a:pPr>
            <a:r>
              <a:rPr lang="en-US" dirty="0"/>
              <a:t>            .get();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60160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C3B2F-CFC5-E549-6C80-4EA3C9CE1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847BC-F9FB-ED94-C94C-C8A8A8617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 </a:t>
            </a:r>
            <a:r>
              <a:rPr lang="en-US" b="1" dirty="0"/>
              <a:t>Content Enricher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E6D08-EF5E-6188-2FD2-74BCEE23E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87013" cy="3769308"/>
          </a:xfrm>
        </p:spPr>
        <p:txBody>
          <a:bodyPr/>
          <a:lstStyle/>
          <a:p>
            <a:r>
              <a:rPr lang="en-US" dirty="0"/>
              <a:t> </a:t>
            </a:r>
            <a:r>
              <a:rPr lang="en-US" b="1" dirty="0"/>
              <a:t>Content Enricher</a:t>
            </a:r>
            <a:r>
              <a:rPr lang="en-US" dirty="0"/>
              <a:t> is one of the most powerful patterns in Enterprise Integration. </a:t>
            </a:r>
          </a:p>
          <a:p>
            <a:r>
              <a:rPr lang="en-US" dirty="0"/>
              <a:t>While a standard Transformer converts data already present in the message, a Content Enricher </a:t>
            </a:r>
            <a:r>
              <a:rPr lang="en-US" b="1" dirty="0"/>
              <a:t>reaches out to an external system</a:t>
            </a:r>
            <a:r>
              <a:rPr lang="en-US" dirty="0"/>
              <a:t> (Database, REST API, or another service) to retrieve missing information and add it to the message.</a:t>
            </a:r>
          </a:p>
          <a:p>
            <a:r>
              <a:rPr lang="en-US" dirty="0"/>
              <a:t>Think of it as a "Data Join" operation in a messaging pipeline.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50727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BF0C1-8235-E31C-C131-8E4591F73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05DDD-4AA6-E416-D4C5-A2C2DB5CB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Core Concept: How it Works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66446-EB55-1720-037D-652BA0B04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87013" cy="3769308"/>
          </a:xfrm>
        </p:spPr>
        <p:txBody>
          <a:bodyPr/>
          <a:lstStyle/>
          <a:p>
            <a:r>
              <a:rPr lang="en-US" dirty="0"/>
              <a:t>The Content Enricher follows a specific Request-Reply workflow internally:</a:t>
            </a:r>
          </a:p>
          <a:p>
            <a:r>
              <a:rPr lang="en-US" b="1" dirty="0"/>
              <a:t>Original Message</a:t>
            </a:r>
            <a:r>
              <a:rPr lang="en-US" dirty="0"/>
              <a:t> arrives.</a:t>
            </a:r>
          </a:p>
          <a:p>
            <a:r>
              <a:rPr lang="en-US" b="1" dirty="0"/>
              <a:t>Request:</a:t>
            </a:r>
            <a:r>
              <a:rPr lang="en-US" dirty="0"/>
              <a:t> The Enricher sends a message (or part of it) to a </a:t>
            </a:r>
            <a:r>
              <a:rPr lang="en-US" b="1" dirty="0"/>
              <a:t>Request Channel</a:t>
            </a:r>
            <a:r>
              <a:rPr lang="en-US" dirty="0"/>
              <a:t>.</a:t>
            </a:r>
          </a:p>
          <a:p>
            <a:r>
              <a:rPr lang="en-US" b="1" dirty="0"/>
              <a:t>Lookup:</a:t>
            </a:r>
            <a:r>
              <a:rPr lang="en-US" dirty="0"/>
              <a:t> A service activator or gateway on that channel fetches the missing data.</a:t>
            </a:r>
          </a:p>
          <a:p>
            <a:r>
              <a:rPr lang="en-US" b="1" dirty="0"/>
              <a:t>Reply:</a:t>
            </a:r>
            <a:r>
              <a:rPr lang="en-US" dirty="0"/>
              <a:t> The data comes back to the Enricher.</a:t>
            </a:r>
          </a:p>
          <a:p>
            <a:r>
              <a:rPr lang="en-US" b="1" dirty="0"/>
              <a:t>Merge:</a:t>
            </a:r>
            <a:r>
              <a:rPr lang="en-US" dirty="0"/>
              <a:t> The Enricher merges the new data into the original message.</a:t>
            </a:r>
          </a:p>
          <a:p>
            <a:r>
              <a:rPr lang="en-US" b="1" dirty="0"/>
              <a:t>Output:</a:t>
            </a:r>
            <a:r>
              <a:rPr lang="en-US" dirty="0"/>
              <a:t> The fully "enriched" message is sent to the next step.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75383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F75B2-AFC6-AF6B-CC93-85CF4704F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619FF-74F6-C527-2630-B13A34C70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of enricher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0A81D-4562-0976-DECD-A1CB4956F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458876"/>
            <a:ext cx="10387013" cy="3769308"/>
          </a:xfrm>
        </p:spPr>
        <p:txBody>
          <a:bodyPr/>
          <a:lstStyle/>
          <a:p>
            <a:r>
              <a:rPr lang="en-US" dirty="0"/>
              <a:t>Imagine we receive an Order object that only contains a </a:t>
            </a:r>
            <a:r>
              <a:rPr lang="en-US" dirty="0" err="1"/>
              <a:t>customerId</a:t>
            </a:r>
            <a:r>
              <a:rPr lang="en-US" dirty="0"/>
              <a:t>. </a:t>
            </a:r>
          </a:p>
          <a:p>
            <a:r>
              <a:rPr lang="en-US" dirty="0"/>
              <a:t>Need to fetch the </a:t>
            </a:r>
            <a:r>
              <a:rPr lang="en-US" dirty="0" err="1"/>
              <a:t>CustomerDetails</a:t>
            </a:r>
            <a:r>
              <a:rPr lang="en-US" dirty="0"/>
              <a:t> from a database before processing the payment.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04F946-0760-5559-1E25-38F60CA4047C}"/>
              </a:ext>
            </a:extLst>
          </p:cNvPr>
          <p:cNvSpPr txBox="1"/>
          <p:nvPr/>
        </p:nvSpPr>
        <p:spPr>
          <a:xfrm>
            <a:off x="1666680" y="3268849"/>
            <a:ext cx="761727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public class Order {</a:t>
            </a:r>
          </a:p>
          <a:p>
            <a:r>
              <a:rPr lang="en-IN" dirty="0"/>
              <a:t>    private String </a:t>
            </a:r>
            <a:r>
              <a:rPr lang="en-IN" dirty="0" err="1"/>
              <a:t>orderId</a:t>
            </a:r>
            <a:r>
              <a:rPr lang="en-IN" dirty="0"/>
              <a:t>;</a:t>
            </a:r>
          </a:p>
          <a:p>
            <a:r>
              <a:rPr lang="en-IN" dirty="0"/>
              <a:t>    private String </a:t>
            </a:r>
            <a:r>
              <a:rPr lang="en-IN" dirty="0" err="1"/>
              <a:t>customerId</a:t>
            </a:r>
            <a:r>
              <a:rPr lang="en-IN" dirty="0"/>
              <a:t>;</a:t>
            </a:r>
          </a:p>
          <a:p>
            <a:r>
              <a:rPr lang="en-IN" dirty="0"/>
              <a:t>    private String </a:t>
            </a:r>
            <a:r>
              <a:rPr lang="en-IN" dirty="0" err="1"/>
              <a:t>customerEmail</a:t>
            </a:r>
            <a:r>
              <a:rPr lang="en-IN" dirty="0"/>
              <a:t>; // Currently null, needs enrichment</a:t>
            </a:r>
          </a:p>
          <a:p>
            <a:r>
              <a:rPr lang="en-IN" dirty="0"/>
              <a:t>    // Getters and Setters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public class Customer {</a:t>
            </a:r>
          </a:p>
          <a:p>
            <a:r>
              <a:rPr lang="en-IN" dirty="0"/>
              <a:t>    private String id;</a:t>
            </a:r>
          </a:p>
          <a:p>
            <a:r>
              <a:rPr lang="en-IN" dirty="0"/>
              <a:t>    private String email;</a:t>
            </a:r>
          </a:p>
          <a:p>
            <a:r>
              <a:rPr lang="en-IN" dirty="0"/>
              <a:t>    private String address;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808423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ACEF5D4-DBFD-C938-FD5A-A03FEE3EC373}"/>
              </a:ext>
            </a:extLst>
          </p:cNvPr>
          <p:cNvSpPr txBox="1"/>
          <p:nvPr/>
        </p:nvSpPr>
        <p:spPr>
          <a:xfrm>
            <a:off x="933061" y="-79653"/>
            <a:ext cx="10842171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@Bean</a:t>
            </a:r>
          </a:p>
          <a:p>
            <a:r>
              <a:rPr lang="en-IN" dirty="0"/>
              <a:t>public </a:t>
            </a:r>
            <a:r>
              <a:rPr lang="en-IN" dirty="0" err="1"/>
              <a:t>IntegrationFlow</a:t>
            </a:r>
            <a:r>
              <a:rPr lang="en-IN" dirty="0"/>
              <a:t> </a:t>
            </a:r>
            <a:r>
              <a:rPr lang="en-IN" dirty="0" err="1"/>
              <a:t>enrichmentFlow</a:t>
            </a:r>
            <a:r>
              <a:rPr lang="en-IN" dirty="0"/>
              <a:t>(</a:t>
            </a:r>
            <a:r>
              <a:rPr lang="en-IN" dirty="0" err="1"/>
              <a:t>CustomerService</a:t>
            </a:r>
            <a:r>
              <a:rPr lang="en-IN" dirty="0"/>
              <a:t> </a:t>
            </a:r>
            <a:r>
              <a:rPr lang="en-IN" dirty="0" err="1"/>
              <a:t>customerService</a:t>
            </a:r>
            <a:r>
              <a:rPr lang="en-IN" dirty="0"/>
              <a:t>) {</a:t>
            </a:r>
          </a:p>
          <a:p>
            <a:r>
              <a:rPr lang="en-IN" dirty="0"/>
              <a:t>    return </a:t>
            </a:r>
            <a:r>
              <a:rPr lang="en-IN" dirty="0" err="1"/>
              <a:t>IntegrationFlow.from</a:t>
            </a:r>
            <a:r>
              <a:rPr lang="en-IN" dirty="0"/>
              <a:t>("</a:t>
            </a:r>
            <a:r>
              <a:rPr lang="en-IN" dirty="0" err="1"/>
              <a:t>orderInputChannel</a:t>
            </a:r>
            <a:r>
              <a:rPr lang="en-IN" dirty="0"/>
              <a:t>")</a:t>
            </a:r>
          </a:p>
          <a:p>
            <a:r>
              <a:rPr lang="en-IN" dirty="0"/>
              <a:t>            .enrich(e -&gt; e</a:t>
            </a:r>
          </a:p>
          <a:p>
            <a:r>
              <a:rPr lang="en-IN" dirty="0"/>
              <a:t>                // 1. Where to send the request for extra data</a:t>
            </a:r>
          </a:p>
          <a:p>
            <a:r>
              <a:rPr lang="en-IN" dirty="0"/>
              <a:t>                .</a:t>
            </a:r>
            <a:r>
              <a:rPr lang="en-IN" dirty="0" err="1"/>
              <a:t>requestChannel</a:t>
            </a:r>
            <a:r>
              <a:rPr lang="en-IN" dirty="0"/>
              <a:t>("</a:t>
            </a:r>
            <a:r>
              <a:rPr lang="en-IN" dirty="0" err="1"/>
              <a:t>customerLookupChannel</a:t>
            </a:r>
            <a:r>
              <a:rPr lang="en-IN" dirty="0"/>
              <a:t>")</a:t>
            </a:r>
          </a:p>
          <a:p>
            <a:r>
              <a:rPr lang="en-IN" dirty="0"/>
              <a:t>                </a:t>
            </a:r>
          </a:p>
          <a:p>
            <a:r>
              <a:rPr lang="en-IN" dirty="0"/>
              <a:t>                // 2. What to send to the lookup service? </a:t>
            </a:r>
          </a:p>
          <a:p>
            <a:r>
              <a:rPr lang="en-IN" dirty="0"/>
              <a:t>                // Instead of the whole Order, just send the </a:t>
            </a:r>
            <a:r>
              <a:rPr lang="en-IN" dirty="0" err="1"/>
              <a:t>customerId</a:t>
            </a:r>
            <a:r>
              <a:rPr lang="en-IN" dirty="0"/>
              <a:t> string</a:t>
            </a:r>
          </a:p>
          <a:p>
            <a:r>
              <a:rPr lang="en-IN" dirty="0"/>
              <a:t>                .</a:t>
            </a:r>
            <a:r>
              <a:rPr lang="en-IN" dirty="0" err="1"/>
              <a:t>requestPayloadExpression</a:t>
            </a:r>
            <a:r>
              <a:rPr lang="en-IN" dirty="0"/>
              <a:t>("</a:t>
            </a:r>
            <a:r>
              <a:rPr lang="en-IN" dirty="0" err="1"/>
              <a:t>payload.customerId</a:t>
            </a:r>
            <a:r>
              <a:rPr lang="en-IN" dirty="0"/>
              <a:t>")</a:t>
            </a:r>
          </a:p>
          <a:p>
            <a:r>
              <a:rPr lang="en-IN" dirty="0"/>
              <a:t>                </a:t>
            </a:r>
          </a:p>
          <a:p>
            <a:r>
              <a:rPr lang="en-IN" dirty="0"/>
              <a:t>                // 3. How to map the result back to the original Order payload?</a:t>
            </a:r>
          </a:p>
          <a:p>
            <a:r>
              <a:rPr lang="en-IN" dirty="0"/>
              <a:t>                // 'payload' here refers to the result from the lookup service (Customer object)</a:t>
            </a:r>
          </a:p>
          <a:p>
            <a:r>
              <a:rPr lang="en-IN" dirty="0"/>
              <a:t>                .</a:t>
            </a:r>
            <a:r>
              <a:rPr lang="en-IN" dirty="0" err="1"/>
              <a:t>propertyExpression</a:t>
            </a:r>
            <a:r>
              <a:rPr lang="en-IN" dirty="0"/>
              <a:t>("</a:t>
            </a:r>
            <a:r>
              <a:rPr lang="en-IN" dirty="0" err="1"/>
              <a:t>customerEmail</a:t>
            </a:r>
            <a:r>
              <a:rPr lang="en-IN" dirty="0"/>
              <a:t>", "</a:t>
            </a:r>
            <a:r>
              <a:rPr lang="en-IN" dirty="0" err="1"/>
              <a:t>payload.email</a:t>
            </a:r>
            <a:r>
              <a:rPr lang="en-IN" dirty="0"/>
              <a:t>")</a:t>
            </a:r>
          </a:p>
          <a:p>
            <a:r>
              <a:rPr lang="en-IN" dirty="0"/>
              <a:t>                .</a:t>
            </a:r>
            <a:r>
              <a:rPr lang="en-IN" dirty="0" err="1"/>
              <a:t>propertyExpression</a:t>
            </a:r>
            <a:r>
              <a:rPr lang="en-IN" dirty="0"/>
              <a:t>("</a:t>
            </a:r>
            <a:r>
              <a:rPr lang="en-IN" dirty="0" err="1"/>
              <a:t>shippingAddress</a:t>
            </a:r>
            <a:r>
              <a:rPr lang="en-IN" dirty="0"/>
              <a:t>", "</a:t>
            </a:r>
            <a:r>
              <a:rPr lang="en-IN" dirty="0" err="1"/>
              <a:t>payload.address</a:t>
            </a:r>
            <a:r>
              <a:rPr lang="en-IN" dirty="0"/>
              <a:t>")</a:t>
            </a:r>
          </a:p>
          <a:p>
            <a:r>
              <a:rPr lang="en-IN" dirty="0"/>
              <a:t>            )</a:t>
            </a:r>
          </a:p>
          <a:p>
            <a:r>
              <a:rPr lang="en-IN" dirty="0"/>
              <a:t>            .handle(</a:t>
            </a:r>
            <a:r>
              <a:rPr lang="en-IN" dirty="0" err="1"/>
              <a:t>msg</a:t>
            </a:r>
            <a:r>
              <a:rPr lang="en-IN" dirty="0"/>
              <a:t> -&gt; </a:t>
            </a:r>
            <a:r>
              <a:rPr lang="en-IN" dirty="0" err="1"/>
              <a:t>System.out.println</a:t>
            </a:r>
            <a:r>
              <a:rPr lang="en-IN" dirty="0"/>
              <a:t>("Enriched Order: " + </a:t>
            </a:r>
            <a:r>
              <a:rPr lang="en-IN" dirty="0" err="1"/>
              <a:t>msg.getPayload</a:t>
            </a:r>
            <a:r>
              <a:rPr lang="en-IN" dirty="0"/>
              <a:t>()))</a:t>
            </a:r>
          </a:p>
          <a:p>
            <a:r>
              <a:rPr lang="en-IN" dirty="0"/>
              <a:t>            .get();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// The service that provides the extra data</a:t>
            </a:r>
          </a:p>
          <a:p>
            <a:r>
              <a:rPr lang="en-IN" dirty="0"/>
              <a:t>@ServiceActivator(inputChannel = "</a:t>
            </a:r>
            <a:r>
              <a:rPr lang="en-IN" dirty="0" err="1"/>
              <a:t>customerLookupChannel</a:t>
            </a:r>
            <a:r>
              <a:rPr lang="en-IN" dirty="0"/>
              <a:t>")</a:t>
            </a:r>
          </a:p>
          <a:p>
            <a:r>
              <a:rPr lang="en-IN" dirty="0"/>
              <a:t>public Customer </a:t>
            </a:r>
            <a:r>
              <a:rPr lang="en-IN" dirty="0" err="1"/>
              <a:t>findCustomer</a:t>
            </a:r>
            <a:r>
              <a:rPr lang="en-IN" dirty="0"/>
              <a:t>(String </a:t>
            </a:r>
            <a:r>
              <a:rPr lang="en-IN" dirty="0" err="1"/>
              <a:t>customerId</a:t>
            </a:r>
            <a:r>
              <a:rPr lang="en-IN" dirty="0"/>
              <a:t>) {</a:t>
            </a:r>
          </a:p>
          <a:p>
            <a:r>
              <a:rPr lang="en-IN" dirty="0"/>
              <a:t>    return </a:t>
            </a:r>
            <a:r>
              <a:rPr lang="en-IN" dirty="0" err="1"/>
              <a:t>db.findCustomerById</a:t>
            </a:r>
            <a:r>
              <a:rPr lang="en-IN" dirty="0"/>
              <a:t>(</a:t>
            </a:r>
            <a:r>
              <a:rPr lang="en-IN" dirty="0" err="1"/>
              <a:t>customerId</a:t>
            </a:r>
            <a:r>
              <a:rPr lang="en-IN" dirty="0"/>
              <a:t>); // Mock DB call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896635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68180-16F9-9283-9DEA-551CA9DE0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E4A33-4471-E31E-634C-F6F103D07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Request Payload Expression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C53C4-CA31-F138-7635-5168791C4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87013" cy="3769308"/>
          </a:xfrm>
        </p:spPr>
        <p:txBody>
          <a:bodyPr/>
          <a:lstStyle/>
          <a:p>
            <a:r>
              <a:rPr lang="en-US" dirty="0"/>
              <a:t>By default, the Enricher sends the </a:t>
            </a:r>
            <a:r>
              <a:rPr lang="en-US" b="1" dirty="0"/>
              <a:t>entire original message</a:t>
            </a:r>
            <a:r>
              <a:rPr lang="en-US" dirty="0"/>
              <a:t> to the request channel. </a:t>
            </a:r>
          </a:p>
          <a:p>
            <a:r>
              <a:rPr lang="en-US" dirty="0"/>
              <a:t>Often, the external service only needs one field (e.g., an ID).</a:t>
            </a:r>
          </a:p>
          <a:p>
            <a:r>
              <a:rPr lang="en-US" dirty="0"/>
              <a:t>.</a:t>
            </a:r>
            <a:r>
              <a:rPr lang="en-US" dirty="0" err="1"/>
              <a:t>requestPayloadExpression</a:t>
            </a:r>
            <a:r>
              <a:rPr lang="en-US" dirty="0"/>
              <a:t>("payload.id") sends just the ID.</a:t>
            </a:r>
          </a:p>
          <a:p>
            <a:r>
              <a:rPr lang="en-US" dirty="0"/>
              <a:t>.</a:t>
            </a:r>
            <a:r>
              <a:rPr lang="en-US" dirty="0" err="1"/>
              <a:t>requestPayloadExpression</a:t>
            </a:r>
            <a:r>
              <a:rPr lang="en-US" dirty="0"/>
              <a:t>("</a:t>
            </a:r>
            <a:r>
              <a:rPr lang="en-US" dirty="0" err="1"/>
              <a:t>headers.securityToken</a:t>
            </a:r>
            <a:r>
              <a:rPr lang="en-US" dirty="0"/>
              <a:t>") sends a header value.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71232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E7E59-D9F2-1B30-DC59-4785B2F67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D575F-7205-0068-7432-8BC524200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Property Expressions (Mapping Data)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7C5F5-1A8D-D764-BE33-1A3A3DC39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87013" cy="3769308"/>
          </a:xfrm>
        </p:spPr>
        <p:txBody>
          <a:bodyPr/>
          <a:lstStyle/>
          <a:p>
            <a:r>
              <a:rPr lang="en-US" b="1" dirty="0"/>
              <a:t> </a:t>
            </a:r>
            <a:r>
              <a:rPr lang="en-US" dirty="0"/>
              <a:t>This is where you define how the result from the external service updates your original payload.</a:t>
            </a:r>
          </a:p>
          <a:p>
            <a:pPr marL="0" indent="0">
              <a:buNone/>
            </a:pPr>
            <a:r>
              <a:rPr lang="en-US" b="1" dirty="0"/>
              <a:t>.</a:t>
            </a:r>
            <a:r>
              <a:rPr lang="en-US" b="1" dirty="0" err="1"/>
              <a:t>propertyExpression</a:t>
            </a:r>
            <a:r>
              <a:rPr lang="en-US" b="1" dirty="0"/>
              <a:t>("</a:t>
            </a:r>
            <a:r>
              <a:rPr lang="en-US" b="1" dirty="0" err="1"/>
              <a:t>targetField</a:t>
            </a:r>
            <a:r>
              <a:rPr lang="en-US" b="1" dirty="0"/>
              <a:t>", "</a:t>
            </a:r>
            <a:r>
              <a:rPr lang="en-US" b="1" dirty="0" err="1"/>
              <a:t>payload.sourceField</a:t>
            </a:r>
            <a:r>
              <a:rPr lang="en-US" b="1" dirty="0"/>
              <a:t>")</a:t>
            </a:r>
          </a:p>
          <a:p>
            <a:r>
              <a:rPr lang="en-US" dirty="0"/>
              <a:t>If the original payload is a Map, it adds a new key-value pair.</a:t>
            </a:r>
          </a:p>
          <a:p>
            <a:r>
              <a:rPr lang="en-US" dirty="0"/>
              <a:t>If the original payload is a POJO, it calls the setter for that property.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78174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4D14D-73FD-B912-6683-EF1198687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C817C-E90F-A166-4F02-CA093C035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Header Enrichment via Content Enricher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0B0C3-985B-8BFA-B7DB-141CF7D14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87013" cy="3769308"/>
          </a:xfrm>
        </p:spPr>
        <p:txBody>
          <a:bodyPr/>
          <a:lstStyle/>
          <a:p>
            <a:r>
              <a:rPr lang="en-IN" dirty="0"/>
              <a:t>Can also use the external data to add </a:t>
            </a:r>
            <a:r>
              <a:rPr lang="en-IN" b="1" dirty="0"/>
              <a:t>Headers</a:t>
            </a:r>
            <a:r>
              <a:rPr lang="en-IN" dirty="0"/>
              <a:t> instead of modifying the payload:</a:t>
            </a:r>
          </a:p>
          <a:p>
            <a:pPr marL="0" indent="0">
              <a:buNone/>
            </a:pPr>
            <a:r>
              <a:rPr lang="en-IN" b="1" dirty="0"/>
              <a:t>.enrich(e -&gt; </a:t>
            </a:r>
            <a:r>
              <a:rPr lang="en-IN" b="1" dirty="0" err="1"/>
              <a:t>e.requestChannel</a:t>
            </a:r>
            <a:r>
              <a:rPr lang="en-IN" b="1" dirty="0"/>
              <a:t>("</a:t>
            </a:r>
            <a:r>
              <a:rPr lang="en-IN" b="1" dirty="0" err="1"/>
              <a:t>authServiceChannel</a:t>
            </a:r>
            <a:r>
              <a:rPr lang="en-IN" b="1" dirty="0"/>
              <a:t>")</a:t>
            </a:r>
          </a:p>
          <a:p>
            <a:pPr marL="0" indent="0">
              <a:buNone/>
            </a:pPr>
            <a:r>
              <a:rPr lang="en-IN" b="1" dirty="0"/>
              <a:t>             .</a:t>
            </a:r>
            <a:r>
              <a:rPr lang="en-IN" b="1" dirty="0" err="1"/>
              <a:t>headerExpression</a:t>
            </a:r>
            <a:r>
              <a:rPr lang="en-IN" b="1" dirty="0"/>
              <a:t>("USER_ROLE", "</a:t>
            </a:r>
            <a:r>
              <a:rPr lang="en-IN" b="1" dirty="0" err="1"/>
              <a:t>payload.role</a:t>
            </a:r>
            <a:r>
              <a:rPr lang="en-IN" b="1" dirty="0"/>
              <a:t>"))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76718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29797-F6A0-1A00-FF2B-98ED8D72B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DDCD6-DAC7-0265-66BB-8E620AE16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Handling "Not Found" (Null Results)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DA71E-F577-F843-8F68-D2D256430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87013" cy="3769308"/>
          </a:xfrm>
        </p:spPr>
        <p:txBody>
          <a:bodyPr/>
          <a:lstStyle/>
          <a:p>
            <a:r>
              <a:rPr lang="en-US" dirty="0"/>
              <a:t>What if the external service returns null?</a:t>
            </a:r>
          </a:p>
          <a:p>
            <a:r>
              <a:rPr lang="en-US" dirty="0"/>
              <a:t>By default, the Enricher will simply not update the properties and pass the original message along. </a:t>
            </a:r>
          </a:p>
          <a:p>
            <a:r>
              <a:rPr lang="en-US" dirty="0"/>
              <a:t>Can add logic to the lookup service to throw an exception or return a "Default Guest" object if the data is missing.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68829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C3D99-8DF8-07A1-D013-619281107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3A5EF-A302-8393-B9E8-2CA7BEF23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Aggregating multiple sources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9C8A9-967D-A4F0-AA5E-51F7ECCD2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87013" cy="3769308"/>
          </a:xfrm>
        </p:spPr>
        <p:txBody>
          <a:bodyPr/>
          <a:lstStyle/>
          <a:p>
            <a:r>
              <a:rPr lang="en-IN" dirty="0"/>
              <a:t>Can chain multiple enrichers if you need data from three different microservices:</a:t>
            </a:r>
          </a:p>
          <a:p>
            <a:r>
              <a:rPr lang="en-IN" dirty="0" err="1"/>
              <a:t>codeJava</a:t>
            </a:r>
            <a:endParaRPr lang="en-IN" dirty="0"/>
          </a:p>
          <a:p>
            <a:r>
              <a:rPr lang="en-IN" dirty="0"/>
              <a:t>.enrich(e -&gt; </a:t>
            </a:r>
            <a:r>
              <a:rPr lang="en-IN" dirty="0" err="1"/>
              <a:t>e.requestChannel</a:t>
            </a:r>
            <a:r>
              <a:rPr lang="en-IN" dirty="0"/>
              <a:t>("</a:t>
            </a:r>
            <a:r>
              <a:rPr lang="en-IN" dirty="0" err="1"/>
              <a:t>serviceA</a:t>
            </a:r>
            <a:r>
              <a:rPr lang="en-IN" dirty="0"/>
              <a:t>").</a:t>
            </a:r>
            <a:r>
              <a:rPr lang="en-IN" dirty="0" err="1"/>
              <a:t>propertyExpression</a:t>
            </a:r>
            <a:r>
              <a:rPr lang="en-IN" dirty="0"/>
              <a:t>("</a:t>
            </a:r>
            <a:r>
              <a:rPr lang="en-IN" dirty="0" err="1"/>
              <a:t>fieldA</a:t>
            </a:r>
            <a:r>
              <a:rPr lang="en-IN" dirty="0"/>
              <a:t>", "payload"))</a:t>
            </a:r>
          </a:p>
          <a:p>
            <a:r>
              <a:rPr lang="en-IN" dirty="0"/>
              <a:t>.enrich(e -&gt; </a:t>
            </a:r>
            <a:r>
              <a:rPr lang="en-IN" dirty="0" err="1"/>
              <a:t>e.requestChannel</a:t>
            </a:r>
            <a:r>
              <a:rPr lang="en-IN" dirty="0"/>
              <a:t>("</a:t>
            </a:r>
            <a:r>
              <a:rPr lang="en-IN" dirty="0" err="1"/>
              <a:t>serviceB</a:t>
            </a:r>
            <a:r>
              <a:rPr lang="en-IN" dirty="0"/>
              <a:t>").</a:t>
            </a:r>
            <a:r>
              <a:rPr lang="en-IN" dirty="0" err="1"/>
              <a:t>propertyExpression</a:t>
            </a:r>
            <a:r>
              <a:rPr lang="en-IN" dirty="0"/>
              <a:t>("</a:t>
            </a:r>
            <a:r>
              <a:rPr lang="en-IN" dirty="0" err="1"/>
              <a:t>fieldB</a:t>
            </a:r>
            <a:r>
              <a:rPr lang="en-IN" dirty="0"/>
              <a:t>", "payload"))</a:t>
            </a:r>
          </a:p>
          <a:p>
            <a:r>
              <a:rPr lang="en-IN" dirty="0"/>
              <a:t>.enrich(e -&gt; </a:t>
            </a:r>
            <a:r>
              <a:rPr lang="en-IN" dirty="0" err="1"/>
              <a:t>e.requestChannel</a:t>
            </a:r>
            <a:r>
              <a:rPr lang="en-IN" dirty="0"/>
              <a:t>("</a:t>
            </a:r>
            <a:r>
              <a:rPr lang="en-IN" dirty="0" err="1"/>
              <a:t>serviceC</a:t>
            </a:r>
            <a:r>
              <a:rPr lang="en-IN" dirty="0"/>
              <a:t>").</a:t>
            </a:r>
            <a:r>
              <a:rPr lang="en-IN" dirty="0" err="1"/>
              <a:t>propertyExpression</a:t>
            </a:r>
            <a:r>
              <a:rPr lang="en-IN" dirty="0"/>
              <a:t>("</a:t>
            </a:r>
            <a:r>
              <a:rPr lang="en-IN" dirty="0" err="1"/>
              <a:t>fieldC</a:t>
            </a:r>
            <a:r>
              <a:rPr lang="en-IN" dirty="0"/>
              <a:t>", "payload"))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82095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52538-AC06-F389-4A5C-43BB92414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44AB2-6179-442C-15B7-CC29B3764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Content </a:t>
            </a:r>
            <a:r>
              <a:rPr lang="fr-FR" b="1" dirty="0" err="1"/>
              <a:t>Enricher</a:t>
            </a:r>
            <a:r>
              <a:rPr lang="fr-FR" b="1" dirty="0"/>
              <a:t> vs. Transformer (</a:t>
            </a:r>
            <a:r>
              <a:rPr lang="fr-FR" b="1" dirty="0" err="1"/>
              <a:t>Comparison</a:t>
            </a:r>
            <a:r>
              <a:rPr lang="fr-FR" b="1" dirty="0"/>
              <a:t>)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C7B84BD-C9B9-352C-BD4F-D6D13754640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55700" y="2603500"/>
          <a:ext cx="8824911" cy="2217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1637">
                  <a:extLst>
                    <a:ext uri="{9D8B030D-6E8A-4147-A177-3AD203B41FA5}">
                      <a16:colId xmlns:a16="http://schemas.microsoft.com/office/drawing/2014/main" val="426689936"/>
                    </a:ext>
                  </a:extLst>
                </a:gridCol>
                <a:gridCol w="2941637">
                  <a:extLst>
                    <a:ext uri="{9D8B030D-6E8A-4147-A177-3AD203B41FA5}">
                      <a16:colId xmlns:a16="http://schemas.microsoft.com/office/drawing/2014/main" val="2519374175"/>
                    </a:ext>
                  </a:extLst>
                </a:gridCol>
                <a:gridCol w="2941637">
                  <a:extLst>
                    <a:ext uri="{9D8B030D-6E8A-4147-A177-3AD203B41FA5}">
                      <a16:colId xmlns:a16="http://schemas.microsoft.com/office/drawing/2014/main" val="3060301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 dirty="0">
                          <a:effectLst/>
                          <a:latin typeface="Inter"/>
                        </a:rPr>
                        <a:t>Feature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>
                          <a:effectLst/>
                          <a:latin typeface="Inter"/>
                        </a:rPr>
                        <a:t>Transformer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>
                          <a:effectLst/>
                          <a:latin typeface="Inter"/>
                        </a:rPr>
                        <a:t>Content Enricher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4175668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>
                          <a:effectLst/>
                          <a:latin typeface="Inter"/>
                        </a:rPr>
                        <a:t>Data Source</a:t>
                      </a:r>
                      <a:endParaRPr lang="en-IN" b="0"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b="0">
                          <a:effectLst/>
                          <a:latin typeface="Inter"/>
                        </a:rPr>
                        <a:t>Data already inside the message.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b="0">
                          <a:effectLst/>
                          <a:latin typeface="Inter"/>
                        </a:rPr>
                        <a:t>Data from an external system.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1563085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>
                          <a:effectLst/>
                          <a:latin typeface="Inter"/>
                        </a:rPr>
                        <a:t>Complexity</a:t>
                      </a:r>
                      <a:endParaRPr lang="en-IN" b="0"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0">
                          <a:effectLst/>
                          <a:latin typeface="Inter"/>
                        </a:rPr>
                        <a:t>Low (Internal calculation/mapping).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b="0">
                          <a:effectLst/>
                          <a:latin typeface="Inter"/>
                        </a:rPr>
                        <a:t>High (Network calls, I/O, latency).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1229493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>
                          <a:effectLst/>
                          <a:latin typeface="Inter"/>
                        </a:rPr>
                        <a:t>Message ID</a:t>
                      </a:r>
                      <a:endParaRPr lang="en-IN" b="0"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b="0">
                          <a:effectLst/>
                          <a:latin typeface="Inter"/>
                        </a:rPr>
                        <a:t>Usually creates a new message.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b="0">
                          <a:effectLst/>
                          <a:latin typeface="Inter"/>
                        </a:rPr>
                        <a:t>Preserves original message headers/ID.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2577044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>
                          <a:effectLst/>
                          <a:latin typeface="Inter"/>
                        </a:rPr>
                        <a:t>Use Case</a:t>
                      </a:r>
                      <a:endParaRPr lang="en-IN" b="0"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0">
                          <a:effectLst/>
                          <a:latin typeface="Inter"/>
                        </a:rPr>
                        <a:t>Convert JSON to XML.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Inter"/>
                        </a:rPr>
                        <a:t>Look up a customer's credit score from a DB.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3090914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60451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5C301-C34C-6EA0-3B83-001C1EE46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6E7D3-091B-639B-DDC9-F4FC87C19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Best Practices &amp; Pitfalls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2D022-F554-FF14-BB69-2A7E4D424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87013" cy="3769308"/>
          </a:xfrm>
        </p:spPr>
        <p:txBody>
          <a:bodyPr/>
          <a:lstStyle/>
          <a:p>
            <a:r>
              <a:rPr lang="en-US" b="1" dirty="0"/>
              <a:t>Timeouts:</a:t>
            </a:r>
            <a:r>
              <a:rPr lang="en-US" dirty="0"/>
              <a:t> Since Content Enrichers perform external calls, </a:t>
            </a:r>
            <a:r>
              <a:rPr lang="en-US" b="1" dirty="0"/>
              <a:t>always</a:t>
            </a:r>
            <a:r>
              <a:rPr lang="en-US" dirty="0"/>
              <a:t> configure a timeout on the underlying service or gateway to prevent the entire pipeline from hanging.</a:t>
            </a:r>
          </a:p>
          <a:p>
            <a:r>
              <a:rPr lang="en-US" b="1" dirty="0"/>
              <a:t>Thread Blocking:</a:t>
            </a:r>
            <a:r>
              <a:rPr lang="en-US" dirty="0"/>
              <a:t> In a standard </a:t>
            </a:r>
            <a:r>
              <a:rPr lang="en-US" dirty="0" err="1"/>
              <a:t>DirectChannel</a:t>
            </a:r>
            <a:r>
              <a:rPr lang="en-US" dirty="0"/>
              <a:t>, the enricher will block the thread while waiting for the reply. For high-throughput systems, consider using </a:t>
            </a:r>
            <a:r>
              <a:rPr lang="en-US" b="1" dirty="0"/>
              <a:t>Async</a:t>
            </a:r>
            <a:r>
              <a:rPr lang="en-US" dirty="0"/>
              <a:t> processing.</a:t>
            </a:r>
          </a:p>
          <a:p>
            <a:r>
              <a:rPr lang="en-US" b="1" dirty="0"/>
              <a:t>Request Payload Optimization:</a:t>
            </a:r>
            <a:r>
              <a:rPr lang="en-US" dirty="0"/>
              <a:t> Only send the minimum amount of data required to the request channel. Don't send a 5MB payload if the service only needs an id.</a:t>
            </a:r>
          </a:p>
          <a:p>
            <a:r>
              <a:rPr lang="en-US" b="1" dirty="0"/>
              <a:t>Error Handling:</a:t>
            </a:r>
            <a:r>
              <a:rPr lang="en-US" dirty="0"/>
              <a:t> Use an </a:t>
            </a:r>
            <a:r>
              <a:rPr lang="en-US" dirty="0" err="1"/>
              <a:t>errorChannel</a:t>
            </a:r>
            <a:r>
              <a:rPr lang="en-US" dirty="0"/>
              <a:t> in your flow to catch cases where the enrichment service is down (500 Internal Server Error, Connection Refused).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61999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7E3B9-61E9-1215-22AE-84380956A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A66CB-911C-E665-1E00-9AF87BAFC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Claim Check Pattern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F162D-8ECF-E93F-2834-FEF775B53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87013" cy="3769308"/>
          </a:xfrm>
        </p:spPr>
        <p:txBody>
          <a:bodyPr/>
          <a:lstStyle/>
          <a:p>
            <a:r>
              <a:rPr lang="en-US" dirty="0"/>
              <a:t>If your message contains a 10MB PDF, passing it through 10 channels consumes massive RAM.</a:t>
            </a:r>
          </a:p>
          <a:p>
            <a:r>
              <a:rPr lang="en-US" b="1" dirty="0"/>
              <a:t>Claim Check In:</a:t>
            </a:r>
            <a:r>
              <a:rPr lang="en-US" dirty="0"/>
              <a:t> Store the PDF in a </a:t>
            </a:r>
            <a:r>
              <a:rPr lang="en-US" dirty="0" err="1"/>
              <a:t>MessageStore</a:t>
            </a:r>
            <a:r>
              <a:rPr lang="en-US" dirty="0"/>
              <a:t> (e.g., MongoDB/JDBC) and replace the payload with a UUID.</a:t>
            </a:r>
          </a:p>
          <a:p>
            <a:r>
              <a:rPr lang="en-US" b="1" dirty="0"/>
              <a:t>Claim Check Out:</a:t>
            </a:r>
            <a:r>
              <a:rPr lang="en-US" dirty="0"/>
              <a:t> When the final component is reached, use the UUID to retrieve the actual PDF.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4121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3677F-0442-EAC8-10F4-B2022C047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9AF51-32A6-E60F-4DFE-95023546B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Transformation via </a:t>
            </a:r>
            <a:r>
              <a:rPr lang="en-IN" b="1" dirty="0" err="1"/>
              <a:t>SpEL</a:t>
            </a:r>
            <a:r>
              <a:rPr lang="en-IN" b="1" dirty="0"/>
              <a:t> (Spring Expression Language)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9B56A-68E4-E9A4-BA07-71CCB706B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87013" cy="3769308"/>
          </a:xfrm>
        </p:spPr>
        <p:txBody>
          <a:bodyPr/>
          <a:lstStyle/>
          <a:p>
            <a:r>
              <a:rPr lang="en-IN" dirty="0"/>
              <a:t>Can transform messages without writing any Java methods:</a:t>
            </a:r>
          </a:p>
          <a:p>
            <a:pPr marL="0" indent="0">
              <a:buNone/>
            </a:pPr>
            <a:r>
              <a:rPr lang="en-IN" b="1" dirty="0"/>
              <a:t>.transform("</a:t>
            </a:r>
            <a:r>
              <a:rPr lang="en-IN" b="1" dirty="0" err="1"/>
              <a:t>payload.concat</a:t>
            </a:r>
            <a:r>
              <a:rPr lang="en-IN" b="1" dirty="0"/>
              <a:t>(' - Processed')")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88459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CCA23-459C-5A29-02AD-A14E93990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EB21C-4E42-BD8D-6CB1-4B41C64C5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Common Use Cases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A0EC2B3-A815-961E-4D8F-9D8D599A7A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5713675"/>
              </p:ext>
            </p:extLst>
          </p:nvPr>
        </p:nvGraphicFramePr>
        <p:xfrm>
          <a:off x="1155700" y="2603500"/>
          <a:ext cx="8824912" cy="2623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2456">
                  <a:extLst>
                    <a:ext uri="{9D8B030D-6E8A-4147-A177-3AD203B41FA5}">
                      <a16:colId xmlns:a16="http://schemas.microsoft.com/office/drawing/2014/main" val="3333691037"/>
                    </a:ext>
                  </a:extLst>
                </a:gridCol>
                <a:gridCol w="4412456">
                  <a:extLst>
                    <a:ext uri="{9D8B030D-6E8A-4147-A177-3AD203B41FA5}">
                      <a16:colId xmlns:a16="http://schemas.microsoft.com/office/drawing/2014/main" val="434174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 dirty="0">
                          <a:effectLst/>
                          <a:latin typeface="Inter"/>
                        </a:rPr>
                        <a:t>Use Case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>
                          <a:effectLst/>
                          <a:latin typeface="Inter"/>
                        </a:rPr>
                        <a:t>Transformation Type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2448299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>
                          <a:effectLst/>
                          <a:latin typeface="Inter"/>
                        </a:rPr>
                        <a:t>Legacy Integration</a:t>
                      </a:r>
                      <a:endParaRPr lang="en-IN" b="0"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Transform a fixed-length flat file into a Java POJO.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2881415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>
                          <a:effectLst/>
                          <a:latin typeface="Inter"/>
                        </a:rPr>
                        <a:t>Security</a:t>
                      </a:r>
                      <a:endParaRPr lang="en-IN" b="0"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Removing sensitive headers (e.g., 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Cookie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, 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Authorization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) before logging.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4149982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>
                          <a:effectLst/>
                          <a:latin typeface="Inter"/>
                        </a:rPr>
                        <a:t>Protocol Conversion</a:t>
                      </a:r>
                      <a:endParaRPr lang="en-IN" b="0"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Converting a REST JSON request into a SOAP XML body for a legacy mainframe.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2327563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>
                          <a:effectLst/>
                          <a:latin typeface="Inter"/>
                        </a:rPr>
                        <a:t>Routing Logic</a:t>
                      </a:r>
                      <a:endParaRPr lang="en-IN" b="0"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Enriching a message with a 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routingKey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 header based on the payload's "Country" field.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3781831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04579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EB7A8-58E3-48DF-2070-DE048FDE4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6BBB7-54CA-450A-A854-1F2C7DFDD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Best Practices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07300-D978-0173-7EC3-9922FCE79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87013" cy="376930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Keep it Idempotent:</a:t>
            </a:r>
            <a:r>
              <a:rPr lang="en-US" dirty="0"/>
              <a:t> Transforming the same message twice should ideally produce the same result (or be handled gracefully).</a:t>
            </a:r>
          </a:p>
          <a:p>
            <a:r>
              <a:rPr lang="en-US" b="1" dirty="0"/>
              <a:t>Prefer DSL over XML:</a:t>
            </a:r>
            <a:r>
              <a:rPr lang="en-US" dirty="0"/>
              <a:t> Java DSL provides type safety and better IDE support (refactoring, navigation).</a:t>
            </a:r>
          </a:p>
          <a:p>
            <a:r>
              <a:rPr lang="en-US" b="1" dirty="0"/>
              <a:t>Don't Over-Enrich:</a:t>
            </a:r>
            <a:r>
              <a:rPr lang="en-US" dirty="0"/>
              <a:t> Adding too much metadata to headers can make debugging difficult. Keep headers for "control" data and the payload for "business" data.</a:t>
            </a:r>
          </a:p>
          <a:p>
            <a:r>
              <a:rPr lang="en-US" b="1" dirty="0"/>
              <a:t>Error Handling:</a:t>
            </a:r>
            <a:r>
              <a:rPr lang="en-US" dirty="0"/>
              <a:t> Transformers can fail (e.g., Invalid JSON). Use an </a:t>
            </a:r>
            <a:r>
              <a:rPr lang="en-US" dirty="0" err="1"/>
              <a:t>errorChannel</a:t>
            </a:r>
            <a:r>
              <a:rPr lang="en-US" dirty="0"/>
              <a:t> on your gateway or a </a:t>
            </a:r>
            <a:r>
              <a:rPr lang="en-US" dirty="0" err="1"/>
              <a:t>ExpressionEvaluatingRequestHandlerAdvice</a:t>
            </a:r>
            <a:r>
              <a:rPr lang="en-US" dirty="0"/>
              <a:t> to handle transformation exceptions.</a:t>
            </a:r>
          </a:p>
          <a:p>
            <a:r>
              <a:rPr lang="en-US" b="1" dirty="0"/>
              <a:t>Chain Transformers:</a:t>
            </a:r>
            <a:r>
              <a:rPr lang="en-US" dirty="0"/>
              <a:t> Instead of one giant transformation method, chain small, reusable transformers.</a:t>
            </a:r>
          </a:p>
          <a:p>
            <a:pPr lvl="1"/>
            <a:r>
              <a:rPr lang="en-US" i="1" dirty="0"/>
              <a:t>Bad:</a:t>
            </a:r>
            <a:r>
              <a:rPr lang="en-US" dirty="0"/>
              <a:t> </a:t>
            </a:r>
            <a:r>
              <a:rPr lang="en-US" dirty="0" err="1"/>
              <a:t>transformAllInOne</a:t>
            </a:r>
            <a:r>
              <a:rPr lang="en-US" dirty="0"/>
              <a:t>(msg)</a:t>
            </a:r>
          </a:p>
          <a:p>
            <a:pPr lvl="1"/>
            <a:r>
              <a:rPr lang="en-US" i="1" dirty="0"/>
              <a:t>Good:</a:t>
            </a:r>
            <a:r>
              <a:rPr lang="en-US" dirty="0"/>
              <a:t> .transform(</a:t>
            </a:r>
            <a:r>
              <a:rPr lang="en-US" dirty="0" err="1"/>
              <a:t>toJson</a:t>
            </a:r>
            <a:r>
              <a:rPr lang="en-US" dirty="0"/>
              <a:t>).</a:t>
            </a:r>
            <a:r>
              <a:rPr lang="en-US" dirty="0" err="1"/>
              <a:t>enrichHeaders</a:t>
            </a:r>
            <a:r>
              <a:rPr lang="en-US" dirty="0"/>
              <a:t>(...).transform(</a:t>
            </a:r>
            <a:r>
              <a:rPr lang="en-US" dirty="0" err="1"/>
              <a:t>toCustomFormat</a:t>
            </a:r>
            <a:r>
              <a:rPr lang="en-US" dirty="0"/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97669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E6F3D-A72F-707E-C12A-386E07551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CF825-7E25-34CF-A840-22BE9C569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b="1" dirty="0"/>
            </a:br>
            <a:r>
              <a:rPr lang="en-IN" b="1" dirty="0"/>
              <a:t>Implementation Checklist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C2A92-1588-46E4-FCBC-4AB30095A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87013" cy="3769308"/>
          </a:xfrm>
        </p:spPr>
        <p:txBody>
          <a:bodyPr/>
          <a:lstStyle/>
          <a:p>
            <a:r>
              <a:rPr lang="en-IN" dirty="0"/>
              <a:t>To implement transformation in your Spring Boot project:</a:t>
            </a:r>
          </a:p>
          <a:p>
            <a:r>
              <a:rPr lang="en-IN" b="1" dirty="0"/>
              <a:t>Dependency:</a:t>
            </a:r>
            <a:r>
              <a:rPr lang="en-IN" dirty="0"/>
              <a:t> Add spring-boot-starter-integration.</a:t>
            </a:r>
          </a:p>
          <a:p>
            <a:r>
              <a:rPr lang="en-IN" b="1" dirty="0"/>
              <a:t>Define Channels:</a:t>
            </a:r>
            <a:r>
              <a:rPr lang="en-IN" dirty="0"/>
              <a:t> Create </a:t>
            </a:r>
            <a:r>
              <a:rPr lang="en-IN" dirty="0" err="1"/>
              <a:t>MessageChannel</a:t>
            </a:r>
            <a:r>
              <a:rPr lang="en-IN" dirty="0"/>
              <a:t> beans.</a:t>
            </a:r>
          </a:p>
          <a:p>
            <a:r>
              <a:rPr lang="en-IN" b="1" dirty="0"/>
              <a:t>Define Flow:</a:t>
            </a:r>
            <a:r>
              <a:rPr lang="en-IN" dirty="0"/>
              <a:t> Use </a:t>
            </a:r>
            <a:r>
              <a:rPr lang="en-IN" dirty="0" err="1"/>
              <a:t>IntegrationFlow</a:t>
            </a:r>
            <a:r>
              <a:rPr lang="en-IN" dirty="0"/>
              <a:t> or @Transformer.</a:t>
            </a:r>
          </a:p>
          <a:p>
            <a:r>
              <a:rPr lang="en-IN" b="1" dirty="0"/>
              <a:t>Configure Serializers:</a:t>
            </a:r>
            <a:r>
              <a:rPr lang="en-IN" dirty="0"/>
              <a:t> If using JSON/XML, ensure Jackson/JAXB is on the </a:t>
            </a:r>
            <a:r>
              <a:rPr lang="en-IN" dirty="0" err="1"/>
              <a:t>classpath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93312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2D8C7-8C84-93FD-3404-3A5541679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B419C-61E9-7116-7AF8-CA3BAB285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JSON Transformers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FD5AC-37A4-41A3-8DC0-0848C3666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87013" cy="3769308"/>
          </a:xfrm>
        </p:spPr>
        <p:txBody>
          <a:bodyPr/>
          <a:lstStyle/>
          <a:p>
            <a:r>
              <a:rPr lang="en-US" dirty="0"/>
              <a:t>Used for converting between Java Objects and JSON strings/bytes using Jackson.</a:t>
            </a:r>
          </a:p>
          <a:p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2BD8961-F3B7-E6DA-3BD7-61C8586848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4666661"/>
              </p:ext>
            </p:extLst>
          </p:nvPr>
        </p:nvGraphicFramePr>
        <p:xfrm>
          <a:off x="1249005" y="3625201"/>
          <a:ext cx="10563548" cy="2878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6122">
                  <a:extLst>
                    <a:ext uri="{9D8B030D-6E8A-4147-A177-3AD203B41FA5}">
                      <a16:colId xmlns:a16="http://schemas.microsoft.com/office/drawing/2014/main" val="3842902251"/>
                    </a:ext>
                  </a:extLst>
                </a:gridCol>
                <a:gridCol w="3535652">
                  <a:extLst>
                    <a:ext uri="{9D8B030D-6E8A-4147-A177-3AD203B41FA5}">
                      <a16:colId xmlns:a16="http://schemas.microsoft.com/office/drawing/2014/main" val="346877818"/>
                    </a:ext>
                  </a:extLst>
                </a:gridCol>
                <a:gridCol w="2640887">
                  <a:extLst>
                    <a:ext uri="{9D8B030D-6E8A-4147-A177-3AD203B41FA5}">
                      <a16:colId xmlns:a16="http://schemas.microsoft.com/office/drawing/2014/main" val="2060722703"/>
                    </a:ext>
                  </a:extLst>
                </a:gridCol>
                <a:gridCol w="2640887">
                  <a:extLst>
                    <a:ext uri="{9D8B030D-6E8A-4147-A177-3AD203B41FA5}">
                      <a16:colId xmlns:a16="http://schemas.microsoft.com/office/drawing/2014/main" val="4135691755"/>
                    </a:ext>
                  </a:extLst>
                </a:gridCol>
              </a:tblGrid>
              <a:tr h="504741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 dirty="0">
                          <a:effectLst/>
                          <a:latin typeface="Inter"/>
                        </a:rPr>
                        <a:t>Transformer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>
                          <a:effectLst/>
                          <a:latin typeface="Inter"/>
                        </a:rPr>
                        <a:t>Class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>
                          <a:effectLst/>
                          <a:latin typeface="Inter"/>
                        </a:rPr>
                        <a:t>DSL Method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>
                          <a:effectLst/>
                          <a:latin typeface="Inter"/>
                        </a:rPr>
                        <a:t>Key Detail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2419751795"/>
                  </a:ext>
                </a:extLst>
              </a:tr>
              <a:tr h="1186747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Object to JSON</a:t>
                      </a:r>
                      <a:endParaRPr lang="en-IN" b="0" dirty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ObjectToJsonTransformer</a:t>
                      </a:r>
                      <a:endParaRPr lang="en-IN" b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.transform(new ObjectToJsonTransformer())</a:t>
                      </a:r>
                      <a:endParaRPr lang="en-IN" b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Converts POJO to JSON String. Supports custom </a:t>
                      </a:r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ObjectMapper</a:t>
                      </a:r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.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1160814264"/>
                  </a:ext>
                </a:extLst>
              </a:tr>
              <a:tr h="1186747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JSON to Object</a:t>
                      </a:r>
                      <a:endParaRPr lang="en-IN" b="0" dirty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0" dirty="0" err="1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JsonToObjectTransformer</a:t>
                      </a:r>
                      <a:endParaRPr lang="en-IN" b="0" dirty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.transform(new </a:t>
                      </a:r>
                      <a:r>
                        <a:rPr lang="en-IN" b="0" dirty="0" err="1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JsonToObjectTransformer</a:t>
                      </a:r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(</a:t>
                      </a:r>
                      <a:r>
                        <a:rPr lang="en-IN" b="0" dirty="0" err="1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User.class</a:t>
                      </a:r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))</a:t>
                      </a:r>
                      <a:endParaRPr lang="en-IN" b="0" dirty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Converts JSON String/Byte array back to a Java POJO.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2606894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13200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B047B-F673-0FE7-DAA1-5C708A991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FCC02-D2AB-D93A-3AA2-BFDAE4E47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XML Transformers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091930-DF8C-FA12-B221-CCAB111B2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for enterprise systems that rely on SOAP or XML data formats.</a:t>
            </a:r>
          </a:p>
          <a:p>
            <a:endParaRPr lang="en-IN" dirty="0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BCC4551E-D98F-BFAE-4CB7-BD174B43D0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88133023"/>
              </p:ext>
            </p:extLst>
          </p:nvPr>
        </p:nvGraphicFramePr>
        <p:xfrm>
          <a:off x="1346978" y="3429000"/>
          <a:ext cx="10456248" cy="29951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2814">
                  <a:extLst>
                    <a:ext uri="{9D8B030D-6E8A-4147-A177-3AD203B41FA5}">
                      <a16:colId xmlns:a16="http://schemas.microsoft.com/office/drawing/2014/main" val="8358656"/>
                    </a:ext>
                  </a:extLst>
                </a:gridCol>
                <a:gridCol w="3575310">
                  <a:extLst>
                    <a:ext uri="{9D8B030D-6E8A-4147-A177-3AD203B41FA5}">
                      <a16:colId xmlns:a16="http://schemas.microsoft.com/office/drawing/2014/main" val="756755204"/>
                    </a:ext>
                  </a:extLst>
                </a:gridCol>
                <a:gridCol w="2614062">
                  <a:extLst>
                    <a:ext uri="{9D8B030D-6E8A-4147-A177-3AD203B41FA5}">
                      <a16:colId xmlns:a16="http://schemas.microsoft.com/office/drawing/2014/main" val="1567408582"/>
                    </a:ext>
                  </a:extLst>
                </a:gridCol>
                <a:gridCol w="2614062">
                  <a:extLst>
                    <a:ext uri="{9D8B030D-6E8A-4147-A177-3AD203B41FA5}">
                      <a16:colId xmlns:a16="http://schemas.microsoft.com/office/drawing/2014/main" val="2088038477"/>
                    </a:ext>
                  </a:extLst>
                </a:gridCol>
              </a:tblGrid>
              <a:tr h="372382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 dirty="0">
                          <a:effectLst/>
                          <a:latin typeface="Inter"/>
                        </a:rPr>
                        <a:t>Transformer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>
                          <a:effectLst/>
                          <a:latin typeface="Inter"/>
                        </a:rPr>
                        <a:t>Class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>
                          <a:effectLst/>
                          <a:latin typeface="Inter"/>
                        </a:rPr>
                        <a:t>DSL Method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>
                          <a:effectLst/>
                          <a:latin typeface="Inter"/>
                        </a:rPr>
                        <a:t>Key Detail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2543541216"/>
                  </a:ext>
                </a:extLst>
              </a:tr>
              <a:tr h="875545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Marshalling</a:t>
                      </a:r>
                      <a:endParaRPr lang="en-IN" b="0" dirty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MarshallingTransformer</a:t>
                      </a:r>
                      <a:endParaRPr lang="en-IN" b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.transform(new MarshallingTransformer(marshaller))</a:t>
                      </a:r>
                      <a:endParaRPr lang="en-IN" b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Converts POJO to XML. Requires a Spring </a:t>
                      </a:r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Marshaller</a:t>
                      </a:r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 (like JAXB).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2414191070"/>
                  </a:ext>
                </a:extLst>
              </a:tr>
              <a:tr h="875545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Unmarshalling</a:t>
                      </a:r>
                      <a:endParaRPr lang="en-IN" b="0" dirty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0" dirty="0" err="1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UnmarshallingTransformer</a:t>
                      </a:r>
                      <a:endParaRPr lang="en-IN" b="0" dirty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.transform(new </a:t>
                      </a:r>
                      <a:r>
                        <a:rPr lang="en-IN" b="0" dirty="0" err="1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UnmarshallingTransformer</a:t>
                      </a:r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(</a:t>
                      </a:r>
                      <a:r>
                        <a:rPr lang="en-IN" b="0" dirty="0" err="1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unmarshaller</a:t>
                      </a:r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))</a:t>
                      </a:r>
                      <a:endParaRPr lang="en-IN" b="0" dirty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Converts XML String/Source to a Java POJO.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284460244"/>
                  </a:ext>
                </a:extLst>
              </a:tr>
              <a:tr h="871655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XPath</a:t>
                      </a:r>
                      <a:endParaRPr lang="en-IN" b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XPathTransformer</a:t>
                      </a:r>
                      <a:endParaRPr lang="en-IN" b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.transform(new XPathTransformer("/user/id"))</a:t>
                      </a:r>
                      <a:endParaRPr lang="en-IN" b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Extracts a specific value from an XML document using an XPath expression.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10838079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4589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4B71A-E6B8-F72F-68F3-C5EEAE6C0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56580-2713-289A-7F16-8C79BBFD3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Type &amp; Serialization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1F6618-25B1-6814-7D49-3C425F12D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to convert raw data types or handle Java-native serialization.</a:t>
            </a:r>
          </a:p>
          <a:p>
            <a:endParaRPr lang="en-IN" dirty="0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B3659C64-1EA2-38EA-A7CD-B5B095C7A0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6910518"/>
              </p:ext>
            </p:extLst>
          </p:nvPr>
        </p:nvGraphicFramePr>
        <p:xfrm>
          <a:off x="651846" y="2992698"/>
          <a:ext cx="11435964" cy="3913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6770">
                  <a:extLst>
                    <a:ext uri="{9D8B030D-6E8A-4147-A177-3AD203B41FA5}">
                      <a16:colId xmlns:a16="http://schemas.microsoft.com/office/drawing/2014/main" val="2902391903"/>
                    </a:ext>
                  </a:extLst>
                </a:gridCol>
                <a:gridCol w="3911212">
                  <a:extLst>
                    <a:ext uri="{9D8B030D-6E8A-4147-A177-3AD203B41FA5}">
                      <a16:colId xmlns:a16="http://schemas.microsoft.com/office/drawing/2014/main" val="207364334"/>
                    </a:ext>
                  </a:extLst>
                </a:gridCol>
                <a:gridCol w="2858991">
                  <a:extLst>
                    <a:ext uri="{9D8B030D-6E8A-4147-A177-3AD203B41FA5}">
                      <a16:colId xmlns:a16="http://schemas.microsoft.com/office/drawing/2014/main" val="53742568"/>
                    </a:ext>
                  </a:extLst>
                </a:gridCol>
                <a:gridCol w="2858991">
                  <a:extLst>
                    <a:ext uri="{9D8B030D-6E8A-4147-A177-3AD203B41FA5}">
                      <a16:colId xmlns:a16="http://schemas.microsoft.com/office/drawing/2014/main" val="8272075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 dirty="0">
                          <a:effectLst/>
                          <a:latin typeface="Inter"/>
                        </a:rPr>
                        <a:t>Transformer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>
                          <a:effectLst/>
                          <a:latin typeface="Inter"/>
                        </a:rPr>
                        <a:t>Class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>
                          <a:effectLst/>
                          <a:latin typeface="Inter"/>
                        </a:rPr>
                        <a:t>DSL Method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>
                          <a:effectLst/>
                          <a:latin typeface="Inter"/>
                        </a:rPr>
                        <a:t>Key Detail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3363493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Object to String</a:t>
                      </a:r>
                      <a:endParaRPr lang="en-IN" b="0" dirty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ObjectToStringTransformer</a:t>
                      </a:r>
                      <a:endParaRPr lang="en-IN" b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.transform(new ObjectToStringTransformer())</a:t>
                      </a:r>
                      <a:endParaRPr lang="en-IN" b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Calls </a:t>
                      </a:r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.toString()</a:t>
                      </a:r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 on the payload. Useful for logging or simple text protocols.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1708174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Object to Map</a:t>
                      </a:r>
                      <a:endParaRPr lang="en-IN" b="0" dirty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ObjectToMapTransformer</a:t>
                      </a:r>
                      <a:endParaRPr lang="en-IN" b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.transform(new ObjectToMapTransformer())</a:t>
                      </a:r>
                      <a:endParaRPr lang="en-IN" b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Uses Jackson to turn POJO fields into Map keys. Great for DB inserts.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4131327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Map to Object</a:t>
                      </a:r>
                      <a:endParaRPr lang="en-IN" b="0" dirty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MapToObjectTransformer</a:t>
                      </a:r>
                      <a:endParaRPr lang="en-IN" b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.transform(new MapToObjectTransformer(User.class))</a:t>
                      </a:r>
                      <a:endParaRPr lang="en-IN" b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Populates a POJO using values from a Map.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3710303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Serializer</a:t>
                      </a:r>
                      <a:endParaRPr lang="en-IN" b="0" dirty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PayloadSerializingTransformer</a:t>
                      </a:r>
                      <a:endParaRPr lang="en-IN" b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.transform(new </a:t>
                      </a:r>
                      <a:r>
                        <a:rPr lang="en-IN" b="0" dirty="0" err="1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PayloadSerializingTransformer</a:t>
                      </a:r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())</a:t>
                      </a:r>
                      <a:endParaRPr lang="en-IN" b="0" dirty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Converts a </a:t>
                      </a:r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Serializable</a:t>
                      </a:r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 object into a </a:t>
                      </a:r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byte[]</a:t>
                      </a:r>
                      <a:r>
                        <a:rPr lang="en-US" b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 using Java Serialization.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4204754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 dirty="0" err="1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Deserializer</a:t>
                      </a:r>
                      <a:endParaRPr lang="en-IN" b="0" dirty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0" dirty="0" err="1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PayloadDeserializingTransformer</a:t>
                      </a:r>
                      <a:endParaRPr lang="en-IN" b="0" dirty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.transform(new </a:t>
                      </a:r>
                      <a:r>
                        <a:rPr lang="en-IN" b="0" dirty="0" err="1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PayloadDeserializingTransformer</a:t>
                      </a:r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())</a:t>
                      </a:r>
                      <a:endParaRPr lang="en-IN" b="0" dirty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Converts a 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byte[]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 back into a Java Object.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9953496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05378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9A13B-2EA6-18C3-3CF3-4C3B63C58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94B7-4872-5417-25C4-16A5FE91E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C95968-110F-CDCF-AA3D-ACA790872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46076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F554A-B8E6-73C7-F412-A9A6B9116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CBDD2-5D0E-5992-42D2-8D5A64437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A5B11-E221-4CA0-587E-0FE217629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87013" cy="3769308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63257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75334-79EC-9BB2-0BC7-2B78B34C6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7651C-1DCB-5C2B-2A91-12B86CC8B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AEE45-1921-F70A-9E73-4C816DC6E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87013" cy="3769308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93390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97846-D731-2A28-F225-9FB1CA1D7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F3E64-A7CA-5EDA-3414-9594B55B2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50E25-CAA2-BE69-04FC-294BFF45E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87013" cy="3769308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42989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46DCA-0100-298F-D2C1-956169411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54F62-D026-81BC-5C79-03D95E59F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69A15-2840-8CAC-0177-3961A31E5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87013" cy="3769308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17065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51F5B-A951-EF12-DA5F-9CAD88A0C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22B61-03AA-1219-497D-C13D2E502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9EDDB-8071-8133-5359-C5FA1E40A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87013" cy="3769308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13248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C8ECE-FBFF-9F3C-0370-BE467C4DA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16439-6D99-B8F1-BE7C-449AAFED5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97D9E-ED18-8499-DB9B-52BBEECC2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87013" cy="3769308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23468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EE368-D628-FC30-0D2C-662848C7E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9AE2D-B3CD-4C2B-FD68-2D7BF1E69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A2AA4-9E2A-8899-FBF8-A71FE7291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87013" cy="3769308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76697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D2346-D110-84B3-D722-F62FAB5B0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54D56-89C7-B95F-6D8C-B2B9D8537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A89F0-1D24-4D17-995F-52821A09B7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87013" cy="3769308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89862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75ACE-DCFD-3A8C-26D9-3E61F4E4B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40D02-D2B4-0D80-D66F-4D3CFA79C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06A49-2388-6A54-71F8-E61B93682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87013" cy="3769308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54644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33DC8-FF9C-E45B-F240-27226DC84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4C68F-A887-74FC-A05A-568431BF1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E9C44-ABA5-32EE-36F0-BDF189C94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87013" cy="3769308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2896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CA526-46EA-4A38-BBC4-92B174575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2A9AB-15F5-6B14-7CCD-FEA731E45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F57B9-B8B9-855E-CE7B-439C467C8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87013" cy="3769308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30568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C9D36-1B61-6FDC-BBF1-47EB73304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9D082-C535-45A2-131A-2603D9D59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F0126-D381-8D98-AEA2-996E73FB6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87013" cy="3769308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21189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4FF13-5BA3-93E0-BCDE-A63AF4545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4D02D-0031-D1F2-E968-4C43409F5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C99BF-8A98-3264-CB79-1BBAB98E8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87013" cy="3769308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965847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CF95E-6340-2921-2154-B5457FA70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3BFDD-B829-DD3D-A18C-9C065F121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343D6-ADA2-5DAA-3939-CE3238210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87013" cy="3769308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535988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0F5D8-9682-8ADA-ACA3-736F6EB43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BF9DD-523D-E0D0-F438-D00047996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789B3-1BFD-B747-84A2-B174FA232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87013" cy="3769308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56913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BFE61-D0BB-6259-F875-122F60681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2A836-CCCA-9814-4622-A8B233C0F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5A04B-4163-C405-71D6-FFBD6DD0A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87013" cy="3769308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121720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FDE68-84A1-23AC-3CD7-71888E572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2A2D1-6C25-40BF-E28D-9136AF548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715DC-7948-BDB4-D509-55875EF0E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87013" cy="3769308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17800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47</TotalTime>
  <Words>3232</Words>
  <Application>Microsoft Office PowerPoint</Application>
  <PresentationFormat>Widescreen</PresentationFormat>
  <Paragraphs>374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2" baseType="lpstr">
      <vt:lpstr>Arial</vt:lpstr>
      <vt:lpstr>Century Gothic</vt:lpstr>
      <vt:lpstr>DM Mono</vt:lpstr>
      <vt:lpstr>Inter</vt:lpstr>
      <vt:lpstr>Wingdings 3</vt:lpstr>
      <vt:lpstr>Ion Boardroom</vt:lpstr>
      <vt:lpstr>Message Transformation</vt:lpstr>
      <vt:lpstr>Messages</vt:lpstr>
      <vt:lpstr>Message Transformation</vt:lpstr>
      <vt:lpstr>Core Concepts</vt:lpstr>
      <vt:lpstr>Simple POJO Transformer </vt:lpstr>
      <vt:lpstr> Annotation-Based Implementation</vt:lpstr>
      <vt:lpstr>Java DSL (Modern/Advanced Approach)</vt:lpstr>
      <vt:lpstr>Message headers</vt:lpstr>
      <vt:lpstr>Header Enricher</vt:lpstr>
      <vt:lpstr>PowerPoint Presentation</vt:lpstr>
      <vt:lpstr>Header Enricher</vt:lpstr>
      <vt:lpstr>Header Filter</vt:lpstr>
      <vt:lpstr>Header Filter</vt:lpstr>
      <vt:lpstr>Headers</vt:lpstr>
      <vt:lpstr>Header Wiretap" Pattern</vt:lpstr>
      <vt:lpstr>PowerPoint Presentation</vt:lpstr>
      <vt:lpstr>Summary Checklist</vt:lpstr>
      <vt:lpstr>Built-in Transformers</vt:lpstr>
      <vt:lpstr>Content Enricher (Fetching External Data)</vt:lpstr>
      <vt:lpstr> Content Enricher</vt:lpstr>
      <vt:lpstr>Core Concept: How it Works</vt:lpstr>
      <vt:lpstr>Example of enricher</vt:lpstr>
      <vt:lpstr>PowerPoint Presentation</vt:lpstr>
      <vt:lpstr>Request Payload Expression</vt:lpstr>
      <vt:lpstr>Property Expressions (Mapping Data)</vt:lpstr>
      <vt:lpstr>Header Enrichment via Content Enricher</vt:lpstr>
      <vt:lpstr>Handling "Not Found" (Null Results)</vt:lpstr>
      <vt:lpstr>Aggregating multiple sources</vt:lpstr>
      <vt:lpstr>Content Enricher vs. Transformer (Comparison)</vt:lpstr>
      <vt:lpstr>Best Practices &amp; Pitfalls</vt:lpstr>
      <vt:lpstr>Claim Check Pattern</vt:lpstr>
      <vt:lpstr>Transformation via SpEL (Spring Expression Language)</vt:lpstr>
      <vt:lpstr>Common Use Cases</vt:lpstr>
      <vt:lpstr>Best Practices</vt:lpstr>
      <vt:lpstr> Implementation Checklist </vt:lpstr>
      <vt:lpstr>JSON Transformers </vt:lpstr>
      <vt:lpstr>XML Transformers</vt:lpstr>
      <vt:lpstr>Data Type &amp; Serialization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anju munoth</dc:creator>
  <cp:lastModifiedBy>anju munoth</cp:lastModifiedBy>
  <cp:revision>34</cp:revision>
  <dcterms:created xsi:type="dcterms:W3CDTF">2026-03-22T14:03:03Z</dcterms:created>
  <dcterms:modified xsi:type="dcterms:W3CDTF">2026-03-22T14:50:33Z</dcterms:modified>
</cp:coreProperties>
</file>