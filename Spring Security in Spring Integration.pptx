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6" r:id="rId9"/>
    <p:sldId id="336" r:id="rId10"/>
    <p:sldId id="284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282" r:id="rId20"/>
    <p:sldId id="283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10" r:id="rId32"/>
    <p:sldId id="263" r:id="rId33"/>
    <p:sldId id="311" r:id="rId34"/>
    <p:sldId id="312" r:id="rId35"/>
    <p:sldId id="313" r:id="rId36"/>
    <p:sldId id="314" r:id="rId37"/>
    <p:sldId id="315" r:id="rId38"/>
    <p:sldId id="264" r:id="rId39"/>
    <p:sldId id="266" r:id="rId40"/>
    <p:sldId id="267" r:id="rId41"/>
    <p:sldId id="268" r:id="rId42"/>
    <p:sldId id="269" r:id="rId43"/>
    <p:sldId id="301" r:id="rId44"/>
    <p:sldId id="270" r:id="rId45"/>
    <p:sldId id="271" r:id="rId46"/>
    <p:sldId id="272" r:id="rId47"/>
    <p:sldId id="273" r:id="rId48"/>
    <p:sldId id="274" r:id="rId49"/>
    <p:sldId id="275" r:id="rId50"/>
    <p:sldId id="276" r:id="rId51"/>
    <p:sldId id="277" r:id="rId52"/>
    <p:sldId id="278" r:id="rId53"/>
    <p:sldId id="280" r:id="rId54"/>
    <p:sldId id="281" r:id="rId55"/>
    <p:sldId id="285" r:id="rId56"/>
    <p:sldId id="286" r:id="rId57"/>
    <p:sldId id="287" r:id="rId58"/>
    <p:sldId id="288" r:id="rId59"/>
    <p:sldId id="289" r:id="rId60"/>
    <p:sldId id="290" r:id="rId61"/>
    <p:sldId id="291" r:id="rId62"/>
    <p:sldId id="292" r:id="rId63"/>
    <p:sldId id="293" r:id="rId64"/>
    <p:sldId id="294" r:id="rId65"/>
    <p:sldId id="295" r:id="rId66"/>
    <p:sldId id="296" r:id="rId67"/>
    <p:sldId id="297" r:id="rId68"/>
    <p:sldId id="298" r:id="rId69"/>
    <p:sldId id="299" r:id="rId70"/>
    <p:sldId id="300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>
        <p:scale>
          <a:sx n="78" d="100"/>
          <a:sy n="78" d="100"/>
        </p:scale>
        <p:origin x="4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34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48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03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0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5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22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48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16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2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70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355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910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68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670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37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263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97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3B4D6E8-5E0A-4A2D-8879-7E2421CA847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937C573-4948-4C6B-9C71-3B164BA50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1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CF71-BCF9-E932-F2F0-84C91824A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Spring Security in Spring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4293A-6CC8-8E31-9246-AF2B2CA274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2838730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C63F-3E7B-8350-AFE9-84750975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security is needed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716D0-32B1-5561-5371-46038069C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US" dirty="0"/>
              <a:t>Spring Integration flows pass messages across channels, adapters, and endpoints. Without security:</a:t>
            </a:r>
          </a:p>
          <a:p>
            <a:r>
              <a:rPr lang="en-US" dirty="0"/>
              <a:t>Unauthorized components can send/consume messages </a:t>
            </a:r>
          </a:p>
          <a:p>
            <a:r>
              <a:rPr lang="en-US" dirty="0"/>
              <a:t>Sensitive payloads can be exposed </a:t>
            </a:r>
          </a:p>
          <a:p>
            <a:r>
              <a:rPr lang="en-US" dirty="0"/>
              <a:t>Critical operations (DB writes, external calls) can be abused </a:t>
            </a:r>
          </a:p>
          <a:p>
            <a:pPr marL="0" indent="0">
              <a:buNone/>
            </a:pPr>
            <a:r>
              <a:rPr lang="en-US" dirty="0"/>
              <a:t>👉 So we secure </a:t>
            </a:r>
            <a:r>
              <a:rPr lang="en-US" b="1" dirty="0"/>
              <a:t>who can send, receive, and process messages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C00000"/>
                </a:solidFill>
              </a:rPr>
              <a:t>Spring Integration security = securing message flow (channels + handlers) using Spring Security authentication &amp; authorization mechanisms.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53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39E8-394F-7C2A-0F14-D2DE8A60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F553-E3A9-926F-AAA6-F40F8DA9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E97F-A331-1EF2-63EE-BFEE5740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✔️ Message-level Security</a:t>
            </a:r>
          </a:p>
          <a:p>
            <a:pPr lvl="1"/>
            <a:r>
              <a:rPr lang="en-US" dirty="0"/>
              <a:t>Security is applied to </a:t>
            </a:r>
            <a:r>
              <a:rPr lang="en-US" b="1" dirty="0"/>
              <a:t>messages</a:t>
            </a:r>
            <a:r>
              <a:rPr lang="en-US" dirty="0"/>
              <a:t>, not just HTTP endpoints </a:t>
            </a:r>
          </a:p>
          <a:p>
            <a:pPr lvl="1"/>
            <a:r>
              <a:rPr lang="en-US" dirty="0"/>
              <a:t>Each message can carry a </a:t>
            </a:r>
            <a:r>
              <a:rPr lang="en-US" b="1" dirty="0" err="1"/>
              <a:t>SecurityContext</a:t>
            </a:r>
            <a:r>
              <a:rPr lang="en-US" b="1" dirty="0"/>
              <a:t> (Authentication)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✔️ Channel Security</a:t>
            </a:r>
          </a:p>
          <a:p>
            <a:r>
              <a:rPr lang="en-US" dirty="0"/>
              <a:t>Control who can:</a:t>
            </a:r>
          </a:p>
          <a:p>
            <a:pPr lvl="1"/>
            <a:r>
              <a:rPr lang="en-US" b="1" dirty="0"/>
              <a:t>Send to a channel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Receive from a channel</a:t>
            </a:r>
          </a:p>
          <a:p>
            <a:r>
              <a:rPr lang="en-US" b="1" dirty="0"/>
              <a:t>Method-level Security</a:t>
            </a:r>
          </a:p>
          <a:p>
            <a:pPr lvl="1"/>
            <a:r>
              <a:rPr lang="en-US" dirty="0"/>
              <a:t>Use standard Spring Security annotations inside handlers: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90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8DCF-7654-7124-EA9F-72A97A77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50FC-CA08-9046-ED3F-336B1BCC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C01E3-5185-FFD4-1744-AFFFEFB6A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err="1"/>
              <a:t>ChannelSecurityInterceptor</a:t>
            </a:r>
            <a:endParaRPr lang="en-IN" b="1" dirty="0"/>
          </a:p>
          <a:p>
            <a:r>
              <a:rPr lang="en-IN" dirty="0"/>
              <a:t>Enforces access rules on channels </a:t>
            </a:r>
          </a:p>
          <a:p>
            <a:r>
              <a:rPr lang="en-IN" dirty="0"/>
              <a:t>Uses </a:t>
            </a:r>
            <a:r>
              <a:rPr lang="en-IN" dirty="0" err="1"/>
              <a:t>AccessDecisionManager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 err="1"/>
              <a:t>MessageSecurityMetadataSource</a:t>
            </a:r>
            <a:endParaRPr lang="en-IN" b="1" dirty="0"/>
          </a:p>
          <a:p>
            <a:r>
              <a:rPr lang="en-IN" dirty="0"/>
              <a:t>Defines rules like: </a:t>
            </a:r>
          </a:p>
          <a:p>
            <a:pPr lvl="1"/>
            <a:r>
              <a:rPr lang="en-IN" dirty="0"/>
              <a:t>ROLE_USER can send </a:t>
            </a:r>
          </a:p>
          <a:p>
            <a:pPr lvl="1"/>
            <a:r>
              <a:rPr lang="en-IN" dirty="0"/>
              <a:t>ROLE_ADMIN can receive </a:t>
            </a:r>
          </a:p>
          <a:p>
            <a:pPr marL="0" indent="0">
              <a:buNone/>
            </a:pPr>
            <a:r>
              <a:rPr lang="en-IN" b="1" dirty="0"/>
              <a:t>Authentication</a:t>
            </a:r>
          </a:p>
          <a:p>
            <a:r>
              <a:rPr lang="en-IN" dirty="0"/>
              <a:t>Represents the current user/system </a:t>
            </a:r>
          </a:p>
          <a:p>
            <a:r>
              <a:rPr lang="en-IN" dirty="0"/>
              <a:t>Stored in </a:t>
            </a:r>
            <a:r>
              <a:rPr lang="en-IN" dirty="0" err="1"/>
              <a:t>SecurityContextHolder</a:t>
            </a: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6824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6A3B-70C4-E008-805A-C83ED68F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9AA4-F1A9-0C79-9182-6D860A99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Securing Entry Points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DE469-5F26-064A-4A3E-9DF7FF582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✔️ HTTP Inbound (REST → Integration)</a:t>
            </a:r>
          </a:p>
          <a:p>
            <a:r>
              <a:rPr lang="en-IN" dirty="0"/>
              <a:t>Secured via Spring Security (filters, JWT, OAuth2) </a:t>
            </a:r>
          </a:p>
          <a:p>
            <a:pPr marL="0" indent="0">
              <a:buNone/>
            </a:pPr>
            <a:r>
              <a:rPr lang="en-IN" b="1" dirty="0"/>
              <a:t>✔️ Messaging Inbound (RabbitMQ/JMS)</a:t>
            </a:r>
          </a:p>
          <a:p>
            <a:r>
              <a:rPr lang="en-IN" dirty="0"/>
              <a:t>Validate: </a:t>
            </a:r>
          </a:p>
          <a:p>
            <a:pPr lvl="1"/>
            <a:r>
              <a:rPr lang="en-IN" dirty="0"/>
              <a:t>Sender identity </a:t>
            </a:r>
          </a:p>
          <a:p>
            <a:pPr lvl="1"/>
            <a:r>
              <a:rPr lang="en-IN" dirty="0"/>
              <a:t>Message headers (tokens, signatures)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71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A91E-2582-B88E-CFEA-339D72E63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B67D-00BB-C50F-B118-6D3CD8C9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Spring Security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B3E7-7E74-45B1-378A-86F1A53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US" b="1" dirty="0"/>
              <a:t>Spring Security</a:t>
            </a:r>
            <a:r>
              <a:rPr lang="en-US" dirty="0"/>
              <a:t> is a powerful framework that provides:</a:t>
            </a:r>
          </a:p>
          <a:p>
            <a:r>
              <a:rPr lang="en-US" dirty="0"/>
              <a:t>✅ </a:t>
            </a:r>
            <a:r>
              <a:rPr lang="en-US" b="1" dirty="0"/>
              <a:t>Authentication</a:t>
            </a:r>
            <a:r>
              <a:rPr lang="en-US" dirty="0"/>
              <a:t> → Who are you? </a:t>
            </a:r>
          </a:p>
          <a:p>
            <a:r>
              <a:rPr lang="en-US" dirty="0"/>
              <a:t>✅ </a:t>
            </a:r>
            <a:r>
              <a:rPr lang="en-US" b="1" dirty="0"/>
              <a:t>Authorization</a:t>
            </a:r>
            <a:r>
              <a:rPr lang="en-US" dirty="0"/>
              <a:t> → What can you do? </a:t>
            </a:r>
          </a:p>
          <a:p>
            <a:r>
              <a:rPr lang="en-US" dirty="0"/>
              <a:t>✅ </a:t>
            </a:r>
            <a:r>
              <a:rPr lang="en-US" b="1" dirty="0"/>
              <a:t>Protection</a:t>
            </a:r>
            <a:r>
              <a:rPr lang="en-US" dirty="0"/>
              <a:t> → Against attacks (CSRF, session fixation, etc.) </a:t>
            </a:r>
          </a:p>
          <a:p>
            <a:r>
              <a:rPr lang="en-US" dirty="0"/>
              <a:t>In </a:t>
            </a:r>
            <a:r>
              <a:rPr lang="en-US" b="1" dirty="0"/>
              <a:t>Spring Integration</a:t>
            </a:r>
            <a:r>
              <a:rPr lang="en-US" dirty="0"/>
              <a:t>, we extend this to: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“Who can send/receive/process messages inside integration flows?”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54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4773-5241-8E1D-0156-6111E6A1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AC8E-6361-7578-BBAD-0CDAB808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Security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4C586-DD35-AE7B-3F49-FE78FC631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Authentication</a:t>
            </a:r>
          </a:p>
          <a:p>
            <a:r>
              <a:rPr lang="en-IN" dirty="0"/>
              <a:t>Represents a logged-in principal:</a:t>
            </a:r>
          </a:p>
          <a:p>
            <a:r>
              <a:rPr lang="en-IN" dirty="0"/>
              <a:t>Authentication auth =</a:t>
            </a:r>
            <a:br>
              <a:rPr lang="en-IN" dirty="0"/>
            </a:br>
            <a:r>
              <a:rPr lang="en-IN" dirty="0"/>
              <a:t>    new </a:t>
            </a:r>
            <a:r>
              <a:rPr lang="en-IN" dirty="0" err="1"/>
              <a:t>UsernamePasswordAuthenticationToken</a:t>
            </a:r>
            <a:r>
              <a:rPr lang="en-IN" dirty="0"/>
              <a:t>("user", "password", authorities);</a:t>
            </a:r>
          </a:p>
          <a:p>
            <a:pPr marL="0" indent="0">
              <a:buNone/>
            </a:pPr>
            <a:r>
              <a:rPr lang="en-IN" dirty="0"/>
              <a:t>Stored in:</a:t>
            </a:r>
          </a:p>
          <a:p>
            <a:r>
              <a:rPr lang="en-IN" dirty="0" err="1"/>
              <a:t>SecurityContextHolder.getContext</a:t>
            </a:r>
            <a:r>
              <a:rPr lang="en-IN" dirty="0"/>
              <a:t>().</a:t>
            </a:r>
            <a:r>
              <a:rPr lang="en-IN" dirty="0" err="1"/>
              <a:t>getAuthentication</a:t>
            </a:r>
            <a:r>
              <a:rPr lang="en-IN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85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A38F-B3F0-D17D-ABC3-CFBD406A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D67E1-52D2-493A-95C4-214CD90FA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Think of authentication like this:</a:t>
            </a:r>
          </a:p>
          <a:p>
            <a:pPr marL="0" indent="0">
              <a:buNone/>
            </a:pPr>
            <a:r>
              <a:rPr lang="en-IN" b="1" dirty="0"/>
              <a:t>Client → Sends username/password</a:t>
            </a:r>
            <a:br>
              <a:rPr lang="en-IN" b="1" dirty="0"/>
            </a:br>
            <a:r>
              <a:rPr lang="en-IN" b="1" dirty="0"/>
              <a:t>↓</a:t>
            </a:r>
            <a:br>
              <a:rPr lang="en-IN" b="1" dirty="0"/>
            </a:br>
            <a:r>
              <a:rPr lang="en-IN" b="1" dirty="0"/>
              <a:t>Spring Security Filters intercept request</a:t>
            </a:r>
            <a:br>
              <a:rPr lang="en-IN" b="1" dirty="0"/>
            </a:br>
            <a:r>
              <a:rPr lang="en-IN" b="1" dirty="0"/>
              <a:t>↓</a:t>
            </a:r>
            <a:br>
              <a:rPr lang="en-IN" b="1" dirty="0"/>
            </a:br>
            <a:r>
              <a:rPr lang="en-IN" b="1" dirty="0" err="1"/>
              <a:t>AuthenticationManager</a:t>
            </a:r>
            <a:r>
              <a:rPr lang="en-IN" b="1" dirty="0"/>
              <a:t> validates</a:t>
            </a:r>
            <a:br>
              <a:rPr lang="en-IN" b="1" dirty="0"/>
            </a:br>
            <a:r>
              <a:rPr lang="en-IN" b="1" dirty="0"/>
              <a:t>↓</a:t>
            </a:r>
            <a:br>
              <a:rPr lang="en-IN" b="1" dirty="0"/>
            </a:br>
            <a:r>
              <a:rPr lang="en-IN" b="1" dirty="0"/>
              <a:t>User is authenticated → stored in </a:t>
            </a:r>
            <a:r>
              <a:rPr lang="en-IN" b="1" dirty="0" err="1"/>
              <a:t>SecurityContext</a:t>
            </a:r>
            <a:br>
              <a:rPr lang="en-IN" b="1" dirty="0"/>
            </a:br>
            <a:r>
              <a:rPr lang="en-IN" b="1" dirty="0"/>
              <a:t>↓</a:t>
            </a:r>
            <a:br>
              <a:rPr lang="en-IN" b="1" dirty="0"/>
            </a:br>
            <a:r>
              <a:rPr lang="en-IN" b="1" dirty="0"/>
              <a:t>Your API / Integration flow runs with that identity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95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B98414-D936-E94C-7B0B-33676A74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8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8892-04CE-F590-828D-39642200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70D312-AAAD-ADF2-F1A7-9B9342A670A3}"/>
              </a:ext>
            </a:extLst>
          </p:cNvPr>
          <p:cNvSpPr txBox="1"/>
          <p:nvPr/>
        </p:nvSpPr>
        <p:spPr>
          <a:xfrm>
            <a:off x="568444" y="1460616"/>
            <a:ext cx="9665990" cy="32316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 MIDDLE: Spring Security</a:t>
            </a:r>
          </a:p>
          <a:p>
            <a:r>
              <a:rPr lang="en-IN" dirty="0"/>
              <a:t>This is the </a:t>
            </a:r>
            <a:r>
              <a:rPr lang="en-IN" b="1" dirty="0"/>
              <a:t>authentication pipeline</a:t>
            </a:r>
            <a:r>
              <a:rPr lang="en-IN" dirty="0"/>
              <a:t>:</a:t>
            </a:r>
          </a:p>
          <a:p>
            <a:r>
              <a:rPr lang="en-IN" b="1" dirty="0"/>
              <a:t>Filter Chain</a:t>
            </a:r>
            <a:r>
              <a:rPr lang="en-IN" dirty="0"/>
              <a:t> </a:t>
            </a:r>
          </a:p>
          <a:p>
            <a:pPr lvl="1"/>
            <a:r>
              <a:rPr lang="en-IN" sz="1600" dirty="0" err="1"/>
              <a:t>BasicAuthenticationFilter</a:t>
            </a:r>
            <a:r>
              <a:rPr lang="en-IN" sz="1600" dirty="0"/>
              <a:t> extracts credentials </a:t>
            </a:r>
          </a:p>
          <a:p>
            <a:r>
              <a:rPr lang="en-IN" b="1" dirty="0" err="1"/>
              <a:t>AuthenticationManager</a:t>
            </a:r>
            <a:r>
              <a:rPr lang="en-IN" dirty="0"/>
              <a:t> </a:t>
            </a:r>
          </a:p>
          <a:p>
            <a:pPr lvl="1"/>
            <a:r>
              <a:rPr lang="en-IN" sz="1600" dirty="0"/>
              <a:t>Central coordinator </a:t>
            </a:r>
          </a:p>
          <a:p>
            <a:r>
              <a:rPr lang="en-IN" b="1" dirty="0" err="1"/>
              <a:t>AuthenticationProvider</a:t>
            </a:r>
            <a:r>
              <a:rPr lang="en-IN" dirty="0"/>
              <a:t> </a:t>
            </a:r>
          </a:p>
          <a:p>
            <a:pPr lvl="1"/>
            <a:r>
              <a:rPr lang="en-IN" sz="1600" dirty="0"/>
              <a:t>Calls </a:t>
            </a:r>
            <a:r>
              <a:rPr lang="en-IN" sz="1600" dirty="0" err="1"/>
              <a:t>UserDetailsService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Validates password </a:t>
            </a:r>
          </a:p>
          <a:p>
            <a:r>
              <a:rPr lang="en-IN" b="1" dirty="0" err="1"/>
              <a:t>SecurityContext</a:t>
            </a:r>
            <a:r>
              <a:rPr lang="en-IN" dirty="0"/>
              <a:t> </a:t>
            </a:r>
          </a:p>
          <a:p>
            <a:pPr lvl="1"/>
            <a:r>
              <a:rPr lang="en-IN" sz="1600" dirty="0"/>
              <a:t>Stores authenticated user</a:t>
            </a:r>
            <a:br>
              <a:rPr lang="en-IN" sz="1600" dirty="0"/>
            </a:br>
            <a:r>
              <a:rPr lang="en-IN" sz="1600" dirty="0"/>
              <a:t>👉 This is what your app uses later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F7B3A-D95B-E4F8-EC09-CD14B5628A4E}"/>
              </a:ext>
            </a:extLst>
          </p:cNvPr>
          <p:cNvSpPr txBox="1"/>
          <p:nvPr/>
        </p:nvSpPr>
        <p:spPr>
          <a:xfrm>
            <a:off x="568444" y="4870810"/>
            <a:ext cx="9665990" cy="19697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🔹 RIGHT: Spring Integration</a:t>
            </a:r>
          </a:p>
          <a:p>
            <a:r>
              <a:rPr lang="en-IN" dirty="0"/>
              <a:t>Now the authenticated user enters the </a:t>
            </a:r>
            <a:r>
              <a:rPr lang="en-IN" b="1" dirty="0"/>
              <a:t>message flow</a:t>
            </a:r>
            <a:r>
              <a:rPr lang="en-IN" dirty="0"/>
              <a:t>:</a:t>
            </a:r>
          </a:p>
          <a:p>
            <a:r>
              <a:rPr lang="en-IN" b="1" dirty="0"/>
              <a:t>Message Channel</a:t>
            </a:r>
            <a:r>
              <a:rPr lang="en-IN" dirty="0"/>
              <a:t> </a:t>
            </a:r>
          </a:p>
          <a:p>
            <a:pPr lvl="1"/>
            <a:r>
              <a:rPr lang="en-IN" sz="1600" dirty="0"/>
              <a:t>Enforces </a:t>
            </a:r>
            <a:r>
              <a:rPr lang="en-IN" sz="1600" b="1" dirty="0"/>
              <a:t>RBAC (Role-Based Access Control)</a:t>
            </a:r>
            <a:r>
              <a:rPr lang="en-IN" sz="1600" dirty="0"/>
              <a:t> </a:t>
            </a:r>
          </a:p>
          <a:p>
            <a:r>
              <a:rPr lang="en-IN" b="1" dirty="0"/>
              <a:t>Message Handler</a:t>
            </a:r>
            <a:r>
              <a:rPr lang="en-IN" dirty="0"/>
              <a:t> </a:t>
            </a:r>
          </a:p>
          <a:p>
            <a:pPr lvl="1"/>
            <a:r>
              <a:rPr lang="en-IN" sz="1600" dirty="0"/>
              <a:t>Executes business logic using authenticated user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4789E-AC29-78EF-C119-999D61C8C1E1}"/>
              </a:ext>
            </a:extLst>
          </p:cNvPr>
          <p:cNvSpPr txBox="1"/>
          <p:nvPr/>
        </p:nvSpPr>
        <p:spPr>
          <a:xfrm>
            <a:off x="568444" y="358746"/>
            <a:ext cx="966599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LEFT: Client</a:t>
            </a:r>
          </a:p>
          <a:p>
            <a:r>
              <a:rPr lang="en-IN" dirty="0"/>
              <a:t>Sends </a:t>
            </a:r>
            <a:r>
              <a:rPr lang="en-IN" b="1" dirty="0"/>
              <a:t>username + password</a:t>
            </a:r>
            <a:r>
              <a:rPr lang="en-IN" dirty="0"/>
              <a:t> </a:t>
            </a:r>
          </a:p>
          <a:p>
            <a:r>
              <a:rPr lang="en-IN" dirty="0"/>
              <a:t>Example: Basic Auth header </a:t>
            </a:r>
          </a:p>
        </p:txBody>
      </p:sp>
    </p:spTree>
    <p:extLst>
      <p:ext uri="{BB962C8B-B14F-4D97-AF65-F5344CB8AC3E}">
        <p14:creationId xmlns:p14="http://schemas.microsoft.com/office/powerpoint/2010/main" val="376572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0ED8-B641-77D4-8CC6-DDF75917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6D80-B59B-26E7-1F03-56EBDEAB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82864" cy="397333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Authentication Object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Authentication </a:t>
            </a:r>
            <a:r>
              <a:rPr lang="en-IN" b="1" dirty="0" err="1">
                <a:solidFill>
                  <a:srgbClr val="C00000"/>
                </a:solidFill>
              </a:rPr>
              <a:t>authentication</a:t>
            </a:r>
            <a:r>
              <a:rPr lang="en-IN" b="1" dirty="0">
                <a:solidFill>
                  <a:srgbClr val="C00000"/>
                </a:solidFill>
              </a:rPr>
              <a:t> =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new </a:t>
            </a:r>
            <a:r>
              <a:rPr lang="en-IN" b="1" dirty="0" err="1">
                <a:solidFill>
                  <a:srgbClr val="C00000"/>
                </a:solidFill>
              </a:rPr>
              <a:t>UsernamePasswordAuthenticationToken</a:t>
            </a:r>
            <a:r>
              <a:rPr lang="en-IN" b="1" dirty="0">
                <a:solidFill>
                  <a:srgbClr val="C00000"/>
                </a:solidFill>
              </a:rPr>
              <a:t>(username, password);</a:t>
            </a:r>
          </a:p>
          <a:p>
            <a:r>
              <a:rPr lang="en-IN" dirty="0"/>
              <a:t>After successful login: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C00000"/>
                </a:solidFill>
              </a:rPr>
              <a:t>authentication.isAuthenticated</a:t>
            </a:r>
            <a:r>
              <a:rPr lang="en-IN" b="1" dirty="0">
                <a:solidFill>
                  <a:srgbClr val="C00000"/>
                </a:solidFill>
              </a:rPr>
              <a:t>() // true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 err="1">
                <a:solidFill>
                  <a:srgbClr val="C00000"/>
                </a:solidFill>
              </a:rPr>
              <a:t>authentication.getPrincipal</a:t>
            </a:r>
            <a:r>
              <a:rPr lang="en-IN" b="1" dirty="0">
                <a:solidFill>
                  <a:srgbClr val="C00000"/>
                </a:solidFill>
              </a:rPr>
              <a:t>()    // user details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 err="1">
                <a:solidFill>
                  <a:srgbClr val="C00000"/>
                </a:solidFill>
              </a:rPr>
              <a:t>authentication.getAuthorities</a:t>
            </a:r>
            <a:r>
              <a:rPr lang="en-IN" b="1" dirty="0">
                <a:solidFill>
                  <a:srgbClr val="C00000"/>
                </a:solidFill>
              </a:rPr>
              <a:t>()  // roles</a:t>
            </a:r>
          </a:p>
          <a:p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23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A5B1-CEBA-EC1E-F76B-8DCE8962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SecurityContext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96B10-F093-EAD4-CD05-204FB412C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current user:</a:t>
            </a:r>
          </a:p>
          <a:p>
            <a:pPr marL="0" indent="0">
              <a:buNone/>
            </a:pPr>
            <a:r>
              <a:rPr lang="en-US" b="1" dirty="0" err="1"/>
              <a:t>SecurityContextHolder.getContext</a:t>
            </a:r>
            <a:r>
              <a:rPr lang="en-US" b="1" dirty="0"/>
              <a:t>().</a:t>
            </a:r>
            <a:r>
              <a:rPr lang="en-US" b="1" dirty="0" err="1"/>
              <a:t>getAuthentication</a:t>
            </a:r>
            <a:r>
              <a:rPr lang="en-US" b="1" dirty="0"/>
              <a:t>();</a:t>
            </a:r>
          </a:p>
          <a:p>
            <a:r>
              <a:rPr lang="en-US" dirty="0"/>
              <a:t>👉 Think of it as:</a:t>
            </a:r>
          </a:p>
          <a:p>
            <a:r>
              <a:rPr lang="en-US" dirty="0"/>
              <a:t>“Global holder of logged-in user”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762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7CCD-89E0-53A5-F1EA-06021E1B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AuthenticationManager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D8929-28A2-1B68-FDF7-9A1B4D90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Responsible for validating credentials: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Authentication auth = </a:t>
            </a:r>
            <a:r>
              <a:rPr lang="en-US" b="1" dirty="0" err="1">
                <a:solidFill>
                  <a:srgbClr val="C00000"/>
                </a:solidFill>
              </a:rPr>
              <a:t>authenticationManager.authenticate</a:t>
            </a:r>
            <a:r>
              <a:rPr lang="en-US" b="1" dirty="0">
                <a:solidFill>
                  <a:srgbClr val="C00000"/>
                </a:solidFill>
              </a:rPr>
              <a:t>(authentication);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556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1391-C818-69E6-8F93-11E82253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AuthenticationProvider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E503-33DA-0166-BEC2-75BD573D9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21983" cy="393910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Actual logic for validation: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/>
              <a:t>DB check </a:t>
            </a:r>
          </a:p>
          <a:p>
            <a:r>
              <a:rPr lang="en-IN" dirty="0"/>
              <a:t>LDAP </a:t>
            </a:r>
          </a:p>
          <a:p>
            <a:r>
              <a:rPr lang="en-IN" dirty="0"/>
              <a:t>JWT validation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public class </a:t>
            </a:r>
            <a:r>
              <a:rPr lang="en-IN" b="1" dirty="0" err="1">
                <a:solidFill>
                  <a:srgbClr val="C00000"/>
                </a:solidFill>
              </a:rPr>
              <a:t>CustomAuthProvider</a:t>
            </a:r>
            <a:r>
              <a:rPr lang="en-IN" b="1" dirty="0">
                <a:solidFill>
                  <a:srgbClr val="C00000"/>
                </a:solidFill>
              </a:rPr>
              <a:t> implements </a:t>
            </a:r>
            <a:r>
              <a:rPr lang="en-IN" b="1" dirty="0" err="1">
                <a:solidFill>
                  <a:srgbClr val="C00000"/>
                </a:solidFill>
              </a:rPr>
              <a:t>AuthenticationProvider</a:t>
            </a:r>
            <a:r>
              <a:rPr lang="en-IN" b="1" dirty="0">
                <a:solidFill>
                  <a:srgbClr val="C00000"/>
                </a:solidFill>
              </a:rPr>
              <a:t>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@Override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public Authentication authenticate(Authentication auth)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String username = </a:t>
            </a:r>
            <a:r>
              <a:rPr lang="en-IN" b="1" dirty="0" err="1">
                <a:solidFill>
                  <a:srgbClr val="C00000"/>
                </a:solidFill>
              </a:rPr>
              <a:t>auth.getName</a:t>
            </a:r>
            <a:r>
              <a:rPr lang="en-IN" b="1" dirty="0">
                <a:solidFill>
                  <a:srgbClr val="C00000"/>
                </a:solidFill>
              </a:rPr>
              <a:t>();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String password = </a:t>
            </a:r>
            <a:r>
              <a:rPr lang="en-IN" b="1" dirty="0" err="1">
                <a:solidFill>
                  <a:srgbClr val="C00000"/>
                </a:solidFill>
              </a:rPr>
              <a:t>auth.getCredentials</a:t>
            </a:r>
            <a:r>
              <a:rPr lang="en-IN" b="1" dirty="0">
                <a:solidFill>
                  <a:srgbClr val="C00000"/>
                </a:solidFill>
              </a:rPr>
              <a:t>().</a:t>
            </a:r>
            <a:r>
              <a:rPr lang="en-IN" b="1" dirty="0" err="1">
                <a:solidFill>
                  <a:srgbClr val="C00000"/>
                </a:solidFill>
              </a:rPr>
              <a:t>toString</a:t>
            </a:r>
            <a:r>
              <a:rPr lang="en-IN" b="1" dirty="0">
                <a:solidFill>
                  <a:srgbClr val="C00000"/>
                </a:solidFill>
              </a:rPr>
              <a:t>();</a:t>
            </a:r>
            <a:br>
              <a:rPr lang="en-IN" b="1" dirty="0">
                <a:solidFill>
                  <a:srgbClr val="C00000"/>
                </a:solidFill>
              </a:rPr>
            </a:b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// validate against DB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return new </a:t>
            </a:r>
            <a:r>
              <a:rPr lang="en-IN" b="1" dirty="0" err="1">
                <a:solidFill>
                  <a:srgbClr val="C00000"/>
                </a:solidFill>
              </a:rPr>
              <a:t>UsernamePasswordAuthenticationToken</a:t>
            </a:r>
            <a:r>
              <a:rPr lang="en-IN" b="1" dirty="0">
                <a:solidFill>
                  <a:srgbClr val="C00000"/>
                </a:solidFill>
              </a:rPr>
              <a:t>(username, password, authorities);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}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639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736F-2298-94D9-CD37-D218B536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UserDetailsService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1A0C-4C95-0750-EBE5-D306D42A8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Loads user: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@Override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public </a:t>
            </a:r>
            <a:r>
              <a:rPr lang="en-IN" b="1" dirty="0" err="1">
                <a:solidFill>
                  <a:srgbClr val="C00000"/>
                </a:solidFill>
              </a:rPr>
              <a:t>UserDetails</a:t>
            </a:r>
            <a:r>
              <a:rPr lang="en-IN" b="1" dirty="0">
                <a:solidFill>
                  <a:srgbClr val="C00000"/>
                </a:solidFill>
              </a:rPr>
              <a:t> </a:t>
            </a:r>
            <a:r>
              <a:rPr lang="en-IN" b="1" dirty="0" err="1">
                <a:solidFill>
                  <a:srgbClr val="C00000"/>
                </a:solidFill>
              </a:rPr>
              <a:t>loadUserByUsername</a:t>
            </a:r>
            <a:r>
              <a:rPr lang="en-IN" b="1" dirty="0">
                <a:solidFill>
                  <a:srgbClr val="C00000"/>
                </a:solidFill>
              </a:rPr>
              <a:t>(String username)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return new User(username, password, authorities);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142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3897-D789-3D19-A100-F89FD781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Authentication Flow (HTTP)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D472-4DE6-4A29-FD0A-04D9EC728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Request comes → /login </a:t>
            </a:r>
          </a:p>
          <a:p>
            <a:r>
              <a:rPr lang="en-IN" dirty="0"/>
              <a:t>Filter intercepts (e.g., </a:t>
            </a:r>
            <a:r>
              <a:rPr lang="en-IN" dirty="0" err="1"/>
              <a:t>UsernamePasswordAuthenticationFilter</a:t>
            </a:r>
            <a:r>
              <a:rPr lang="en-IN" dirty="0"/>
              <a:t>) </a:t>
            </a:r>
          </a:p>
          <a:p>
            <a:r>
              <a:rPr lang="en-IN" dirty="0"/>
              <a:t>Calls </a:t>
            </a:r>
            <a:r>
              <a:rPr lang="en-IN" dirty="0" err="1"/>
              <a:t>AuthenticationManager</a:t>
            </a:r>
            <a:r>
              <a:rPr lang="en-IN" dirty="0"/>
              <a:t> </a:t>
            </a:r>
          </a:p>
          <a:p>
            <a:r>
              <a:rPr lang="en-IN" dirty="0"/>
              <a:t>Delegates to </a:t>
            </a:r>
            <a:r>
              <a:rPr lang="en-IN" dirty="0" err="1"/>
              <a:t>AuthenticationProvider</a:t>
            </a:r>
            <a:r>
              <a:rPr lang="en-IN" dirty="0"/>
              <a:t> </a:t>
            </a:r>
          </a:p>
          <a:p>
            <a:r>
              <a:rPr lang="en-IN" dirty="0"/>
              <a:t>If success → stored in </a:t>
            </a:r>
            <a:r>
              <a:rPr lang="en-IN" dirty="0" err="1"/>
              <a:t>SecurityContext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908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860B-00AD-80B3-582F-EA3405A5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FC0D7-972D-8051-4BC0-B6DCD30C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✔️ Basic Authentication</a:t>
            </a:r>
          </a:p>
          <a:p>
            <a:r>
              <a:rPr lang="en-US" dirty="0" err="1"/>
              <a:t>http.httpBasic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/>
              <a:t>✔️ Form Login</a:t>
            </a:r>
          </a:p>
          <a:p>
            <a:r>
              <a:rPr lang="en-US" dirty="0" err="1"/>
              <a:t>http.formLogin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b="1" dirty="0"/>
              <a:t>✔️ JWT Authentication (IMPORTANT)</a:t>
            </a:r>
          </a:p>
          <a:p>
            <a:r>
              <a:rPr lang="en-US" dirty="0"/>
              <a:t>String token = </a:t>
            </a:r>
            <a:r>
              <a:rPr lang="en-US" dirty="0" err="1"/>
              <a:t>request.getHeader</a:t>
            </a:r>
            <a:r>
              <a:rPr lang="en-US" dirty="0"/>
              <a:t>("Authorization");</a:t>
            </a:r>
          </a:p>
          <a:p>
            <a:r>
              <a:rPr lang="en-US" dirty="0"/>
              <a:t>Stateless </a:t>
            </a:r>
          </a:p>
          <a:p>
            <a:r>
              <a:rPr lang="en-US" dirty="0"/>
              <a:t>Used in microservices </a:t>
            </a:r>
          </a:p>
          <a:p>
            <a:r>
              <a:rPr lang="en-US" dirty="0"/>
              <a:t>Passed in message headers in integration flows </a:t>
            </a:r>
          </a:p>
          <a:p>
            <a:pPr marL="0" indent="0">
              <a:buNone/>
            </a:pPr>
            <a:r>
              <a:rPr lang="en-US" b="1" dirty="0"/>
              <a:t>✔️ OAuth2 / SSO (Advanced)</a:t>
            </a:r>
          </a:p>
          <a:p>
            <a:r>
              <a:rPr lang="en-US" dirty="0"/>
              <a:t>Used with:</a:t>
            </a:r>
          </a:p>
          <a:p>
            <a:r>
              <a:rPr lang="en-US" dirty="0"/>
              <a:t>Google login </a:t>
            </a:r>
          </a:p>
          <a:p>
            <a:r>
              <a:rPr lang="en-US" dirty="0"/>
              <a:t>Enterprise SSO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846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F815-ECD9-95D1-1628-095704F7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Authentication in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41E2-DD58-A064-2B6E-12473EBCD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👉 Key difference:</a:t>
            </a:r>
          </a:p>
          <a:p>
            <a:r>
              <a:rPr lang="en-IN" dirty="0"/>
              <a:t>No HTTP session always </a:t>
            </a:r>
          </a:p>
          <a:p>
            <a:r>
              <a:rPr lang="en-IN" dirty="0"/>
              <a:t>Messages flow </a:t>
            </a:r>
            <a:r>
              <a:rPr lang="en-IN" b="1" dirty="0"/>
              <a:t>asynchronously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✔️ Attach Authentication to Message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Message&lt;?&gt; message = </a:t>
            </a:r>
            <a:r>
              <a:rPr lang="en-IN" b="1" dirty="0" err="1">
                <a:solidFill>
                  <a:srgbClr val="C00000"/>
                </a:solidFill>
              </a:rPr>
              <a:t>MessageBuilder.withPayload</a:t>
            </a:r>
            <a:r>
              <a:rPr lang="en-IN" b="1" dirty="0">
                <a:solidFill>
                  <a:srgbClr val="C00000"/>
                </a:solidFill>
              </a:rPr>
              <a:t>("data")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.</a:t>
            </a:r>
            <a:r>
              <a:rPr lang="en-IN" b="1" dirty="0" err="1">
                <a:solidFill>
                  <a:srgbClr val="C00000"/>
                </a:solidFill>
              </a:rPr>
              <a:t>setHeader</a:t>
            </a:r>
            <a:r>
              <a:rPr lang="en-IN" b="1" dirty="0">
                <a:solidFill>
                  <a:srgbClr val="C00000"/>
                </a:solidFill>
              </a:rPr>
              <a:t>("auth", </a:t>
            </a:r>
            <a:r>
              <a:rPr lang="en-IN" b="1" dirty="0" err="1">
                <a:solidFill>
                  <a:srgbClr val="C00000"/>
                </a:solidFill>
              </a:rPr>
              <a:t>SecurityContextHolder.getContext</a:t>
            </a:r>
            <a:r>
              <a:rPr lang="en-IN" b="1" dirty="0">
                <a:solidFill>
                  <a:srgbClr val="C00000"/>
                </a:solidFill>
              </a:rPr>
              <a:t>().</a:t>
            </a:r>
            <a:r>
              <a:rPr lang="en-IN" b="1" dirty="0" err="1">
                <a:solidFill>
                  <a:srgbClr val="C00000"/>
                </a:solidFill>
              </a:rPr>
              <a:t>getAuthentication</a:t>
            </a:r>
            <a:r>
              <a:rPr lang="en-IN" b="1" dirty="0">
                <a:solidFill>
                  <a:srgbClr val="C00000"/>
                </a:solidFill>
              </a:rPr>
              <a:t>())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.build();</a:t>
            </a:r>
          </a:p>
          <a:p>
            <a:pPr marL="0" indent="0">
              <a:buNone/>
            </a:pPr>
            <a:r>
              <a:rPr lang="en-IN" b="1" dirty="0"/>
              <a:t>✔️ Extract Authentication</a:t>
            </a:r>
          </a:p>
          <a:p>
            <a:r>
              <a:rPr lang="en-IN" b="1" dirty="0">
                <a:solidFill>
                  <a:srgbClr val="C00000"/>
                </a:solidFill>
              </a:rPr>
              <a:t>Authentication auth =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(Authentication) </a:t>
            </a:r>
            <a:r>
              <a:rPr lang="en-IN" b="1" dirty="0" err="1">
                <a:solidFill>
                  <a:srgbClr val="C00000"/>
                </a:solidFill>
              </a:rPr>
              <a:t>message.getHeaders</a:t>
            </a:r>
            <a:r>
              <a:rPr lang="en-IN" b="1" dirty="0">
                <a:solidFill>
                  <a:srgbClr val="C00000"/>
                </a:solidFill>
              </a:rPr>
              <a:t>().get("auth");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80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51AFF-DE6B-A18C-2BB4-4076CA4A7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41E4-840F-0F3A-C3BC-A1C02A86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306830" cy="840462"/>
          </a:xfrm>
        </p:spPr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D4229-A889-AE90-D744-25722011B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trace a real request:</a:t>
            </a:r>
          </a:p>
          <a:p>
            <a:r>
              <a:rPr lang="en-US" b="1" dirty="0"/>
              <a:t>🌐 STEP 1: Client Sends Request</a:t>
            </a:r>
          </a:p>
          <a:p>
            <a:r>
              <a:rPr lang="en-US" dirty="0"/>
              <a:t>GET /secure</a:t>
            </a:r>
            <a:br>
              <a:rPr lang="en-US" dirty="0"/>
            </a:br>
            <a:r>
              <a:rPr lang="en-US" dirty="0"/>
              <a:t>Authorization: Basic base64(</a:t>
            </a:r>
            <a:r>
              <a:rPr lang="en-US" dirty="0" err="1"/>
              <a:t>user:password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👉 Example:</a:t>
            </a:r>
          </a:p>
          <a:p>
            <a:r>
              <a:rPr lang="en-US" dirty="0"/>
              <a:t>Authorization: Basic dXNlcjpwYXNzd29yZA==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435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AED8-A6C4-1CF0-E78B-4A0E645A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557B-D6AA-B8E0-B43F-9E71F020D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A86B-21B3-A2E2-33CD-4D727722C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STEP 2: Spring Security Filter Chain</a:t>
            </a:r>
          </a:p>
          <a:p>
            <a:r>
              <a:rPr lang="en-IN" dirty="0"/>
              <a:t>The request hits:</a:t>
            </a:r>
          </a:p>
          <a:p>
            <a:r>
              <a:rPr lang="en-IN" dirty="0" err="1"/>
              <a:t>SecurityFilterChain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Important filter here:</a:t>
            </a:r>
          </a:p>
          <a:p>
            <a:r>
              <a:rPr lang="en-IN" dirty="0" err="1"/>
              <a:t>BasicAuthenticationFilter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👉 What it does:</a:t>
            </a:r>
          </a:p>
          <a:p>
            <a:r>
              <a:rPr lang="en-IN" dirty="0"/>
              <a:t>Extracts username/password from header </a:t>
            </a:r>
          </a:p>
          <a:p>
            <a:r>
              <a:rPr lang="en-IN" dirty="0"/>
              <a:t>Creates Authentication object 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C00000"/>
                </a:solidFill>
              </a:rPr>
              <a:t>UsernamePasswordAuthenticationToken</a:t>
            </a:r>
            <a:r>
              <a:rPr lang="en-IN" b="1" dirty="0">
                <a:solidFill>
                  <a:srgbClr val="C00000"/>
                </a:solidFill>
              </a:rPr>
              <a:t> auth =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new </a:t>
            </a:r>
            <a:r>
              <a:rPr lang="en-IN" b="1" dirty="0" err="1">
                <a:solidFill>
                  <a:srgbClr val="C00000"/>
                </a:solidFill>
              </a:rPr>
              <a:t>UsernamePasswordAuthenticationToken</a:t>
            </a:r>
            <a:r>
              <a:rPr lang="en-IN" b="1" dirty="0">
                <a:solidFill>
                  <a:srgbClr val="C00000"/>
                </a:solidFill>
              </a:rPr>
              <a:t>(username, password);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896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9AB5-A8A9-AF2D-ED1E-C33219D2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2BCC-469D-B465-EF3B-09639D0D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77B2B-7BB0-592A-7D26-84881F29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3: </a:t>
            </a:r>
            <a:r>
              <a:rPr lang="en-IN" b="1" dirty="0" err="1"/>
              <a:t>AuthenticationManager</a:t>
            </a:r>
            <a:endParaRPr lang="en-IN" b="1" dirty="0"/>
          </a:p>
          <a:p>
            <a:r>
              <a:rPr lang="en-IN" dirty="0" err="1"/>
              <a:t>authenticationManager.authenticate</a:t>
            </a:r>
            <a:r>
              <a:rPr lang="en-IN" dirty="0"/>
              <a:t>(auth);</a:t>
            </a:r>
          </a:p>
          <a:p>
            <a:pPr marL="0" indent="0">
              <a:buNone/>
            </a:pPr>
            <a:r>
              <a:rPr lang="en-IN" dirty="0"/>
              <a:t>👉 This is the </a:t>
            </a:r>
            <a:r>
              <a:rPr lang="en-IN" b="1" dirty="0"/>
              <a:t>central brain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STEP 4: </a:t>
            </a:r>
            <a:r>
              <a:rPr lang="en-IN" b="1" dirty="0" err="1"/>
              <a:t>AuthenticationProvider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Usually:</a:t>
            </a:r>
          </a:p>
          <a:p>
            <a:r>
              <a:rPr lang="en-IN" dirty="0" err="1"/>
              <a:t>DaoAuthenticationProvider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👉 It:</a:t>
            </a:r>
          </a:p>
          <a:p>
            <a:r>
              <a:rPr lang="en-IN" dirty="0"/>
              <a:t>Calls </a:t>
            </a:r>
            <a:r>
              <a:rPr lang="en-IN" dirty="0" err="1"/>
              <a:t>UserDetailsService</a:t>
            </a:r>
            <a:r>
              <a:rPr lang="en-IN" dirty="0"/>
              <a:t> </a:t>
            </a:r>
          </a:p>
          <a:p>
            <a:r>
              <a:rPr lang="en-IN" dirty="0"/>
              <a:t>Validates password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890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63EE-27E3-4493-BDDB-9CC331A3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56C6-3581-6443-DA32-A15AA028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5D9B-02A2-BBFC-1CDE-F900928F4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5: </a:t>
            </a:r>
            <a:r>
              <a:rPr lang="en-IN" b="1" dirty="0" err="1"/>
              <a:t>UserDetailsService</a:t>
            </a:r>
            <a:endParaRPr lang="en-IN" b="1" dirty="0"/>
          </a:p>
          <a:p>
            <a:pPr marL="0" indent="0">
              <a:buNone/>
            </a:pPr>
            <a:r>
              <a:rPr lang="en-IN" b="1" dirty="0" err="1"/>
              <a:t>UserDetails</a:t>
            </a:r>
            <a:r>
              <a:rPr lang="en-IN" b="1" dirty="0"/>
              <a:t> user = </a:t>
            </a:r>
            <a:r>
              <a:rPr lang="en-IN" b="1" dirty="0" err="1"/>
              <a:t>userDetailsService.loadUserByUsername</a:t>
            </a:r>
            <a:r>
              <a:rPr lang="en-IN" b="1" dirty="0"/>
              <a:t>(username);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return new User("user", "{noop}password", </a:t>
            </a:r>
            <a:r>
              <a:rPr lang="en-IN" b="1" dirty="0" err="1">
                <a:solidFill>
                  <a:srgbClr val="C00000"/>
                </a:solidFill>
              </a:rPr>
              <a:t>List.of</a:t>
            </a:r>
            <a:r>
              <a:rPr lang="en-IN" b="1" dirty="0">
                <a:solidFill>
                  <a:srgbClr val="C00000"/>
                </a:solidFill>
              </a:rPr>
              <a:t>(new </a:t>
            </a:r>
            <a:r>
              <a:rPr lang="en-IN" b="1" dirty="0" err="1">
                <a:solidFill>
                  <a:srgbClr val="C00000"/>
                </a:solidFill>
              </a:rPr>
              <a:t>SimpleGrantedAuthority</a:t>
            </a:r>
            <a:r>
              <a:rPr lang="en-IN" b="1" dirty="0">
                <a:solidFill>
                  <a:srgbClr val="C00000"/>
                </a:solidFill>
              </a:rPr>
              <a:t>("ROLE_USER")));</a:t>
            </a:r>
          </a:p>
          <a:p>
            <a:pPr marL="0" indent="0">
              <a:buNone/>
            </a:pPr>
            <a:r>
              <a:rPr lang="en-IN" b="1" dirty="0"/>
              <a:t>STEP 6: Password Check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C00000"/>
                </a:solidFill>
              </a:rPr>
              <a:t>passwordEncoder.matches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rawPassword</a:t>
            </a:r>
            <a:r>
              <a:rPr lang="en-IN" b="1" dirty="0">
                <a:solidFill>
                  <a:srgbClr val="C00000"/>
                </a:solidFill>
              </a:rPr>
              <a:t>, </a:t>
            </a:r>
            <a:r>
              <a:rPr lang="en-IN" b="1" dirty="0" err="1">
                <a:solidFill>
                  <a:srgbClr val="C00000"/>
                </a:solidFill>
              </a:rPr>
              <a:t>storedPassword</a:t>
            </a:r>
            <a:r>
              <a:rPr lang="en-IN" b="1" dirty="0">
                <a:solidFill>
                  <a:srgbClr val="C00000"/>
                </a:solidFill>
              </a:rPr>
              <a:t>);</a:t>
            </a:r>
          </a:p>
          <a:p>
            <a:r>
              <a:rPr lang="en-IN" dirty="0"/>
              <a:t>If match ✅ → success</a:t>
            </a:r>
            <a:br>
              <a:rPr lang="en-IN" dirty="0"/>
            </a:br>
            <a:r>
              <a:rPr lang="en-IN" dirty="0"/>
              <a:t>Else ❌ → exception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396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20DD-00AF-FC96-A72D-74032068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0916-2C88-F4C9-86C4-B304250F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B827-178B-140F-46E0-F6314A297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7: Authentication Success</a:t>
            </a:r>
          </a:p>
          <a:p>
            <a:r>
              <a:rPr lang="en-US" dirty="0"/>
              <a:t>Spring creates: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Authentication authenticated =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new </a:t>
            </a:r>
            <a:r>
              <a:rPr lang="en-US" b="1" dirty="0" err="1">
                <a:solidFill>
                  <a:srgbClr val="C00000"/>
                </a:solidFill>
              </a:rPr>
              <a:t>UsernamePasswordAuthenticationToken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</a:t>
            </a:r>
            <a:r>
              <a:rPr lang="en-US" b="1" dirty="0" err="1">
                <a:solidFill>
                  <a:srgbClr val="C00000"/>
                </a:solidFill>
              </a:rPr>
              <a:t>userDetails</a:t>
            </a:r>
            <a:r>
              <a:rPr lang="en-US" b="1" dirty="0">
                <a:solidFill>
                  <a:srgbClr val="C00000"/>
                </a:solidFill>
              </a:rPr>
              <a:t>,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null,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</a:t>
            </a:r>
            <a:r>
              <a:rPr lang="en-US" b="1" dirty="0" err="1">
                <a:solidFill>
                  <a:srgbClr val="C00000"/>
                </a:solidFill>
              </a:rPr>
              <a:t>userDetails.getAuthorities</a:t>
            </a:r>
            <a:r>
              <a:rPr lang="en-US" b="1" dirty="0">
                <a:solidFill>
                  <a:srgbClr val="C00000"/>
                </a:solidFill>
              </a:rPr>
              <a:t>()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738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ABD4-9C90-1DA5-8AE7-0809BFDD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791E-5D23-C27A-7F29-E3A07306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9A70-6884-5ACA-57FF-74A80C6C2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8: Stored in </a:t>
            </a:r>
            <a:r>
              <a:rPr lang="en-US" b="1" dirty="0" err="1"/>
              <a:t>SecurityContext</a:t>
            </a:r>
            <a:endParaRPr lang="en-US" b="1" dirty="0"/>
          </a:p>
          <a:p>
            <a:pPr marL="0" indent="0">
              <a:buNone/>
            </a:pPr>
            <a:r>
              <a:rPr lang="en-US" b="1" dirty="0" err="1">
                <a:solidFill>
                  <a:srgbClr val="C00000"/>
                </a:solidFill>
              </a:rPr>
              <a:t>SecurityContextHolder.getContext</a:t>
            </a:r>
            <a:r>
              <a:rPr lang="en-US" b="1" dirty="0">
                <a:solidFill>
                  <a:srgbClr val="C00000"/>
                </a:solidFill>
              </a:rPr>
              <a:t>().</a:t>
            </a:r>
            <a:r>
              <a:rPr lang="en-US" b="1" dirty="0" err="1">
                <a:solidFill>
                  <a:srgbClr val="C00000"/>
                </a:solidFill>
              </a:rPr>
              <a:t>setAuthentication</a:t>
            </a:r>
            <a:r>
              <a:rPr lang="en-US" b="1" dirty="0">
                <a:solidFill>
                  <a:srgbClr val="C00000"/>
                </a:solidFill>
              </a:rPr>
              <a:t>(authenticated);</a:t>
            </a:r>
          </a:p>
          <a:p>
            <a:pPr marL="0" indent="0">
              <a:buNone/>
            </a:pPr>
            <a:r>
              <a:rPr lang="en-US" dirty="0"/>
              <a:t>👉 THIS IS CRITICAL</a:t>
            </a:r>
          </a:p>
          <a:p>
            <a:r>
              <a:rPr lang="en-US" dirty="0"/>
              <a:t>Now Spring knows:</a:t>
            </a:r>
          </a:p>
          <a:p>
            <a:r>
              <a:rPr lang="en-US" dirty="0"/>
              <a:t>“This request is from user = user”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384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6B310-3C6D-802F-787A-77306928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4698-0F81-29AD-FAAD-709C5034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BBF33-004E-8815-5D9D-9F0537687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8: Stored in </a:t>
            </a:r>
            <a:r>
              <a:rPr lang="en-US" b="1" dirty="0" err="1"/>
              <a:t>SecurityContext</a:t>
            </a:r>
            <a:endParaRPr lang="en-US" b="1" dirty="0"/>
          </a:p>
          <a:p>
            <a:pPr marL="0" indent="0">
              <a:buNone/>
            </a:pPr>
            <a:r>
              <a:rPr lang="en-US" b="1" dirty="0" err="1">
                <a:solidFill>
                  <a:srgbClr val="C00000"/>
                </a:solidFill>
              </a:rPr>
              <a:t>SecurityContextHolder.getContext</a:t>
            </a:r>
            <a:r>
              <a:rPr lang="en-US" b="1" dirty="0">
                <a:solidFill>
                  <a:srgbClr val="C00000"/>
                </a:solidFill>
              </a:rPr>
              <a:t>().</a:t>
            </a:r>
            <a:r>
              <a:rPr lang="en-US" b="1" dirty="0" err="1">
                <a:solidFill>
                  <a:srgbClr val="C00000"/>
                </a:solidFill>
              </a:rPr>
              <a:t>setAuthentication</a:t>
            </a:r>
            <a:r>
              <a:rPr lang="en-US" b="1" dirty="0">
                <a:solidFill>
                  <a:srgbClr val="C00000"/>
                </a:solidFill>
              </a:rPr>
              <a:t>(authenticated);</a:t>
            </a:r>
          </a:p>
          <a:p>
            <a:pPr marL="0" indent="0">
              <a:buNone/>
            </a:pPr>
            <a:r>
              <a:rPr lang="en-US" dirty="0"/>
              <a:t>👉 THIS IS CRITICAL</a:t>
            </a:r>
          </a:p>
          <a:p>
            <a:r>
              <a:rPr lang="en-US" dirty="0"/>
              <a:t>Now Spring knows:</a:t>
            </a:r>
          </a:p>
          <a:p>
            <a:pPr marL="0" indent="0">
              <a:buNone/>
            </a:pPr>
            <a:r>
              <a:rPr lang="en-US" b="1" dirty="0"/>
              <a:t>“This request is from user = user”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815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E2640-D5A3-5360-6328-82B7CAA3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D877-827C-E6B6-71C6-B25335C4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970DF-2EA7-04CD-2416-D78A66F5BFFF}"/>
              </a:ext>
            </a:extLst>
          </p:cNvPr>
          <p:cNvSpPr txBox="1"/>
          <p:nvPr/>
        </p:nvSpPr>
        <p:spPr>
          <a:xfrm>
            <a:off x="2773762" y="2301647"/>
            <a:ext cx="60951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[HTTP Request]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</a:t>
            </a:r>
            <a:r>
              <a:rPr lang="en-IN" dirty="0" err="1"/>
              <a:t>BasicAuthenticationFilter</a:t>
            </a:r>
            <a:r>
              <a:rPr lang="en-IN" dirty="0"/>
              <a:t>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</a:t>
            </a:r>
            <a:r>
              <a:rPr lang="en-IN" dirty="0" err="1"/>
              <a:t>AuthenticationManager</a:t>
            </a:r>
            <a:r>
              <a:rPr lang="en-IN" dirty="0"/>
              <a:t>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</a:t>
            </a:r>
            <a:r>
              <a:rPr lang="en-IN" dirty="0" err="1"/>
              <a:t>AuthenticationProvider</a:t>
            </a:r>
            <a:r>
              <a:rPr lang="en-IN" dirty="0"/>
              <a:t>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</a:t>
            </a:r>
            <a:r>
              <a:rPr lang="en-IN" dirty="0" err="1"/>
              <a:t>UserDetailsService</a:t>
            </a:r>
            <a:r>
              <a:rPr lang="en-IN" dirty="0"/>
              <a:t>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[Password Validation]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</a:t>
            </a:r>
            <a:r>
              <a:rPr lang="en-IN" dirty="0" err="1"/>
              <a:t>SecurityContextHolder</a:t>
            </a:r>
            <a:r>
              <a:rPr lang="en-IN" dirty="0"/>
              <a:t>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[Controller / Integration Flow]</a:t>
            </a:r>
          </a:p>
        </p:txBody>
      </p:sp>
    </p:spTree>
    <p:extLst>
      <p:ext uri="{BB962C8B-B14F-4D97-AF65-F5344CB8AC3E}">
        <p14:creationId xmlns:p14="http://schemas.microsoft.com/office/powerpoint/2010/main" val="3104741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F6C04-7778-A181-3F95-3F5CE365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5823-EF7D-C761-3689-CCF5FD63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F5F2D-EAED-7A53-CA8A-037219A8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Connect This to Spring Integration</a:t>
            </a:r>
          </a:p>
          <a:p>
            <a:r>
              <a:rPr lang="en-IN" dirty="0"/>
              <a:t>Once authenticated: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Authentication auth =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</a:t>
            </a:r>
            <a:r>
              <a:rPr lang="en-IN" b="1" dirty="0" err="1">
                <a:solidFill>
                  <a:srgbClr val="C00000"/>
                </a:solidFill>
              </a:rPr>
              <a:t>SecurityContextHolder.getContext</a:t>
            </a:r>
            <a:r>
              <a:rPr lang="en-IN" b="1" dirty="0">
                <a:solidFill>
                  <a:srgbClr val="C00000"/>
                </a:solidFill>
              </a:rPr>
              <a:t>().</a:t>
            </a:r>
            <a:r>
              <a:rPr lang="en-IN" b="1" dirty="0" err="1">
                <a:solidFill>
                  <a:srgbClr val="C00000"/>
                </a:solidFill>
              </a:rPr>
              <a:t>getAuthentication</a:t>
            </a:r>
            <a:r>
              <a:rPr lang="en-IN" b="1" dirty="0">
                <a:solidFill>
                  <a:srgbClr val="C00000"/>
                </a:solidFill>
              </a:rPr>
              <a:t>();</a:t>
            </a:r>
          </a:p>
          <a:p>
            <a:pPr marL="0" indent="0">
              <a:buNone/>
            </a:pPr>
            <a:r>
              <a:rPr lang="en-IN" b="1" dirty="0"/>
              <a:t>✔️ Send into Integration Flow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Message&lt;String&gt; message = </a:t>
            </a:r>
            <a:r>
              <a:rPr lang="en-IN" b="1" dirty="0" err="1">
                <a:solidFill>
                  <a:srgbClr val="C00000"/>
                </a:solidFill>
              </a:rPr>
              <a:t>MessageBuilder.withPayload</a:t>
            </a:r>
            <a:r>
              <a:rPr lang="en-IN" b="1" dirty="0">
                <a:solidFill>
                  <a:srgbClr val="C00000"/>
                </a:solidFill>
              </a:rPr>
              <a:t>("Hello")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.</a:t>
            </a:r>
            <a:r>
              <a:rPr lang="en-IN" b="1" dirty="0" err="1">
                <a:solidFill>
                  <a:srgbClr val="C00000"/>
                </a:solidFill>
              </a:rPr>
              <a:t>setHeader</a:t>
            </a:r>
            <a:r>
              <a:rPr lang="en-IN" b="1" dirty="0">
                <a:solidFill>
                  <a:srgbClr val="C00000"/>
                </a:solidFill>
              </a:rPr>
              <a:t>("auth", auth)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.build();</a:t>
            </a:r>
            <a:br>
              <a:rPr lang="en-IN" b="1" dirty="0">
                <a:solidFill>
                  <a:srgbClr val="C00000"/>
                </a:solidFill>
              </a:rPr>
            </a:b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 err="1">
                <a:solidFill>
                  <a:srgbClr val="C00000"/>
                </a:solidFill>
              </a:rPr>
              <a:t>inputChannel.send</a:t>
            </a:r>
            <a:r>
              <a:rPr lang="en-IN" b="1" dirty="0">
                <a:solidFill>
                  <a:srgbClr val="C00000"/>
                </a:solidFill>
              </a:rPr>
              <a:t>(message);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6432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8BCD-787F-4668-D043-1AC9961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C419-BE26-DDE3-9644-01C12CFE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8F8E5-DE9A-7A39-9A10-4499A0553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IN" b="1" dirty="0"/>
              <a:t>Read inside Flow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.handle(message -&gt; {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Authentication auth =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    (Authentication) </a:t>
            </a:r>
            <a:r>
              <a:rPr lang="en-IN" b="1" dirty="0" err="1">
                <a:solidFill>
                  <a:srgbClr val="C00000"/>
                </a:solidFill>
              </a:rPr>
              <a:t>message.getHeaders</a:t>
            </a:r>
            <a:r>
              <a:rPr lang="en-IN" b="1" dirty="0">
                <a:solidFill>
                  <a:srgbClr val="C00000"/>
                </a:solidFill>
              </a:rPr>
              <a:t>().get("auth");</a:t>
            </a:r>
            <a:br>
              <a:rPr lang="en-IN" b="1" dirty="0">
                <a:solidFill>
                  <a:srgbClr val="C00000"/>
                </a:solidFill>
              </a:rPr>
            </a:b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    </a:t>
            </a:r>
            <a:r>
              <a:rPr lang="en-IN" b="1" dirty="0" err="1">
                <a:solidFill>
                  <a:srgbClr val="C00000"/>
                </a:solidFill>
              </a:rPr>
              <a:t>System.out.println</a:t>
            </a:r>
            <a:r>
              <a:rPr lang="en-IN" b="1" dirty="0">
                <a:solidFill>
                  <a:srgbClr val="C00000"/>
                </a:solidFill>
              </a:rPr>
              <a:t>("User: " + </a:t>
            </a:r>
            <a:r>
              <a:rPr lang="en-IN" b="1" dirty="0" err="1">
                <a:solidFill>
                  <a:srgbClr val="C00000"/>
                </a:solidFill>
              </a:rPr>
              <a:t>auth.getName</a:t>
            </a:r>
            <a:r>
              <a:rPr lang="en-IN" b="1" dirty="0">
                <a:solidFill>
                  <a:srgbClr val="C00000"/>
                </a:solidFill>
              </a:rPr>
              <a:t>());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})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286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D3A7-25E8-35AF-8D2E-6C2B8E75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4A0D-6CCC-CE4D-43E5-F1D285FC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Misconception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FC75-F2F9-B6E4-7C0E-BB7718871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US" dirty="0"/>
              <a:t>“Authentication happens inside Spring Integration”</a:t>
            </a:r>
          </a:p>
          <a:p>
            <a:r>
              <a:rPr lang="en-US" dirty="0"/>
              <a:t>👉 WRONG</a:t>
            </a:r>
          </a:p>
          <a:p>
            <a:pPr marL="0" indent="0">
              <a:buNone/>
            </a:pPr>
            <a:r>
              <a:rPr lang="en-US" dirty="0"/>
              <a:t>✅ Truth:</a:t>
            </a:r>
          </a:p>
          <a:p>
            <a:r>
              <a:rPr lang="en-US" dirty="0"/>
              <a:t>Authentication happens </a:t>
            </a:r>
            <a:r>
              <a:rPr lang="en-US" b="1" dirty="0"/>
              <a:t>before</a:t>
            </a:r>
            <a:r>
              <a:rPr lang="en-US" dirty="0"/>
              <a:t> entering the flow (HTTP layer) </a:t>
            </a:r>
          </a:p>
          <a:p>
            <a:r>
              <a:rPr lang="en-US" dirty="0"/>
              <a:t>Integration flow just </a:t>
            </a:r>
            <a:r>
              <a:rPr lang="en-US" b="1" dirty="0"/>
              <a:t>uses</a:t>
            </a:r>
            <a:r>
              <a:rPr lang="en-US" dirty="0"/>
              <a:t> that identity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684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5F2E-9B66-A5B5-6CBB-A9F8BCEE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CBA1-4CBA-CA16-B715-1EABD1A3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FLOW (Step-by-Step) of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E444-569E-45C9-7AC3-B25851F60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👉 Think like this:</a:t>
            </a:r>
          </a:p>
          <a:p>
            <a:r>
              <a:rPr lang="en-IN" dirty="0"/>
              <a:t>Spring Security = </a:t>
            </a:r>
            <a:r>
              <a:rPr lang="en-IN" b="1" dirty="0"/>
              <a:t>Gatekeeper at the door</a:t>
            </a:r>
            <a:r>
              <a:rPr lang="en-IN" dirty="0"/>
              <a:t> </a:t>
            </a:r>
          </a:p>
          <a:p>
            <a:r>
              <a:rPr lang="en-IN" dirty="0"/>
              <a:t>Spring Integration = </a:t>
            </a:r>
            <a:r>
              <a:rPr lang="en-IN" b="1" dirty="0"/>
              <a:t>Pipeline inside the building</a:t>
            </a:r>
            <a:r>
              <a:rPr lang="en-IN" dirty="0"/>
              <a:t> </a:t>
            </a:r>
          </a:p>
          <a:p>
            <a:r>
              <a:rPr lang="en-IN" dirty="0"/>
              <a:t>Flow: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User logs in → identity established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↓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Identity stored in </a:t>
            </a:r>
            <a:r>
              <a:rPr lang="en-IN" dirty="0" err="1">
                <a:solidFill>
                  <a:srgbClr val="C00000"/>
                </a:solidFill>
              </a:rPr>
              <a:t>SecurityContext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↓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Messages flow with that identity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↓</a:t>
            </a:r>
            <a:br>
              <a:rPr lang="en-IN" dirty="0">
                <a:solidFill>
                  <a:srgbClr val="C00000"/>
                </a:solidFill>
              </a:rPr>
            </a:br>
            <a:r>
              <a:rPr lang="en-IN" dirty="0">
                <a:solidFill>
                  <a:srgbClr val="C00000"/>
                </a:solidFill>
              </a:rPr>
              <a:t>Channels/handlers enforce rules</a:t>
            </a:r>
          </a:p>
          <a:p>
            <a:pPr marL="0" indent="0">
              <a:buNone/>
            </a:pPr>
            <a:r>
              <a:rPr lang="en-IN" b="1" dirty="0"/>
              <a:t>Username/password authentication = filter → manager → provider → </a:t>
            </a:r>
            <a:r>
              <a:rPr lang="en-IN" b="1" dirty="0" err="1"/>
              <a:t>userDetails</a:t>
            </a:r>
            <a:r>
              <a:rPr lang="en-IN" b="1" dirty="0"/>
              <a:t> → security context → used everywhere (including integration flows).</a:t>
            </a:r>
            <a:endParaRPr lang="en-I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719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CCBF-2BFB-9181-FAE1-244DEB50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Authorization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4FBF-A69E-6FDB-F638-091727A61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👉 </a:t>
            </a:r>
            <a:r>
              <a:rPr lang="en-US" i="1" dirty="0"/>
              <a:t>“Can this user perform this action?”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🔹 Based on:</a:t>
            </a:r>
          </a:p>
          <a:p>
            <a:r>
              <a:rPr lang="en-US" dirty="0"/>
              <a:t>Roles (ROLE_USER, ROLE_ADMIN) </a:t>
            </a:r>
          </a:p>
          <a:p>
            <a:r>
              <a:rPr lang="en-US" dirty="0"/>
              <a:t>Permissions (READ, WRITE) </a:t>
            </a:r>
          </a:p>
          <a:p>
            <a:r>
              <a:rPr lang="en-US" dirty="0"/>
              <a:t>Expressions (</a:t>
            </a:r>
            <a:r>
              <a:rPr lang="en-US" dirty="0" err="1"/>
              <a:t>hasRole</a:t>
            </a:r>
            <a:r>
              <a:rPr lang="en-US" dirty="0"/>
              <a:t>('ADMIN'))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753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E2E8-4251-E574-EBD7-56D046C5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41B1-3D29-BEC8-DF58-7E0D3021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Security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F0F2-C712-433A-CE5A-BEB87F9F3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Authorization</a:t>
            </a:r>
          </a:p>
          <a:p>
            <a:r>
              <a:rPr lang="en-IN" dirty="0"/>
              <a:t>Controlled using:</a:t>
            </a:r>
          </a:p>
          <a:p>
            <a:pPr lvl="1"/>
            <a:r>
              <a:rPr lang="en-IN" dirty="0"/>
              <a:t>Roles (ROLE_USER, ROLE_ADMIN) </a:t>
            </a:r>
          </a:p>
          <a:p>
            <a:r>
              <a:rPr lang="en-IN" dirty="0"/>
              <a:t>Expressions (</a:t>
            </a:r>
            <a:r>
              <a:rPr lang="en-IN" dirty="0" err="1"/>
              <a:t>hasRole</a:t>
            </a:r>
            <a:r>
              <a:rPr lang="en-IN" dirty="0"/>
              <a:t>(), </a:t>
            </a:r>
            <a:r>
              <a:rPr lang="en-IN" dirty="0" err="1"/>
              <a:t>hasAuthority</a:t>
            </a:r>
            <a:r>
              <a:rPr lang="en-IN" dirty="0"/>
              <a:t>()) </a:t>
            </a:r>
          </a:p>
          <a:p>
            <a:r>
              <a:rPr lang="en-IN" b="1" dirty="0" err="1"/>
              <a:t>SecurityContext</a:t>
            </a:r>
            <a:endParaRPr lang="en-IN" b="1" dirty="0"/>
          </a:p>
          <a:p>
            <a:pPr lvl="1"/>
            <a:r>
              <a:rPr lang="en-IN" dirty="0"/>
              <a:t>Holds authentication info:</a:t>
            </a:r>
          </a:p>
          <a:p>
            <a:pPr marL="0" indent="0">
              <a:buNone/>
            </a:pPr>
            <a:r>
              <a:rPr lang="en-IN" b="1" dirty="0" err="1"/>
              <a:t>SecurityContext</a:t>
            </a:r>
            <a:r>
              <a:rPr lang="en-IN" b="1" dirty="0"/>
              <a:t> context = </a:t>
            </a:r>
            <a:r>
              <a:rPr lang="en-IN" b="1" dirty="0" err="1"/>
              <a:t>SecurityContextHolder.getContext</a:t>
            </a:r>
            <a:r>
              <a:rPr lang="en-IN" b="1" dirty="0"/>
              <a:t>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610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3BD7-C1F9-99EB-A690-31F8B90F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Security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8AC4-F894-C2E6-FDAD-28456EB57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82864" cy="40760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GrantedAuthority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new </a:t>
            </a:r>
            <a:r>
              <a:rPr lang="en-US" b="1" dirty="0" err="1">
                <a:solidFill>
                  <a:srgbClr val="C00000"/>
                </a:solidFill>
              </a:rPr>
              <a:t>SimpleGrantedAuthority</a:t>
            </a:r>
            <a:r>
              <a:rPr lang="en-US" b="1" dirty="0">
                <a:solidFill>
                  <a:srgbClr val="C00000"/>
                </a:solidFill>
              </a:rPr>
              <a:t>("ROLE_ADMIN");</a:t>
            </a:r>
          </a:p>
          <a:p>
            <a:pPr marL="0" indent="0">
              <a:buNone/>
            </a:pPr>
            <a:r>
              <a:rPr lang="en-US" b="1" dirty="0" err="1"/>
              <a:t>AccessDecisionManager</a:t>
            </a:r>
            <a:endParaRPr lang="en-US" b="1" dirty="0"/>
          </a:p>
          <a:p>
            <a:r>
              <a:rPr lang="en-US" dirty="0"/>
              <a:t>Decides access: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C00000"/>
                </a:solidFill>
              </a:rPr>
              <a:t>accessDecisionManager.decide</a:t>
            </a:r>
            <a:r>
              <a:rPr lang="en-US" b="1" dirty="0">
                <a:solidFill>
                  <a:srgbClr val="C00000"/>
                </a:solidFill>
              </a:rPr>
              <a:t>(authentication, object, attributes);</a:t>
            </a:r>
          </a:p>
          <a:p>
            <a:pPr marL="0" indent="0">
              <a:buNone/>
            </a:pPr>
            <a:r>
              <a:rPr lang="en-US" b="1" dirty="0" err="1"/>
              <a:t>SecurityMetadataSource</a:t>
            </a:r>
            <a:endParaRPr lang="en-US" b="1" dirty="0"/>
          </a:p>
          <a:p>
            <a:r>
              <a:rPr lang="en-US" dirty="0"/>
              <a:t>Defines rules: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ROLE_ADMIN required for /admin</a:t>
            </a:r>
          </a:p>
          <a:p>
            <a:pPr marL="0" indent="0">
              <a:buNone/>
            </a:pPr>
            <a:r>
              <a:rPr lang="en-US" b="1" dirty="0"/>
              <a:t>Voters (Advanced)</a:t>
            </a:r>
          </a:p>
          <a:p>
            <a:r>
              <a:rPr lang="en-US" dirty="0" err="1"/>
              <a:t>RoleVoter</a:t>
            </a:r>
            <a:r>
              <a:rPr lang="en-US" dirty="0"/>
              <a:t> </a:t>
            </a:r>
          </a:p>
          <a:p>
            <a:r>
              <a:rPr lang="en-US" dirty="0" err="1"/>
              <a:t>AuthenticatedVoter</a:t>
            </a: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940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3A78-A090-2971-14FF-E1DD930E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Authorization in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2CFA-7356-0846-F088-3C95D3CC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53525" cy="3821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🔹 Channel-Level Authorization (RBAC)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C00000"/>
                </a:solidFill>
              </a:rPr>
              <a:t>map.put</a:t>
            </a:r>
            <a:r>
              <a:rPr lang="en-IN" b="1" dirty="0">
                <a:solidFill>
                  <a:srgbClr val="C00000"/>
                </a:solidFill>
              </a:rPr>
              <a:t>("</a:t>
            </a:r>
            <a:r>
              <a:rPr lang="en-IN" b="1" dirty="0" err="1">
                <a:solidFill>
                  <a:srgbClr val="C00000"/>
                </a:solidFill>
              </a:rPr>
              <a:t>inputChannel</a:t>
            </a:r>
            <a:r>
              <a:rPr lang="en-IN" b="1" dirty="0">
                <a:solidFill>
                  <a:srgbClr val="C00000"/>
                </a:solidFill>
              </a:rPr>
              <a:t>", </a:t>
            </a:r>
            <a:r>
              <a:rPr lang="en-IN" b="1" dirty="0" err="1">
                <a:solidFill>
                  <a:srgbClr val="C00000"/>
                </a:solidFill>
              </a:rPr>
              <a:t>List.of</a:t>
            </a:r>
            <a:r>
              <a:rPr lang="en-IN" b="1" dirty="0">
                <a:solidFill>
                  <a:srgbClr val="C00000"/>
                </a:solidFill>
              </a:rPr>
              <a:t>(new </a:t>
            </a:r>
            <a:r>
              <a:rPr lang="en-IN" b="1" dirty="0" err="1">
                <a:solidFill>
                  <a:srgbClr val="C00000"/>
                </a:solidFill>
              </a:rPr>
              <a:t>SecurityConfig</a:t>
            </a:r>
            <a:r>
              <a:rPr lang="en-IN" b="1" dirty="0">
                <a:solidFill>
                  <a:srgbClr val="C00000"/>
                </a:solidFill>
              </a:rPr>
              <a:t>("ROLE_USER")));</a:t>
            </a:r>
          </a:p>
          <a:p>
            <a:r>
              <a:rPr lang="en-IN" dirty="0"/>
              <a:t>👉 Meaning:</a:t>
            </a:r>
          </a:p>
          <a:p>
            <a:r>
              <a:rPr lang="en-IN" dirty="0"/>
              <a:t>Only ROLE_USER can access channel </a:t>
            </a:r>
          </a:p>
          <a:p>
            <a:pPr marL="0" indent="0">
              <a:buNone/>
            </a:pPr>
            <a:r>
              <a:rPr lang="en-IN" b="1" dirty="0"/>
              <a:t>🔹 Apply Interceptor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C00000"/>
                </a:solidFill>
              </a:rPr>
              <a:t>channel.addInterceptor</a:t>
            </a:r>
            <a:r>
              <a:rPr lang="en-IN" b="1" dirty="0">
                <a:solidFill>
                  <a:srgbClr val="C00000"/>
                </a:solidFill>
              </a:rPr>
              <a:t>(new </a:t>
            </a:r>
            <a:r>
              <a:rPr lang="en-IN" b="1" dirty="0" err="1">
                <a:solidFill>
                  <a:srgbClr val="C00000"/>
                </a:solidFill>
              </a:rPr>
              <a:t>ChannelSecurityInterceptor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metadataSource</a:t>
            </a:r>
            <a:r>
              <a:rPr lang="en-IN" b="1" dirty="0">
                <a:solidFill>
                  <a:srgbClr val="C00000"/>
                </a:solidFill>
              </a:rPr>
              <a:t>));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2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0D5E-F0AF-D3AA-8789-7FAF24CE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Method-Level Authorization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03EA3-1D61-A56D-45ED-8FB07CE1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63305" cy="3885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Enable:</a:t>
            </a:r>
          </a:p>
          <a:p>
            <a:r>
              <a:rPr lang="en-US" dirty="0"/>
              <a:t>@EnableMethodSecurity</a:t>
            </a:r>
          </a:p>
          <a:p>
            <a:pPr marL="0" indent="0">
              <a:buNone/>
            </a:pPr>
            <a:r>
              <a:rPr lang="en-US" b="1" dirty="0"/>
              <a:t>✔️ Examples</a:t>
            </a:r>
          </a:p>
          <a:p>
            <a:r>
              <a:rPr lang="en-US" dirty="0"/>
              <a:t>@PreAuthorize("hasRole('ADMIN')")</a:t>
            </a:r>
            <a:br>
              <a:rPr lang="en-US" dirty="0"/>
            </a:br>
            <a:r>
              <a:rPr lang="en-US" dirty="0"/>
              <a:t>public void process() {}</a:t>
            </a:r>
          </a:p>
          <a:p>
            <a:r>
              <a:rPr lang="en-US" dirty="0"/>
              <a:t>@PreAuthorize("hasAuthority('WRITE')")</a:t>
            </a:r>
            <a:br>
              <a:rPr lang="en-US" dirty="0"/>
            </a:br>
            <a:r>
              <a:rPr lang="en-US" dirty="0"/>
              <a:t>public void update() {}</a:t>
            </a:r>
          </a:p>
          <a:p>
            <a:r>
              <a:rPr lang="en-US" dirty="0"/>
              <a:t>@PreAuthorize("#message.payload.amount &lt; 1000")</a:t>
            </a:r>
            <a:br>
              <a:rPr lang="en-US" dirty="0"/>
            </a:br>
            <a:r>
              <a:rPr lang="en-US" dirty="0"/>
              <a:t>public void process(Message&lt;Order&gt; message) {}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216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FE01-0709-5BF1-666A-CD27017FA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Authorization Expression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8E4533-A688-8E7C-1E52-63D41B71E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806596"/>
              </p:ext>
            </p:extLst>
          </p:nvPr>
        </p:nvGraphicFramePr>
        <p:xfrm>
          <a:off x="1155700" y="2603500"/>
          <a:ext cx="88249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866908083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1613535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745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hasRole('ADMIN')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 check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78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hasAuthority('WRITE')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83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isAuthenticated()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Logged 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24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hasAnyRole('USER','ADMIN')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290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371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97BF-8250-9827-360C-B733606C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Flow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4D799-8BB4-5451-E108-549B594A1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@Bean</a:t>
            </a:r>
          </a:p>
          <a:p>
            <a:pPr marL="0" indent="0">
              <a:buNone/>
            </a:pPr>
            <a:r>
              <a:rPr lang="en-IN" b="1" dirty="0"/>
              <a:t>public </a:t>
            </a:r>
            <a:r>
              <a:rPr lang="en-IN" b="1" dirty="0" err="1"/>
              <a:t>IntegrationFlow</a:t>
            </a:r>
            <a:r>
              <a:rPr lang="en-IN" b="1" dirty="0"/>
              <a:t> </a:t>
            </a:r>
            <a:r>
              <a:rPr lang="en-IN" b="1" dirty="0" err="1"/>
              <a:t>secureFlow</a:t>
            </a:r>
            <a:r>
              <a:rPr lang="en-IN" b="1" dirty="0"/>
              <a:t>() {</a:t>
            </a:r>
          </a:p>
          <a:p>
            <a:pPr marL="0" indent="0">
              <a:buNone/>
            </a:pPr>
            <a:r>
              <a:rPr lang="en-IN" b="1" dirty="0"/>
              <a:t>    return </a:t>
            </a:r>
            <a:r>
              <a:rPr lang="en-IN" b="1" dirty="0" err="1"/>
              <a:t>IntegrationFlows.from</a:t>
            </a:r>
            <a:r>
              <a:rPr lang="en-IN" b="1" dirty="0"/>
              <a:t>("</a:t>
            </a:r>
            <a:r>
              <a:rPr lang="en-IN" b="1" dirty="0" err="1"/>
              <a:t>inputChannel</a:t>
            </a:r>
            <a:r>
              <a:rPr lang="en-IN" b="1" dirty="0"/>
              <a:t>")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    // Authorization</a:t>
            </a:r>
          </a:p>
          <a:p>
            <a:pPr marL="0" indent="0">
              <a:buNone/>
            </a:pPr>
            <a:r>
              <a:rPr lang="en-IN" b="1" dirty="0"/>
              <a:t>        .channel(c -&gt; </a:t>
            </a:r>
            <a:r>
              <a:rPr lang="en-IN" b="1" dirty="0" err="1"/>
              <a:t>c.interceptor</a:t>
            </a:r>
            <a:r>
              <a:rPr lang="en-IN" b="1" dirty="0"/>
              <a:t>(</a:t>
            </a:r>
            <a:r>
              <a:rPr lang="en-IN" b="1" dirty="0" err="1"/>
              <a:t>channelSecurityInterceptor</a:t>
            </a:r>
            <a:r>
              <a:rPr lang="en-IN" b="1" dirty="0"/>
              <a:t>()))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    // Business logic with method security</a:t>
            </a:r>
          </a:p>
          <a:p>
            <a:pPr marL="0" indent="0">
              <a:buNone/>
            </a:pPr>
            <a:r>
              <a:rPr lang="en-IN" b="1" dirty="0"/>
              <a:t>        .handle("service", "process")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    .get();</a:t>
            </a:r>
          </a:p>
          <a:p>
            <a:pPr marL="0" indent="0">
              <a:buNone/>
            </a:pPr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8098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021A-D311-06D5-AFDF-EEFBDE94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ADA5-8605-92BE-75C1-2F28731D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Spring Security fits in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29D43-CC7C-C40F-85F9-16C83955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Spring Integration</a:t>
            </a:r>
            <a:r>
              <a:rPr lang="en-US" dirty="0"/>
              <a:t>, security applies to: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C462CA-2FF4-BFD1-C4C1-F7DCFF979A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9913397"/>
              </p:ext>
            </p:extLst>
          </p:nvPr>
        </p:nvGraphicFramePr>
        <p:xfrm>
          <a:off x="1434421" y="3503230"/>
          <a:ext cx="88249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2105882931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386070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90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Entry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REST, JMS, RabbitMQ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439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Channels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 can send/receive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484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 can execute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649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Payload integrity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702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427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3809-18E5-D1C8-B9C7-A88031E9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16C1-539A-A827-0B25-4D07E357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Securing Entry Points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7D323-0DD0-AAC7-E431-61E3B9A7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✔️ HTTP Inbound (REST)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@Bean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 err="1">
                <a:solidFill>
                  <a:srgbClr val="C00000"/>
                </a:solidFill>
              </a:rPr>
              <a:t>SecurityFilterChain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filterChain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HttpSecurity</a:t>
            </a:r>
            <a:r>
              <a:rPr lang="en-US" b="1" dirty="0">
                <a:solidFill>
                  <a:srgbClr val="C00000"/>
                </a:solidFill>
              </a:rPr>
              <a:t> http) throws Exception {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http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.</a:t>
            </a:r>
            <a:r>
              <a:rPr lang="en-US" b="1" dirty="0" err="1">
                <a:solidFill>
                  <a:srgbClr val="C00000"/>
                </a:solidFill>
              </a:rPr>
              <a:t>authorizeHttpRequests</a:t>
            </a:r>
            <a:r>
              <a:rPr lang="en-US" b="1" dirty="0">
                <a:solidFill>
                  <a:srgbClr val="C00000"/>
                </a:solidFill>
              </a:rPr>
              <a:t>(auth -&gt; auth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 .</a:t>
            </a:r>
            <a:r>
              <a:rPr lang="en-US" b="1" dirty="0" err="1">
                <a:solidFill>
                  <a:srgbClr val="C00000"/>
                </a:solidFill>
              </a:rPr>
              <a:t>requestMatchers</a:t>
            </a:r>
            <a:r>
              <a:rPr lang="en-US" b="1" dirty="0">
                <a:solidFill>
                  <a:srgbClr val="C00000"/>
                </a:solidFill>
              </a:rPr>
              <a:t>("/</a:t>
            </a:r>
            <a:r>
              <a:rPr lang="en-US" b="1" dirty="0" err="1">
                <a:solidFill>
                  <a:srgbClr val="C00000"/>
                </a:solidFill>
              </a:rPr>
              <a:t>api</a:t>
            </a:r>
            <a:r>
              <a:rPr lang="en-US" b="1" dirty="0">
                <a:solidFill>
                  <a:srgbClr val="C00000"/>
                </a:solidFill>
              </a:rPr>
              <a:t>/**").</a:t>
            </a:r>
            <a:r>
              <a:rPr lang="en-US" b="1" dirty="0" err="1">
                <a:solidFill>
                  <a:srgbClr val="C00000"/>
                </a:solidFill>
              </a:rPr>
              <a:t>hasRole</a:t>
            </a:r>
            <a:r>
              <a:rPr lang="en-US" b="1" dirty="0">
                <a:solidFill>
                  <a:srgbClr val="C00000"/>
                </a:solidFill>
              </a:rPr>
              <a:t>("USER")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 .</a:t>
            </a:r>
            <a:r>
              <a:rPr lang="en-US" b="1" dirty="0" err="1">
                <a:solidFill>
                  <a:srgbClr val="C00000"/>
                </a:solidFill>
              </a:rPr>
              <a:t>anyRequest</a:t>
            </a:r>
            <a:r>
              <a:rPr lang="en-US" b="1" dirty="0">
                <a:solidFill>
                  <a:srgbClr val="C00000"/>
                </a:solidFill>
              </a:rPr>
              <a:t>().authenticated()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.</a:t>
            </a:r>
            <a:r>
              <a:rPr lang="en-US" b="1" dirty="0" err="1">
                <a:solidFill>
                  <a:srgbClr val="C00000"/>
                </a:solidFill>
              </a:rPr>
              <a:t>httpBasic</a:t>
            </a:r>
            <a:r>
              <a:rPr lang="en-US" b="1" dirty="0">
                <a:solidFill>
                  <a:srgbClr val="C00000"/>
                </a:solidFill>
              </a:rPr>
              <a:t>();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return </a:t>
            </a:r>
            <a:r>
              <a:rPr lang="en-US" b="1" dirty="0" err="1">
                <a:solidFill>
                  <a:srgbClr val="C00000"/>
                </a:solidFill>
              </a:rPr>
              <a:t>http.build</a:t>
            </a:r>
            <a:r>
              <a:rPr lang="en-US" b="1" dirty="0">
                <a:solidFill>
                  <a:srgbClr val="C00000"/>
                </a:solidFill>
              </a:rPr>
              <a:t>();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4608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0F7D8-839C-EFD1-05AD-A1E9219D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6F0A-CD19-9571-F6D0-21C31421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Messaging Inbound (RabbitMQ/JMS)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D6CB1-EBCA-F080-9642-D1C071834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For </a:t>
            </a:r>
            <a:r>
              <a:rPr lang="en-IN" b="1" dirty="0"/>
              <a:t>RabbitMQ</a:t>
            </a:r>
            <a:r>
              <a:rPr lang="en-IN" dirty="0"/>
              <a:t>:</a:t>
            </a:r>
          </a:p>
          <a:p>
            <a:r>
              <a:rPr lang="en-IN" dirty="0"/>
              <a:t>Use broker-level auth (username/password) </a:t>
            </a:r>
          </a:p>
          <a:p>
            <a:r>
              <a:rPr lang="en-IN" dirty="0"/>
              <a:t>Add </a:t>
            </a:r>
            <a:r>
              <a:rPr lang="en-IN" b="1" dirty="0"/>
              <a:t>custom headers (JWT/token)</a:t>
            </a:r>
            <a:r>
              <a:rPr lang="en-IN" dirty="0"/>
              <a:t> for message-level auth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961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A1C6-830F-5601-C2BE-3592B768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B303-205F-D478-5CEF-47AAA7B0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Channel Security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8B04-3D2E-7B89-5783-30DD161D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Why Channel Security ?</a:t>
            </a:r>
          </a:p>
          <a:p>
            <a:r>
              <a:rPr lang="en-US" dirty="0"/>
              <a:t>Channels are like pipelines → must control:</a:t>
            </a:r>
          </a:p>
          <a:p>
            <a:pPr lvl="1"/>
            <a:r>
              <a:rPr lang="en-US" dirty="0"/>
              <a:t>Who can </a:t>
            </a:r>
            <a:r>
              <a:rPr lang="en-US" b="1" dirty="0"/>
              <a:t>send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Who can </a:t>
            </a:r>
            <a:r>
              <a:rPr lang="en-US" b="1" dirty="0"/>
              <a:t>receive</a:t>
            </a:r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189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4C71-0092-4A51-31BE-9E3C3EF1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6D2A-8B86-5731-392D-65508878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ChannelSecurityInterceptor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CB9A2-8DAC-97AB-6271-1D6B2AD68A0D}"/>
              </a:ext>
            </a:extLst>
          </p:cNvPr>
          <p:cNvSpPr txBox="1"/>
          <p:nvPr/>
        </p:nvSpPr>
        <p:spPr>
          <a:xfrm>
            <a:off x="1204124" y="3307231"/>
            <a:ext cx="95241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ChannelSecurityInterceptor</a:t>
            </a:r>
            <a:r>
              <a:rPr lang="en-IN" dirty="0"/>
              <a:t> </a:t>
            </a:r>
            <a:r>
              <a:rPr lang="en-IN" dirty="0" err="1"/>
              <a:t>securityInterceptor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ChannelSecurityInterceptor</a:t>
            </a:r>
            <a:r>
              <a:rPr lang="en-IN" dirty="0"/>
              <a:t> interceptor = new </a:t>
            </a:r>
            <a:r>
              <a:rPr lang="en-IN" dirty="0" err="1"/>
              <a:t>ChannelSecurityInterceptor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interceptor.setAccessDecisionManager</a:t>
            </a:r>
            <a:r>
              <a:rPr lang="en-IN" dirty="0"/>
              <a:t>(</a:t>
            </a:r>
            <a:r>
              <a:rPr lang="en-IN" dirty="0" err="1"/>
              <a:t>accessDecisionManager</a:t>
            </a:r>
            <a:r>
              <a:rPr lang="en-IN" dirty="0"/>
              <a:t>());</a:t>
            </a:r>
          </a:p>
          <a:p>
            <a:r>
              <a:rPr lang="en-IN" dirty="0"/>
              <a:t>    </a:t>
            </a:r>
            <a:r>
              <a:rPr lang="en-IN" dirty="0" err="1"/>
              <a:t>interceptor.setSecurityMetadataSource</a:t>
            </a:r>
            <a:r>
              <a:rPr lang="en-IN" dirty="0"/>
              <a:t>(</a:t>
            </a:r>
            <a:r>
              <a:rPr lang="en-IN" dirty="0" err="1"/>
              <a:t>metadataSource</a:t>
            </a:r>
            <a:r>
              <a:rPr lang="en-IN" dirty="0"/>
              <a:t>());</a:t>
            </a:r>
          </a:p>
          <a:p>
            <a:r>
              <a:rPr lang="en-IN" dirty="0"/>
              <a:t>    return interceptor;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2770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F478-860A-85BF-58FE-2404F566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MessageSecurityMetadataSource</a:t>
            </a:r>
            <a:r>
              <a:rPr lang="en-IN" dirty="0"/>
              <a:t> (RBAC rules)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306D7-F715-0473-53C1-98A3B3083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MessageSecurityMetadataSource</a:t>
            </a:r>
            <a:r>
              <a:rPr lang="en-IN" dirty="0"/>
              <a:t> </a:t>
            </a:r>
            <a:r>
              <a:rPr lang="en-IN" dirty="0" err="1"/>
              <a:t>metadataSource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Map&lt;String, Collection&lt;</a:t>
            </a:r>
            <a:r>
              <a:rPr lang="en-IN" dirty="0" err="1"/>
              <a:t>ConfigAttribute</a:t>
            </a:r>
            <a:r>
              <a:rPr lang="en-IN" dirty="0"/>
              <a:t>&gt;&gt; map = new HashMap&lt;&gt;();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map.put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", </a:t>
            </a:r>
            <a:r>
              <a:rPr lang="en-IN" dirty="0" err="1"/>
              <a:t>List.of</a:t>
            </a:r>
            <a:r>
              <a:rPr lang="en-IN" dirty="0"/>
              <a:t>(new </a:t>
            </a:r>
            <a:r>
              <a:rPr lang="en-IN" dirty="0" err="1"/>
              <a:t>SecurityConfig</a:t>
            </a:r>
            <a:r>
              <a:rPr lang="en-IN" dirty="0"/>
              <a:t>("ROLE_USER")));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map.put</a:t>
            </a:r>
            <a:r>
              <a:rPr lang="en-IN" dirty="0"/>
              <a:t>("</a:t>
            </a:r>
            <a:r>
              <a:rPr lang="en-IN" dirty="0" err="1"/>
              <a:t>adminChannel</a:t>
            </a:r>
            <a:r>
              <a:rPr lang="en-IN" dirty="0"/>
              <a:t>", </a:t>
            </a:r>
            <a:r>
              <a:rPr lang="en-IN" dirty="0" err="1"/>
              <a:t>List.of</a:t>
            </a:r>
            <a:r>
              <a:rPr lang="en-IN" dirty="0"/>
              <a:t>(new </a:t>
            </a:r>
            <a:r>
              <a:rPr lang="en-IN" dirty="0" err="1"/>
              <a:t>SecurityConfig</a:t>
            </a:r>
            <a:r>
              <a:rPr lang="en-IN" dirty="0"/>
              <a:t>("ROLE_ADMIN")));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new </a:t>
            </a:r>
            <a:r>
              <a:rPr lang="en-IN" dirty="0" err="1"/>
              <a:t>DefaultMessageSecurityMetadataSource</a:t>
            </a:r>
            <a:r>
              <a:rPr lang="en-IN" dirty="0"/>
              <a:t>(map);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4459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C68D-DFA8-1223-B137-F26C6DC3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49C5-3DF8-2FC2-E853-4A1A9E86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Apply to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8300-4E7E-5C43-D6DC-67139C241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MessageChannel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DirectChannel</a:t>
            </a:r>
            <a:r>
              <a:rPr lang="en-IN" dirty="0"/>
              <a:t> channel = new </a:t>
            </a:r>
            <a:r>
              <a:rPr lang="en-IN" dirty="0" err="1"/>
              <a:t>DirectChannel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channel.addInterceptor</a:t>
            </a:r>
            <a:r>
              <a:rPr lang="en-IN" dirty="0"/>
              <a:t>(</a:t>
            </a:r>
            <a:r>
              <a:rPr lang="en-IN" dirty="0" err="1"/>
              <a:t>securityInterceptor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return channel;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73210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68BF-6A7B-5DDB-DB4A-5E7A18B8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0888-039B-3504-893E-C4066A95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Role-Based Access Control (RBAC) for Channels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72BDF1-0AFE-B90C-BDD3-0269B5070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520310"/>
              </p:ext>
            </p:extLst>
          </p:nvPr>
        </p:nvGraphicFramePr>
        <p:xfrm>
          <a:off x="675159" y="2254217"/>
          <a:ext cx="10009140" cy="1269565"/>
        </p:xfrm>
        <a:graphic>
          <a:graphicData uri="http://schemas.openxmlformats.org/drawingml/2006/table">
            <a:tbl>
              <a:tblPr/>
              <a:tblGrid>
                <a:gridCol w="5004570">
                  <a:extLst>
                    <a:ext uri="{9D8B030D-6E8A-4147-A177-3AD203B41FA5}">
                      <a16:colId xmlns:a16="http://schemas.microsoft.com/office/drawing/2014/main" val="677438065"/>
                    </a:ext>
                  </a:extLst>
                </a:gridCol>
                <a:gridCol w="5004570">
                  <a:extLst>
                    <a:ext uri="{9D8B030D-6E8A-4147-A177-3AD203B41FA5}">
                      <a16:colId xmlns:a16="http://schemas.microsoft.com/office/drawing/2014/main" val="1513472466"/>
                    </a:ext>
                  </a:extLst>
                </a:gridCol>
              </a:tblGrid>
              <a:tr h="538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Allowed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565894"/>
                  </a:ext>
                </a:extLst>
              </a:tr>
              <a:tr h="318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ordersChannel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ROLE_USER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735490"/>
                  </a:ext>
                </a:extLst>
              </a:tr>
              <a:tr h="318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paymentsChannel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ROLE_ADMIN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0641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D68BD0-8397-327E-F843-7E064091931A}"/>
              </a:ext>
            </a:extLst>
          </p:cNvPr>
          <p:cNvSpPr txBox="1"/>
          <p:nvPr/>
        </p:nvSpPr>
        <p:spPr>
          <a:xfrm>
            <a:off x="675159" y="3683611"/>
            <a:ext cx="100091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map.put</a:t>
            </a:r>
            <a:r>
              <a:rPr lang="en-IN" dirty="0">
                <a:latin typeface="Courier New" panose="02070309020205020404" pitchFamily="49" charset="0"/>
              </a:rPr>
              <a:t>("</a:t>
            </a:r>
            <a:r>
              <a:rPr lang="en-IN" dirty="0" err="1">
                <a:latin typeface="Courier New" panose="02070309020205020404" pitchFamily="49" charset="0"/>
              </a:rPr>
              <a:t>ordersChannel</a:t>
            </a:r>
            <a:r>
              <a:rPr lang="en-IN" dirty="0">
                <a:latin typeface="Courier New" panose="02070309020205020404" pitchFamily="49" charset="0"/>
              </a:rPr>
              <a:t>", </a:t>
            </a:r>
            <a:r>
              <a:rPr lang="en-IN" dirty="0" err="1">
                <a:latin typeface="Courier New" panose="02070309020205020404" pitchFamily="49" charset="0"/>
              </a:rPr>
              <a:t>List.of</a:t>
            </a:r>
            <a:r>
              <a:rPr lang="en-IN" dirty="0">
                <a:latin typeface="Courier New" panose="02070309020205020404" pitchFamily="49" charset="0"/>
              </a:rPr>
              <a:t>(new </a:t>
            </a:r>
            <a:r>
              <a:rPr lang="en-IN" dirty="0" err="1">
                <a:latin typeface="Courier New" panose="02070309020205020404" pitchFamily="49" charset="0"/>
              </a:rPr>
              <a:t>SecurityConfig</a:t>
            </a:r>
            <a:r>
              <a:rPr lang="en-IN" dirty="0">
                <a:latin typeface="Courier New" panose="02070309020205020404" pitchFamily="49" charset="0"/>
              </a:rPr>
              <a:t>("ROLE_USER")));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map.put</a:t>
            </a:r>
            <a:r>
              <a:rPr lang="en-IN" dirty="0">
                <a:latin typeface="Courier New" panose="02070309020205020404" pitchFamily="49" charset="0"/>
              </a:rPr>
              <a:t>("</a:t>
            </a:r>
            <a:r>
              <a:rPr lang="en-IN" dirty="0" err="1">
                <a:latin typeface="Courier New" panose="02070309020205020404" pitchFamily="49" charset="0"/>
              </a:rPr>
              <a:t>paymentsChannel</a:t>
            </a:r>
            <a:r>
              <a:rPr lang="en-IN" dirty="0">
                <a:latin typeface="Courier New" panose="02070309020205020404" pitchFamily="49" charset="0"/>
              </a:rPr>
              <a:t>", </a:t>
            </a:r>
            <a:r>
              <a:rPr lang="en-IN" dirty="0" err="1">
                <a:latin typeface="Courier New" panose="02070309020205020404" pitchFamily="49" charset="0"/>
              </a:rPr>
              <a:t>List.of</a:t>
            </a:r>
            <a:r>
              <a:rPr lang="en-IN" dirty="0">
                <a:latin typeface="Courier New" panose="02070309020205020404" pitchFamily="49" charset="0"/>
              </a:rPr>
              <a:t>(new </a:t>
            </a:r>
            <a:r>
              <a:rPr lang="en-IN" dirty="0" err="1">
                <a:latin typeface="Courier New" panose="02070309020205020404" pitchFamily="49" charset="0"/>
              </a:rPr>
              <a:t>SecurityConfig</a:t>
            </a:r>
            <a:r>
              <a:rPr lang="en-IN" dirty="0">
                <a:latin typeface="Courier New" panose="02070309020205020404" pitchFamily="49" charset="0"/>
              </a:rPr>
              <a:t>("ROLE_ADMIN")));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✔️ Runtime </a:t>
            </a:r>
            <a:r>
              <a:rPr lang="en-IN" b="1" dirty="0" err="1"/>
              <a:t>Behavior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with </a:t>
            </a:r>
            <a:r>
              <a:rPr lang="en-IN" dirty="0">
                <a:latin typeface="Courier New" panose="02070309020205020404" pitchFamily="49" charset="0"/>
              </a:rPr>
              <a:t>ROLE_USER</a:t>
            </a:r>
            <a:r>
              <a:rPr lang="en-IN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✅ Can send to </a:t>
            </a:r>
            <a:r>
              <a:rPr lang="en-IN" dirty="0" err="1">
                <a:latin typeface="Courier New" panose="02070309020205020404" pitchFamily="49" charset="0"/>
              </a:rPr>
              <a:t>ordersChannel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❌ Cannot access </a:t>
            </a:r>
            <a:r>
              <a:rPr lang="en-IN" dirty="0" err="1">
                <a:latin typeface="Courier New" panose="02070309020205020404" pitchFamily="49" charset="0"/>
              </a:rPr>
              <a:t>paymentsChannel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054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1F24-9B0A-9AA3-51B6-3CE1E9D2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E4B0-64B0-53DE-E242-AB8C9C3A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Expression-based RBAC (Advanced)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7563-01F0-8C9C-BA8D-6C5966011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@PreAuthorize("hasRole('ADMIN') and #message.payload.amount &lt; 10000")</a:t>
            </a:r>
            <a:br>
              <a:rPr lang="en-US" b="1" dirty="0"/>
            </a:br>
            <a:r>
              <a:rPr lang="en-US" b="1" dirty="0"/>
              <a:t>public void process(Message&lt;Order&gt; message) {</a:t>
            </a:r>
            <a:br>
              <a:rPr lang="en-US" b="1" dirty="0"/>
            </a:br>
            <a:r>
              <a:rPr lang="en-US" b="1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3878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43AD5-9032-D621-13DF-6FD54B6A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5D7B-A5AB-4A12-111E-7F568F14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End-to-End Encryption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56BA5-71BF-A8DC-DD53-A8F09E3E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Why?</a:t>
            </a:r>
          </a:p>
          <a:p>
            <a:r>
              <a:rPr lang="en-US" dirty="0"/>
              <a:t>Messages may pass through:</a:t>
            </a:r>
          </a:p>
          <a:p>
            <a:r>
              <a:rPr lang="en-US" dirty="0"/>
              <a:t>Brokers </a:t>
            </a:r>
          </a:p>
          <a:p>
            <a:r>
              <a:rPr lang="en-US" dirty="0"/>
              <a:t>Queues </a:t>
            </a:r>
          </a:p>
          <a:p>
            <a:r>
              <a:rPr lang="en-US" dirty="0"/>
              <a:t>External systems </a:t>
            </a:r>
          </a:p>
          <a:p>
            <a:r>
              <a:rPr lang="en-US" dirty="0"/>
              <a:t>Need </a:t>
            </a:r>
            <a:r>
              <a:rPr lang="en-US" b="1" dirty="0"/>
              <a:t>confidentiality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750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49923-9EBD-9472-39C8-C6B159FE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C60F-F8CF-540E-574A-E6BDBA40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Symmetric Encryption (AES)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40F7D-D134-B2E4-6633-5DE107089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IN" b="1" dirty="0"/>
              <a:t>Encrypt before sending</a:t>
            </a:r>
          </a:p>
          <a:p>
            <a:r>
              <a:rPr lang="en-IN" dirty="0"/>
              <a:t>public String encrypt(String data, SecretKey key) throws Exception {</a:t>
            </a:r>
            <a:br>
              <a:rPr lang="en-IN" dirty="0"/>
            </a:br>
            <a:r>
              <a:rPr lang="en-IN" dirty="0"/>
              <a:t>    Cipher </a:t>
            </a:r>
            <a:r>
              <a:rPr lang="en-IN" dirty="0" err="1"/>
              <a:t>cipher</a:t>
            </a:r>
            <a:r>
              <a:rPr lang="en-IN" dirty="0"/>
              <a:t> = </a:t>
            </a:r>
            <a:r>
              <a:rPr lang="en-IN" dirty="0" err="1"/>
              <a:t>Cipher.getInstance</a:t>
            </a:r>
            <a:r>
              <a:rPr lang="en-IN" dirty="0"/>
              <a:t>("AES");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cipher.init</a:t>
            </a:r>
            <a:r>
              <a:rPr lang="en-IN" dirty="0"/>
              <a:t>(</a:t>
            </a:r>
            <a:r>
              <a:rPr lang="en-IN" dirty="0" err="1"/>
              <a:t>Cipher.ENCRYPT_MODE</a:t>
            </a:r>
            <a:r>
              <a:rPr lang="en-IN" dirty="0"/>
              <a:t>, key);</a:t>
            </a:r>
            <a:br>
              <a:rPr lang="en-IN" dirty="0"/>
            </a:br>
            <a:r>
              <a:rPr lang="en-IN" dirty="0"/>
              <a:t>    return Base64.getEncoder().</a:t>
            </a:r>
            <a:r>
              <a:rPr lang="en-IN" dirty="0" err="1"/>
              <a:t>encodeToString</a:t>
            </a:r>
            <a:r>
              <a:rPr lang="en-IN" dirty="0"/>
              <a:t>(</a:t>
            </a:r>
            <a:r>
              <a:rPr lang="en-IN" dirty="0" err="1"/>
              <a:t>cipher.doFinal</a:t>
            </a:r>
            <a:r>
              <a:rPr lang="en-IN" dirty="0"/>
              <a:t>(</a:t>
            </a:r>
            <a:r>
              <a:rPr lang="en-IN" dirty="0" err="1"/>
              <a:t>data.getBytes</a:t>
            </a:r>
            <a:r>
              <a:rPr lang="en-IN" dirty="0"/>
              <a:t>()));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b="1" dirty="0"/>
              <a:t>Decrypt in consumer</a:t>
            </a:r>
          </a:p>
          <a:p>
            <a:r>
              <a:rPr lang="en-IN" dirty="0"/>
              <a:t>public String decrypt(String encrypted, SecretKey key) throws Exception {</a:t>
            </a:r>
            <a:br>
              <a:rPr lang="en-IN" dirty="0"/>
            </a:br>
            <a:r>
              <a:rPr lang="en-IN" dirty="0"/>
              <a:t>    Cipher </a:t>
            </a:r>
            <a:r>
              <a:rPr lang="en-IN" dirty="0" err="1"/>
              <a:t>cipher</a:t>
            </a:r>
            <a:r>
              <a:rPr lang="en-IN" dirty="0"/>
              <a:t> = </a:t>
            </a:r>
            <a:r>
              <a:rPr lang="en-IN" dirty="0" err="1"/>
              <a:t>Cipher.getInstance</a:t>
            </a:r>
            <a:r>
              <a:rPr lang="en-IN" dirty="0"/>
              <a:t>("AES");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cipher.init</a:t>
            </a:r>
            <a:r>
              <a:rPr lang="en-IN" dirty="0"/>
              <a:t>(</a:t>
            </a:r>
            <a:r>
              <a:rPr lang="en-IN" dirty="0" err="1"/>
              <a:t>Cipher.DECRYPT_MODE</a:t>
            </a:r>
            <a:r>
              <a:rPr lang="en-IN" dirty="0"/>
              <a:t>, key);</a:t>
            </a:r>
            <a:br>
              <a:rPr lang="en-IN" dirty="0"/>
            </a:br>
            <a:r>
              <a:rPr lang="en-IN" dirty="0"/>
              <a:t>    return new String(</a:t>
            </a:r>
            <a:r>
              <a:rPr lang="en-IN" dirty="0" err="1"/>
              <a:t>cipher.doFinal</a:t>
            </a:r>
            <a:r>
              <a:rPr lang="en-IN" dirty="0"/>
              <a:t>(Base64.getDecoder().decode(encrypted)));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6479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F93B-3E0A-E322-CD35-68DBAD25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EEDD-3BE7-E3B6-5B92-C1612598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Integration Flow with Encryption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FE72-CF78-ED7C-7AF3-94737D68C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@Bean</a:t>
            </a:r>
            <a:br>
              <a:rPr lang="en-IN" dirty="0"/>
            </a:br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secureFlow</a:t>
            </a:r>
            <a:r>
              <a:rPr lang="en-IN" dirty="0"/>
              <a:t>() {</a:t>
            </a:r>
            <a:br>
              <a:rPr lang="en-IN" dirty="0"/>
            </a:br>
            <a:r>
              <a:rPr lang="en-IN" dirty="0"/>
              <a:t>    return </a:t>
            </a:r>
            <a:r>
              <a:rPr lang="en-IN" dirty="0" err="1"/>
              <a:t>IntegrationFlows.from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/>
              <a:t>        .transform(payload -&gt; encrypt(</a:t>
            </a:r>
            <a:r>
              <a:rPr lang="en-IN" dirty="0" err="1"/>
              <a:t>payload.toString</a:t>
            </a:r>
            <a:r>
              <a:rPr lang="en-IN" dirty="0"/>
              <a:t>(), </a:t>
            </a:r>
            <a:r>
              <a:rPr lang="en-IN" dirty="0" err="1"/>
              <a:t>secretKey</a:t>
            </a:r>
            <a:r>
              <a:rPr lang="en-IN" dirty="0"/>
              <a:t>))</a:t>
            </a:r>
            <a:br>
              <a:rPr lang="en-IN" dirty="0"/>
            </a:br>
            <a:r>
              <a:rPr lang="en-IN" dirty="0"/>
              <a:t>        .channel("</a:t>
            </a:r>
            <a:r>
              <a:rPr lang="en-IN" dirty="0" err="1"/>
              <a:t>encryptedChannel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/>
              <a:t>        .get();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570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9B4F-4FC3-7362-2B50-6C95EAA7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D504-948B-19C6-0457-57534B27D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 Signing (Integrity + Authenticity)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98CA4-83B3-0AC8-F6DA-974F5EC45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Why?</a:t>
            </a:r>
          </a:p>
          <a:p>
            <a:r>
              <a:rPr lang="en-US" dirty="0"/>
              <a:t>Ensure:</a:t>
            </a:r>
          </a:p>
          <a:p>
            <a:pPr lvl="1"/>
            <a:r>
              <a:rPr lang="en-US" dirty="0"/>
              <a:t>Message not tampered </a:t>
            </a:r>
          </a:p>
          <a:p>
            <a:pPr lvl="1"/>
            <a:r>
              <a:rPr lang="en-US" dirty="0"/>
              <a:t>Sender is authentic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3913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9645-9F89-8ACA-4F92-D295C70D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B5BB-7747-9907-F47C-940948CE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HMAC Signing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EABA5-C75E-9579-0931-A6A5D4156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Sign message</a:t>
            </a:r>
          </a:p>
          <a:p>
            <a:r>
              <a:rPr lang="en-IN" dirty="0"/>
              <a:t>public String sign(String data, String secret) throws Exception {</a:t>
            </a:r>
            <a:br>
              <a:rPr lang="en-IN" dirty="0"/>
            </a:br>
            <a:r>
              <a:rPr lang="en-IN" dirty="0"/>
              <a:t>    Mac </a:t>
            </a:r>
            <a:r>
              <a:rPr lang="en-IN" dirty="0" err="1"/>
              <a:t>mac</a:t>
            </a:r>
            <a:r>
              <a:rPr lang="en-IN" dirty="0"/>
              <a:t> = </a:t>
            </a:r>
            <a:r>
              <a:rPr lang="en-IN" dirty="0" err="1"/>
              <a:t>Mac.getInstance</a:t>
            </a:r>
            <a:r>
              <a:rPr lang="en-IN" dirty="0"/>
              <a:t>("HmacSHA256");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mac.init</a:t>
            </a:r>
            <a:r>
              <a:rPr lang="en-IN" dirty="0"/>
              <a:t>(new </a:t>
            </a:r>
            <a:r>
              <a:rPr lang="en-IN" dirty="0" err="1"/>
              <a:t>SecretKeySpec</a:t>
            </a:r>
            <a:r>
              <a:rPr lang="en-IN" dirty="0"/>
              <a:t>(</a:t>
            </a:r>
            <a:r>
              <a:rPr lang="en-IN" dirty="0" err="1"/>
              <a:t>secret.getBytes</a:t>
            </a:r>
            <a:r>
              <a:rPr lang="en-IN" dirty="0"/>
              <a:t>(), "HmacSHA256"));</a:t>
            </a:r>
            <a:br>
              <a:rPr lang="en-IN" dirty="0"/>
            </a:br>
            <a:r>
              <a:rPr lang="en-IN" dirty="0"/>
              <a:t>    return Base64.getEncoder().</a:t>
            </a:r>
            <a:r>
              <a:rPr lang="en-IN" dirty="0" err="1"/>
              <a:t>encodeToString</a:t>
            </a:r>
            <a:r>
              <a:rPr lang="en-IN" dirty="0"/>
              <a:t>(</a:t>
            </a:r>
            <a:r>
              <a:rPr lang="en-IN" dirty="0" err="1"/>
              <a:t>mac.doFinal</a:t>
            </a:r>
            <a:r>
              <a:rPr lang="en-IN" dirty="0"/>
              <a:t>(</a:t>
            </a:r>
            <a:r>
              <a:rPr lang="en-IN" dirty="0" err="1"/>
              <a:t>data.getBytes</a:t>
            </a:r>
            <a:r>
              <a:rPr lang="en-IN" dirty="0"/>
              <a:t>()));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b="1" dirty="0"/>
              <a:t>Verify signature</a:t>
            </a:r>
          </a:p>
          <a:p>
            <a:r>
              <a:rPr lang="en-IN" dirty="0"/>
              <a:t>public </a:t>
            </a:r>
            <a:r>
              <a:rPr lang="en-IN" dirty="0" err="1"/>
              <a:t>boolean</a:t>
            </a:r>
            <a:r>
              <a:rPr lang="en-IN" dirty="0"/>
              <a:t> verify(String data, String signature, String secret) throws Exception {</a:t>
            </a:r>
            <a:br>
              <a:rPr lang="en-IN" dirty="0"/>
            </a:br>
            <a:r>
              <a:rPr lang="en-IN" dirty="0"/>
              <a:t>    String </a:t>
            </a:r>
            <a:r>
              <a:rPr lang="en-IN" dirty="0" err="1"/>
              <a:t>newSig</a:t>
            </a:r>
            <a:r>
              <a:rPr lang="en-IN" dirty="0"/>
              <a:t> = sign(data, secret);</a:t>
            </a:r>
            <a:br>
              <a:rPr lang="en-IN" dirty="0"/>
            </a:br>
            <a:r>
              <a:rPr lang="en-IN" dirty="0"/>
              <a:t>    return </a:t>
            </a:r>
            <a:r>
              <a:rPr lang="en-IN" dirty="0" err="1"/>
              <a:t>newSig.equals</a:t>
            </a:r>
            <a:r>
              <a:rPr lang="en-IN" dirty="0"/>
              <a:t>(signature);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1548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FC39-A169-FD59-081B-EBBA1FB4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5D96-083A-2E02-94D0-71DCF98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84801-95F5-A3AB-C698-594C254CB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Add signature to message</a:t>
            </a:r>
          </a:p>
          <a:p>
            <a:r>
              <a:rPr lang="en-IN" dirty="0"/>
              <a:t>Message&lt;?&gt; message = </a:t>
            </a:r>
            <a:r>
              <a:rPr lang="en-IN" dirty="0" err="1"/>
              <a:t>MessageBuilder.withPayload</a:t>
            </a:r>
            <a:r>
              <a:rPr lang="en-IN" dirty="0"/>
              <a:t>(payload)</a:t>
            </a:r>
            <a:br>
              <a:rPr lang="en-IN" dirty="0"/>
            </a:br>
            <a:r>
              <a:rPr lang="en-IN" dirty="0"/>
              <a:t>    .</a:t>
            </a:r>
            <a:r>
              <a:rPr lang="en-IN" dirty="0" err="1"/>
              <a:t>setHeader</a:t>
            </a:r>
            <a:r>
              <a:rPr lang="en-IN" dirty="0"/>
              <a:t>("signature", sign(payload, secret))</a:t>
            </a:r>
            <a:br>
              <a:rPr lang="en-IN" dirty="0"/>
            </a:br>
            <a:r>
              <a:rPr lang="en-IN" dirty="0"/>
              <a:t>    .build();</a:t>
            </a:r>
          </a:p>
          <a:p>
            <a:pPr marL="0" indent="0">
              <a:buNone/>
            </a:pPr>
            <a:r>
              <a:rPr lang="en-IN" b="1" dirty="0"/>
              <a:t>✔️ Validate in flow</a:t>
            </a:r>
          </a:p>
          <a:p>
            <a:r>
              <a:rPr lang="en-IN" dirty="0"/>
              <a:t>.handle(message -&gt; {</a:t>
            </a:r>
            <a:br>
              <a:rPr lang="en-IN" dirty="0"/>
            </a:br>
            <a:r>
              <a:rPr lang="en-IN" dirty="0"/>
              <a:t>    String payload = (String) </a:t>
            </a:r>
            <a:r>
              <a:rPr lang="en-IN" dirty="0" err="1"/>
              <a:t>message.getPayload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String signature = </a:t>
            </a:r>
            <a:r>
              <a:rPr lang="en-IN" dirty="0" err="1"/>
              <a:t>message.getHeaders</a:t>
            </a:r>
            <a:r>
              <a:rPr lang="en-IN" dirty="0"/>
              <a:t>().get("signature", </a:t>
            </a:r>
            <a:r>
              <a:rPr lang="en-IN" dirty="0" err="1"/>
              <a:t>String.class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if (!verify(payload, signature, secret)) {</a:t>
            </a:r>
            <a:br>
              <a:rPr lang="en-IN" dirty="0"/>
            </a:br>
            <a:r>
              <a:rPr lang="en-IN" dirty="0"/>
              <a:t>        throw new </a:t>
            </a:r>
            <a:r>
              <a:rPr lang="en-IN" dirty="0" err="1"/>
              <a:t>SecurityException</a:t>
            </a:r>
            <a:r>
              <a:rPr lang="en-IN" dirty="0"/>
              <a:t>("Invalid signature!");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582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0997-62D2-951B-E395-4DC71F81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0C1F4-86B5-14AD-F2F2-1555D1DD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Everything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49ED1-7DBF-E038-FD98-EB60DED5D7D8}"/>
              </a:ext>
            </a:extLst>
          </p:cNvPr>
          <p:cNvSpPr txBox="1"/>
          <p:nvPr/>
        </p:nvSpPr>
        <p:spPr>
          <a:xfrm>
            <a:off x="567221" y="2179676"/>
            <a:ext cx="100486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fullSecureFlow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IntegrationFlows.from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</a:t>
            </a:r>
          </a:p>
          <a:p>
            <a:endParaRPr lang="en-IN" dirty="0"/>
          </a:p>
          <a:p>
            <a:r>
              <a:rPr lang="en-IN" dirty="0"/>
              <a:t>        // RBAC enforced</a:t>
            </a:r>
          </a:p>
          <a:p>
            <a:r>
              <a:rPr lang="en-IN" dirty="0"/>
              <a:t>        .channel(c -&gt; </a:t>
            </a:r>
            <a:r>
              <a:rPr lang="en-IN" dirty="0" err="1"/>
              <a:t>c.interceptor</a:t>
            </a:r>
            <a:r>
              <a:rPr lang="en-IN" dirty="0"/>
              <a:t>(</a:t>
            </a:r>
            <a:r>
              <a:rPr lang="en-IN" dirty="0" err="1"/>
              <a:t>securityInterceptor</a:t>
            </a:r>
            <a:r>
              <a:rPr lang="en-IN" dirty="0"/>
              <a:t>()))</a:t>
            </a:r>
          </a:p>
          <a:p>
            <a:endParaRPr lang="en-IN" dirty="0"/>
          </a:p>
          <a:p>
            <a:r>
              <a:rPr lang="en-IN" dirty="0"/>
              <a:t>        // Encrypt</a:t>
            </a:r>
          </a:p>
          <a:p>
            <a:r>
              <a:rPr lang="en-IN" dirty="0"/>
              <a:t>        .transform(payload -&gt; encrypt(</a:t>
            </a:r>
            <a:r>
              <a:rPr lang="en-IN" dirty="0" err="1"/>
              <a:t>payload.toString</a:t>
            </a:r>
            <a:r>
              <a:rPr lang="en-IN" dirty="0"/>
              <a:t>(), key))</a:t>
            </a:r>
          </a:p>
          <a:p>
            <a:endParaRPr lang="en-IN" dirty="0"/>
          </a:p>
          <a:p>
            <a:r>
              <a:rPr lang="en-IN" dirty="0"/>
              <a:t>        // Sign</a:t>
            </a:r>
          </a:p>
          <a:p>
            <a:r>
              <a:rPr lang="en-IN" dirty="0"/>
              <a:t>        .</a:t>
            </a:r>
            <a:r>
              <a:rPr lang="en-IN" dirty="0" err="1"/>
              <a:t>enrichHeaders</a:t>
            </a:r>
            <a:r>
              <a:rPr lang="en-IN" dirty="0"/>
              <a:t>(h -&gt; </a:t>
            </a:r>
            <a:r>
              <a:rPr lang="en-IN" dirty="0" err="1"/>
              <a:t>h.header</a:t>
            </a:r>
            <a:r>
              <a:rPr lang="en-IN" dirty="0"/>
              <a:t>("signature", sign(payload, secret)))</a:t>
            </a:r>
          </a:p>
          <a:p>
            <a:r>
              <a:rPr lang="en-IN" dirty="0"/>
              <a:t>        // Process</a:t>
            </a:r>
          </a:p>
          <a:p>
            <a:r>
              <a:rPr lang="en-IN" dirty="0"/>
              <a:t>        .handle("service", "process")</a:t>
            </a:r>
          </a:p>
          <a:p>
            <a:r>
              <a:rPr lang="en-IN" dirty="0"/>
              <a:t>        .get();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913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A73E-FA6B-F65B-A2E0-34EDAC5A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C38E-CE4C-B241-070E-00AD57D1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Integration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A7993-F032-FC0B-FDA2-6125BAC0A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r>
              <a:rPr lang="en-IN" dirty="0"/>
              <a:t>Think of Spring Integration security as:</a:t>
            </a:r>
          </a:p>
          <a:p>
            <a:r>
              <a:rPr lang="en-IN" dirty="0"/>
              <a:t>Authentication → carried in message</a:t>
            </a:r>
            <a:br>
              <a:rPr lang="en-IN" dirty="0"/>
            </a:br>
            <a:r>
              <a:rPr lang="en-IN" dirty="0"/>
              <a:t>Authorization → enforced at channel + handler</a:t>
            </a:r>
            <a:br>
              <a:rPr lang="en-IN" dirty="0"/>
            </a:br>
            <a:r>
              <a:rPr lang="en-IN" dirty="0"/>
              <a:t>Confidentiality → encryption</a:t>
            </a:r>
            <a:br>
              <a:rPr lang="en-IN" dirty="0"/>
            </a:br>
            <a:r>
              <a:rPr lang="en-IN" dirty="0"/>
              <a:t>Integrity → signing</a:t>
            </a:r>
            <a:br>
              <a:rPr lang="en-IN" dirty="0"/>
            </a:br>
            <a:r>
              <a:rPr lang="en-IN" dirty="0"/>
              <a:t>Propagation → across async boundaries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8865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7383-6497-CC5F-F68C-0C87AAF1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3EC0-6C73-E2DD-EFCA-9D350C66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BC18-F510-2565-340E-00AE1588E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7849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F230-83B1-2908-1FD0-138BF117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BCAC-46AF-9705-79DD-3C44DA22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E649-CD3B-E5C5-65A4-C7C28CEE4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34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FC51-4692-B18C-2A82-57F7848C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B98B-89C1-1D3A-FDB2-1CD1E8D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B283-9B84-6114-8881-FC40EF8AE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1143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98595-A69E-9DC1-5A82-D79E198B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1724-CFEB-3EB2-22BE-5BBB8B9E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CC00-AFD9-8F0C-3F80-AEE88A36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745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A73E-CF6C-FB97-ED70-85F8C941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2BEB-2503-DBD4-B54B-610E2D43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2A1E5-A333-416E-F12B-8C5DEEA1A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6261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C7F7-951F-2226-A05C-77675ED5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D47D-395D-8E76-D272-989706E9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BF122-24A1-C66B-0642-06CBCC342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6385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8589-1743-90B4-11B8-37D954A9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DCAB-FBDF-2465-65EC-FE85EC0F4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87A4C-64F2-B678-D351-355230DF3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2379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FC80-44DC-24BD-7451-B67EE843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9CC6-E996-3607-A12D-970FF830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4275-7603-DB65-FC6A-82CC388B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367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2C00-617E-F5E6-1F0A-F09F39D2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B76F-9496-6F3C-43A0-BAC43989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FD2C-73C1-A369-5647-92506AC96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006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4AA8-0361-1649-3316-B30A2913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EF3B-BEF7-8981-13C8-578E55BE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79DC2-C921-ACC2-513E-4C08D8D08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9089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C1D4-2168-2B90-67A0-1431920C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AECB-3E8B-2000-F788-32A913C68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6F4B7-4793-962B-C9CA-23A5CD1F2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95549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AD8C-8CE8-2DB6-F88C-27D3E0F8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D0E2-CFA0-99A2-73DA-37CA694F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7F15-2252-97AC-B09B-DAA741DC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36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1582-59A4-088B-6A00-FA467D4B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8E25-F924-CF9F-34D8-82D66205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FC06E-5A60-B1B0-888A-E9AB12B4B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3929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25CF0-3EE8-E0A1-D0D2-037907AF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4153B-B0BB-0E44-9C30-C6AB7977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546BB-8A7E-1EDC-3F7A-C85F7A91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2162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7E01D-4CDA-E99F-625D-6D0BCD89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290C-66B2-7DD9-559E-89F2FDDC6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0E7F2-91C3-C8DA-CF93-EC262DE79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6111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8AFA-E07C-B4B2-4EFB-FCC87927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7FC3-C3F7-B634-30B1-542BD1CD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D8D0C-7D92-BD02-F6F4-0F19424FC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29559" cy="393421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172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234</TotalTime>
  <Words>2595</Words>
  <Application>Microsoft Office PowerPoint</Application>
  <PresentationFormat>Widescreen</PresentationFormat>
  <Paragraphs>388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Century Gothic</vt:lpstr>
      <vt:lpstr>Courier New</vt:lpstr>
      <vt:lpstr>Wingdings 3</vt:lpstr>
      <vt:lpstr>Ion Boardroom</vt:lpstr>
      <vt:lpstr>Spring Security in Spring Integration</vt:lpstr>
      <vt:lpstr>Why security is needed</vt:lpstr>
      <vt:lpstr>Core Concepts</vt:lpstr>
      <vt:lpstr>Key Components</vt:lpstr>
      <vt:lpstr>Securing Entry Points</vt:lpstr>
      <vt:lpstr>What is Spring Security </vt:lpstr>
      <vt:lpstr>Core Security Concepts</vt:lpstr>
      <vt:lpstr>Authentication</vt:lpstr>
      <vt:lpstr>PowerPoint Presentation</vt:lpstr>
      <vt:lpstr>PowerPoint Presentation</vt:lpstr>
      <vt:lpstr>Authentication</vt:lpstr>
      <vt:lpstr>SecurityContext</vt:lpstr>
      <vt:lpstr>AuthenticationManager</vt:lpstr>
      <vt:lpstr>AuthenticationProvider</vt:lpstr>
      <vt:lpstr>UserDetailsService</vt:lpstr>
      <vt:lpstr>Authentication Flow (HTTP)</vt:lpstr>
      <vt:lpstr>Types of Authentication</vt:lpstr>
      <vt:lpstr>Authentication in Spring Integration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COMPLETE FLOW (Step-by-Step) of Authentication</vt:lpstr>
      <vt:lpstr>Misconception</vt:lpstr>
      <vt:lpstr>COMPLETE FLOW (Step-by-Step) of Authentication</vt:lpstr>
      <vt:lpstr>Authorization</vt:lpstr>
      <vt:lpstr>Core Security Concepts</vt:lpstr>
      <vt:lpstr>Core Security Concepts</vt:lpstr>
      <vt:lpstr>Authorization in Spring Integration</vt:lpstr>
      <vt:lpstr>Method-Level Authorization</vt:lpstr>
      <vt:lpstr>Authorization Expression</vt:lpstr>
      <vt:lpstr>End-to-End Flow Example</vt:lpstr>
      <vt:lpstr>Where Spring Security fits in Spring Integration</vt:lpstr>
      <vt:lpstr>Securing Entry Points</vt:lpstr>
      <vt:lpstr>Messaging Inbound (RabbitMQ/JMS)</vt:lpstr>
      <vt:lpstr>Channel Security </vt:lpstr>
      <vt:lpstr>ChannelSecurityInterceptor</vt:lpstr>
      <vt:lpstr>MessageSecurityMetadataSource (RBAC rules)</vt:lpstr>
      <vt:lpstr>Apply to channel</vt:lpstr>
      <vt:lpstr>Role-Based Access Control (RBAC) for Channels</vt:lpstr>
      <vt:lpstr>Expression-based RBAC (Advanced)</vt:lpstr>
      <vt:lpstr>End-to-End Encryption </vt:lpstr>
      <vt:lpstr>Symmetric Encryption (AES)</vt:lpstr>
      <vt:lpstr>Integration Flow with Encryption</vt:lpstr>
      <vt:lpstr>Message Signing (Integrity + Authenticity)</vt:lpstr>
      <vt:lpstr>HMAC Signing</vt:lpstr>
      <vt:lpstr>PowerPoint Presentation</vt:lpstr>
      <vt:lpstr>Combining Everything </vt:lpstr>
      <vt:lpstr>Spring Integration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56</cp:revision>
  <dcterms:created xsi:type="dcterms:W3CDTF">2026-03-27T02:09:17Z</dcterms:created>
  <dcterms:modified xsi:type="dcterms:W3CDTF">2026-03-27T06:03:39Z</dcterms:modified>
</cp:coreProperties>
</file>