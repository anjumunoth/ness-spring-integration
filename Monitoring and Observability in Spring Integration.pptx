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313" r:id="rId3"/>
    <p:sldId id="257" r:id="rId4"/>
    <p:sldId id="258" r:id="rId5"/>
    <p:sldId id="259" r:id="rId6"/>
    <p:sldId id="260" r:id="rId7"/>
    <p:sldId id="261" r:id="rId8"/>
    <p:sldId id="262" r:id="rId9"/>
    <p:sldId id="314" r:id="rId10"/>
    <p:sldId id="315" r:id="rId11"/>
    <p:sldId id="263" r:id="rId12"/>
    <p:sldId id="264" r:id="rId13"/>
    <p:sldId id="316" r:id="rId14"/>
    <p:sldId id="317" r:id="rId15"/>
    <p:sldId id="265" r:id="rId16"/>
    <p:sldId id="319" r:id="rId17"/>
    <p:sldId id="318" r:id="rId18"/>
    <p:sldId id="320" r:id="rId19"/>
    <p:sldId id="266" r:id="rId20"/>
    <p:sldId id="321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  <p:sldId id="277" r:id="rId32"/>
    <p:sldId id="278" r:id="rId33"/>
    <p:sldId id="279" r:id="rId34"/>
    <p:sldId id="280" r:id="rId35"/>
    <p:sldId id="281" r:id="rId36"/>
    <p:sldId id="282" r:id="rId37"/>
    <p:sldId id="283" r:id="rId38"/>
    <p:sldId id="284" r:id="rId39"/>
    <p:sldId id="285" r:id="rId40"/>
    <p:sldId id="286" r:id="rId41"/>
    <p:sldId id="287" r:id="rId42"/>
    <p:sldId id="288" r:id="rId43"/>
    <p:sldId id="289" r:id="rId44"/>
    <p:sldId id="290" r:id="rId45"/>
    <p:sldId id="291" r:id="rId46"/>
    <p:sldId id="292" r:id="rId47"/>
    <p:sldId id="293" r:id="rId48"/>
    <p:sldId id="294" r:id="rId49"/>
    <p:sldId id="295" r:id="rId50"/>
    <p:sldId id="296" r:id="rId51"/>
    <p:sldId id="297" r:id="rId52"/>
    <p:sldId id="298" r:id="rId53"/>
    <p:sldId id="299" r:id="rId54"/>
    <p:sldId id="300" r:id="rId55"/>
    <p:sldId id="301" r:id="rId56"/>
    <p:sldId id="302" r:id="rId57"/>
    <p:sldId id="303" r:id="rId58"/>
    <p:sldId id="304" r:id="rId59"/>
    <p:sldId id="305" r:id="rId60"/>
    <p:sldId id="306" r:id="rId61"/>
    <p:sldId id="307" r:id="rId62"/>
    <p:sldId id="308" r:id="rId63"/>
    <p:sldId id="309" r:id="rId64"/>
    <p:sldId id="310" r:id="rId65"/>
    <p:sldId id="311" r:id="rId66"/>
    <p:sldId id="312" r:id="rId6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0" autoAdjust="0"/>
    <p:restoredTop sz="94660"/>
  </p:normalViewPr>
  <p:slideViewPr>
    <p:cSldViewPr snapToGrid="0">
      <p:cViewPr>
        <p:scale>
          <a:sx n="78" d="100"/>
          <a:sy n="78" d="100"/>
        </p:scale>
        <p:origin x="43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3/27/2026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8DD87-B2D3-B022-FFAB-2E37BCD24E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Monitoring and Observability in Spring Integration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C5436A-5CED-3ADA-7DCC-033EE26666C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Anju munoth</a:t>
            </a:r>
          </a:p>
        </p:txBody>
      </p:sp>
    </p:spTree>
    <p:extLst>
      <p:ext uri="{BB962C8B-B14F-4D97-AF65-F5344CB8AC3E}">
        <p14:creationId xmlns:p14="http://schemas.microsoft.com/office/powerpoint/2010/main" val="3988034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E648C5-FBBD-A2E1-2855-E101BB14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BE4C2-0385-96D6-628E-B660C1D0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Monitoring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33967-995E-B5C2-5725-7E35098C1B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09517" cy="3895097"/>
          </a:xfrm>
        </p:spPr>
        <p:txBody>
          <a:bodyPr>
            <a:normAutofit/>
          </a:bodyPr>
          <a:lstStyle/>
          <a:p>
            <a:r>
              <a:rPr lang="en-US" b="1" dirty="0"/>
              <a:t>Monitoring</a:t>
            </a:r>
            <a:r>
              <a:rPr lang="en-US" dirty="0"/>
              <a:t> is the practice of watching a system using a predefined set of metrics and alerts. </a:t>
            </a:r>
          </a:p>
          <a:p>
            <a:r>
              <a:rPr lang="en-US" dirty="0"/>
              <a:t>Know </a:t>
            </a:r>
            <a:r>
              <a:rPr lang="en-US" i="1" dirty="0"/>
              <a:t>what</a:t>
            </a:r>
            <a:r>
              <a:rPr lang="en-US" dirty="0"/>
              <a:t> you want to watch ahead of time — CPU usage, error rate, queue depth — and you set up dashboards and thresholds for those known quantities. </a:t>
            </a:r>
          </a:p>
          <a:p>
            <a:r>
              <a:rPr lang="en-US" dirty="0"/>
              <a:t>Monitoring answers the question: </a:t>
            </a:r>
            <a:r>
              <a:rPr lang="en-US" i="1" dirty="0"/>
              <a:t>"Is the system healthy right now?"</a:t>
            </a:r>
            <a:endParaRPr lang="en-US" dirty="0"/>
          </a:p>
          <a:p>
            <a:r>
              <a:rPr lang="en-US" dirty="0"/>
              <a:t>Monitoring is like checking your car's dashboard gauges.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7503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A014A-5A37-C01F-6580-FEED633DC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Observability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DF50B-B37C-7A55-3620-2D11BEB69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10409517" cy="3895097"/>
          </a:xfrm>
        </p:spPr>
        <p:txBody>
          <a:bodyPr>
            <a:normAutofit/>
          </a:bodyPr>
          <a:lstStyle/>
          <a:p>
            <a:r>
              <a:rPr lang="en-US" b="1" dirty="0"/>
              <a:t>Observability</a:t>
            </a:r>
            <a:r>
              <a:rPr lang="en-US" dirty="0"/>
              <a:t> is a broader property of a system. </a:t>
            </a:r>
          </a:p>
          <a:p>
            <a:r>
              <a:rPr lang="en-US" dirty="0"/>
              <a:t>A system is observable if you can understand its internal state purely from its external outputs — without needing to deploy new code or add new instrumentation. </a:t>
            </a:r>
          </a:p>
          <a:p>
            <a:r>
              <a:rPr lang="en-US" dirty="0"/>
              <a:t>Answers questions you didn't think to ask beforehand: </a:t>
            </a:r>
            <a:r>
              <a:rPr lang="en-US" i="1" dirty="0"/>
              <a:t>"Why is this one user experiencing slow responses on Tuesday afternoons?"</a:t>
            </a:r>
            <a:endParaRPr lang="en-US" dirty="0"/>
          </a:p>
          <a:p>
            <a:r>
              <a:rPr lang="en-US" dirty="0"/>
              <a:t>Observability is like having a mechanic who can diagnose any problem just by listening to the engine, reading the exhaust, and checking the oil — even a problem the car manufacturer never anticipated.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3349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1986C-15FB-78AF-138B-414E894F7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Three Pillars of 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0D944-FB7C-1DC2-CD9F-F72CCC1E0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229C9D-C9CE-34EF-9052-562E4BF53B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954" y="2447026"/>
            <a:ext cx="10214580" cy="40068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5A64B32-03BC-1C34-88C3-E18808672F64}"/>
              </a:ext>
            </a:extLst>
          </p:cNvPr>
          <p:cNvSpPr txBox="1"/>
          <p:nvPr/>
        </p:nvSpPr>
        <p:spPr>
          <a:xfrm>
            <a:off x="367961" y="6542605"/>
            <a:ext cx="113578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Anthropic Sans"/>
              </a:rPr>
              <a:t>Metrics tell you something is wrong · Logs tell you what happened · Traces tell you where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364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04602-0CCC-6C9E-AD8C-9E8298ED1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0259F-3710-7981-6D95-B172F48BA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Three Pillars of Observability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D1F7C-BC6C-0CB5-70D5-1A34C02FD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Anthropic Sans"/>
              </a:rPr>
              <a:t>Metrics tell you something is wrong · Logs tell you what happened · Traces tell you where</a:t>
            </a:r>
            <a:endParaRPr lang="en-IN" dirty="0">
              <a:solidFill>
                <a:srgbClr val="FF0000"/>
              </a:solidFill>
            </a:endParaRPr>
          </a:p>
          <a:p>
            <a:r>
              <a:rPr lang="en-US" dirty="0"/>
              <a:t>three pillars complement each other and are used together in practice.</a:t>
            </a:r>
          </a:p>
          <a:p>
            <a:r>
              <a:rPr lang="en-US" dirty="0"/>
              <a:t> Metrics alert you that something is wrong. </a:t>
            </a:r>
          </a:p>
          <a:p>
            <a:r>
              <a:rPr lang="en-US" dirty="0"/>
              <a:t>Then jump to logs to find the specific event. </a:t>
            </a:r>
          </a:p>
          <a:p>
            <a:r>
              <a:rPr lang="en-US" dirty="0"/>
              <a:t>Traces let you follow that event across every service it touched.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81196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32A5D-8E71-C54E-539D-556A8C5BED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48021-6E7E-92B5-F8FC-63BCD0CD9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Observability Matters Especially for Spring Integration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FA102-848E-81EA-C403-6FE64B237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Spring Integration apps are built around asynchronous message flows — messages pass through channels, transformers, routers, and handlers. </a:t>
            </a:r>
          </a:p>
          <a:p>
            <a:r>
              <a:rPr lang="en-US" dirty="0"/>
              <a:t>Creates a unique challenge: a single logical business operation might touch 6 different components, cross 3 thread boundaries, and fail silently inside a handler. </a:t>
            </a:r>
          </a:p>
          <a:p>
            <a:r>
              <a:rPr lang="en-US" dirty="0"/>
              <a:t>Without observability, you are essentially flying blind.</a:t>
            </a:r>
          </a:p>
          <a:p>
            <a:pPr marL="0" indent="0">
              <a:buNone/>
            </a:pPr>
            <a:r>
              <a:rPr lang="en-US" dirty="0"/>
              <a:t>Concretely, the things you need to answer in a Spring Integration app are:</a:t>
            </a:r>
          </a:p>
          <a:p>
            <a:r>
              <a:rPr lang="en-US" b="1" dirty="0"/>
              <a:t>Performance questions</a:t>
            </a:r>
            <a:r>
              <a:rPr lang="en-US" dirty="0"/>
              <a:t> — which channel is the bottleneck? Which handler has the highest p99 latency? Is my </a:t>
            </a:r>
            <a:r>
              <a:rPr lang="en-US" dirty="0" err="1"/>
              <a:t>poller</a:t>
            </a:r>
            <a:r>
              <a:rPr lang="en-US" dirty="0"/>
              <a:t> keeping up with inbound message rate?</a:t>
            </a:r>
          </a:p>
          <a:p>
            <a:r>
              <a:rPr lang="en-US" b="1" dirty="0"/>
              <a:t>Reliability questions</a:t>
            </a:r>
            <a:r>
              <a:rPr lang="en-US" dirty="0"/>
              <a:t> — how many messages are failing and at which handler? Is my dead-letter channel growing? Are retries working?</a:t>
            </a:r>
          </a:p>
          <a:p>
            <a:r>
              <a:rPr lang="en-US" b="1" dirty="0"/>
              <a:t>Capacity questions</a:t>
            </a:r>
            <a:r>
              <a:rPr lang="en-US" dirty="0"/>
              <a:t> — is my queue depth trending upward? Am I approaching thread pool saturation?</a:t>
            </a:r>
          </a:p>
          <a:p>
            <a:r>
              <a:rPr lang="en-US" dirty="0"/>
              <a:t>None of these questions can be answered by looking at a single component in isolation. You need the whole picture.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1524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3C6C6-5CBB-8D9F-5E30-A7E05BA5F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F6C06-9DCB-1A8F-CEF3-2379E2A1D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Instrumentation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EE7493-8700-C2A7-3674-645C1D775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r>
              <a:rPr lang="en-US" b="1" dirty="0"/>
              <a:t>Monitoring</a:t>
            </a:r>
            <a:r>
              <a:rPr lang="en-US" dirty="0"/>
              <a:t> is reactive and predefined.</a:t>
            </a:r>
          </a:p>
          <a:p>
            <a:pPr lvl="1"/>
            <a:r>
              <a:rPr lang="en-US" dirty="0"/>
              <a:t>Set up an alert for "error rate &gt; 5%" and get paged when it fires. </a:t>
            </a:r>
          </a:p>
          <a:p>
            <a:pPr lvl="1"/>
            <a:r>
              <a:rPr lang="en-US" dirty="0"/>
              <a:t>Know what to watch for.</a:t>
            </a:r>
          </a:p>
          <a:p>
            <a:r>
              <a:rPr lang="en-US" b="1" dirty="0"/>
              <a:t>Observability</a:t>
            </a:r>
            <a:r>
              <a:rPr lang="en-US" dirty="0"/>
              <a:t> is proactive and exploratory. </a:t>
            </a:r>
          </a:p>
          <a:p>
            <a:pPr lvl="1"/>
            <a:r>
              <a:rPr lang="en-US" dirty="0"/>
              <a:t>When something unexpected happens — say, one specific message type is taking 10x longer than others only for orders over $500 — you can investigate that without deploying new code, because your system already emits enough data to reconstruct what happened.</a:t>
            </a:r>
          </a:p>
          <a:p>
            <a:r>
              <a:rPr lang="en-US" dirty="0"/>
              <a:t>The goal when instrumenting a Spring Integration app with Micrometer and Prometheus is to move toward the observability end of that spectrum — </a:t>
            </a:r>
            <a:r>
              <a:rPr lang="en-US" b="1" dirty="0"/>
              <a:t>collecting rich, tagged, high-cardinality data so that you can answer questions you haven't thought of yet.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470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6EA24-1C31-DFB5-809F-116A56ECAD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6C857-8C92-A463-B333-3520746EF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722ADD-8C70-483A-10B5-9366148318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r>
              <a:rPr lang="en-US" b="1" dirty="0"/>
              <a:t>Prometheus</a:t>
            </a:r>
            <a:r>
              <a:rPr lang="en-US" dirty="0"/>
              <a:t> plays the role of a time-series metrics storage and alerting system. </a:t>
            </a:r>
          </a:p>
          <a:p>
            <a:pPr lvl="1"/>
            <a:r>
              <a:rPr lang="en-US" dirty="0"/>
              <a:t>Spring Integration exposes metrics (message counts, channel throughput, handler latency) and Prometheus scrapes them from a /actuator/</a:t>
            </a:r>
            <a:r>
              <a:rPr lang="en-US" dirty="0" err="1"/>
              <a:t>prometheus</a:t>
            </a:r>
            <a:r>
              <a:rPr lang="en-US" dirty="0"/>
              <a:t> endpoint on a schedule.</a:t>
            </a:r>
          </a:p>
          <a:p>
            <a:pPr lvl="1"/>
            <a:r>
              <a:rPr lang="en-US" dirty="0"/>
              <a:t> It's the backend store, not the collection layer.</a:t>
            </a:r>
          </a:p>
          <a:p>
            <a:r>
              <a:rPr lang="en-US" b="1" dirty="0"/>
              <a:t>Micrometer</a:t>
            </a:r>
            <a:r>
              <a:rPr lang="en-US" dirty="0"/>
              <a:t> is the collection layer — </a:t>
            </a:r>
          </a:p>
          <a:p>
            <a:pPr lvl="1"/>
            <a:r>
              <a:rPr lang="en-US" dirty="0"/>
              <a:t>Vendor-neutral metrics facade that sits inside your application, instruments your code, and speaks to many backends including Prometheus. </a:t>
            </a:r>
          </a:p>
          <a:p>
            <a:pPr lvl="1"/>
            <a:r>
              <a:rPr lang="en-US" dirty="0"/>
              <a:t>Think of Micrometer as SLF4J but for metrics.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26204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7DE618-DB66-D24C-88BE-F790036BA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341" y="528620"/>
            <a:ext cx="9745450" cy="5753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398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AAD32-7769-198B-C8D3-FE4FCED7D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Micrometer --Core concepts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4FA2E0-EA66-542E-F213-1F06BBD5CC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580661" cy="3983114"/>
          </a:xfrm>
        </p:spPr>
        <p:txBody>
          <a:bodyPr/>
          <a:lstStyle/>
          <a:p>
            <a:r>
              <a:rPr lang="en-US" dirty="0"/>
              <a:t>Micrometer organizes everything around a </a:t>
            </a:r>
            <a:r>
              <a:rPr lang="en-US" dirty="0" err="1"/>
              <a:t>MeterRegistry</a:t>
            </a:r>
            <a:r>
              <a:rPr lang="en-US" dirty="0"/>
              <a:t>.</a:t>
            </a:r>
          </a:p>
          <a:p>
            <a:r>
              <a:rPr lang="en-US" dirty="0"/>
              <a:t> Every meter (Counter, Gauge, Timer, etc.) is registered in it. </a:t>
            </a:r>
          </a:p>
          <a:p>
            <a:r>
              <a:rPr lang="en-US" dirty="0"/>
              <a:t>With Spring Boot, a registry is auto-configured when you add the right dependency.</a:t>
            </a:r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0769887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4830B-5F90-FE03-4DE8-52B04CF14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7C5BC-DF29-DA97-FFB8-EE45F6A3B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Four fundamental meter types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75239F-AFD7-D7CE-A448-ED817139A72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1581314"/>
              </p:ext>
            </p:extLst>
          </p:nvPr>
        </p:nvGraphicFramePr>
        <p:xfrm>
          <a:off x="1155700" y="2603500"/>
          <a:ext cx="8824911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41637">
                  <a:extLst>
                    <a:ext uri="{9D8B030D-6E8A-4147-A177-3AD203B41FA5}">
                      <a16:colId xmlns:a16="http://schemas.microsoft.com/office/drawing/2014/main" val="1846950977"/>
                    </a:ext>
                  </a:extLst>
                </a:gridCol>
                <a:gridCol w="2941637">
                  <a:extLst>
                    <a:ext uri="{9D8B030D-6E8A-4147-A177-3AD203B41FA5}">
                      <a16:colId xmlns:a16="http://schemas.microsoft.com/office/drawing/2014/main" val="403564375"/>
                    </a:ext>
                  </a:extLst>
                </a:gridCol>
                <a:gridCol w="2941637">
                  <a:extLst>
                    <a:ext uri="{9D8B030D-6E8A-4147-A177-3AD203B41FA5}">
                      <a16:colId xmlns:a16="http://schemas.microsoft.com/office/drawing/2014/main" val="17784204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What it measures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00539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Counter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value that only goes 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Messages sent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82385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Gauge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value that goes up and down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Queue depth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56465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Timer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Latency + throughput together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Handler execution time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0186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DistributionSummary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Arbitrary value distribution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Message payload size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712552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03273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E10637-510A-D6C0-8610-F3B85881B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88BDE-2C57-286F-776F-15699647D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Maven dependencies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C2D241-1CFB-BA1E-0EF2-3BA44E3A8518}"/>
              </a:ext>
            </a:extLst>
          </p:cNvPr>
          <p:cNvSpPr txBox="1"/>
          <p:nvPr/>
        </p:nvSpPr>
        <p:spPr>
          <a:xfrm>
            <a:off x="572926" y="2203845"/>
            <a:ext cx="1112438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&lt;!-- Spring Boot Actuator (brings </a:t>
            </a:r>
            <a:r>
              <a:rPr lang="en-IN" dirty="0" err="1"/>
              <a:t>Micrometer</a:t>
            </a:r>
            <a:r>
              <a:rPr lang="en-IN" dirty="0"/>
              <a:t> core) --&gt;</a:t>
            </a:r>
          </a:p>
          <a:p>
            <a:r>
              <a:rPr lang="en-IN" dirty="0"/>
              <a:t>&lt;dependency&gt;</a:t>
            </a:r>
          </a:p>
          <a:p>
            <a:r>
              <a:rPr lang="en-IN" dirty="0"/>
              <a:t>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org.springframework.boot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r>
              <a:rPr lang="en-IN" dirty="0"/>
              <a:t>    &lt;</a:t>
            </a:r>
            <a:r>
              <a:rPr lang="en-IN" dirty="0" err="1"/>
              <a:t>artifactId</a:t>
            </a:r>
            <a:r>
              <a:rPr lang="en-IN" dirty="0"/>
              <a:t>&gt;spring-boot-starter-actuator&lt;/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r>
              <a:rPr lang="en-IN" dirty="0"/>
              <a:t>&lt;/dependency&gt;</a:t>
            </a:r>
          </a:p>
          <a:p>
            <a:endParaRPr lang="en-IN" dirty="0"/>
          </a:p>
          <a:p>
            <a:r>
              <a:rPr lang="en-IN" dirty="0"/>
              <a:t>&lt;!-- Prometheus registry --&gt;</a:t>
            </a:r>
          </a:p>
          <a:p>
            <a:r>
              <a:rPr lang="en-IN" dirty="0"/>
              <a:t>&lt;dependency&gt;</a:t>
            </a:r>
          </a:p>
          <a:p>
            <a:r>
              <a:rPr lang="en-IN" dirty="0"/>
              <a:t>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io.micrometer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r>
              <a:rPr lang="en-IN" dirty="0"/>
              <a:t>    &lt;</a:t>
            </a:r>
            <a:r>
              <a:rPr lang="en-IN" dirty="0" err="1"/>
              <a:t>artifactId</a:t>
            </a:r>
            <a:r>
              <a:rPr lang="en-IN" dirty="0"/>
              <a:t>&gt;</a:t>
            </a:r>
            <a:r>
              <a:rPr lang="en-IN" dirty="0" err="1"/>
              <a:t>micrometer</a:t>
            </a:r>
            <a:r>
              <a:rPr lang="en-IN" dirty="0"/>
              <a:t>-registry-</a:t>
            </a:r>
            <a:r>
              <a:rPr lang="en-IN" dirty="0" err="1"/>
              <a:t>prometheus</a:t>
            </a:r>
            <a:r>
              <a:rPr lang="en-IN" dirty="0"/>
              <a:t>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r>
              <a:rPr lang="en-IN" dirty="0"/>
              <a:t>&lt;/dependency&gt;</a:t>
            </a:r>
          </a:p>
          <a:p>
            <a:r>
              <a:rPr lang="en-IN" dirty="0"/>
              <a:t>&lt;!-- Spring Integration (auto-registers SI metrics) --&gt;</a:t>
            </a:r>
          </a:p>
          <a:p>
            <a:r>
              <a:rPr lang="en-IN" dirty="0"/>
              <a:t>&lt;dependency&gt;</a:t>
            </a:r>
          </a:p>
          <a:p>
            <a:r>
              <a:rPr lang="en-IN" dirty="0"/>
              <a:t>    &lt;</a:t>
            </a:r>
            <a:r>
              <a:rPr lang="en-IN" dirty="0" err="1"/>
              <a:t>groupId</a:t>
            </a:r>
            <a:r>
              <a:rPr lang="en-IN" dirty="0"/>
              <a:t>&gt;</a:t>
            </a:r>
            <a:r>
              <a:rPr lang="en-IN" dirty="0" err="1"/>
              <a:t>org.springframework.integration</a:t>
            </a:r>
            <a:r>
              <a:rPr lang="en-IN" dirty="0"/>
              <a:t>&lt;/</a:t>
            </a:r>
            <a:r>
              <a:rPr lang="en-IN" dirty="0" err="1"/>
              <a:t>groupId</a:t>
            </a:r>
            <a:r>
              <a:rPr lang="en-IN" dirty="0"/>
              <a:t>&gt;</a:t>
            </a:r>
          </a:p>
          <a:p>
            <a:r>
              <a:rPr lang="en-IN" dirty="0"/>
              <a:t>    &lt;</a:t>
            </a:r>
            <a:r>
              <a:rPr lang="en-IN" dirty="0" err="1"/>
              <a:t>artifactId</a:t>
            </a:r>
            <a:r>
              <a:rPr lang="en-IN" dirty="0"/>
              <a:t>&gt;spring-integration-core&lt;/</a:t>
            </a:r>
            <a:r>
              <a:rPr lang="en-IN" dirty="0" err="1"/>
              <a:t>artifactId</a:t>
            </a:r>
            <a:r>
              <a:rPr lang="en-IN" dirty="0"/>
              <a:t>&gt;</a:t>
            </a:r>
          </a:p>
          <a:p>
            <a:r>
              <a:rPr lang="en-IN" dirty="0"/>
              <a:t>&lt;/dependency&gt;</a:t>
            </a:r>
          </a:p>
        </p:txBody>
      </p:sp>
    </p:spTree>
    <p:extLst>
      <p:ext uri="{BB962C8B-B14F-4D97-AF65-F5344CB8AC3E}">
        <p14:creationId xmlns:p14="http://schemas.microsoft.com/office/powerpoint/2010/main" val="310106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847724-C93C-CD65-6CB3-CA15AD4CC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application.yml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2B706-36F4-6CB4-3910-A240CCAF22B9}"/>
              </a:ext>
            </a:extLst>
          </p:cNvPr>
          <p:cNvSpPr txBox="1"/>
          <p:nvPr/>
        </p:nvSpPr>
        <p:spPr>
          <a:xfrm>
            <a:off x="1678438" y="2634017"/>
            <a:ext cx="609518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management:</a:t>
            </a:r>
          </a:p>
          <a:p>
            <a:r>
              <a:rPr lang="en-US" dirty="0"/>
              <a:t>  endpoints:</a:t>
            </a:r>
          </a:p>
          <a:p>
            <a:r>
              <a:rPr lang="en-US" dirty="0"/>
              <a:t>    web:</a:t>
            </a:r>
          </a:p>
          <a:p>
            <a:r>
              <a:rPr lang="en-US" dirty="0"/>
              <a:t>      exposure:</a:t>
            </a:r>
          </a:p>
          <a:p>
            <a:r>
              <a:rPr lang="en-US" dirty="0"/>
              <a:t>        include: health, info, </a:t>
            </a:r>
            <a:r>
              <a:rPr lang="en-US" dirty="0" err="1"/>
              <a:t>prometheus</a:t>
            </a:r>
            <a:r>
              <a:rPr lang="en-US" dirty="0"/>
              <a:t>, metrics</a:t>
            </a:r>
          </a:p>
          <a:p>
            <a:r>
              <a:rPr lang="en-US" dirty="0"/>
              <a:t>  metrics:</a:t>
            </a:r>
          </a:p>
          <a:p>
            <a:r>
              <a:rPr lang="en-US" dirty="0"/>
              <a:t>    export:</a:t>
            </a:r>
          </a:p>
          <a:p>
            <a:r>
              <a:rPr lang="en-US" dirty="0"/>
              <a:t>      </a:t>
            </a:r>
            <a:r>
              <a:rPr lang="en-US" dirty="0" err="1"/>
              <a:t>prometheus</a:t>
            </a:r>
            <a:r>
              <a:rPr lang="en-US" dirty="0"/>
              <a:t>:</a:t>
            </a:r>
          </a:p>
          <a:p>
            <a:r>
              <a:rPr lang="en-US" dirty="0"/>
              <a:t>        enabled: true</a:t>
            </a:r>
          </a:p>
          <a:p>
            <a:r>
              <a:rPr lang="en-US" dirty="0"/>
              <a:t>  endpoint:</a:t>
            </a:r>
          </a:p>
          <a:p>
            <a:r>
              <a:rPr lang="en-US" dirty="0"/>
              <a:t>    </a:t>
            </a:r>
            <a:r>
              <a:rPr lang="en-US" dirty="0" err="1"/>
              <a:t>prometheus</a:t>
            </a:r>
            <a:r>
              <a:rPr lang="en-US" dirty="0"/>
              <a:t>:</a:t>
            </a:r>
          </a:p>
          <a:p>
            <a:r>
              <a:rPr lang="en-US" dirty="0"/>
              <a:t>      enabled: true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2066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FFEFC8-7593-9F07-F858-8FD4ADDE3725}"/>
              </a:ext>
            </a:extLst>
          </p:cNvPr>
          <p:cNvSpPr txBox="1"/>
          <p:nvPr/>
        </p:nvSpPr>
        <p:spPr>
          <a:xfrm>
            <a:off x="389558" y="156386"/>
            <a:ext cx="11667156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@Service</a:t>
            </a:r>
          </a:p>
          <a:p>
            <a:r>
              <a:rPr lang="en-IN" dirty="0"/>
              <a:t>public class </a:t>
            </a:r>
            <a:r>
              <a:rPr lang="en-IN" dirty="0" err="1"/>
              <a:t>OrderProcessingService</a:t>
            </a:r>
            <a:r>
              <a:rPr lang="en-IN" dirty="0"/>
              <a:t> {</a:t>
            </a:r>
          </a:p>
          <a:p>
            <a:r>
              <a:rPr lang="en-IN" dirty="0"/>
              <a:t>    private final Counter </a:t>
            </a:r>
            <a:r>
              <a:rPr lang="en-IN" dirty="0" err="1"/>
              <a:t>orderCounter</a:t>
            </a:r>
            <a:r>
              <a:rPr lang="en-IN" dirty="0"/>
              <a:t>;</a:t>
            </a:r>
          </a:p>
          <a:p>
            <a:r>
              <a:rPr lang="en-IN" dirty="0"/>
              <a:t>    private final Counter </a:t>
            </a:r>
            <a:r>
              <a:rPr lang="en-IN" dirty="0" err="1"/>
              <a:t>orderErrorCounter</a:t>
            </a:r>
            <a:r>
              <a:rPr lang="en-IN" dirty="0"/>
              <a:t>;</a:t>
            </a:r>
          </a:p>
          <a:p>
            <a:r>
              <a:rPr lang="en-IN" dirty="0"/>
              <a:t>    // </a:t>
            </a:r>
            <a:r>
              <a:rPr lang="en-IN" dirty="0" err="1"/>
              <a:t>Micrometer's</a:t>
            </a:r>
            <a:r>
              <a:rPr lang="en-IN" dirty="0"/>
              <a:t> fluent builder injects </a:t>
            </a:r>
            <a:r>
              <a:rPr lang="en-IN" dirty="0" err="1"/>
              <a:t>MeterRegistry</a:t>
            </a:r>
            <a:endParaRPr lang="en-IN" dirty="0"/>
          </a:p>
          <a:p>
            <a:r>
              <a:rPr lang="en-IN" dirty="0"/>
              <a:t>    public </a:t>
            </a:r>
            <a:r>
              <a:rPr lang="en-IN" dirty="0" err="1"/>
              <a:t>OrderProcessingService</a:t>
            </a:r>
            <a:r>
              <a:rPr lang="en-IN" dirty="0"/>
              <a:t>(</a:t>
            </a:r>
            <a:r>
              <a:rPr lang="en-IN" dirty="0" err="1"/>
              <a:t>MeterRegistry</a:t>
            </a:r>
            <a:r>
              <a:rPr lang="en-IN" dirty="0"/>
              <a:t> registry) {</a:t>
            </a:r>
          </a:p>
          <a:p>
            <a:r>
              <a:rPr lang="en-IN" dirty="0"/>
              <a:t>    </a:t>
            </a:r>
            <a:r>
              <a:rPr lang="en-IN" b="1" dirty="0"/>
              <a:t>    </a:t>
            </a:r>
            <a:r>
              <a:rPr lang="en-IN" b="1" dirty="0" err="1"/>
              <a:t>this.orderCounter</a:t>
            </a:r>
            <a:r>
              <a:rPr lang="en-IN" b="1" dirty="0"/>
              <a:t> = </a:t>
            </a:r>
            <a:r>
              <a:rPr lang="en-IN" b="1" dirty="0" err="1"/>
              <a:t>Counter.builder</a:t>
            </a:r>
            <a:r>
              <a:rPr lang="en-IN" b="1" dirty="0"/>
              <a:t>("</a:t>
            </a:r>
            <a:r>
              <a:rPr lang="en-IN" b="1" dirty="0" err="1"/>
              <a:t>orders.processed</a:t>
            </a:r>
            <a:r>
              <a:rPr lang="en-IN" b="1" dirty="0"/>
              <a:t>")</a:t>
            </a:r>
          </a:p>
          <a:p>
            <a:r>
              <a:rPr lang="en-IN" dirty="0"/>
              <a:t>            .description("Total orders processed successfully")</a:t>
            </a:r>
          </a:p>
          <a:p>
            <a:r>
              <a:rPr lang="en-IN" dirty="0"/>
              <a:t>            .tag("service", "order-processing")     // tags become Prometheus labels</a:t>
            </a:r>
          </a:p>
          <a:p>
            <a:r>
              <a:rPr lang="en-IN" dirty="0"/>
              <a:t>            .tag("region", "us-east")</a:t>
            </a:r>
          </a:p>
          <a:p>
            <a:r>
              <a:rPr lang="en-IN" dirty="0"/>
              <a:t>            .register(registry);</a:t>
            </a:r>
          </a:p>
          <a:p>
            <a:r>
              <a:rPr lang="en-IN" dirty="0"/>
              <a:t>       </a:t>
            </a:r>
            <a:r>
              <a:rPr lang="en-IN" b="1" dirty="0"/>
              <a:t> </a:t>
            </a:r>
            <a:r>
              <a:rPr lang="en-IN" b="1" dirty="0" err="1"/>
              <a:t>this.orderErrorCounter</a:t>
            </a:r>
            <a:r>
              <a:rPr lang="en-IN" b="1" dirty="0"/>
              <a:t> = </a:t>
            </a:r>
            <a:r>
              <a:rPr lang="en-IN" b="1" dirty="0" err="1"/>
              <a:t>Counter.builder</a:t>
            </a:r>
            <a:r>
              <a:rPr lang="en-IN" b="1" dirty="0"/>
              <a:t>("</a:t>
            </a:r>
            <a:r>
              <a:rPr lang="en-IN" b="1" dirty="0" err="1"/>
              <a:t>orders.errors</a:t>
            </a:r>
            <a:r>
              <a:rPr lang="en-IN" b="1" dirty="0"/>
              <a:t>")</a:t>
            </a:r>
          </a:p>
          <a:p>
            <a:r>
              <a:rPr lang="en-IN" dirty="0"/>
              <a:t>            .description("Total order processing errors")</a:t>
            </a:r>
          </a:p>
          <a:p>
            <a:r>
              <a:rPr lang="en-IN" dirty="0"/>
              <a:t>            .tag("service", "order-processing")</a:t>
            </a:r>
          </a:p>
          <a:p>
            <a:r>
              <a:rPr lang="en-IN" dirty="0"/>
              <a:t>            .register(registry);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  public void </a:t>
            </a:r>
            <a:r>
              <a:rPr lang="en-IN" dirty="0" err="1"/>
              <a:t>processOrder</a:t>
            </a:r>
            <a:r>
              <a:rPr lang="en-IN" dirty="0"/>
              <a:t>(Order order) {</a:t>
            </a:r>
          </a:p>
          <a:p>
            <a:r>
              <a:rPr lang="en-IN" dirty="0"/>
              <a:t>        try {            // your business logic</a:t>
            </a:r>
          </a:p>
          <a:p>
            <a:r>
              <a:rPr lang="en-IN" dirty="0"/>
              <a:t>            </a:t>
            </a:r>
            <a:r>
              <a:rPr lang="en-IN" dirty="0" err="1"/>
              <a:t>performProcessing</a:t>
            </a:r>
            <a:r>
              <a:rPr lang="en-IN" dirty="0"/>
              <a:t>(order);</a:t>
            </a:r>
          </a:p>
          <a:p>
            <a:r>
              <a:rPr lang="en-IN" dirty="0"/>
              <a:t>            </a:t>
            </a:r>
            <a:r>
              <a:rPr lang="en-IN" dirty="0" err="1"/>
              <a:t>orderCounter.increment</a:t>
            </a:r>
            <a:r>
              <a:rPr lang="en-IN" dirty="0"/>
              <a:t>();                // increment by 1</a:t>
            </a:r>
          </a:p>
          <a:p>
            <a:r>
              <a:rPr lang="en-IN" dirty="0"/>
              <a:t>        } catch (Exception e) {</a:t>
            </a:r>
          </a:p>
          <a:p>
            <a:r>
              <a:rPr lang="en-IN" dirty="0"/>
              <a:t>            </a:t>
            </a:r>
            <a:r>
              <a:rPr lang="en-IN" dirty="0" err="1"/>
              <a:t>orderErrorCounter.increment</a:t>
            </a:r>
            <a:r>
              <a:rPr lang="en-IN" dirty="0"/>
              <a:t>();	            throw e;        }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337437-7DE0-4C84-AFB6-71390051C0BB}"/>
              </a:ext>
            </a:extLst>
          </p:cNvPr>
          <p:cNvSpPr txBox="1"/>
          <p:nvPr/>
        </p:nvSpPr>
        <p:spPr>
          <a:xfrm>
            <a:off x="7720649" y="3195211"/>
            <a:ext cx="4081793" cy="2031325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What this produces in Prometheus format at `/actuator/</a:t>
            </a:r>
            <a:r>
              <a:rPr lang="en-IN" dirty="0" err="1">
                <a:solidFill>
                  <a:schemeClr val="bg1"/>
                </a:solidFill>
              </a:rPr>
              <a:t>prometheus</a:t>
            </a:r>
            <a:r>
              <a:rPr lang="en-IN" dirty="0">
                <a:solidFill>
                  <a:schemeClr val="bg1"/>
                </a:solidFill>
              </a:rPr>
              <a:t>`:</a:t>
            </a:r>
          </a:p>
          <a:p>
            <a:r>
              <a:rPr lang="en-IN" dirty="0" err="1">
                <a:solidFill>
                  <a:schemeClr val="bg1"/>
                </a:solidFill>
              </a:rPr>
              <a:t>orders_processed_total</a:t>
            </a:r>
            <a:r>
              <a:rPr lang="en-IN" dirty="0">
                <a:solidFill>
                  <a:schemeClr val="bg1"/>
                </a:solidFill>
              </a:rPr>
              <a:t>{service="order-</a:t>
            </a:r>
            <a:r>
              <a:rPr lang="en-IN" dirty="0" err="1">
                <a:solidFill>
                  <a:schemeClr val="bg1"/>
                </a:solidFill>
              </a:rPr>
              <a:t>processing",region</a:t>
            </a:r>
            <a:r>
              <a:rPr lang="en-IN" dirty="0">
                <a:solidFill>
                  <a:schemeClr val="bg1"/>
                </a:solidFill>
              </a:rPr>
              <a:t>="us-east"} 142.0</a:t>
            </a:r>
          </a:p>
          <a:p>
            <a:r>
              <a:rPr lang="en-IN" dirty="0" err="1">
                <a:solidFill>
                  <a:schemeClr val="bg1"/>
                </a:solidFill>
              </a:rPr>
              <a:t>orders_errors_total</a:t>
            </a:r>
            <a:r>
              <a:rPr lang="en-IN" dirty="0">
                <a:solidFill>
                  <a:schemeClr val="bg1"/>
                </a:solidFill>
              </a:rPr>
              <a:t>{service="order-processing"} 3.0</a:t>
            </a:r>
          </a:p>
        </p:txBody>
      </p:sp>
    </p:spTree>
    <p:extLst>
      <p:ext uri="{BB962C8B-B14F-4D97-AF65-F5344CB8AC3E}">
        <p14:creationId xmlns:p14="http://schemas.microsoft.com/office/powerpoint/2010/main" val="1794020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56CC4-CD4D-C727-673D-059169DD4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7F328-7F3E-5E69-8388-3AF5C5BA9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Timer — measure latency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AA5C1-165E-FDCD-7DF6-23C776EF9E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r>
              <a:rPr lang="en-US" dirty="0"/>
              <a:t>Timer is Micrometer's most powerful type. </a:t>
            </a:r>
          </a:p>
          <a:p>
            <a:r>
              <a:rPr lang="en-US" dirty="0"/>
              <a:t>Records both duration and call count in a single meter.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84813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B88AD84-D9A5-A627-00CC-01DEB3F5BF89}"/>
              </a:ext>
            </a:extLst>
          </p:cNvPr>
          <p:cNvSpPr txBox="1"/>
          <p:nvPr/>
        </p:nvSpPr>
        <p:spPr>
          <a:xfrm>
            <a:off x="699247" y="369745"/>
            <a:ext cx="892762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// Style 1: wrap a lambda (simplest)</a:t>
            </a:r>
          </a:p>
          <a:p>
            <a:r>
              <a:rPr lang="en-IN" dirty="0"/>
              <a:t>    public Message&lt;?&gt; transform(Message&lt;?&gt; message) {</a:t>
            </a:r>
          </a:p>
          <a:p>
            <a:r>
              <a:rPr lang="en-IN" dirty="0"/>
              <a:t>        return </a:t>
            </a:r>
            <a:r>
              <a:rPr lang="en-IN" dirty="0" err="1"/>
              <a:t>transformationTimer.record</a:t>
            </a:r>
            <a:r>
              <a:rPr lang="en-IN" dirty="0"/>
              <a:t>(() -&gt; </a:t>
            </a:r>
            <a:r>
              <a:rPr lang="en-IN" dirty="0" err="1"/>
              <a:t>doTransform</a:t>
            </a:r>
            <a:r>
              <a:rPr lang="en-IN" dirty="0"/>
              <a:t>(message));</a:t>
            </a:r>
          </a:p>
          <a:p>
            <a:r>
              <a:rPr lang="en-IN" dirty="0"/>
              <a:t>    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972ABB-BF4B-63B4-8DE0-6B3987CA6B3C}"/>
              </a:ext>
            </a:extLst>
          </p:cNvPr>
          <p:cNvSpPr txBox="1"/>
          <p:nvPr/>
        </p:nvSpPr>
        <p:spPr>
          <a:xfrm>
            <a:off x="699247" y="1681051"/>
            <a:ext cx="11183063" cy="507831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IN" dirty="0"/>
              <a:t>// Style 2: manual start/stop (useful when you need the result AND timing)</a:t>
            </a:r>
          </a:p>
          <a:p>
            <a:r>
              <a:rPr lang="en-IN" dirty="0"/>
              <a:t>    public Message&lt;?&gt; </a:t>
            </a:r>
            <a:r>
              <a:rPr lang="en-IN" dirty="0" err="1"/>
              <a:t>transformWithSample</a:t>
            </a:r>
            <a:r>
              <a:rPr lang="en-IN" dirty="0"/>
              <a:t>(Message&lt;?&gt; message) {</a:t>
            </a:r>
          </a:p>
          <a:p>
            <a:r>
              <a:rPr lang="en-IN" dirty="0"/>
              <a:t>        </a:t>
            </a:r>
            <a:r>
              <a:rPr lang="en-IN" dirty="0" err="1"/>
              <a:t>Timer.Sample</a:t>
            </a:r>
            <a:r>
              <a:rPr lang="en-IN" dirty="0"/>
              <a:t> sample = </a:t>
            </a:r>
            <a:r>
              <a:rPr lang="en-IN" dirty="0" err="1"/>
              <a:t>Timer.start</a:t>
            </a:r>
            <a:r>
              <a:rPr lang="en-IN" dirty="0"/>
              <a:t>(registry);   // capture start time</a:t>
            </a:r>
          </a:p>
          <a:p>
            <a:r>
              <a:rPr lang="en-IN" dirty="0"/>
              <a:t>        try {</a:t>
            </a:r>
          </a:p>
          <a:p>
            <a:r>
              <a:rPr lang="en-IN" dirty="0"/>
              <a:t>            Message&lt;?&gt; result = </a:t>
            </a:r>
            <a:r>
              <a:rPr lang="en-IN" dirty="0" err="1"/>
              <a:t>doTransform</a:t>
            </a:r>
            <a:r>
              <a:rPr lang="en-IN" dirty="0"/>
              <a:t>(message);</a:t>
            </a:r>
          </a:p>
          <a:p>
            <a:r>
              <a:rPr lang="en-IN" dirty="0"/>
              <a:t>            </a:t>
            </a:r>
            <a:r>
              <a:rPr lang="en-IN" dirty="0" err="1"/>
              <a:t>sample.stop</a:t>
            </a:r>
            <a:r>
              <a:rPr lang="en-IN" dirty="0"/>
              <a:t>(</a:t>
            </a:r>
            <a:r>
              <a:rPr lang="en-IN" dirty="0" err="1"/>
              <a:t>transformationTimer</a:t>
            </a:r>
            <a:r>
              <a:rPr lang="en-IN" dirty="0"/>
              <a:t>);           // stop and record</a:t>
            </a:r>
          </a:p>
          <a:p>
            <a:r>
              <a:rPr lang="en-IN" dirty="0"/>
              <a:t>            return result;</a:t>
            </a:r>
          </a:p>
          <a:p>
            <a:r>
              <a:rPr lang="en-IN" dirty="0"/>
              <a:t>        } catch (Exception e) {</a:t>
            </a:r>
          </a:p>
          <a:p>
            <a:r>
              <a:rPr lang="en-IN" dirty="0"/>
              <a:t>            // Tag dynamically on error — note: this creates a new timer series</a:t>
            </a:r>
          </a:p>
          <a:p>
            <a:r>
              <a:rPr lang="en-IN" dirty="0"/>
              <a:t>            </a:t>
            </a:r>
            <a:r>
              <a:rPr lang="en-IN" dirty="0" err="1"/>
              <a:t>Timer.builder</a:t>
            </a:r>
            <a:r>
              <a:rPr lang="en-IN" dirty="0"/>
              <a:t>("</a:t>
            </a:r>
            <a:r>
              <a:rPr lang="en-IN" dirty="0" err="1"/>
              <a:t>si.message.transformation</a:t>
            </a:r>
            <a:r>
              <a:rPr lang="en-IN" dirty="0"/>
              <a:t>")</a:t>
            </a:r>
          </a:p>
          <a:p>
            <a:r>
              <a:rPr lang="en-IN" dirty="0"/>
              <a:t>                .tag("channel", "</a:t>
            </a:r>
            <a:r>
              <a:rPr lang="en-IN" dirty="0" err="1"/>
              <a:t>orderChannel</a:t>
            </a:r>
            <a:r>
              <a:rPr lang="en-IN" dirty="0"/>
              <a:t>")</a:t>
            </a:r>
          </a:p>
          <a:p>
            <a:r>
              <a:rPr lang="en-IN" dirty="0"/>
              <a:t>                .tag("exception", </a:t>
            </a:r>
            <a:r>
              <a:rPr lang="en-IN" dirty="0" err="1"/>
              <a:t>e.getClass</a:t>
            </a:r>
            <a:r>
              <a:rPr lang="en-IN" dirty="0"/>
              <a:t>().</a:t>
            </a:r>
            <a:r>
              <a:rPr lang="en-IN" dirty="0" err="1"/>
              <a:t>getSimpleName</a:t>
            </a:r>
            <a:r>
              <a:rPr lang="en-IN" dirty="0"/>
              <a:t>())</a:t>
            </a:r>
          </a:p>
          <a:p>
            <a:r>
              <a:rPr lang="en-IN" dirty="0"/>
              <a:t>                .register(registry)</a:t>
            </a:r>
          </a:p>
          <a:p>
            <a:r>
              <a:rPr lang="en-IN" dirty="0"/>
              <a:t>                .record(</a:t>
            </a:r>
            <a:r>
              <a:rPr lang="en-IN" dirty="0" err="1"/>
              <a:t>Duration.ZERO</a:t>
            </a:r>
            <a:r>
              <a:rPr lang="en-IN" dirty="0"/>
              <a:t>);</a:t>
            </a:r>
          </a:p>
          <a:p>
            <a:r>
              <a:rPr lang="en-IN" dirty="0"/>
              <a:t>            </a:t>
            </a:r>
            <a:r>
              <a:rPr lang="en-IN" dirty="0" err="1"/>
              <a:t>sample.stop</a:t>
            </a:r>
            <a:r>
              <a:rPr lang="en-IN" dirty="0"/>
              <a:t>(</a:t>
            </a:r>
            <a:r>
              <a:rPr lang="en-IN" dirty="0" err="1"/>
              <a:t>transformationTimer</a:t>
            </a:r>
            <a:r>
              <a:rPr lang="en-IN" dirty="0"/>
              <a:t>);</a:t>
            </a:r>
          </a:p>
          <a:p>
            <a:r>
              <a:rPr lang="en-IN" dirty="0"/>
              <a:t>            throw e;</a:t>
            </a:r>
          </a:p>
          <a:p>
            <a:r>
              <a:rPr lang="en-IN" dirty="0"/>
              <a:t>        }</a:t>
            </a:r>
          </a:p>
          <a:p>
            <a:r>
              <a:rPr lang="en-IN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8714165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CFEAE1-5EF8-DEDC-4A84-C3919E721B2F}"/>
              </a:ext>
            </a:extLst>
          </p:cNvPr>
          <p:cNvSpPr txBox="1"/>
          <p:nvPr/>
        </p:nvSpPr>
        <p:spPr>
          <a:xfrm>
            <a:off x="744478" y="197346"/>
            <a:ext cx="11044924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@Component</a:t>
            </a:r>
          </a:p>
          <a:p>
            <a:r>
              <a:rPr lang="en-IN" dirty="0"/>
              <a:t>public class </a:t>
            </a:r>
            <a:r>
              <a:rPr lang="en-IN" dirty="0" err="1"/>
              <a:t>MessageTransformationHandler</a:t>
            </a:r>
            <a:r>
              <a:rPr lang="en-IN" dirty="0"/>
              <a:t> {</a:t>
            </a:r>
          </a:p>
          <a:p>
            <a:r>
              <a:rPr lang="en-IN" dirty="0"/>
              <a:t>    private final Timer </a:t>
            </a:r>
            <a:r>
              <a:rPr lang="en-IN" dirty="0" err="1"/>
              <a:t>transformationTimer</a:t>
            </a:r>
            <a:r>
              <a:rPr lang="en-IN" dirty="0"/>
              <a:t>;</a:t>
            </a:r>
          </a:p>
          <a:p>
            <a:r>
              <a:rPr lang="en-IN" dirty="0"/>
              <a:t>    private final </a:t>
            </a:r>
            <a:r>
              <a:rPr lang="en-IN" dirty="0" err="1"/>
              <a:t>MeterRegistry</a:t>
            </a:r>
            <a:r>
              <a:rPr lang="en-IN" dirty="0"/>
              <a:t> registry;</a:t>
            </a:r>
          </a:p>
          <a:p>
            <a:r>
              <a:rPr lang="en-IN" dirty="0"/>
              <a:t>    public </a:t>
            </a:r>
            <a:r>
              <a:rPr lang="en-IN" dirty="0" err="1"/>
              <a:t>MessageTransformationHandler</a:t>
            </a:r>
            <a:r>
              <a:rPr lang="en-IN" dirty="0"/>
              <a:t>(</a:t>
            </a:r>
            <a:r>
              <a:rPr lang="en-IN" dirty="0" err="1"/>
              <a:t>MeterRegistry</a:t>
            </a:r>
            <a:r>
              <a:rPr lang="en-IN" dirty="0"/>
              <a:t> registry) {</a:t>
            </a:r>
          </a:p>
          <a:p>
            <a:r>
              <a:rPr lang="en-IN" dirty="0"/>
              <a:t>        </a:t>
            </a:r>
            <a:r>
              <a:rPr lang="en-IN" dirty="0" err="1"/>
              <a:t>this.registry</a:t>
            </a:r>
            <a:r>
              <a:rPr lang="en-IN" dirty="0"/>
              <a:t> = registry;</a:t>
            </a:r>
          </a:p>
          <a:p>
            <a:r>
              <a:rPr lang="en-IN" dirty="0"/>
              <a:t>        </a:t>
            </a:r>
            <a:r>
              <a:rPr lang="en-IN" dirty="0" err="1"/>
              <a:t>this.transformationTimer</a:t>
            </a:r>
            <a:r>
              <a:rPr lang="en-IN" dirty="0"/>
              <a:t> = </a:t>
            </a:r>
            <a:r>
              <a:rPr lang="en-IN" dirty="0" err="1"/>
              <a:t>Timer.builder</a:t>
            </a:r>
            <a:r>
              <a:rPr lang="en-IN" dirty="0"/>
              <a:t>("</a:t>
            </a:r>
            <a:r>
              <a:rPr lang="en-IN" dirty="0" err="1"/>
              <a:t>si.message.transformation</a:t>
            </a:r>
            <a:r>
              <a:rPr lang="en-IN" dirty="0"/>
              <a:t>")</a:t>
            </a:r>
          </a:p>
          <a:p>
            <a:r>
              <a:rPr lang="en-IN" dirty="0"/>
              <a:t>            .description("Time taken to transform messages")</a:t>
            </a:r>
          </a:p>
          <a:p>
            <a:r>
              <a:rPr lang="en-IN" dirty="0"/>
              <a:t>            .tag("channel", "</a:t>
            </a:r>
            <a:r>
              <a:rPr lang="en-IN" dirty="0" err="1"/>
              <a:t>orderChannel</a:t>
            </a:r>
            <a:r>
              <a:rPr lang="en-IN" dirty="0"/>
              <a:t>")</a:t>
            </a:r>
          </a:p>
          <a:p>
            <a:r>
              <a:rPr lang="en-IN" dirty="0"/>
              <a:t>            .</a:t>
            </a:r>
            <a:r>
              <a:rPr lang="en-IN" dirty="0" err="1"/>
              <a:t>publishPercentiles</a:t>
            </a:r>
            <a:r>
              <a:rPr lang="en-IN" dirty="0"/>
              <a:t>(0.5, 0.95, 0.99)      // p50, p95, p99 latency</a:t>
            </a:r>
          </a:p>
          <a:p>
            <a:r>
              <a:rPr lang="en-IN" dirty="0"/>
              <a:t>            .</a:t>
            </a:r>
            <a:r>
              <a:rPr lang="en-IN" dirty="0" err="1"/>
              <a:t>publishPercentileHistogram</a:t>
            </a:r>
            <a:r>
              <a:rPr lang="en-IN" dirty="0"/>
              <a:t>()               // enables Prometheus histogram</a:t>
            </a:r>
          </a:p>
          <a:p>
            <a:r>
              <a:rPr lang="en-IN" dirty="0"/>
              <a:t>            .sla(                                       // SLA violation tracking</a:t>
            </a:r>
          </a:p>
          <a:p>
            <a:r>
              <a:rPr lang="en-IN" dirty="0"/>
              <a:t>                </a:t>
            </a:r>
            <a:r>
              <a:rPr lang="en-IN" dirty="0" err="1"/>
              <a:t>Duration.ofMillis</a:t>
            </a:r>
            <a:r>
              <a:rPr lang="en-IN" dirty="0"/>
              <a:t>(100),</a:t>
            </a:r>
          </a:p>
          <a:p>
            <a:r>
              <a:rPr lang="en-IN" dirty="0"/>
              <a:t>                </a:t>
            </a:r>
            <a:r>
              <a:rPr lang="en-IN" dirty="0" err="1"/>
              <a:t>Duration.ofMillis</a:t>
            </a:r>
            <a:r>
              <a:rPr lang="en-IN" dirty="0"/>
              <a:t>(500)</a:t>
            </a:r>
          </a:p>
          <a:p>
            <a:r>
              <a:rPr lang="en-IN" dirty="0"/>
              <a:t>            )</a:t>
            </a:r>
          </a:p>
          <a:p>
            <a:r>
              <a:rPr lang="en-IN" dirty="0"/>
              <a:t>            .register(registry);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// Style 1: wrap a lambda (simplest) or style 2 manual start/stop </a:t>
            </a:r>
          </a:p>
          <a:p>
            <a:endParaRPr lang="en-IN" dirty="0"/>
          </a:p>
          <a:p>
            <a:r>
              <a:rPr lang="en-IN" dirty="0"/>
              <a:t>	private Message&lt;?&gt; </a:t>
            </a:r>
            <a:r>
              <a:rPr lang="en-IN" dirty="0" err="1"/>
              <a:t>doTransform</a:t>
            </a:r>
            <a:r>
              <a:rPr lang="en-IN" dirty="0"/>
              <a:t>(Message&lt;?&gt; message)</a:t>
            </a:r>
          </a:p>
          <a:p>
            <a:r>
              <a:rPr lang="en-IN" dirty="0"/>
              <a:t>	 { // actual transformation logic return message;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0161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ECC1C7-7096-4C28-8344-5A934C07AD1D}"/>
              </a:ext>
            </a:extLst>
          </p:cNvPr>
          <p:cNvSpPr txBox="1"/>
          <p:nvPr/>
        </p:nvSpPr>
        <p:spPr>
          <a:xfrm>
            <a:off x="542772" y="1160730"/>
            <a:ext cx="1099724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```</a:t>
            </a:r>
          </a:p>
          <a:p>
            <a:endParaRPr lang="en-IN" dirty="0"/>
          </a:p>
          <a:p>
            <a:r>
              <a:rPr lang="en-IN" dirty="0"/>
              <a:t>Prometheus output:</a:t>
            </a:r>
          </a:p>
          <a:p>
            <a:r>
              <a:rPr lang="en-IN" dirty="0"/>
              <a:t>```</a:t>
            </a:r>
          </a:p>
          <a:p>
            <a:r>
              <a:rPr lang="en-IN" dirty="0" err="1"/>
              <a:t>si_message_transformation_seconds_count</a:t>
            </a:r>
            <a:r>
              <a:rPr lang="en-IN" dirty="0"/>
              <a:t>{channel="</a:t>
            </a:r>
            <a:r>
              <a:rPr lang="en-IN" dirty="0" err="1"/>
              <a:t>orderChannel</a:t>
            </a:r>
            <a:r>
              <a:rPr lang="en-IN" dirty="0"/>
              <a:t>"} 500</a:t>
            </a:r>
          </a:p>
          <a:p>
            <a:r>
              <a:rPr lang="en-IN" dirty="0" err="1"/>
              <a:t>si_message_transformation_seconds_sum</a:t>
            </a:r>
            <a:r>
              <a:rPr lang="en-IN" dirty="0"/>
              <a:t>{channel="</a:t>
            </a:r>
            <a:r>
              <a:rPr lang="en-IN" dirty="0" err="1"/>
              <a:t>orderChannel</a:t>
            </a:r>
            <a:r>
              <a:rPr lang="en-IN" dirty="0"/>
              <a:t>"} 12.34</a:t>
            </a:r>
          </a:p>
          <a:p>
            <a:r>
              <a:rPr lang="en-IN" dirty="0" err="1"/>
              <a:t>si_message_transformation_seconds_max</a:t>
            </a:r>
            <a:r>
              <a:rPr lang="en-IN" dirty="0"/>
              <a:t>{channel="</a:t>
            </a:r>
            <a:r>
              <a:rPr lang="en-IN" dirty="0" err="1"/>
              <a:t>orderChannel</a:t>
            </a:r>
            <a:r>
              <a:rPr lang="en-IN" dirty="0"/>
              <a:t>"} 0.482</a:t>
            </a:r>
          </a:p>
          <a:p>
            <a:r>
              <a:rPr lang="en-IN" dirty="0" err="1"/>
              <a:t>si_message_transformation_seconds</a:t>
            </a:r>
            <a:r>
              <a:rPr lang="en-IN" dirty="0"/>
              <a:t>{channel="</a:t>
            </a:r>
            <a:r>
              <a:rPr lang="en-IN" dirty="0" err="1"/>
              <a:t>orderChannel</a:t>
            </a:r>
            <a:r>
              <a:rPr lang="en-IN" dirty="0"/>
              <a:t>", quantile="0.5"}  0.018</a:t>
            </a:r>
          </a:p>
          <a:p>
            <a:r>
              <a:rPr lang="en-IN" dirty="0" err="1"/>
              <a:t>si_message_transformation_seconds</a:t>
            </a:r>
            <a:r>
              <a:rPr lang="en-IN" dirty="0"/>
              <a:t>{channel="</a:t>
            </a:r>
            <a:r>
              <a:rPr lang="en-IN" dirty="0" err="1"/>
              <a:t>orderChannel</a:t>
            </a:r>
            <a:r>
              <a:rPr lang="en-IN" dirty="0"/>
              <a:t>", quantile="0.95"} 0.214</a:t>
            </a:r>
          </a:p>
          <a:p>
            <a:r>
              <a:rPr lang="en-IN" dirty="0" err="1"/>
              <a:t>si_message_transformation_seconds</a:t>
            </a:r>
            <a:r>
              <a:rPr lang="en-IN" dirty="0"/>
              <a:t>{channel="</a:t>
            </a:r>
            <a:r>
              <a:rPr lang="en-IN" dirty="0" err="1"/>
              <a:t>orderChannel</a:t>
            </a:r>
            <a:r>
              <a:rPr lang="en-IN" dirty="0"/>
              <a:t>", quantile="0.99"} 0.441</a:t>
            </a:r>
          </a:p>
        </p:txBody>
      </p:sp>
    </p:spTree>
    <p:extLst>
      <p:ext uri="{BB962C8B-B14F-4D97-AF65-F5344CB8AC3E}">
        <p14:creationId xmlns:p14="http://schemas.microsoft.com/office/powerpoint/2010/main" val="5734247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9830FB-5034-C74B-987C-BACE24B5D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266FE-5E94-576C-B425-AF66DC29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Gauge — snapshot values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48E1C-02AF-27AA-35E3-A78BCBD348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r>
              <a:rPr lang="en-US" dirty="0"/>
              <a:t>A Gauge observes an existing value on demand. </a:t>
            </a:r>
          </a:p>
          <a:p>
            <a:r>
              <a:rPr lang="en-US" dirty="0"/>
              <a:t>Bind it to a supplier function, not a recorded value.</a:t>
            </a:r>
          </a:p>
          <a:p>
            <a:r>
              <a:rPr lang="en-US" dirty="0"/>
              <a:t>unlike Counter and Timer, a Gauge holds a </a:t>
            </a:r>
            <a:r>
              <a:rPr lang="en-US" b="1" dirty="0"/>
              <a:t>weak reference</a:t>
            </a:r>
            <a:r>
              <a:rPr lang="en-US" dirty="0"/>
              <a:t> to its object.</a:t>
            </a:r>
          </a:p>
          <a:p>
            <a:r>
              <a:rPr lang="en-US" dirty="0"/>
              <a:t> If your supplier object gets garbage collected, the gauge silently disappears. </a:t>
            </a:r>
          </a:p>
          <a:p>
            <a:r>
              <a:rPr lang="en-US" dirty="0"/>
              <a:t>Always store a strong reference.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278125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E13BDF-7617-EF58-0B7D-EF48D0036634}"/>
              </a:ext>
            </a:extLst>
          </p:cNvPr>
          <p:cNvSpPr txBox="1"/>
          <p:nvPr/>
        </p:nvSpPr>
        <p:spPr>
          <a:xfrm>
            <a:off x="777484" y="58846"/>
            <a:ext cx="10718528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@Component</a:t>
            </a:r>
          </a:p>
          <a:p>
            <a:r>
              <a:rPr lang="en-IN" dirty="0"/>
              <a:t>public class </a:t>
            </a:r>
            <a:r>
              <a:rPr lang="en-IN" dirty="0" err="1"/>
              <a:t>IntegrationChannelMetrics</a:t>
            </a:r>
            <a:r>
              <a:rPr lang="en-IN" dirty="0"/>
              <a:t> {</a:t>
            </a:r>
          </a:p>
          <a:p>
            <a:endParaRPr lang="en-IN" dirty="0"/>
          </a:p>
          <a:p>
            <a:r>
              <a:rPr lang="en-IN" dirty="0"/>
              <a:t>    // Suppose you track a queue manually</a:t>
            </a:r>
          </a:p>
          <a:p>
            <a:r>
              <a:rPr lang="en-IN" dirty="0"/>
              <a:t>    private final </a:t>
            </a:r>
            <a:r>
              <a:rPr lang="en-IN" dirty="0" err="1"/>
              <a:t>AtomicInteger</a:t>
            </a:r>
            <a:r>
              <a:rPr lang="en-IN" dirty="0"/>
              <a:t> </a:t>
            </a:r>
            <a:r>
              <a:rPr lang="en-IN" dirty="0" err="1"/>
              <a:t>queueDepth</a:t>
            </a:r>
            <a:r>
              <a:rPr lang="en-IN" dirty="0"/>
              <a:t> = new </a:t>
            </a:r>
            <a:r>
              <a:rPr lang="en-IN" dirty="0" err="1"/>
              <a:t>AtomicInteger</a:t>
            </a:r>
            <a:r>
              <a:rPr lang="en-IN" dirty="0"/>
              <a:t>(0);</a:t>
            </a:r>
          </a:p>
          <a:p>
            <a:endParaRPr lang="en-IN" dirty="0"/>
          </a:p>
          <a:p>
            <a:r>
              <a:rPr lang="en-IN" dirty="0"/>
              <a:t>    public </a:t>
            </a:r>
            <a:r>
              <a:rPr lang="en-IN" dirty="0" err="1"/>
              <a:t>IntegrationChannelMetrics</a:t>
            </a:r>
            <a:r>
              <a:rPr lang="en-IN" dirty="0"/>
              <a:t>(</a:t>
            </a:r>
            <a:r>
              <a:rPr lang="en-IN" dirty="0" err="1"/>
              <a:t>MeterRegistry</a:t>
            </a:r>
            <a:r>
              <a:rPr lang="en-IN" dirty="0"/>
              <a:t> registry) {</a:t>
            </a:r>
          </a:p>
          <a:p>
            <a:endParaRPr lang="en-IN" dirty="0"/>
          </a:p>
          <a:p>
            <a:r>
              <a:rPr lang="en-IN" dirty="0"/>
              <a:t>        // Bind to an </a:t>
            </a:r>
            <a:r>
              <a:rPr lang="en-IN" dirty="0" err="1"/>
              <a:t>AtomicInteger</a:t>
            </a:r>
            <a:r>
              <a:rPr lang="en-IN" dirty="0"/>
              <a:t> directly</a:t>
            </a:r>
          </a:p>
          <a:p>
            <a:r>
              <a:rPr lang="en-IN" dirty="0"/>
              <a:t>        </a:t>
            </a:r>
            <a:r>
              <a:rPr lang="en-IN" dirty="0" err="1"/>
              <a:t>Gauge.builder</a:t>
            </a:r>
            <a:r>
              <a:rPr lang="en-IN" dirty="0"/>
              <a:t>("</a:t>
            </a:r>
            <a:r>
              <a:rPr lang="en-IN" dirty="0" err="1"/>
              <a:t>si.channel.queue.depth</a:t>
            </a:r>
            <a:r>
              <a:rPr lang="en-IN" dirty="0"/>
              <a:t>", </a:t>
            </a:r>
            <a:r>
              <a:rPr lang="en-IN" dirty="0" err="1"/>
              <a:t>queueDepth</a:t>
            </a:r>
            <a:r>
              <a:rPr lang="en-IN" dirty="0"/>
              <a:t>, </a:t>
            </a:r>
            <a:r>
              <a:rPr lang="en-IN" dirty="0" err="1"/>
              <a:t>AtomicInteger</a:t>
            </a:r>
            <a:r>
              <a:rPr lang="en-IN" dirty="0"/>
              <a:t>::get)</a:t>
            </a:r>
          </a:p>
          <a:p>
            <a:r>
              <a:rPr lang="en-IN" dirty="0"/>
              <a:t>            .description("Current depth of the order message queue")</a:t>
            </a:r>
          </a:p>
          <a:p>
            <a:r>
              <a:rPr lang="en-IN" dirty="0"/>
              <a:t>            .tag("channel", "</a:t>
            </a:r>
            <a:r>
              <a:rPr lang="en-IN" dirty="0" err="1"/>
              <a:t>orderInputChannel</a:t>
            </a:r>
            <a:r>
              <a:rPr lang="en-IN" dirty="0"/>
              <a:t>")</a:t>
            </a:r>
          </a:p>
          <a:p>
            <a:r>
              <a:rPr lang="en-IN" dirty="0"/>
              <a:t>            .register(registry);</a:t>
            </a:r>
          </a:p>
          <a:p>
            <a:endParaRPr lang="en-IN" dirty="0"/>
          </a:p>
          <a:p>
            <a:r>
              <a:rPr lang="en-IN" dirty="0"/>
              <a:t>        // Or bind to any object with a supplier</a:t>
            </a:r>
          </a:p>
          <a:p>
            <a:r>
              <a:rPr lang="en-IN" dirty="0"/>
              <a:t>        </a:t>
            </a:r>
            <a:r>
              <a:rPr lang="en-IN" dirty="0" err="1"/>
              <a:t>Gauge.builder</a:t>
            </a:r>
            <a:r>
              <a:rPr lang="en-IN" dirty="0"/>
              <a:t>("</a:t>
            </a:r>
            <a:r>
              <a:rPr lang="en-IN" dirty="0" err="1"/>
              <a:t>jvm.custom.thread.active</a:t>
            </a:r>
            <a:r>
              <a:rPr lang="en-IN" dirty="0"/>
              <a:t>", this,</a:t>
            </a:r>
          </a:p>
          <a:p>
            <a:r>
              <a:rPr lang="en-IN" dirty="0"/>
              <a:t>                </a:t>
            </a:r>
            <a:r>
              <a:rPr lang="en-IN" dirty="0" err="1"/>
              <a:t>obj</a:t>
            </a:r>
            <a:r>
              <a:rPr lang="en-IN" dirty="0"/>
              <a:t> -&gt; </a:t>
            </a:r>
            <a:r>
              <a:rPr lang="en-IN" dirty="0" err="1"/>
              <a:t>Thread.activeCount</a:t>
            </a:r>
            <a:r>
              <a:rPr lang="en-IN" dirty="0"/>
              <a:t>())</a:t>
            </a:r>
          </a:p>
          <a:p>
            <a:r>
              <a:rPr lang="en-IN" dirty="0"/>
              <a:t>            .description("Currently active threads")</a:t>
            </a:r>
          </a:p>
          <a:p>
            <a:r>
              <a:rPr lang="en-IN" dirty="0"/>
              <a:t>            .register(registry);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void </a:t>
            </a:r>
            <a:r>
              <a:rPr lang="en-IN" dirty="0" err="1"/>
              <a:t>messageReceived</a:t>
            </a:r>
            <a:r>
              <a:rPr lang="en-IN" dirty="0"/>
              <a:t>() { </a:t>
            </a:r>
            <a:r>
              <a:rPr lang="en-IN" dirty="0" err="1"/>
              <a:t>queueDepth.incrementAndGet</a:t>
            </a:r>
            <a:r>
              <a:rPr lang="en-IN" dirty="0"/>
              <a:t>(); }</a:t>
            </a:r>
          </a:p>
          <a:p>
            <a:r>
              <a:rPr lang="en-IN" dirty="0"/>
              <a:t>    public void </a:t>
            </a:r>
            <a:r>
              <a:rPr lang="en-IN" dirty="0" err="1"/>
              <a:t>messageConsumed</a:t>
            </a:r>
            <a:r>
              <a:rPr lang="en-IN" dirty="0"/>
              <a:t>() { </a:t>
            </a:r>
            <a:r>
              <a:rPr lang="en-IN" dirty="0" err="1"/>
              <a:t>queueDepth.decrementAndGet</a:t>
            </a:r>
            <a:r>
              <a:rPr lang="en-IN" dirty="0"/>
              <a:t>();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779709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C91C5-221A-E753-3A2B-1E3BC767CD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D077A-417D-E13B-7F67-E16FC2D60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3B479-23D2-C3D7-51A8-9D4988AA8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r>
              <a:rPr lang="en-US" dirty="0"/>
              <a:t>Micrometer talks to </a:t>
            </a:r>
            <a:r>
              <a:rPr lang="en-US" b="1" dirty="0" err="1"/>
              <a:t>PrometheusMeterRegistry</a:t>
            </a:r>
            <a:r>
              <a:rPr lang="en-US" dirty="0"/>
              <a:t> (which formats data in Prometheus exposition format), </a:t>
            </a:r>
          </a:p>
          <a:p>
            <a:r>
              <a:rPr lang="en-US" dirty="0"/>
              <a:t>Prometheus </a:t>
            </a:r>
            <a:r>
              <a:rPr lang="en-US" b="1" dirty="0"/>
              <a:t>scrapes</a:t>
            </a:r>
            <a:r>
              <a:rPr lang="en-US" dirty="0"/>
              <a:t> your app on a schedule, </a:t>
            </a:r>
          </a:p>
          <a:p>
            <a:r>
              <a:rPr lang="en-US" dirty="0"/>
              <a:t>Grafana </a:t>
            </a:r>
            <a:r>
              <a:rPr lang="en-US" b="1" dirty="0"/>
              <a:t>queries</a:t>
            </a:r>
            <a:r>
              <a:rPr lang="en-US" dirty="0"/>
              <a:t> Prometheus with </a:t>
            </a:r>
            <a:r>
              <a:rPr lang="en-US" dirty="0" err="1"/>
              <a:t>PromQL</a:t>
            </a:r>
            <a:r>
              <a:rPr lang="en-US" dirty="0"/>
              <a:t>. </a:t>
            </a:r>
          </a:p>
          <a:p>
            <a:r>
              <a:rPr lang="en-US" b="1" dirty="0"/>
              <a:t>Spring Integration adds a layer on top of all this by auto-registering meters for every channel and handler — so you get a baseline of metrics without writing a single instrumentation line.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1387992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88E51-0133-DBE1-CD5B-C9D5FDB45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C0E8F-7D00-769A-6EDE-FAD651CDE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E9D46B-D319-9770-24E6-A45B17FE2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28878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66B8BA-0C70-B618-E46C-0BF566D4E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18CD3-70F6-A174-63E5-4D14CE7E3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370B2-A034-C86F-3CBC-48F786D13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07237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0F373-433F-06B6-4BE5-23173074D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39ADF-394B-59E4-FFF7-422116485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7B7D3B-042D-3400-627A-EDE521E371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20243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7F540-55C1-C6CC-68BB-7F6C8DF09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104B8-B7F5-F01F-007B-66B581E10A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0359E0-8226-A8C3-970A-48CF7D5C94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88251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0BA08-472C-5896-D8C7-3894FA512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1663-335F-1CC9-13D9-F21E68CF0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96B65-ED98-929E-8C7E-7B13FEFA09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5683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FF339B-333E-AB97-DE75-7D75F6A14E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38945-8CE4-7B94-775E-80D02A86B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9A3BB-43A4-035C-B46E-DA1EE8873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310603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6B3E4-5863-673D-BCAB-E4D55BD0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9F3DF-D2C7-9145-8CA8-45D6C025F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48259-B890-7E07-684C-E06B6E2D12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6173877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8F97D-2626-2318-BDD0-C764E370E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7BB1C-4D1C-E7EA-F581-5E432877C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1E8C8-16A3-6591-4191-3BA4A3BCE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8431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A5E31-5ADF-5654-C805-59356112A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DDD7D-E873-D430-02C0-A3C593564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3F4BD5-4122-46C4-6271-4BB58A4E0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0076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C76D6-9405-F137-5AD8-39CF40842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37193-CE1D-E977-90FB-ED8E7167E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3D86A5-C5BF-0721-8F1D-BFED3B0CD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64193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D1E20-45E2-5B31-D0A6-3008C3CA0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7FC34-1A41-5D3F-E301-1BB9E4525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233AF7-877F-2FA7-3DC8-66F4F6E88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19210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BB1870-D1CB-8FAF-2180-505313547F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338F3-0C6D-DEF4-107F-A4B529C9C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0FA38F-0BC1-6FB0-0BA5-AEBFE28F0B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2214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A9814B-D3DD-C274-ED19-9367633C07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C28C-174C-99DB-32BC-82F066A6E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5EAD5-7601-D21E-BF8A-2438AAF93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967648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F82182-65F8-0A7F-700F-70CB4007A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EB94E-09A1-166D-F7A8-6CD9C995A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07717-505A-7C3B-245B-99D13B906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2258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69A29B-8D6A-3D8F-2952-FF720FEB7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61C65-EAA6-B82B-84DB-A09A80E80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B2492-B3C4-5EF2-E0E4-758F590776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76746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35EA2-6C3B-0E3D-FDA0-3D0B3287A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CA4F9-32AE-2AB5-10E3-65ABF6F88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B3E869-80C3-ED58-BAB7-6DFF467A52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68717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111E6-E3EB-EDB1-29D8-8263A5268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BA673-1DF1-4A93-2914-60F466AD3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94DE7-AA58-3A59-1779-CA0CEB3C25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54402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0D0C9-3C07-2DC5-DE2C-3EF7B3726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DD776-DCD8-C704-6820-1D3F6C5ED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17EAE1-3859-594F-455C-58F6FE64DB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515955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5C48E-0B22-80EE-7466-997E88F85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C9250-3E25-6EBD-22C7-07219611D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04B164-0FE3-2EEF-A4F2-BBDFE0FBF1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24204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D2A36-6A21-010F-3A3A-2738F1B1C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9137C-AB49-29AA-6C63-032FA3BA4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06D64-8E5B-7349-E325-21BA0C066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505616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EA3CE-7687-1467-774C-B80C30136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4D279-8F77-C7B1-B22D-C8684D78BA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79311B-B0C6-3329-2856-08F536A3B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24903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8872A-B550-D6F3-39C1-48BC8DA69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FD8D4-48DB-E317-B383-C49E6B9C4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B2821-2486-FDF5-9C09-5BCC3B475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9171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29815-F3D4-BC00-C20B-FB4AA8183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0EE5-73A1-875F-44C2-39A85D92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CF3D8-919D-97EE-C5D4-56845D0F54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57562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A1965-9C36-1E6D-C0D2-0257B7402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35F1A-21B2-C358-803A-0D8E536DB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87B3B-64C2-062F-0C38-22A156A18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9298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B544B-ED3B-066A-F461-F39E0385D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67A57-368C-A8A1-CF97-6E214A81B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D78FD-7963-E80F-C8E4-7F1964D09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1472307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6AD87-221C-B83C-7117-ABA65569E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0B5FE-9017-7FD1-224A-F4BA7CF3F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F0976C-5CB0-3335-CD43-17EC94A21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29356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770DE3-0B57-3A5A-D286-52C1D630F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F327E-540E-3D0A-B246-2AF300F2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9A56A-037B-2AEE-329F-BB547C810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5622037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9CBCB-9D90-DE1B-2D3B-882D14A3B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C37A7-FD5C-26B9-4D17-F5950CE31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381D9C-AC9F-CA0C-14DE-835D5B524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464454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DF154-74FE-A83B-BBF2-5CB998D51A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92423-D341-BCF5-6102-0DAA4F89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10CE05-93B8-03B8-541D-6600E208E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7131682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D58F8-67A8-658D-8115-F2124DA2D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5100F-72FF-F5A1-5FDE-24118EA37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053AD-3FDF-C871-E838-ED6AA4AD16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333569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0AE4C-94A0-1228-229A-C27FD0B57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43D38E-5AB7-7007-9EB0-199A4B119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FD6BD-9B5B-E3E4-CB63-52B8E9AAEF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56802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5AC52A-5DBF-174E-B646-7326546BB9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49AF6-22D9-4335-BE99-7293CED47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A8FF25-61A2-4E59-8F09-01B9FBD553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0005157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4B2BC7-C42F-38F4-9EA1-8ACC694A25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CED0E-5BCF-4255-9843-D8C2CB971D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8727F-B53A-B487-5DAA-B055112AF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60378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77EACE-7D2E-728E-3951-DB9DD19D3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49B39-3999-32E2-9E26-13ADB3A00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E58D69-F50E-3001-2CC5-4CA7AC9FC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8473141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61C44-FD62-C1E2-9CA8-5DFB25F0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3323E-AFFE-73EF-A545-5D3099D53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B9D578-C059-9B47-8924-E7C75F066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63462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DADE3-EC08-DACF-01C7-044831237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A8397-5057-8941-50D5-4CF3FD45E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E333AF-320E-ADA9-89DF-9D7567FDCB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59564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83BA1-8F57-2686-AF47-2357990C0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5E097-D705-936A-E3AC-42A23AE942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F6FE45-1FAC-17B5-FA76-7CFF70933F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766765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A5D3DF-11C8-20F6-8CB5-46E5FA218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BE3EA-38BC-9698-171D-9275E3A8A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88179F-53AC-E4C1-855C-75BA732724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4110892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C38C6-146E-5287-98D1-6D44AA0A8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8E942-01B4-A8F0-0B36-2F1229CD1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291363-A76F-D743-F5DF-F1904013E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320324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CD275-5FEC-ACE6-3912-C2526A566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059C6-621C-158E-30B5-C3F90547E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3FA54-2D8E-F863-B4F7-128B4AB446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673053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7F6D8-C5C4-E8A6-26DE-9B0C61E91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11BB2-79D5-D5D1-24E4-9E8590527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877C7E-1E2D-2D62-A32F-2245B49479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7303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907F1-0C82-FED9-FAA7-FE6844912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2564-E81D-D1F8-F1B5-0534E9ED7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FE616-EDCA-95D7-56FB-C11A92DD66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99148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DCE6A-B8F2-3146-9615-81516129A6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2F0B-9717-51D1-EC8F-2DC79C22F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5EC45-68F9-79C4-6B9E-6A4C8C6CF4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4647722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6FA48-5C6A-D45C-594B-C74BCC42D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6D215-4A39-F285-C522-0B22226B3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A8B4C-1027-04B5-7944-C9C299648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196872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1C7EA-5509-162A-ACA2-E2F469D40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6B8B8-D03C-0C79-3E7D-0FF63DF28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98466-AA1B-A0BE-6199-AC596965A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500"/>
            <a:ext cx="10267711" cy="3728842"/>
          </a:xfrm>
        </p:spPr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82082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{8D791C6D-E695-4FB0-B1F4-73935033FB1C}TF229edf6a-8a49-49ee-a0a6-5037052947485fb3ca0c-bc27bf41d645</Template>
  <TotalTime>26</TotalTime>
  <Words>1846</Words>
  <Application>Microsoft Office PowerPoint</Application>
  <PresentationFormat>Widescreen</PresentationFormat>
  <Paragraphs>212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2" baseType="lpstr">
      <vt:lpstr>Anthropic Sans</vt:lpstr>
      <vt:lpstr>Arial</vt:lpstr>
      <vt:lpstr>Century Gothic</vt:lpstr>
      <vt:lpstr>Courier New</vt:lpstr>
      <vt:lpstr>Wingdings 3</vt:lpstr>
      <vt:lpstr>Ion Boardroom</vt:lpstr>
      <vt:lpstr>Monitoring and Observability in Spring Integration </vt:lpstr>
      <vt:lpstr>Monitoring</vt:lpstr>
      <vt:lpstr>Observability</vt:lpstr>
      <vt:lpstr>Three Pillars of Observability</vt:lpstr>
      <vt:lpstr>Three Pillars of Observability</vt:lpstr>
      <vt:lpstr>Why Observability Matters Especially for Spring Integration</vt:lpstr>
      <vt:lpstr>Instrumentation</vt:lpstr>
      <vt:lpstr>PowerPoint Presentation</vt:lpstr>
      <vt:lpstr>PowerPoint Presentation</vt:lpstr>
      <vt:lpstr>Micrometer --Core concepts</vt:lpstr>
      <vt:lpstr>Four fundamental meter types</vt:lpstr>
      <vt:lpstr>Maven dependencies</vt:lpstr>
      <vt:lpstr>application.yml</vt:lpstr>
      <vt:lpstr>PowerPoint Presentation</vt:lpstr>
      <vt:lpstr>Timer — measure latency</vt:lpstr>
      <vt:lpstr>PowerPoint Presentation</vt:lpstr>
      <vt:lpstr>PowerPoint Presentation</vt:lpstr>
      <vt:lpstr>PowerPoint Presentation</vt:lpstr>
      <vt:lpstr>Gauge — snapshot values</vt:lpstr>
      <vt:lpstr>PowerPoint Presentation</vt:lpstr>
      <vt:lpstr>Summary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anju munoth</dc:creator>
  <cp:lastModifiedBy>anju munoth</cp:lastModifiedBy>
  <cp:revision>23</cp:revision>
  <dcterms:created xsi:type="dcterms:W3CDTF">2026-03-27T01:42:16Z</dcterms:created>
  <dcterms:modified xsi:type="dcterms:W3CDTF">2026-03-27T02:09:13Z</dcterms:modified>
</cp:coreProperties>
</file>