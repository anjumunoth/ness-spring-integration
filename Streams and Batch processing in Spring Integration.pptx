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5" r:id="rId9"/>
    <p:sldId id="266" r:id="rId10"/>
    <p:sldId id="267" r:id="rId11"/>
    <p:sldId id="268" r:id="rId12"/>
    <p:sldId id="269" r:id="rId13"/>
    <p:sldId id="304" r:id="rId14"/>
    <p:sldId id="305" r:id="rId15"/>
    <p:sldId id="306" r:id="rId16"/>
    <p:sldId id="303" r:id="rId17"/>
    <p:sldId id="270" r:id="rId18"/>
    <p:sldId id="271" r:id="rId19"/>
    <p:sldId id="272" r:id="rId20"/>
    <p:sldId id="310" r:id="rId21"/>
    <p:sldId id="311" r:id="rId22"/>
    <p:sldId id="307" r:id="rId23"/>
    <p:sldId id="308" r:id="rId24"/>
    <p:sldId id="273" r:id="rId25"/>
    <p:sldId id="274" r:id="rId26"/>
    <p:sldId id="275" r:id="rId27"/>
    <p:sldId id="276" r:id="rId28"/>
    <p:sldId id="309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  <p:sldId id="299" r:id="rId52"/>
    <p:sldId id="300" r:id="rId53"/>
    <p:sldId id="301" r:id="rId54"/>
    <p:sldId id="302" r:id="rId55"/>
    <p:sldId id="262" r:id="rId56"/>
    <p:sldId id="263" r:id="rId5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0" autoAdjust="0"/>
    <p:restoredTop sz="94660"/>
  </p:normalViewPr>
  <p:slideViewPr>
    <p:cSldViewPr snapToGrid="0">
      <p:cViewPr>
        <p:scale>
          <a:sx n="78" d="100"/>
          <a:sy n="78" d="100"/>
        </p:scale>
        <p:origin x="434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7B1B23F7-5DCE-49D8-9317-A5F9C3452F81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2C35000C-3158-454C-95CA-771396FB00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1993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23F7-5DCE-49D8-9317-A5F9C3452F81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5000C-3158-454C-95CA-771396FB00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9453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23F7-5DCE-49D8-9317-A5F9C3452F81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5000C-3158-454C-95CA-771396FB00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4150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23F7-5DCE-49D8-9317-A5F9C3452F81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5000C-3158-454C-95CA-771396FB00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536334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23F7-5DCE-49D8-9317-A5F9C3452F81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5000C-3158-454C-95CA-771396FB00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1861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23F7-5DCE-49D8-9317-A5F9C3452F81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5000C-3158-454C-95CA-771396FB00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41333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23F7-5DCE-49D8-9317-A5F9C3452F81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5000C-3158-454C-95CA-771396FB00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15556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23F7-5DCE-49D8-9317-A5F9C3452F81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5000C-3158-454C-95CA-771396FB00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14922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23F7-5DCE-49D8-9317-A5F9C3452F81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5000C-3158-454C-95CA-771396FB00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2814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23F7-5DCE-49D8-9317-A5F9C3452F81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5000C-3158-454C-95CA-771396FB00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11092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23F7-5DCE-49D8-9317-A5F9C3452F81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5000C-3158-454C-95CA-771396FB00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89155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23F7-5DCE-49D8-9317-A5F9C3452F81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5000C-3158-454C-95CA-771396FB00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16702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23F7-5DCE-49D8-9317-A5F9C3452F81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5000C-3158-454C-95CA-771396FB00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77746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23F7-5DCE-49D8-9317-A5F9C3452F81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5000C-3158-454C-95CA-771396FB00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836166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23F7-5DCE-49D8-9317-A5F9C3452F81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5000C-3158-454C-95CA-771396FB00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660924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7B1B23F7-5DCE-49D8-9317-A5F9C3452F81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5000C-3158-454C-95CA-771396FB00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860553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7B1B23F7-5DCE-49D8-9317-A5F9C3452F81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5000C-3158-454C-95CA-771396FB00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13426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7B1B23F7-5DCE-49D8-9317-A5F9C3452F81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IN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2C35000C-3158-454C-95CA-771396FB00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3481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D8FE-6920-61BC-F248-8CEDD5AEC3C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Streams and Batch processing in Spring Integration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1C8065-8FCF-9E72-C04F-6482C7809D1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Anju munoth</a:t>
            </a:r>
          </a:p>
        </p:txBody>
      </p:sp>
    </p:spTree>
    <p:extLst>
      <p:ext uri="{BB962C8B-B14F-4D97-AF65-F5344CB8AC3E}">
        <p14:creationId xmlns:p14="http://schemas.microsoft.com/office/powerpoint/2010/main" val="7112100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6ECE7-2612-D993-6BBC-6BCC60906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Handling Large Payloads &amp; Streaming Data in Spring Integration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8DA8B-7A12-1611-E23F-EF413026C2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pPr marL="0" indent="0">
              <a:buNone/>
            </a:pPr>
            <a:r>
              <a:rPr lang="en-IN" b="1" dirty="0"/>
              <a:t> Problem Context</a:t>
            </a:r>
          </a:p>
          <a:p>
            <a:r>
              <a:rPr lang="en-IN" dirty="0"/>
              <a:t>In real systems, messages are not always small JSON objects. You may deal with:</a:t>
            </a:r>
          </a:p>
          <a:p>
            <a:r>
              <a:rPr lang="en-IN" dirty="0"/>
              <a:t>Large files (GBs) – CSV, XML, videos </a:t>
            </a:r>
          </a:p>
          <a:p>
            <a:r>
              <a:rPr lang="en-IN" dirty="0"/>
              <a:t>Continuous data streams – logs, IoT, Kafka-like streams </a:t>
            </a:r>
          </a:p>
          <a:p>
            <a:r>
              <a:rPr lang="en-IN" dirty="0"/>
              <a:t>Memory-sensitive pipelines </a:t>
            </a:r>
          </a:p>
          <a:p>
            <a:pPr marL="0" indent="0">
              <a:buNone/>
            </a:pPr>
            <a:r>
              <a:rPr lang="en-IN" dirty="0"/>
              <a:t> Default message handling in Spring Integration loads payloads </a:t>
            </a:r>
            <a:r>
              <a:rPr lang="en-IN" b="1" dirty="0"/>
              <a:t>fully into memory</a:t>
            </a:r>
            <a:r>
              <a:rPr lang="en-IN" dirty="0"/>
              <a:t>, which is </a:t>
            </a:r>
            <a:r>
              <a:rPr lang="en-IN" b="1" dirty="0"/>
              <a:t>dangerous for large data</a:t>
            </a:r>
            <a:r>
              <a:rPr lang="en-IN" dirty="0"/>
              <a:t>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879601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F77A1-10B8-B839-66F2-541A8243F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77270-9A5A-3D73-100C-36E21490D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Key Strategies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4AAA5-2E1E-22F0-ED8C-4C99538BE0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1. Streaming Instead of Loading Entire Payload</a:t>
            </a:r>
          </a:p>
          <a:p>
            <a:pPr marL="0" indent="0">
              <a:buNone/>
            </a:pPr>
            <a:r>
              <a:rPr lang="en-US" b="1" dirty="0"/>
              <a:t>2. </a:t>
            </a:r>
            <a:r>
              <a:rPr lang="en-IN" b="1" dirty="0"/>
              <a:t>Split Large Payloads (Chunking Pattern)</a:t>
            </a:r>
          </a:p>
          <a:p>
            <a:pPr marL="0" indent="0">
              <a:buNone/>
            </a:pPr>
            <a:r>
              <a:rPr lang="en-US" b="1" dirty="0"/>
              <a:t>3. Use Streaming Adapters</a:t>
            </a:r>
          </a:p>
          <a:p>
            <a:endParaRPr lang="en-US" b="1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726912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BDCC5-A988-6A3E-FB38-0C0646E08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C30FB-A38A-8788-E71C-35B36971E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Streaming Instead of Loading Entire Payload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ADC23E-E5F8-CCFF-911F-E703426BDC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>
            <a:normAutofit fontScale="70000" lnSpcReduction="20000"/>
          </a:bodyPr>
          <a:lstStyle/>
          <a:p>
            <a:r>
              <a:rPr lang="en-IN" dirty="0"/>
              <a:t>Instead of: Message&lt;String&gt; // loads entire file</a:t>
            </a:r>
          </a:p>
          <a:p>
            <a:pPr marL="0" indent="0">
              <a:buNone/>
            </a:pPr>
            <a:r>
              <a:rPr lang="en-IN" dirty="0"/>
              <a:t>Use:</a:t>
            </a:r>
          </a:p>
          <a:p>
            <a:r>
              <a:rPr lang="en-IN" dirty="0"/>
              <a:t>Message&lt;</a:t>
            </a:r>
            <a:r>
              <a:rPr lang="en-IN" dirty="0" err="1"/>
              <a:t>InputStream</a:t>
            </a:r>
            <a:r>
              <a:rPr lang="en-IN" dirty="0"/>
              <a:t>&gt;</a:t>
            </a:r>
            <a:br>
              <a:rPr lang="en-IN" dirty="0"/>
            </a:br>
            <a:r>
              <a:rPr lang="en-IN" dirty="0"/>
              <a:t>Message&lt;Resource&gt;</a:t>
            </a:r>
          </a:p>
          <a:p>
            <a:pPr marL="0" indent="0">
              <a:buNone/>
            </a:pPr>
            <a:r>
              <a:rPr lang="en-IN" b="1" dirty="0"/>
              <a:t>✔ Example (File Streaming Flow)</a:t>
            </a:r>
          </a:p>
          <a:p>
            <a:pPr marL="0" indent="0">
              <a:buNone/>
            </a:pPr>
            <a:r>
              <a:rPr lang="en-IN" b="1" dirty="0">
                <a:solidFill>
                  <a:srgbClr val="C00000"/>
                </a:solidFill>
              </a:rPr>
              <a:t>@Bean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public </a:t>
            </a:r>
            <a:r>
              <a:rPr lang="en-IN" b="1" dirty="0" err="1">
                <a:solidFill>
                  <a:srgbClr val="C00000"/>
                </a:solidFill>
              </a:rPr>
              <a:t>IntegrationFlow</a:t>
            </a:r>
            <a:r>
              <a:rPr lang="en-IN" b="1" dirty="0">
                <a:solidFill>
                  <a:srgbClr val="C00000"/>
                </a:solidFill>
              </a:rPr>
              <a:t> </a:t>
            </a:r>
            <a:r>
              <a:rPr lang="en-IN" b="1" dirty="0" err="1">
                <a:solidFill>
                  <a:srgbClr val="C00000"/>
                </a:solidFill>
              </a:rPr>
              <a:t>fileStreamingFlow</a:t>
            </a:r>
            <a:r>
              <a:rPr lang="en-IN" b="1" dirty="0">
                <a:solidFill>
                  <a:srgbClr val="C00000"/>
                </a:solidFill>
              </a:rPr>
              <a:t>() {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  return </a:t>
            </a:r>
            <a:r>
              <a:rPr lang="en-IN" b="1" dirty="0" err="1">
                <a:solidFill>
                  <a:srgbClr val="C00000"/>
                </a:solidFill>
              </a:rPr>
              <a:t>IntegrationFlows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      .from(</a:t>
            </a:r>
            <a:r>
              <a:rPr lang="en-IN" b="1" dirty="0" err="1">
                <a:solidFill>
                  <a:srgbClr val="C00000"/>
                </a:solidFill>
              </a:rPr>
              <a:t>Files.inboundAdapter</a:t>
            </a:r>
            <a:r>
              <a:rPr lang="en-IN" b="1" dirty="0">
                <a:solidFill>
                  <a:srgbClr val="C00000"/>
                </a:solidFill>
              </a:rPr>
              <a:t>(new File("/input"))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              .</a:t>
            </a:r>
            <a:r>
              <a:rPr lang="en-IN" b="1" dirty="0" err="1">
                <a:solidFill>
                  <a:srgbClr val="C00000"/>
                </a:solidFill>
              </a:rPr>
              <a:t>autoCreateDirectory</a:t>
            </a:r>
            <a:r>
              <a:rPr lang="en-IN" b="1" dirty="0">
                <a:solidFill>
                  <a:srgbClr val="C00000"/>
                </a:solidFill>
              </a:rPr>
              <a:t>(true),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            e -&gt; </a:t>
            </a:r>
            <a:r>
              <a:rPr lang="en-IN" b="1" dirty="0" err="1">
                <a:solidFill>
                  <a:srgbClr val="C00000"/>
                </a:solidFill>
              </a:rPr>
              <a:t>e.poller</a:t>
            </a:r>
            <a:r>
              <a:rPr lang="en-IN" b="1" dirty="0">
                <a:solidFill>
                  <a:srgbClr val="C00000"/>
                </a:solidFill>
              </a:rPr>
              <a:t>(</a:t>
            </a:r>
            <a:r>
              <a:rPr lang="en-IN" b="1" dirty="0" err="1">
                <a:solidFill>
                  <a:srgbClr val="C00000"/>
                </a:solidFill>
              </a:rPr>
              <a:t>Pollers.fixedDelay</a:t>
            </a:r>
            <a:r>
              <a:rPr lang="en-IN" b="1" dirty="0">
                <a:solidFill>
                  <a:srgbClr val="C00000"/>
                </a:solidFill>
              </a:rPr>
              <a:t>(5000)))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      .transform(</a:t>
            </a:r>
            <a:r>
              <a:rPr lang="en-IN" b="1" dirty="0" err="1">
                <a:solidFill>
                  <a:srgbClr val="C00000"/>
                </a:solidFill>
              </a:rPr>
              <a:t>File.class</a:t>
            </a:r>
            <a:r>
              <a:rPr lang="en-IN" b="1" dirty="0">
                <a:solidFill>
                  <a:srgbClr val="C00000"/>
                </a:solidFill>
              </a:rPr>
              <a:t>, file -&gt; new </a:t>
            </a:r>
            <a:r>
              <a:rPr lang="en-IN" b="1" dirty="0" err="1">
                <a:solidFill>
                  <a:srgbClr val="C00000"/>
                </a:solidFill>
              </a:rPr>
              <a:t>FileSystemResource</a:t>
            </a:r>
            <a:r>
              <a:rPr lang="en-IN" b="1" dirty="0">
                <a:solidFill>
                  <a:srgbClr val="C00000"/>
                </a:solidFill>
              </a:rPr>
              <a:t>(file))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      .handle((payload, headers) -&gt; {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          </a:t>
            </a:r>
            <a:r>
              <a:rPr lang="en-IN" b="1" dirty="0" err="1">
                <a:solidFill>
                  <a:srgbClr val="C00000"/>
                </a:solidFill>
              </a:rPr>
              <a:t>InputStream</a:t>
            </a:r>
            <a:r>
              <a:rPr lang="en-IN" b="1" dirty="0">
                <a:solidFill>
                  <a:srgbClr val="C00000"/>
                </a:solidFill>
              </a:rPr>
              <a:t> is = ((Resource) payload).</a:t>
            </a:r>
            <a:r>
              <a:rPr lang="en-IN" b="1" dirty="0" err="1">
                <a:solidFill>
                  <a:srgbClr val="C00000"/>
                </a:solidFill>
              </a:rPr>
              <a:t>getInputStream</a:t>
            </a:r>
            <a:r>
              <a:rPr lang="en-IN" b="1" dirty="0">
                <a:solidFill>
                  <a:srgbClr val="C00000"/>
                </a:solidFill>
              </a:rPr>
              <a:t>();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          // process stream without loading full file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          return null;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      })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        .get();</a:t>
            </a:r>
            <a:br>
              <a:rPr lang="en-IN" b="1" dirty="0">
                <a:solidFill>
                  <a:srgbClr val="C00000"/>
                </a:solidFill>
              </a:rPr>
            </a:br>
            <a:r>
              <a:rPr lang="en-IN" b="1" dirty="0">
                <a:solidFill>
                  <a:srgbClr val="C00000"/>
                </a:solidFill>
              </a:rPr>
              <a:t>}</a:t>
            </a:r>
          </a:p>
          <a:p>
            <a:pPr marL="0" indent="0">
              <a:buNone/>
            </a:pPr>
            <a:r>
              <a:rPr lang="en-IN" dirty="0"/>
              <a:t>👉 </a:t>
            </a:r>
            <a:r>
              <a:rPr lang="en-IN" b="1" dirty="0"/>
              <a:t>Key idea</a:t>
            </a:r>
            <a:r>
              <a:rPr lang="en-IN" dirty="0"/>
              <a:t>: process chunks, not whole file</a:t>
            </a:r>
          </a:p>
        </p:txBody>
      </p:sp>
    </p:spTree>
    <p:extLst>
      <p:ext uri="{BB962C8B-B14F-4D97-AF65-F5344CB8AC3E}">
        <p14:creationId xmlns:p14="http://schemas.microsoft.com/office/powerpoint/2010/main" val="34560371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0311E-895B-F46C-F992-FD0301E20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BEF73-D84E-8105-6141-BC53816A8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Split Large Payloads (Chunking Pattern)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922FC-28C7-DFA8-6A42-D7719AFA5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r>
              <a:rPr lang="en-IN" dirty="0"/>
              <a:t>Break large payload into smaller pieces.</a:t>
            </a:r>
          </a:p>
          <a:p>
            <a:pPr marL="0" indent="0">
              <a:buNone/>
            </a:pPr>
            <a:r>
              <a:rPr lang="en-IN" dirty="0"/>
              <a:t>.</a:t>
            </a:r>
            <a:r>
              <a:rPr lang="en-IN" b="1" dirty="0"/>
              <a:t>split(</a:t>
            </a:r>
            <a:r>
              <a:rPr lang="en-IN" b="1" dirty="0" err="1"/>
              <a:t>Files.splitter</a:t>
            </a:r>
            <a:r>
              <a:rPr lang="en-IN" b="1" dirty="0"/>
              <a:t>().markers())</a:t>
            </a:r>
          </a:p>
          <a:p>
            <a:r>
              <a:rPr lang="en-IN" dirty="0"/>
              <a:t>OR custom splitter:</a:t>
            </a:r>
          </a:p>
          <a:p>
            <a:pPr marL="0" indent="0">
              <a:buNone/>
            </a:pPr>
            <a:r>
              <a:rPr lang="en-IN" b="1" dirty="0"/>
              <a:t>.split(file -&gt; </a:t>
            </a:r>
            <a:r>
              <a:rPr lang="en-IN" b="1" dirty="0" err="1"/>
              <a:t>Files.lines</a:t>
            </a:r>
            <a:r>
              <a:rPr lang="en-IN" b="1" dirty="0"/>
              <a:t>(</a:t>
            </a:r>
            <a:r>
              <a:rPr lang="en-IN" b="1" dirty="0" err="1"/>
              <a:t>file.toPath</a:t>
            </a:r>
            <a:r>
              <a:rPr lang="en-IN" b="1" dirty="0"/>
              <a:t>()).collect(</a:t>
            </a:r>
            <a:r>
              <a:rPr lang="en-IN" b="1" dirty="0" err="1"/>
              <a:t>Collectors.toList</a:t>
            </a:r>
            <a:r>
              <a:rPr lang="en-IN" b="1" dirty="0"/>
              <a:t>()))</a:t>
            </a:r>
          </a:p>
          <a:p>
            <a:pPr marL="0" indent="0">
              <a:buNone/>
            </a:pPr>
            <a:r>
              <a:rPr lang="en-IN" dirty="0"/>
              <a:t>👉 Useful when:</a:t>
            </a:r>
          </a:p>
          <a:p>
            <a:r>
              <a:rPr lang="en-IN" dirty="0"/>
              <a:t>Processing large CSV line-by-line </a:t>
            </a:r>
          </a:p>
          <a:p>
            <a:r>
              <a:rPr lang="en-IN" dirty="0"/>
              <a:t>Parallel processing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951447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46FFE-B652-5340-F869-960F84AF6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FB871-3834-E900-0153-E6B7969C0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Use Streaming Adapters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A1279B-16F1-E560-EEFC-21AAD6C803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r>
              <a:rPr lang="en-US" dirty="0"/>
              <a:t>Spring Integration provides adapters that support streaming:</a:t>
            </a:r>
          </a:p>
          <a:p>
            <a:endParaRPr lang="en-IN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3A123BB-1F20-BCC7-AAED-6484ADEC6A0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76154180"/>
              </p:ext>
            </p:extLst>
          </p:nvPr>
        </p:nvGraphicFramePr>
        <p:xfrm>
          <a:off x="1273056" y="3659292"/>
          <a:ext cx="882491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12456">
                  <a:extLst>
                    <a:ext uri="{9D8B030D-6E8A-4147-A177-3AD203B41FA5}">
                      <a16:colId xmlns:a16="http://schemas.microsoft.com/office/drawing/2014/main" val="1241396730"/>
                    </a:ext>
                  </a:extLst>
                </a:gridCol>
                <a:gridCol w="4412456">
                  <a:extLst>
                    <a:ext uri="{9D8B030D-6E8A-4147-A177-3AD203B41FA5}">
                      <a16:colId xmlns:a16="http://schemas.microsoft.com/office/drawing/2014/main" val="22268582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Adapter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Streaming Support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72724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File Adapter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03720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FTP/SFTP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10470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HTTP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Yes (InputStream)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66871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JMS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Partial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46824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Kafka (via binder)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Streaming native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1394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8197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1D290-0C05-D4B0-6096-B8C7B0DA5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06EE9-5270-6F42-2B67-3118C9EFC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Backpressure &amp; Pollers</a:t>
            </a:r>
            <a:endParaRPr lang="en-IN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302674-E59C-8332-24A6-DEB1FB8167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Large data needs </a:t>
            </a:r>
            <a:r>
              <a:rPr lang="en-IN" b="1" dirty="0"/>
              <a:t>controlled consumption</a:t>
            </a:r>
            <a:r>
              <a:rPr lang="en-IN" dirty="0"/>
              <a:t>.</a:t>
            </a:r>
          </a:p>
          <a:p>
            <a:pPr marL="0" indent="0">
              <a:buNone/>
            </a:pPr>
            <a:r>
              <a:rPr lang="en-IN" b="1" dirty="0"/>
              <a:t>.</a:t>
            </a:r>
            <a:r>
              <a:rPr lang="en-IN" b="1" dirty="0" err="1"/>
              <a:t>poller</a:t>
            </a:r>
            <a:r>
              <a:rPr lang="en-IN" b="1" dirty="0"/>
              <a:t>(</a:t>
            </a:r>
            <a:r>
              <a:rPr lang="en-IN" b="1" dirty="0" err="1"/>
              <a:t>Pollers.fixedDelay</a:t>
            </a:r>
            <a:r>
              <a:rPr lang="en-IN" b="1" dirty="0"/>
              <a:t>(1000)</a:t>
            </a:r>
            <a:br>
              <a:rPr lang="en-IN" b="1" dirty="0"/>
            </a:br>
            <a:r>
              <a:rPr lang="en-IN" b="1" dirty="0"/>
              <a:t>        .</a:t>
            </a:r>
            <a:r>
              <a:rPr lang="en-IN" b="1" dirty="0" err="1"/>
              <a:t>maxMessagesPerPoll</a:t>
            </a:r>
            <a:r>
              <a:rPr lang="en-IN" b="1" dirty="0"/>
              <a:t>(10))</a:t>
            </a:r>
          </a:p>
          <a:p>
            <a:pPr marL="0" indent="0">
              <a:buNone/>
            </a:pPr>
            <a:r>
              <a:rPr lang="en-IN" dirty="0"/>
              <a:t>Prevents:</a:t>
            </a:r>
          </a:p>
          <a:p>
            <a:r>
              <a:rPr lang="en-IN" dirty="0"/>
              <a:t>Memory overload </a:t>
            </a:r>
          </a:p>
          <a:p>
            <a:r>
              <a:rPr lang="en-IN" dirty="0"/>
              <a:t>Downstream system crash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562777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1776A-8B7D-DE49-6760-72545C85B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660AB-71F2-B2AE-BE72-1218AE987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Persistent Message Store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2205DE-0BC6-4241-993C-665B7001D6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r>
              <a:rPr lang="en-IN" b="1" dirty="0"/>
              <a:t>Critical for Large Data</a:t>
            </a:r>
          </a:p>
          <a:p>
            <a:r>
              <a:rPr lang="en-IN" dirty="0"/>
              <a:t>Instead of keeping payload in memory:</a:t>
            </a:r>
          </a:p>
          <a:p>
            <a:pPr marL="0" indent="0">
              <a:buNone/>
            </a:pPr>
            <a:r>
              <a:rPr lang="en-IN" b="1" dirty="0"/>
              <a:t>@Bean</a:t>
            </a:r>
            <a:br>
              <a:rPr lang="en-IN" b="1" dirty="0"/>
            </a:br>
            <a:r>
              <a:rPr lang="en-IN" b="1" dirty="0"/>
              <a:t>public </a:t>
            </a:r>
            <a:r>
              <a:rPr lang="en-IN" b="1" dirty="0" err="1"/>
              <a:t>MessageStore</a:t>
            </a:r>
            <a:r>
              <a:rPr lang="en-IN" b="1" dirty="0"/>
              <a:t> </a:t>
            </a:r>
            <a:r>
              <a:rPr lang="en-IN" b="1" dirty="0" err="1"/>
              <a:t>messageStore</a:t>
            </a:r>
            <a:r>
              <a:rPr lang="en-IN" b="1" dirty="0"/>
              <a:t>(</a:t>
            </a:r>
            <a:r>
              <a:rPr lang="en-IN" b="1" dirty="0" err="1"/>
              <a:t>DataSource</a:t>
            </a:r>
            <a:r>
              <a:rPr lang="en-IN" b="1" dirty="0"/>
              <a:t> </a:t>
            </a:r>
            <a:r>
              <a:rPr lang="en-IN" b="1" dirty="0" err="1"/>
              <a:t>dataSource</a:t>
            </a:r>
            <a:r>
              <a:rPr lang="en-IN" b="1" dirty="0"/>
              <a:t>) {</a:t>
            </a:r>
            <a:br>
              <a:rPr lang="en-IN" b="1" dirty="0"/>
            </a:br>
            <a:r>
              <a:rPr lang="en-IN" b="1" dirty="0"/>
              <a:t>    return new </a:t>
            </a:r>
            <a:r>
              <a:rPr lang="en-IN" b="1" dirty="0" err="1"/>
              <a:t>JdbcMessageStore</a:t>
            </a:r>
            <a:r>
              <a:rPr lang="en-IN" b="1" dirty="0"/>
              <a:t>(</a:t>
            </a:r>
            <a:r>
              <a:rPr lang="en-IN" b="1" dirty="0" err="1"/>
              <a:t>dataSource</a:t>
            </a:r>
            <a:r>
              <a:rPr lang="en-IN" b="1" dirty="0"/>
              <a:t>);</a:t>
            </a:r>
            <a:br>
              <a:rPr lang="en-IN" b="1" dirty="0"/>
            </a:br>
            <a:r>
              <a:rPr lang="en-IN" b="1" dirty="0"/>
              <a:t>}</a:t>
            </a:r>
          </a:p>
          <a:p>
            <a:pPr marL="0" indent="0">
              <a:buNone/>
            </a:pPr>
            <a:r>
              <a:rPr lang="en-IN" dirty="0"/>
              <a:t>Benefits:</a:t>
            </a:r>
          </a:p>
          <a:p>
            <a:r>
              <a:rPr lang="en-IN" dirty="0"/>
              <a:t>Survives restarts </a:t>
            </a:r>
          </a:p>
          <a:p>
            <a:r>
              <a:rPr lang="en-IN" dirty="0"/>
              <a:t>Handles large payload references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818512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CB838-D79A-DF44-4EC9-C51B9B3E8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A0DC5-058C-AE79-1B58-9226D3ADF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Claim Check Pattern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6722C-4D71-2710-5C82-3C56DD496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>
            <a:normAutofit fontScale="92500" lnSpcReduction="10000"/>
          </a:bodyPr>
          <a:lstStyle/>
          <a:p>
            <a:r>
              <a:rPr lang="en-IN" dirty="0"/>
              <a:t>Instead of sending large payload through system:</a:t>
            </a:r>
          </a:p>
          <a:p>
            <a:r>
              <a:rPr lang="en-IN" dirty="0"/>
              <a:t>👉 Store payload externally (DB, S3, File system)</a:t>
            </a:r>
          </a:p>
          <a:p>
            <a:r>
              <a:rPr lang="en-IN" dirty="0"/>
              <a:t>👉 Send only reference (ID)</a:t>
            </a:r>
          </a:p>
          <a:p>
            <a:pPr marL="0" indent="0">
              <a:buNone/>
            </a:pPr>
            <a:r>
              <a:rPr lang="en-IN" b="1" dirty="0"/>
              <a:t>[Producer]</a:t>
            </a:r>
            <a:br>
              <a:rPr lang="en-IN" b="1" dirty="0"/>
            </a:br>
            <a:r>
              <a:rPr lang="en-IN" b="1" dirty="0"/>
              <a:t>   ↓</a:t>
            </a:r>
            <a:br>
              <a:rPr lang="en-IN" b="1" dirty="0"/>
            </a:br>
            <a:r>
              <a:rPr lang="en-IN" b="1" dirty="0"/>
              <a:t>Store File → DB/S3</a:t>
            </a:r>
            <a:br>
              <a:rPr lang="en-IN" b="1" dirty="0"/>
            </a:br>
            <a:r>
              <a:rPr lang="en-IN" b="1" dirty="0"/>
              <a:t>   ↓</a:t>
            </a:r>
            <a:br>
              <a:rPr lang="en-IN" b="1" dirty="0"/>
            </a:br>
            <a:r>
              <a:rPr lang="en-IN" b="1" dirty="0"/>
              <a:t>Send message with </a:t>
            </a:r>
            <a:r>
              <a:rPr lang="en-IN" b="1" dirty="0" err="1"/>
              <a:t>fileId</a:t>
            </a:r>
            <a:br>
              <a:rPr lang="en-IN" b="1" dirty="0"/>
            </a:br>
            <a:r>
              <a:rPr lang="en-IN" b="1" dirty="0"/>
              <a:t>   ↓</a:t>
            </a:r>
            <a:br>
              <a:rPr lang="en-IN" b="1" dirty="0"/>
            </a:br>
            <a:r>
              <a:rPr lang="en-IN" b="1" dirty="0"/>
              <a:t>[Consumer retrieves file using </a:t>
            </a:r>
            <a:r>
              <a:rPr lang="en-IN" b="1" dirty="0" err="1"/>
              <a:t>fileId</a:t>
            </a:r>
            <a:r>
              <a:rPr lang="en-IN" b="1" dirty="0"/>
              <a:t>]</a:t>
            </a:r>
          </a:p>
          <a:p>
            <a:pPr marL="0" indent="0">
              <a:buNone/>
            </a:pPr>
            <a:r>
              <a:rPr lang="en-IN" dirty="0"/>
              <a:t>Spring Integration Support:</a:t>
            </a:r>
          </a:p>
          <a:p>
            <a:r>
              <a:rPr lang="en-IN" dirty="0"/>
              <a:t>.</a:t>
            </a:r>
            <a:r>
              <a:rPr lang="en-IN" dirty="0" err="1"/>
              <a:t>claimCheckIn</a:t>
            </a:r>
            <a:r>
              <a:rPr lang="en-IN" dirty="0"/>
              <a:t>(</a:t>
            </a:r>
            <a:r>
              <a:rPr lang="en-IN" dirty="0" err="1"/>
              <a:t>messageStore</a:t>
            </a:r>
            <a:r>
              <a:rPr lang="en-IN" dirty="0"/>
              <a:t>)</a:t>
            </a:r>
            <a:br>
              <a:rPr lang="en-IN" dirty="0"/>
            </a:br>
            <a:r>
              <a:rPr lang="en-IN" dirty="0"/>
              <a:t>.</a:t>
            </a:r>
            <a:r>
              <a:rPr lang="en-IN" dirty="0" err="1"/>
              <a:t>claimCheckOut</a:t>
            </a:r>
            <a:r>
              <a:rPr lang="en-IN" dirty="0"/>
              <a:t>(</a:t>
            </a:r>
            <a:r>
              <a:rPr lang="en-IN" dirty="0" err="1"/>
              <a:t>messageStore</a:t>
            </a:r>
            <a:r>
              <a:rPr lang="en-IN" dirty="0"/>
              <a:t>)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62816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2A24D-6556-4078-D800-BBD8B91D2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3B39C-84F9-03C9-667A-6EBF51384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Zero-Copy File Transfers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28D915-E904-CA00-3CE1-4D4F645B3A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For ultra-large files:</a:t>
            </a:r>
          </a:p>
          <a:p>
            <a:r>
              <a:rPr lang="en-US" dirty="0"/>
              <a:t>Use OS-level file movement instead of copying </a:t>
            </a:r>
          </a:p>
          <a:p>
            <a:r>
              <a:rPr lang="en-US" dirty="0"/>
              <a:t>Spring Integration File adapters support this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543077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B2DF6-5016-5265-46C2-A87BEB22E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C37BC-52EB-3454-460A-29A7F5A05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Best Practices</a:t>
            </a:r>
            <a:br>
              <a:rPr lang="en-IN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F5383-8A5A-977A-D8EB-2BF292AC4F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pPr marL="0" indent="0">
              <a:buNone/>
            </a:pPr>
            <a:r>
              <a:rPr lang="en-IN" dirty="0"/>
              <a:t>✔ Use </a:t>
            </a:r>
            <a:r>
              <a:rPr lang="en-IN" dirty="0" err="1"/>
              <a:t>InputStream</a:t>
            </a:r>
            <a:r>
              <a:rPr lang="en-IN" dirty="0"/>
              <a:t> or Resource, NOT String</a:t>
            </a:r>
            <a:br>
              <a:rPr lang="en-IN" dirty="0"/>
            </a:br>
            <a:r>
              <a:rPr lang="en-IN" dirty="0"/>
              <a:t>✔ Use </a:t>
            </a:r>
            <a:r>
              <a:rPr lang="en-IN" b="1" dirty="0"/>
              <a:t>splitters for parallelism</a:t>
            </a:r>
            <a:br>
              <a:rPr lang="en-IN" dirty="0"/>
            </a:br>
            <a:r>
              <a:rPr lang="en-IN" dirty="0"/>
              <a:t>✔ Use </a:t>
            </a:r>
            <a:r>
              <a:rPr lang="en-IN" b="1" dirty="0"/>
              <a:t>claim check for large payloads</a:t>
            </a:r>
            <a:br>
              <a:rPr lang="en-IN" dirty="0"/>
            </a:br>
            <a:r>
              <a:rPr lang="en-IN" dirty="0"/>
              <a:t>✔ Limit poll rate</a:t>
            </a:r>
            <a:br>
              <a:rPr lang="en-IN" dirty="0"/>
            </a:br>
            <a:r>
              <a:rPr lang="en-IN" dirty="0"/>
              <a:t>✔ Use </a:t>
            </a:r>
            <a:r>
              <a:rPr lang="en-IN" b="1" dirty="0"/>
              <a:t>persistent stores</a:t>
            </a:r>
            <a:br>
              <a:rPr lang="en-IN" dirty="0"/>
            </a:br>
            <a:r>
              <a:rPr lang="en-IN" dirty="0"/>
              <a:t>✔ Avoid logging full payload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468342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9204B-627A-3B6A-59CD-9635E51F3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63BD8-4D19-5023-DAE7-D967A5A89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Real-World Example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478EE9-7329-FCDA-16E4-A4F4D2BE08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pPr marL="0" indent="0">
              <a:buNone/>
            </a:pPr>
            <a:r>
              <a:rPr lang="en-IN" b="1" dirty="0"/>
              <a:t>Scenario: Processing 5GB CSV</a:t>
            </a:r>
            <a:endParaRPr lang="en-IN" dirty="0"/>
          </a:p>
          <a:p>
            <a:r>
              <a:rPr lang="en-IN" dirty="0"/>
              <a:t>Pipeline:</a:t>
            </a:r>
          </a:p>
          <a:p>
            <a:pPr marL="0" indent="0">
              <a:buNone/>
            </a:pPr>
            <a:r>
              <a:rPr lang="en-IN" b="1" dirty="0">
                <a:solidFill>
                  <a:srgbClr val="C00000"/>
                </a:solidFill>
              </a:rPr>
              <a:t>File Adapter → Splitter (line-by-line) → Transformer → DB Writer</a:t>
            </a:r>
          </a:p>
          <a:p>
            <a:pPr marL="0" indent="0">
              <a:buNone/>
            </a:pPr>
            <a:r>
              <a:rPr lang="en-IN" dirty="0"/>
              <a:t>Optimizations:</a:t>
            </a:r>
          </a:p>
          <a:p>
            <a:r>
              <a:rPr lang="en-IN" dirty="0"/>
              <a:t>Stream file </a:t>
            </a:r>
          </a:p>
          <a:p>
            <a:r>
              <a:rPr lang="en-IN" dirty="0"/>
              <a:t>Batch DB inserts </a:t>
            </a:r>
          </a:p>
          <a:p>
            <a:r>
              <a:rPr lang="en-IN" dirty="0"/>
              <a:t>Parallel processing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270596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377D5EB-FB45-B730-64C7-9BB758F44954}"/>
              </a:ext>
            </a:extLst>
          </p:cNvPr>
          <p:cNvSpPr txBox="1"/>
          <p:nvPr/>
        </p:nvSpPr>
        <p:spPr>
          <a:xfrm>
            <a:off x="925809" y="-356652"/>
            <a:ext cx="11432445" cy="75713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IN" dirty="0"/>
          </a:p>
          <a:p>
            <a:r>
              <a:rPr lang="en-IN" dirty="0"/>
              <a:t>    @Bean</a:t>
            </a:r>
          </a:p>
          <a:p>
            <a:r>
              <a:rPr lang="en-IN" dirty="0"/>
              <a:t>    public </a:t>
            </a:r>
            <a:r>
              <a:rPr lang="en-IN" dirty="0" err="1"/>
              <a:t>IntegrationFlow</a:t>
            </a:r>
            <a:r>
              <a:rPr lang="en-IN" dirty="0"/>
              <a:t> </a:t>
            </a:r>
            <a:r>
              <a:rPr lang="en-IN" dirty="0" err="1"/>
              <a:t>fileStreamingFlow</a:t>
            </a:r>
            <a:r>
              <a:rPr lang="en-IN" dirty="0"/>
              <a:t>() {</a:t>
            </a:r>
          </a:p>
          <a:p>
            <a:r>
              <a:rPr lang="en-IN" dirty="0"/>
              <a:t>        return </a:t>
            </a:r>
            <a:r>
              <a:rPr lang="en-IN" dirty="0" err="1"/>
              <a:t>IntegrationFlows</a:t>
            </a:r>
            <a:endParaRPr lang="en-IN" dirty="0"/>
          </a:p>
          <a:p>
            <a:r>
              <a:rPr lang="en-IN" dirty="0"/>
              <a:t>                // Step 1: Read file from directory</a:t>
            </a:r>
          </a:p>
          <a:p>
            <a:r>
              <a:rPr lang="en-IN" dirty="0"/>
              <a:t>                .from(</a:t>
            </a:r>
            <a:r>
              <a:rPr lang="en-IN" dirty="0" err="1"/>
              <a:t>Files.inboundAdapter</a:t>
            </a:r>
            <a:r>
              <a:rPr lang="en-IN" dirty="0"/>
              <a:t>(new File("input"))</a:t>
            </a:r>
          </a:p>
          <a:p>
            <a:r>
              <a:rPr lang="en-IN" dirty="0"/>
              <a:t>                                .</a:t>
            </a:r>
            <a:r>
              <a:rPr lang="en-IN" dirty="0" err="1"/>
              <a:t>autoCreateDirectory</a:t>
            </a:r>
            <a:r>
              <a:rPr lang="en-IN" dirty="0"/>
              <a:t>(true),</a:t>
            </a:r>
          </a:p>
          <a:p>
            <a:r>
              <a:rPr lang="en-IN" dirty="0"/>
              <a:t>                        e -&gt; </a:t>
            </a:r>
            <a:r>
              <a:rPr lang="en-IN" dirty="0" err="1"/>
              <a:t>e.poller</a:t>
            </a:r>
            <a:r>
              <a:rPr lang="en-IN" dirty="0"/>
              <a:t>(</a:t>
            </a:r>
            <a:r>
              <a:rPr lang="en-IN" dirty="0" err="1"/>
              <a:t>Pollers.fixedDelay</a:t>
            </a:r>
            <a:r>
              <a:rPr lang="en-IN" dirty="0"/>
              <a:t>(5000)</a:t>
            </a:r>
          </a:p>
          <a:p>
            <a:r>
              <a:rPr lang="en-IN" dirty="0"/>
              <a:t>                                .</a:t>
            </a:r>
            <a:r>
              <a:rPr lang="en-IN" dirty="0" err="1"/>
              <a:t>maxMessagesPerPoll</a:t>
            </a:r>
            <a:r>
              <a:rPr lang="en-IN" dirty="0"/>
              <a:t>(1))) // control load</a:t>
            </a:r>
          </a:p>
          <a:p>
            <a:r>
              <a:rPr lang="en-IN" dirty="0"/>
              <a:t>                // Step 2: Convert File → Stream (lazy)</a:t>
            </a:r>
          </a:p>
          <a:p>
            <a:r>
              <a:rPr lang="en-IN" dirty="0"/>
              <a:t>                .transform(</a:t>
            </a:r>
            <a:r>
              <a:rPr lang="en-IN" dirty="0" err="1"/>
              <a:t>File.class</a:t>
            </a:r>
            <a:r>
              <a:rPr lang="en-IN" dirty="0"/>
              <a:t>, file -&gt; {</a:t>
            </a:r>
          </a:p>
          <a:p>
            <a:r>
              <a:rPr lang="en-IN" dirty="0"/>
              <a:t>                    try {	                        return </a:t>
            </a:r>
            <a:r>
              <a:rPr lang="en-IN" dirty="0" err="1"/>
              <a:t>Files.lines</a:t>
            </a:r>
            <a:r>
              <a:rPr lang="en-IN" dirty="0"/>
              <a:t>(</a:t>
            </a:r>
            <a:r>
              <a:rPr lang="en-IN" dirty="0" err="1"/>
              <a:t>file.toPath</a:t>
            </a:r>
            <a:r>
              <a:rPr lang="en-IN" dirty="0"/>
              <a:t>()); // STREAM	</a:t>
            </a:r>
          </a:p>
          <a:p>
            <a:r>
              <a:rPr lang="en-IN" dirty="0"/>
              <a:t>                    } catch (</a:t>
            </a:r>
            <a:r>
              <a:rPr lang="en-IN" dirty="0" err="1"/>
              <a:t>IOException</a:t>
            </a:r>
            <a:r>
              <a:rPr lang="en-IN" dirty="0"/>
              <a:t> e) {</a:t>
            </a:r>
          </a:p>
          <a:p>
            <a:r>
              <a:rPr lang="en-IN" dirty="0"/>
              <a:t>                        throw new </a:t>
            </a:r>
            <a:r>
              <a:rPr lang="en-IN" dirty="0" err="1"/>
              <a:t>RuntimeException</a:t>
            </a:r>
            <a:r>
              <a:rPr lang="en-IN" dirty="0"/>
              <a:t>(e);		                    } 	                })</a:t>
            </a:r>
          </a:p>
          <a:p>
            <a:r>
              <a:rPr lang="en-IN" dirty="0"/>
              <a:t>                // Step 3: Split stream into individual lines</a:t>
            </a:r>
          </a:p>
          <a:p>
            <a:r>
              <a:rPr lang="en-IN" dirty="0"/>
              <a:t>                </a:t>
            </a:r>
            <a:r>
              <a:rPr lang="en-IN" b="1" dirty="0"/>
              <a:t>.split() // IMPORTANT: streaming split</a:t>
            </a:r>
          </a:p>
          <a:p>
            <a:r>
              <a:rPr lang="en-IN" dirty="0"/>
              <a:t>                // Step 4: Process each line</a:t>
            </a:r>
          </a:p>
          <a:p>
            <a:r>
              <a:rPr lang="en-IN" dirty="0"/>
              <a:t>                .handle((payload, headers) -&gt; {</a:t>
            </a:r>
          </a:p>
          <a:p>
            <a:r>
              <a:rPr lang="en-IN" dirty="0"/>
              <a:t>                    String line = (String) payload;</a:t>
            </a:r>
          </a:p>
          <a:p>
            <a:r>
              <a:rPr lang="en-IN" dirty="0"/>
              <a:t>                    // Business logic</a:t>
            </a:r>
          </a:p>
          <a:p>
            <a:r>
              <a:rPr lang="en-IN" dirty="0"/>
              <a:t>                    </a:t>
            </a:r>
            <a:r>
              <a:rPr lang="en-IN" dirty="0" err="1"/>
              <a:t>System.out.println</a:t>
            </a:r>
            <a:r>
              <a:rPr lang="en-IN" dirty="0"/>
              <a:t>("Processing: " + line);</a:t>
            </a:r>
          </a:p>
          <a:p>
            <a:r>
              <a:rPr lang="en-IN" dirty="0"/>
              <a:t>                    return null;</a:t>
            </a:r>
          </a:p>
          <a:p>
            <a:r>
              <a:rPr lang="en-IN" dirty="0"/>
              <a:t>                })</a:t>
            </a:r>
          </a:p>
          <a:p>
            <a:r>
              <a:rPr lang="en-IN" dirty="0"/>
              <a:t>                .get();</a:t>
            </a:r>
          </a:p>
          <a:p>
            <a:r>
              <a:rPr lang="en-IN" dirty="0"/>
              <a:t>    }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128617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1AEF35-99CA-F564-1C95-30045CA067F5}"/>
              </a:ext>
            </a:extLst>
          </p:cNvPr>
          <p:cNvSpPr txBox="1"/>
          <p:nvPr/>
        </p:nvSpPr>
        <p:spPr>
          <a:xfrm>
            <a:off x="3047593" y="1714727"/>
            <a:ext cx="753402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Processing CSV</a:t>
            </a:r>
          </a:p>
          <a:p>
            <a:pPr rtl="0">
              <a:buNone/>
            </a:pPr>
            <a:r>
              <a:rPr lang="en-IN" dirty="0">
                <a:latin typeface="Courier New" panose="02070309020205020404" pitchFamily="49" charset="0"/>
              </a:rPr>
              <a:t>.handle((payload, headers) -&gt; {</a:t>
            </a:r>
            <a:br>
              <a:rPr lang="en-IN" dirty="0">
                <a:latin typeface="Courier New" panose="02070309020205020404" pitchFamily="49" charset="0"/>
              </a:rPr>
            </a:br>
            <a:r>
              <a:rPr lang="en-IN" dirty="0">
                <a:latin typeface="Courier New" panose="02070309020205020404" pitchFamily="49" charset="0"/>
              </a:rPr>
              <a:t>    String line = (String) payload;</a:t>
            </a:r>
            <a:br>
              <a:rPr lang="en-IN" dirty="0">
                <a:latin typeface="Courier New" panose="02070309020205020404" pitchFamily="49" charset="0"/>
              </a:rPr>
            </a:br>
            <a:br>
              <a:rPr lang="en-IN" dirty="0">
                <a:latin typeface="Courier New" panose="02070309020205020404" pitchFamily="49" charset="0"/>
              </a:rPr>
            </a:br>
            <a:r>
              <a:rPr lang="en-IN" dirty="0">
                <a:latin typeface="Courier New" panose="02070309020205020404" pitchFamily="49" charset="0"/>
              </a:rPr>
              <a:t>    String[] columns = </a:t>
            </a:r>
            <a:r>
              <a:rPr lang="en-IN" dirty="0" err="1">
                <a:latin typeface="Courier New" panose="02070309020205020404" pitchFamily="49" charset="0"/>
              </a:rPr>
              <a:t>line.split</a:t>
            </a:r>
            <a:r>
              <a:rPr lang="en-IN" dirty="0">
                <a:latin typeface="Courier New" panose="02070309020205020404" pitchFamily="49" charset="0"/>
              </a:rPr>
              <a:t>(",");</a:t>
            </a:r>
            <a:br>
              <a:rPr lang="en-IN" dirty="0">
                <a:latin typeface="Courier New" panose="02070309020205020404" pitchFamily="49" charset="0"/>
              </a:rPr>
            </a:br>
            <a:br>
              <a:rPr lang="en-IN" dirty="0">
                <a:latin typeface="Courier New" panose="02070309020205020404" pitchFamily="49" charset="0"/>
              </a:rPr>
            </a:br>
            <a:r>
              <a:rPr lang="en-IN" dirty="0">
                <a:latin typeface="Courier New" panose="02070309020205020404" pitchFamily="49" charset="0"/>
              </a:rPr>
              <a:t>    // Example: insert into DB</a:t>
            </a:r>
            <a:br>
              <a:rPr lang="en-IN" dirty="0">
                <a:latin typeface="Courier New" panose="02070309020205020404" pitchFamily="49" charset="0"/>
              </a:rPr>
            </a:br>
            <a:r>
              <a:rPr lang="en-IN" dirty="0">
                <a:latin typeface="Courier New" panose="02070309020205020404" pitchFamily="49" charset="0"/>
              </a:rPr>
              <a:t>    </a:t>
            </a:r>
            <a:r>
              <a:rPr lang="en-IN" dirty="0" err="1">
                <a:latin typeface="Courier New" panose="02070309020205020404" pitchFamily="49" charset="0"/>
              </a:rPr>
              <a:t>System.out.println</a:t>
            </a:r>
            <a:r>
              <a:rPr lang="en-IN" dirty="0">
                <a:latin typeface="Courier New" panose="02070309020205020404" pitchFamily="49" charset="0"/>
              </a:rPr>
              <a:t>("User: " + columns[0]);</a:t>
            </a:r>
            <a:br>
              <a:rPr lang="en-IN" dirty="0">
                <a:latin typeface="Courier New" panose="02070309020205020404" pitchFamily="49" charset="0"/>
              </a:rPr>
            </a:br>
            <a:br>
              <a:rPr lang="en-IN" dirty="0">
                <a:latin typeface="Courier New" panose="02070309020205020404" pitchFamily="49" charset="0"/>
              </a:rPr>
            </a:br>
            <a:r>
              <a:rPr lang="en-IN" dirty="0">
                <a:latin typeface="Courier New" panose="02070309020205020404" pitchFamily="49" charset="0"/>
              </a:rPr>
              <a:t>    return null;</a:t>
            </a:r>
            <a:br>
              <a:rPr lang="en-IN" dirty="0">
                <a:latin typeface="Courier New" panose="02070309020205020404" pitchFamily="49" charset="0"/>
              </a:rPr>
            </a:br>
            <a:r>
              <a:rPr lang="en-IN" dirty="0">
                <a:latin typeface="Courier New" panose="02070309020205020404" pitchFamily="49" charset="0"/>
              </a:rPr>
              <a:t>})</a:t>
            </a:r>
          </a:p>
        </p:txBody>
      </p:sp>
    </p:spTree>
    <p:extLst>
      <p:ext uri="{BB962C8B-B14F-4D97-AF65-F5344CB8AC3E}">
        <p14:creationId xmlns:p14="http://schemas.microsoft.com/office/powerpoint/2010/main" val="19100301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7E86EA-B105-1D1A-F953-2038BB62B4E0}"/>
              </a:ext>
            </a:extLst>
          </p:cNvPr>
          <p:cNvSpPr txBox="1"/>
          <p:nvPr/>
        </p:nvSpPr>
        <p:spPr>
          <a:xfrm>
            <a:off x="1413164" y="1991726"/>
            <a:ext cx="9843247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Proper Streaming with Auto-Close</a:t>
            </a:r>
          </a:p>
          <a:p>
            <a:pPr rtl="0">
              <a:buNone/>
            </a:pPr>
            <a:r>
              <a:rPr lang="en-IN" dirty="0">
                <a:latin typeface="Courier New" panose="02070309020205020404" pitchFamily="49" charset="0"/>
              </a:rPr>
              <a:t>.transform(</a:t>
            </a:r>
            <a:r>
              <a:rPr lang="en-IN" dirty="0" err="1">
                <a:latin typeface="Courier New" panose="02070309020205020404" pitchFamily="49" charset="0"/>
              </a:rPr>
              <a:t>File.class</a:t>
            </a:r>
            <a:r>
              <a:rPr lang="en-IN" dirty="0">
                <a:latin typeface="Courier New" panose="02070309020205020404" pitchFamily="49" charset="0"/>
              </a:rPr>
              <a:t>, file -&gt; {</a:t>
            </a:r>
            <a:br>
              <a:rPr lang="en-IN" dirty="0">
                <a:latin typeface="Courier New" panose="02070309020205020404" pitchFamily="49" charset="0"/>
              </a:rPr>
            </a:br>
            <a:r>
              <a:rPr lang="en-IN" dirty="0">
                <a:latin typeface="Courier New" panose="02070309020205020404" pitchFamily="49" charset="0"/>
              </a:rPr>
              <a:t>    try {</a:t>
            </a:r>
            <a:br>
              <a:rPr lang="en-IN" dirty="0">
                <a:latin typeface="Courier New" panose="02070309020205020404" pitchFamily="49" charset="0"/>
              </a:rPr>
            </a:br>
            <a:r>
              <a:rPr lang="en-IN" dirty="0">
                <a:latin typeface="Courier New" panose="02070309020205020404" pitchFamily="49" charset="0"/>
              </a:rPr>
              <a:t>        return </a:t>
            </a:r>
            <a:r>
              <a:rPr lang="en-IN" dirty="0" err="1">
                <a:latin typeface="Courier New" panose="02070309020205020404" pitchFamily="49" charset="0"/>
              </a:rPr>
              <a:t>Files.lines</a:t>
            </a:r>
            <a:r>
              <a:rPr lang="en-IN" dirty="0">
                <a:latin typeface="Courier New" panose="02070309020205020404" pitchFamily="49" charset="0"/>
              </a:rPr>
              <a:t>(</a:t>
            </a:r>
            <a:r>
              <a:rPr lang="en-IN" dirty="0" err="1">
                <a:latin typeface="Courier New" panose="02070309020205020404" pitchFamily="49" charset="0"/>
              </a:rPr>
              <a:t>file.toPath</a:t>
            </a:r>
            <a:r>
              <a:rPr lang="en-IN" dirty="0">
                <a:latin typeface="Courier New" panose="02070309020205020404" pitchFamily="49" charset="0"/>
              </a:rPr>
              <a:t>())</a:t>
            </a:r>
            <a:br>
              <a:rPr lang="en-IN" dirty="0">
                <a:latin typeface="Courier New" panose="02070309020205020404" pitchFamily="49" charset="0"/>
              </a:rPr>
            </a:br>
            <a:r>
              <a:rPr lang="en-IN" dirty="0">
                <a:latin typeface="Courier New" panose="02070309020205020404" pitchFamily="49" charset="0"/>
              </a:rPr>
              <a:t>                .</a:t>
            </a:r>
            <a:r>
              <a:rPr lang="en-IN" dirty="0" err="1">
                <a:latin typeface="Courier New" panose="02070309020205020404" pitchFamily="49" charset="0"/>
              </a:rPr>
              <a:t>onClose</a:t>
            </a:r>
            <a:r>
              <a:rPr lang="en-IN" dirty="0">
                <a:latin typeface="Courier New" panose="02070309020205020404" pitchFamily="49" charset="0"/>
              </a:rPr>
              <a:t>(() -&gt; </a:t>
            </a:r>
            <a:r>
              <a:rPr lang="en-IN" dirty="0" err="1">
                <a:latin typeface="Courier New" panose="02070309020205020404" pitchFamily="49" charset="0"/>
              </a:rPr>
              <a:t>System.out.println</a:t>
            </a:r>
            <a:r>
              <a:rPr lang="en-IN" dirty="0">
                <a:latin typeface="Courier New" panose="02070309020205020404" pitchFamily="49" charset="0"/>
              </a:rPr>
              <a:t>("Stream closed"));</a:t>
            </a:r>
            <a:br>
              <a:rPr lang="en-IN" dirty="0">
                <a:latin typeface="Courier New" panose="02070309020205020404" pitchFamily="49" charset="0"/>
              </a:rPr>
            </a:br>
            <a:r>
              <a:rPr lang="en-IN" dirty="0">
                <a:latin typeface="Courier New" panose="02070309020205020404" pitchFamily="49" charset="0"/>
              </a:rPr>
              <a:t>    } catch (</a:t>
            </a:r>
            <a:r>
              <a:rPr lang="en-IN" dirty="0" err="1">
                <a:latin typeface="Courier New" panose="02070309020205020404" pitchFamily="49" charset="0"/>
              </a:rPr>
              <a:t>IOException</a:t>
            </a:r>
            <a:r>
              <a:rPr lang="en-IN" dirty="0">
                <a:latin typeface="Courier New" panose="02070309020205020404" pitchFamily="49" charset="0"/>
              </a:rPr>
              <a:t> e) {</a:t>
            </a:r>
            <a:br>
              <a:rPr lang="en-IN" dirty="0">
                <a:latin typeface="Courier New" panose="02070309020205020404" pitchFamily="49" charset="0"/>
              </a:rPr>
            </a:br>
            <a:r>
              <a:rPr lang="en-IN" dirty="0">
                <a:latin typeface="Courier New" panose="02070309020205020404" pitchFamily="49" charset="0"/>
              </a:rPr>
              <a:t>        throw new </a:t>
            </a:r>
            <a:r>
              <a:rPr lang="en-IN" dirty="0" err="1">
                <a:latin typeface="Courier New" panose="02070309020205020404" pitchFamily="49" charset="0"/>
              </a:rPr>
              <a:t>RuntimeException</a:t>
            </a:r>
            <a:r>
              <a:rPr lang="en-IN" dirty="0">
                <a:latin typeface="Courier New" panose="02070309020205020404" pitchFamily="49" charset="0"/>
              </a:rPr>
              <a:t>(e);</a:t>
            </a:r>
            <a:br>
              <a:rPr lang="en-IN" dirty="0">
                <a:latin typeface="Courier New" panose="02070309020205020404" pitchFamily="49" charset="0"/>
              </a:rPr>
            </a:br>
            <a:r>
              <a:rPr lang="en-IN" dirty="0">
                <a:latin typeface="Courier New" panose="02070309020205020404" pitchFamily="49" charset="0"/>
              </a:rPr>
              <a:t>    }</a:t>
            </a:r>
            <a:br>
              <a:rPr lang="en-IN" dirty="0">
                <a:latin typeface="Courier New" panose="02070309020205020404" pitchFamily="49" charset="0"/>
              </a:rPr>
            </a:br>
            <a:r>
              <a:rPr lang="en-IN" dirty="0">
                <a:latin typeface="Courier New" panose="02070309020205020404" pitchFamily="49" charset="0"/>
              </a:rPr>
              <a:t>})</a:t>
            </a:r>
          </a:p>
        </p:txBody>
      </p:sp>
    </p:spTree>
    <p:extLst>
      <p:ext uri="{BB962C8B-B14F-4D97-AF65-F5344CB8AC3E}">
        <p14:creationId xmlns:p14="http://schemas.microsoft.com/office/powerpoint/2010/main" val="33389214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72284FA-D884-DB85-A9E4-BF5564CE2B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Batch Processing Integration with Spring Batch</a:t>
            </a:r>
            <a:endParaRPr lang="en-IN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0FAD60F-5291-864E-DB8F-FF61BD34536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45226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3A5A2-EBEA-BD35-BDE5-D10165BC1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37B1D-DC20-42D3-88B7-C92D855BA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Combine Spring Integration + Spring Batch?</a:t>
            </a:r>
            <a:endParaRPr lang="en-IN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FE11B2C-FBD7-593E-3181-237501145E3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5195802"/>
              </p:ext>
            </p:extLst>
          </p:nvPr>
        </p:nvGraphicFramePr>
        <p:xfrm>
          <a:off x="1155700" y="2603500"/>
          <a:ext cx="882491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12456">
                  <a:extLst>
                    <a:ext uri="{9D8B030D-6E8A-4147-A177-3AD203B41FA5}">
                      <a16:colId xmlns:a16="http://schemas.microsoft.com/office/drawing/2014/main" val="1855957206"/>
                    </a:ext>
                  </a:extLst>
                </a:gridCol>
                <a:gridCol w="4412456">
                  <a:extLst>
                    <a:ext uri="{9D8B030D-6E8A-4147-A177-3AD203B41FA5}">
                      <a16:colId xmlns:a16="http://schemas.microsoft.com/office/drawing/2014/main" val="29874544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Spring Integration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Spring Batch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936565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Real-time / event-driven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Bulk processing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8542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Message-based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Chunk-based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008961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Streaming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Scheduled jobs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351382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0972EC4-7317-15D2-2545-3B7BE3045401}"/>
              </a:ext>
            </a:extLst>
          </p:cNvPr>
          <p:cNvSpPr txBox="1"/>
          <p:nvPr/>
        </p:nvSpPr>
        <p:spPr>
          <a:xfrm>
            <a:off x="1116106" y="4630242"/>
            <a:ext cx="60951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Together: </a:t>
            </a:r>
            <a:r>
              <a:rPr lang="en-US" b="1" dirty="0"/>
              <a:t>Event-driven batch processing system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348605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C21D7-DF0E-64F0-43ED-C63668DEB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F3BD5F-B493-732D-DE06-D157E913C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Why combine them?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1A7595-8BB8-0DBD-0AAB-D2D5426D5A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r>
              <a:rPr lang="en-US" b="1" dirty="0"/>
              <a:t>Spring Batch:</a:t>
            </a:r>
            <a:r>
              <a:rPr lang="en-US" dirty="0"/>
              <a:t> Optimized for processing millions of records using a "Read-Process-Write" strategy. It handles transactions, restarts, and skipping errors.</a:t>
            </a:r>
          </a:p>
          <a:p>
            <a:r>
              <a:rPr lang="en-US" b="1" dirty="0"/>
              <a:t>Spring Integration:</a:t>
            </a:r>
            <a:r>
              <a:rPr lang="en-US" dirty="0"/>
              <a:t> Optimized for connecting systems using "Messages" and "Channels." It follows Enterprise Integration Patterns (EIP).</a:t>
            </a:r>
          </a:p>
          <a:p>
            <a:r>
              <a:rPr lang="en-US" b="1" dirty="0"/>
              <a:t>The Synergy:</a:t>
            </a:r>
            <a:r>
              <a:rPr lang="en-US" dirty="0"/>
              <a:t> Spring Integration acts as the "trigger" or the "orchestrator," while Spring Batch acts as the "heavy lifter."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871275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333F0-956A-31FB-837E-E3520B349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68DC4-65B4-C857-1FCD-AFC427EAD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Launching a Job via Messaging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670B5B-1EB1-7FFE-BAA2-0DF70B425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r>
              <a:rPr lang="en-US" dirty="0"/>
              <a:t>Most common use case is starting a Batch Job automatically when a message arrives.</a:t>
            </a: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Key Component: </a:t>
            </a:r>
            <a:r>
              <a:rPr lang="en-US" b="1" dirty="0" err="1">
                <a:solidFill>
                  <a:srgbClr val="FF0000"/>
                </a:solidFill>
              </a:rPr>
              <a:t>JobLaunchingMessageHandler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dirty="0"/>
              <a:t>This component listens to a Spring Integration </a:t>
            </a:r>
            <a:r>
              <a:rPr lang="en-US" dirty="0" err="1"/>
              <a:t>MessageChannel</a:t>
            </a:r>
            <a:r>
              <a:rPr lang="en-US" dirty="0"/>
              <a:t> and converts a </a:t>
            </a:r>
            <a:r>
              <a:rPr lang="en-US" dirty="0" err="1"/>
              <a:t>JobLaunchRequest</a:t>
            </a:r>
            <a:r>
              <a:rPr lang="en-US" dirty="0"/>
              <a:t> into a running Job.</a:t>
            </a:r>
          </a:p>
          <a:p>
            <a:br>
              <a:rPr lang="en-US" dirty="0"/>
            </a:br>
            <a:r>
              <a:rPr lang="en-US" dirty="0"/>
              <a:t>Launching a Spring Batch job via messaging is the most common way to transition from an </a:t>
            </a:r>
            <a:r>
              <a:rPr lang="en-US" b="1" dirty="0"/>
              <a:t>event-driven</a:t>
            </a:r>
            <a:r>
              <a:rPr lang="en-US" dirty="0"/>
              <a:t> architecture (where things happen randomly) to a </a:t>
            </a:r>
            <a:r>
              <a:rPr lang="en-US" b="1" dirty="0"/>
              <a:t>batch-processing</a:t>
            </a:r>
            <a:r>
              <a:rPr lang="en-US" dirty="0"/>
              <a:t> architecture (where data is processed in bulk).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130195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CEC68F-3497-4112-84A5-544F54566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Core Workflow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739A1A-5529-AEEC-BCF0-E9A9D257DF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746916" cy="38266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process follows a specific sequence of transformations:</a:t>
            </a:r>
          </a:p>
          <a:p>
            <a:r>
              <a:rPr lang="en-US" b="1" dirty="0"/>
              <a:t>The Trigger:</a:t>
            </a:r>
            <a:r>
              <a:rPr lang="en-US" dirty="0"/>
              <a:t> An external event occurs (e.g., a file is uploaded, or a JSON message arrives in RabbitMQ).</a:t>
            </a:r>
          </a:p>
          <a:p>
            <a:r>
              <a:rPr lang="en-US" b="1" dirty="0"/>
              <a:t>The Message:</a:t>
            </a:r>
            <a:r>
              <a:rPr lang="en-US" dirty="0"/>
              <a:t> Spring Integration captures this as a Message&lt;T&gt;.</a:t>
            </a:r>
          </a:p>
          <a:p>
            <a:r>
              <a:rPr lang="en-US" b="1" dirty="0"/>
              <a:t>The Transformation:</a:t>
            </a:r>
            <a:r>
              <a:rPr lang="en-US" dirty="0"/>
              <a:t> The message payload is transformed into a </a:t>
            </a:r>
            <a:r>
              <a:rPr lang="en-US" dirty="0" err="1"/>
              <a:t>JobLaunchRequest</a:t>
            </a:r>
            <a:r>
              <a:rPr lang="en-US" dirty="0"/>
              <a:t>.</a:t>
            </a:r>
          </a:p>
          <a:p>
            <a:r>
              <a:rPr lang="en-US" b="1" dirty="0"/>
              <a:t>The Handler:</a:t>
            </a:r>
            <a:r>
              <a:rPr lang="en-US" dirty="0"/>
              <a:t> The </a:t>
            </a:r>
            <a:r>
              <a:rPr lang="en-US" dirty="0" err="1"/>
              <a:t>JobLaunchingMessageHandler</a:t>
            </a:r>
            <a:r>
              <a:rPr lang="en-US" dirty="0"/>
              <a:t> receives the request and uses a </a:t>
            </a:r>
            <a:r>
              <a:rPr lang="en-US" dirty="0" err="1"/>
              <a:t>JobLauncher</a:t>
            </a:r>
            <a:r>
              <a:rPr lang="en-US" dirty="0"/>
              <a:t> to start the Batch Job.</a:t>
            </a:r>
          </a:p>
          <a:p>
            <a:r>
              <a:rPr lang="en-US" b="1" dirty="0"/>
              <a:t>The Result:</a:t>
            </a:r>
            <a:r>
              <a:rPr lang="en-US" dirty="0"/>
              <a:t> The handler outputs a </a:t>
            </a:r>
            <a:r>
              <a:rPr lang="en-US" dirty="0" err="1"/>
              <a:t>JobExecution</a:t>
            </a:r>
            <a:r>
              <a:rPr lang="en-US" dirty="0"/>
              <a:t> object, which can be used to track if the job started successfully.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763322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4BF1-99E8-C97E-F946-BB23A74AC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Key Components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188BC5-DE9B-AFBC-0E6E-4F5E38F685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698017" cy="374840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A. </a:t>
            </a:r>
            <a:r>
              <a:rPr lang="en-US" b="1" dirty="0" err="1"/>
              <a:t>JobLaunchRequest</a:t>
            </a:r>
            <a:endParaRPr lang="en-US" b="1" dirty="0"/>
          </a:p>
          <a:p>
            <a:r>
              <a:rPr lang="en-US" dirty="0"/>
              <a:t>This is a simple wrapper object. It is NOT the job itself, but the </a:t>
            </a:r>
            <a:r>
              <a:rPr lang="en-US" b="1" dirty="0"/>
              <a:t>instruction</a:t>
            </a:r>
            <a:r>
              <a:rPr lang="en-US" dirty="0"/>
              <a:t> to run a job. It requires two things:</a:t>
            </a:r>
          </a:p>
          <a:p>
            <a:r>
              <a:rPr lang="en-US" dirty="0"/>
              <a:t>The Job bean to be executed.</a:t>
            </a:r>
          </a:p>
          <a:p>
            <a:r>
              <a:rPr lang="en-US" dirty="0" err="1"/>
              <a:t>JobParameters</a:t>
            </a:r>
            <a:r>
              <a:rPr lang="en-US" dirty="0"/>
              <a:t> (e.g., the timestamp, the input file path).</a:t>
            </a:r>
          </a:p>
          <a:p>
            <a:pPr marL="0" indent="0">
              <a:buNone/>
            </a:pPr>
            <a:r>
              <a:rPr lang="en-US" b="1" dirty="0"/>
              <a:t>B. </a:t>
            </a:r>
            <a:r>
              <a:rPr lang="en-US" b="1" dirty="0" err="1"/>
              <a:t>JobLaunchingMessageHandler</a:t>
            </a:r>
            <a:endParaRPr lang="en-US" b="1" dirty="0"/>
          </a:p>
          <a:p>
            <a:r>
              <a:rPr lang="en-US" dirty="0"/>
              <a:t>This is the "bridge." It is a Spring Integration MessageHandler.</a:t>
            </a:r>
          </a:p>
          <a:p>
            <a:r>
              <a:rPr lang="en-US" b="1" dirty="0"/>
              <a:t>Input:</a:t>
            </a:r>
            <a:r>
              <a:rPr lang="en-US" dirty="0"/>
              <a:t> Expects a </a:t>
            </a:r>
            <a:r>
              <a:rPr lang="en-US" dirty="0" err="1"/>
              <a:t>JobLaunchRequest</a:t>
            </a:r>
            <a:r>
              <a:rPr lang="en-US" dirty="0"/>
              <a:t>.</a:t>
            </a:r>
          </a:p>
          <a:p>
            <a:r>
              <a:rPr lang="en-US" b="1" dirty="0"/>
              <a:t>Action:</a:t>
            </a:r>
            <a:r>
              <a:rPr lang="en-US" dirty="0"/>
              <a:t> Calls </a:t>
            </a:r>
            <a:r>
              <a:rPr lang="en-US" dirty="0" err="1"/>
              <a:t>jobLauncher.run</a:t>
            </a:r>
            <a:r>
              <a:rPr lang="en-US" dirty="0"/>
              <a:t>(job, parameters).</a:t>
            </a:r>
          </a:p>
          <a:p>
            <a:r>
              <a:rPr lang="en-US" b="1" dirty="0"/>
              <a:t>Output:</a:t>
            </a:r>
            <a:r>
              <a:rPr lang="en-US" dirty="0"/>
              <a:t> Returns the </a:t>
            </a:r>
            <a:r>
              <a:rPr lang="en-US" dirty="0" err="1"/>
              <a:t>JobExecution</a:t>
            </a:r>
            <a:r>
              <a:rPr lang="en-US" dirty="0"/>
              <a:t> object to the next channel.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057590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E03160E-0D5A-DCE0-55C5-CB72BE364BA7}"/>
              </a:ext>
            </a:extLst>
          </p:cNvPr>
          <p:cNvSpPr txBox="1"/>
          <p:nvPr/>
        </p:nvSpPr>
        <p:spPr>
          <a:xfrm>
            <a:off x="607155" y="308109"/>
            <a:ext cx="11769844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@Configuration</a:t>
            </a:r>
          </a:p>
          <a:p>
            <a:r>
              <a:rPr lang="en-IN" dirty="0"/>
              <a:t>@EnableBatchProcessing</a:t>
            </a:r>
          </a:p>
          <a:p>
            <a:r>
              <a:rPr lang="en-IN" dirty="0"/>
              <a:t>@EnableIntegration</a:t>
            </a:r>
          </a:p>
          <a:p>
            <a:r>
              <a:rPr lang="en-IN" dirty="0"/>
              <a:t>public class </a:t>
            </a:r>
            <a:r>
              <a:rPr lang="en-IN" dirty="0" err="1"/>
              <a:t>BatchIntegrationConfig</a:t>
            </a:r>
            <a:r>
              <a:rPr lang="en-IN" dirty="0"/>
              <a:t> {</a:t>
            </a:r>
          </a:p>
          <a:p>
            <a:endParaRPr lang="en-IN" dirty="0"/>
          </a:p>
          <a:p>
            <a:r>
              <a:rPr lang="en-IN" dirty="0"/>
              <a:t>    </a:t>
            </a:r>
          </a:p>
          <a:p>
            <a:r>
              <a:rPr lang="en-IN" dirty="0"/>
              <a:t>    // 2. Integration Flow: File arrives -&gt; Start Batch Job</a:t>
            </a:r>
          </a:p>
          <a:p>
            <a:r>
              <a:rPr lang="en-IN" dirty="0"/>
              <a:t>    @Bean</a:t>
            </a:r>
          </a:p>
          <a:p>
            <a:r>
              <a:rPr lang="en-IN" dirty="0"/>
              <a:t>    public </a:t>
            </a:r>
            <a:r>
              <a:rPr lang="en-IN" dirty="0" err="1"/>
              <a:t>IntegrationFlow</a:t>
            </a:r>
            <a:r>
              <a:rPr lang="en-IN" dirty="0"/>
              <a:t> </a:t>
            </a:r>
            <a:r>
              <a:rPr lang="en-IN" dirty="0" err="1"/>
              <a:t>fileTriggerFlow</a:t>
            </a:r>
            <a:r>
              <a:rPr lang="en-IN" dirty="0"/>
              <a:t>(</a:t>
            </a:r>
            <a:r>
              <a:rPr lang="en-IN" dirty="0" err="1"/>
              <a:t>JobLaunchingMessageHandler</a:t>
            </a:r>
            <a:r>
              <a:rPr lang="en-IN" dirty="0"/>
              <a:t> handler) {</a:t>
            </a:r>
          </a:p>
          <a:p>
            <a:r>
              <a:rPr lang="en-IN" dirty="0"/>
              <a:t>        return </a:t>
            </a:r>
            <a:r>
              <a:rPr lang="en-IN" dirty="0" err="1"/>
              <a:t>IntegrationFlow.from</a:t>
            </a:r>
            <a:r>
              <a:rPr lang="en-IN" dirty="0"/>
              <a:t>(</a:t>
            </a:r>
            <a:r>
              <a:rPr lang="en-IN" dirty="0" err="1"/>
              <a:t>Files.inboundAdapter</a:t>
            </a:r>
            <a:r>
              <a:rPr lang="en-IN" dirty="0"/>
              <a:t>(new File("input-</a:t>
            </a:r>
            <a:r>
              <a:rPr lang="en-IN" dirty="0" err="1"/>
              <a:t>dir</a:t>
            </a:r>
            <a:r>
              <a:rPr lang="en-IN" dirty="0"/>
              <a:t>")),</a:t>
            </a:r>
          </a:p>
          <a:p>
            <a:r>
              <a:rPr lang="en-IN" dirty="0"/>
              <a:t>                        e -&gt; </a:t>
            </a:r>
            <a:r>
              <a:rPr lang="en-IN" dirty="0" err="1"/>
              <a:t>e.poller</a:t>
            </a:r>
            <a:r>
              <a:rPr lang="en-IN" dirty="0"/>
              <a:t>(</a:t>
            </a:r>
            <a:r>
              <a:rPr lang="en-IN" dirty="0" err="1"/>
              <a:t>Pollers.fixedDelay</a:t>
            </a:r>
            <a:r>
              <a:rPr lang="en-IN" dirty="0"/>
              <a:t>(5000)))</a:t>
            </a:r>
          </a:p>
          <a:p>
            <a:r>
              <a:rPr lang="en-IN" dirty="0"/>
              <a:t>                .transform(file -&gt; {</a:t>
            </a:r>
          </a:p>
          <a:p>
            <a:r>
              <a:rPr lang="en-IN" dirty="0"/>
              <a:t>                    // Wrap the file path as a Job Parameter</a:t>
            </a:r>
          </a:p>
          <a:p>
            <a:r>
              <a:rPr lang="en-IN" dirty="0"/>
              <a:t>                    </a:t>
            </a:r>
            <a:r>
              <a:rPr lang="en-IN" dirty="0" err="1"/>
              <a:t>JobParameters</a:t>
            </a:r>
            <a:r>
              <a:rPr lang="en-IN" dirty="0"/>
              <a:t> params = new </a:t>
            </a:r>
            <a:r>
              <a:rPr lang="en-IN" dirty="0" err="1"/>
              <a:t>JobParametersBuilder</a:t>
            </a:r>
            <a:r>
              <a:rPr lang="en-IN" dirty="0"/>
              <a:t>()</a:t>
            </a:r>
          </a:p>
          <a:p>
            <a:r>
              <a:rPr lang="en-IN" dirty="0"/>
              <a:t>                            .</a:t>
            </a:r>
            <a:r>
              <a:rPr lang="en-IN" dirty="0" err="1"/>
              <a:t>addString</a:t>
            </a:r>
            <a:r>
              <a:rPr lang="en-IN" dirty="0"/>
              <a:t>("</a:t>
            </a:r>
            <a:r>
              <a:rPr lang="en-IN" dirty="0" err="1"/>
              <a:t>file.path</a:t>
            </a:r>
            <a:r>
              <a:rPr lang="en-IN" dirty="0"/>
              <a:t>", ((File)file).</a:t>
            </a:r>
            <a:r>
              <a:rPr lang="en-IN" dirty="0" err="1"/>
              <a:t>getAbsolutePath</a:t>
            </a:r>
            <a:r>
              <a:rPr lang="en-IN" dirty="0"/>
              <a:t>())</a:t>
            </a:r>
          </a:p>
          <a:p>
            <a:r>
              <a:rPr lang="en-IN" dirty="0"/>
              <a:t>                            .</a:t>
            </a:r>
            <a:r>
              <a:rPr lang="en-IN" dirty="0" err="1"/>
              <a:t>toJobParameters</a:t>
            </a:r>
            <a:r>
              <a:rPr lang="en-IN" dirty="0"/>
              <a:t>();</a:t>
            </a:r>
          </a:p>
          <a:p>
            <a:r>
              <a:rPr lang="en-IN" dirty="0"/>
              <a:t>                    return new </a:t>
            </a:r>
            <a:r>
              <a:rPr lang="en-IN" dirty="0" err="1"/>
              <a:t>JobLaunchRequest</a:t>
            </a:r>
            <a:r>
              <a:rPr lang="en-IN" dirty="0"/>
              <a:t>(</a:t>
            </a:r>
            <a:r>
              <a:rPr lang="en-IN" dirty="0" err="1"/>
              <a:t>transformJob</a:t>
            </a:r>
            <a:r>
              <a:rPr lang="en-IN" dirty="0"/>
              <a:t>(null, null), params);</a:t>
            </a:r>
          </a:p>
          <a:p>
            <a:r>
              <a:rPr lang="en-IN" dirty="0"/>
              <a:t>                })</a:t>
            </a:r>
          </a:p>
          <a:p>
            <a:r>
              <a:rPr lang="en-IN" dirty="0"/>
              <a:t>                .handle(handler) // This launches the job</a:t>
            </a:r>
          </a:p>
          <a:p>
            <a:r>
              <a:rPr lang="en-IN" dirty="0"/>
              <a:t>                .get();</a:t>
            </a:r>
          </a:p>
          <a:p>
            <a:r>
              <a:rPr lang="en-IN" dirty="0"/>
              <a:t>    }</a:t>
            </a:r>
          </a:p>
          <a:p>
            <a:endParaRPr lang="en-IN" dirty="0"/>
          </a:p>
          <a:p>
            <a:r>
              <a:rPr lang="en-IN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982259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95F49B7-4C02-04F5-1D3A-62EF7B7DE8AA}"/>
              </a:ext>
            </a:extLst>
          </p:cNvPr>
          <p:cNvSpPr txBox="1"/>
          <p:nvPr/>
        </p:nvSpPr>
        <p:spPr>
          <a:xfrm>
            <a:off x="583114" y="4061399"/>
            <a:ext cx="10076736" cy="175432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IN" dirty="0"/>
              <a:t> @Bean</a:t>
            </a:r>
          </a:p>
          <a:p>
            <a:r>
              <a:rPr lang="en-IN" dirty="0"/>
              <a:t>    @ServiceActivator(inputChannel = "</a:t>
            </a:r>
            <a:r>
              <a:rPr lang="en-IN" dirty="0" err="1"/>
              <a:t>jobLaunchChannel</a:t>
            </a:r>
            <a:r>
              <a:rPr lang="en-IN" dirty="0"/>
              <a:t>")</a:t>
            </a:r>
          </a:p>
          <a:p>
            <a:r>
              <a:rPr lang="en-IN" dirty="0"/>
              <a:t>    public </a:t>
            </a:r>
            <a:r>
              <a:rPr lang="en-IN" dirty="0" err="1"/>
              <a:t>JobLaunchingMessageHandler</a:t>
            </a:r>
            <a:r>
              <a:rPr lang="en-IN" dirty="0"/>
              <a:t> </a:t>
            </a:r>
            <a:r>
              <a:rPr lang="en-IN" dirty="0" err="1"/>
              <a:t>jobLaunchingMessageHandler</a:t>
            </a:r>
            <a:r>
              <a:rPr lang="en-IN" dirty="0"/>
              <a:t>(</a:t>
            </a:r>
            <a:r>
              <a:rPr lang="en-IN" dirty="0" err="1"/>
              <a:t>JobLauncher</a:t>
            </a:r>
            <a:r>
              <a:rPr lang="en-IN" dirty="0"/>
              <a:t> </a:t>
            </a:r>
            <a:r>
              <a:rPr lang="en-IN" dirty="0" err="1"/>
              <a:t>jobLauncher</a:t>
            </a:r>
            <a:r>
              <a:rPr lang="en-IN" dirty="0"/>
              <a:t>) {</a:t>
            </a:r>
          </a:p>
          <a:p>
            <a:r>
              <a:rPr lang="en-IN" dirty="0"/>
              <a:t>        return new </a:t>
            </a:r>
            <a:r>
              <a:rPr lang="en-IN" dirty="0" err="1"/>
              <a:t>JobLaunchingMessageHandler</a:t>
            </a:r>
            <a:r>
              <a:rPr lang="en-IN" dirty="0"/>
              <a:t>(</a:t>
            </a:r>
            <a:r>
              <a:rPr lang="en-IN" dirty="0" err="1"/>
              <a:t>jobLauncher</a:t>
            </a:r>
            <a:r>
              <a:rPr lang="en-IN" dirty="0"/>
              <a:t>);</a:t>
            </a:r>
          </a:p>
          <a:p>
            <a:r>
              <a:rPr lang="en-IN" dirty="0"/>
              <a:t>    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02F9DE-4D20-FCA0-9C60-BE6BD6347314}"/>
              </a:ext>
            </a:extLst>
          </p:cNvPr>
          <p:cNvSpPr txBox="1"/>
          <p:nvPr/>
        </p:nvSpPr>
        <p:spPr>
          <a:xfrm>
            <a:off x="720028" y="719821"/>
            <a:ext cx="9172117" cy="20313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IN" dirty="0"/>
              <a:t>// 1. The Batch Job</a:t>
            </a:r>
          </a:p>
          <a:p>
            <a:r>
              <a:rPr lang="en-IN" dirty="0"/>
              <a:t>    @Bean</a:t>
            </a:r>
          </a:p>
          <a:p>
            <a:r>
              <a:rPr lang="en-IN" dirty="0"/>
              <a:t>    public Job </a:t>
            </a:r>
            <a:r>
              <a:rPr lang="en-IN" dirty="0" err="1"/>
              <a:t>transformJob</a:t>
            </a:r>
            <a:r>
              <a:rPr lang="en-IN" dirty="0"/>
              <a:t>(</a:t>
            </a:r>
            <a:r>
              <a:rPr lang="en-IN" dirty="0" err="1"/>
              <a:t>JobRepository</a:t>
            </a:r>
            <a:r>
              <a:rPr lang="en-IN" dirty="0"/>
              <a:t> </a:t>
            </a:r>
            <a:r>
              <a:rPr lang="en-IN" dirty="0" err="1"/>
              <a:t>jobRepository</a:t>
            </a:r>
            <a:r>
              <a:rPr lang="en-IN" dirty="0"/>
              <a:t>, Step step1) {</a:t>
            </a:r>
          </a:p>
          <a:p>
            <a:r>
              <a:rPr lang="en-IN" dirty="0"/>
              <a:t>        return new </a:t>
            </a:r>
            <a:r>
              <a:rPr lang="en-IN" dirty="0" err="1"/>
              <a:t>JobBuilder</a:t>
            </a:r>
            <a:r>
              <a:rPr lang="en-IN" dirty="0"/>
              <a:t>("</a:t>
            </a:r>
            <a:r>
              <a:rPr lang="en-IN" dirty="0" err="1"/>
              <a:t>transformJob</a:t>
            </a:r>
            <a:r>
              <a:rPr lang="en-IN" dirty="0"/>
              <a:t>", </a:t>
            </a:r>
            <a:r>
              <a:rPr lang="en-IN" dirty="0" err="1"/>
              <a:t>jobRepository</a:t>
            </a:r>
            <a:r>
              <a:rPr lang="en-IN" dirty="0"/>
              <a:t>)</a:t>
            </a:r>
          </a:p>
          <a:p>
            <a:r>
              <a:rPr lang="en-IN" dirty="0"/>
              <a:t>                .start(step1)</a:t>
            </a:r>
          </a:p>
          <a:p>
            <a:r>
              <a:rPr lang="en-IN" dirty="0"/>
              <a:t>                .build();</a:t>
            </a:r>
          </a:p>
          <a:p>
            <a:r>
              <a:rPr lang="en-IN" dirty="0"/>
              <a:t>    }</a:t>
            </a:r>
          </a:p>
        </p:txBody>
      </p:sp>
    </p:spTree>
    <p:extLst>
      <p:ext uri="{BB962C8B-B14F-4D97-AF65-F5344CB8AC3E}">
        <p14:creationId xmlns:p14="http://schemas.microsoft.com/office/powerpoint/2010/main" val="5243815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E1469-9A83-C945-BD45-3C5296DEC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3C4E5-FC99-E782-EBF9-1C15FEFCA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Messaging within a Batch Step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F059E-D032-D417-5FBC-4F61FF58C4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Sometimes, a Batch Job needs to read data from a message queue (like RabbitMQ) or send the output of a process to a message channel instead of a database.</a:t>
            </a:r>
          </a:p>
          <a:p>
            <a:pPr marL="0" indent="0">
              <a:buNone/>
            </a:pPr>
            <a:r>
              <a:rPr lang="en-US" b="1" dirty="0" err="1"/>
              <a:t>IntegrationItemReader</a:t>
            </a:r>
            <a:r>
              <a:rPr lang="en-US" b="1" dirty="0"/>
              <a:t> and </a:t>
            </a:r>
            <a:r>
              <a:rPr lang="en-US" b="1" dirty="0" err="1"/>
              <a:t>IntegrationItemWriter</a:t>
            </a:r>
            <a:endParaRPr lang="en-US" b="1" dirty="0"/>
          </a:p>
          <a:p>
            <a:r>
              <a:rPr lang="en-US" dirty="0"/>
              <a:t>These bridge the gap between Batch chunks and Integration channels.</a:t>
            </a:r>
          </a:p>
          <a:p>
            <a:r>
              <a:rPr lang="en-US" b="1" dirty="0"/>
              <a:t>Example: Writing Batch output to a Message Channel:</a:t>
            </a:r>
          </a:p>
          <a:p>
            <a:pPr marL="0" indent="0">
              <a:buNone/>
            </a:pPr>
            <a:r>
              <a:rPr lang="en-US" dirty="0"/>
              <a:t>@Bean</a:t>
            </a:r>
          </a:p>
          <a:p>
            <a:pPr marL="0" indent="0">
              <a:buNone/>
            </a:pPr>
            <a:r>
              <a:rPr lang="en-US" dirty="0"/>
              <a:t>public </a:t>
            </a:r>
            <a:r>
              <a:rPr lang="en-US" dirty="0" err="1"/>
              <a:t>IntegrationItemWriter</a:t>
            </a:r>
            <a:r>
              <a:rPr lang="en-US" dirty="0"/>
              <a:t>&lt;User&gt; </a:t>
            </a:r>
            <a:r>
              <a:rPr lang="en-US" dirty="0" err="1"/>
              <a:t>integrationWriter</a:t>
            </a:r>
            <a:r>
              <a:rPr lang="en-US" dirty="0"/>
              <a:t>(</a:t>
            </a:r>
            <a:r>
              <a:rPr lang="en-US" dirty="0" err="1"/>
              <a:t>MessagingTemplate</a:t>
            </a:r>
            <a:r>
              <a:rPr lang="en-US" dirty="0"/>
              <a:t> </a:t>
            </a:r>
            <a:r>
              <a:rPr lang="en-US" dirty="0" err="1"/>
              <a:t>messagingTemplate</a:t>
            </a:r>
            <a:r>
              <a:rPr lang="en-US" dirty="0"/>
              <a:t>) {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IntegrationItemWriter</a:t>
            </a:r>
            <a:r>
              <a:rPr lang="en-US" dirty="0"/>
              <a:t>&lt;User&gt; writer = new </a:t>
            </a:r>
            <a:r>
              <a:rPr lang="en-US" dirty="0" err="1"/>
              <a:t>IntegrationItemWriter</a:t>
            </a:r>
            <a:r>
              <a:rPr lang="en-US" dirty="0"/>
              <a:t>&lt;&gt;();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writer.setMessagingTemplate</a:t>
            </a:r>
            <a:r>
              <a:rPr lang="en-US" dirty="0"/>
              <a:t>(</a:t>
            </a:r>
            <a:r>
              <a:rPr lang="en-US" dirty="0" err="1"/>
              <a:t>messagingTemplate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    // Every processed item will be sent to the '</a:t>
            </a:r>
            <a:r>
              <a:rPr lang="en-US" dirty="0" err="1"/>
              <a:t>outputChannel</a:t>
            </a:r>
            <a:r>
              <a:rPr lang="en-US" dirty="0"/>
              <a:t>'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writer.setChannelName</a:t>
            </a:r>
            <a:r>
              <a:rPr lang="en-US" dirty="0"/>
              <a:t>("</a:t>
            </a:r>
            <a:r>
              <a:rPr lang="en-US" dirty="0" err="1"/>
              <a:t>outputChannel</a:t>
            </a:r>
            <a:r>
              <a:rPr lang="en-US" dirty="0"/>
              <a:t>"); </a:t>
            </a:r>
          </a:p>
          <a:p>
            <a:pPr marL="0" indent="0">
              <a:buNone/>
            </a:pPr>
            <a:r>
              <a:rPr lang="en-US" dirty="0"/>
              <a:t>    return writer;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148261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41A30-0DA5-34FE-C1C4-D52F2D83B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5852A-0A6E-93FF-0E7E-9A073F9F01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Remote Chunking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597F4F-77F6-298B-A947-F8036A9F27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>
            <a:normAutofit/>
          </a:bodyPr>
          <a:lstStyle/>
          <a:p>
            <a:r>
              <a:rPr lang="en-US" dirty="0"/>
              <a:t>This is where Spring Batch Integration becomes powerful for </a:t>
            </a:r>
            <a:r>
              <a:rPr lang="en-US" b="1" dirty="0"/>
              <a:t>Scalability</a:t>
            </a:r>
            <a:r>
              <a:rPr lang="en-US" dirty="0"/>
              <a:t>.</a:t>
            </a:r>
          </a:p>
          <a:p>
            <a:r>
              <a:rPr lang="en-US" b="1" dirty="0"/>
              <a:t>Remote Chunking</a:t>
            </a:r>
            <a:r>
              <a:rPr lang="en-US" dirty="0"/>
              <a:t> allows you to split the "Process" and "Write" phases across multiple worker nodes.</a:t>
            </a:r>
          </a:p>
          <a:p>
            <a:r>
              <a:rPr lang="en-US" b="1" dirty="0"/>
              <a:t>Manager Step:</a:t>
            </a:r>
            <a:r>
              <a:rPr lang="en-US" dirty="0"/>
              <a:t> Reads the data from the database. It sends a "Chunk" (e.g., 100 items) as a message to a middleware (RabbitMQ/Kafka).</a:t>
            </a:r>
          </a:p>
          <a:p>
            <a:r>
              <a:rPr lang="en-US" b="1" dirty="0"/>
              <a:t>Worker Nodes:</a:t>
            </a:r>
            <a:r>
              <a:rPr lang="en-US" dirty="0"/>
              <a:t> Listen to the queue, process the items, and write them (or send a response back).</a:t>
            </a:r>
          </a:p>
          <a:p>
            <a:pPr marL="0" indent="0">
              <a:buNone/>
            </a:pPr>
            <a:r>
              <a:rPr lang="en-US" b="1" dirty="0"/>
              <a:t>Architecture:</a:t>
            </a:r>
          </a:p>
          <a:p>
            <a:r>
              <a:rPr lang="en-US" b="1" dirty="0"/>
              <a:t>Manager:</a:t>
            </a:r>
            <a:r>
              <a:rPr lang="en-US" dirty="0"/>
              <a:t> </a:t>
            </a:r>
            <a:r>
              <a:rPr lang="en-US" dirty="0" err="1"/>
              <a:t>ChunkMessageChannelItemWriter</a:t>
            </a:r>
            <a:r>
              <a:rPr lang="en-US" dirty="0"/>
              <a:t> (Sends chunks out).</a:t>
            </a:r>
          </a:p>
          <a:p>
            <a:r>
              <a:rPr lang="en-US" b="1" dirty="0"/>
              <a:t>Worker:</a:t>
            </a:r>
            <a:r>
              <a:rPr lang="en-US" dirty="0"/>
              <a:t> </a:t>
            </a:r>
            <a:r>
              <a:rPr lang="en-US" dirty="0" err="1"/>
              <a:t>ChunkProcessorChunkHandler</a:t>
            </a:r>
            <a:r>
              <a:rPr lang="en-US" dirty="0"/>
              <a:t> (Receives chunks, processes, and sends replies).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2236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54866-737F-23A6-95A3-CE3AED743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5D63F-382D-4D1C-30C5-695B50239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Remote Chunking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DD4351-092E-60D5-FD9A-34AB039DCF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IN" dirty="0"/>
              <a:t>@Bean</a:t>
            </a:r>
          </a:p>
          <a:p>
            <a:pPr marL="0" indent="0">
              <a:buNone/>
            </a:pPr>
            <a:r>
              <a:rPr lang="en-IN" dirty="0"/>
              <a:t>public </a:t>
            </a:r>
            <a:r>
              <a:rPr lang="en-IN" dirty="0" err="1"/>
              <a:t>TaskletStep</a:t>
            </a:r>
            <a:r>
              <a:rPr lang="en-IN" dirty="0"/>
              <a:t> </a:t>
            </a:r>
            <a:r>
              <a:rPr lang="en-IN" dirty="0" err="1"/>
              <a:t>managerStep</a:t>
            </a:r>
            <a:r>
              <a:rPr lang="en-IN" dirty="0"/>
              <a:t>(</a:t>
            </a:r>
            <a:r>
              <a:rPr lang="en-IN" dirty="0" err="1"/>
              <a:t>JobRepository</a:t>
            </a:r>
            <a:r>
              <a:rPr lang="en-IN" dirty="0"/>
              <a:t> </a:t>
            </a:r>
            <a:r>
              <a:rPr lang="en-IN" dirty="0" err="1"/>
              <a:t>jobRepository</a:t>
            </a:r>
            <a:r>
              <a:rPr lang="en-IN" dirty="0"/>
              <a:t>, </a:t>
            </a:r>
          </a:p>
          <a:p>
            <a:pPr marL="0" indent="0">
              <a:buNone/>
            </a:pPr>
            <a:r>
              <a:rPr lang="en-IN" dirty="0"/>
              <a:t>                               </a:t>
            </a:r>
            <a:r>
              <a:rPr lang="en-IN" dirty="0" err="1"/>
              <a:t>ItemReader</a:t>
            </a:r>
            <a:r>
              <a:rPr lang="en-IN" dirty="0"/>
              <a:t>&lt;User&gt; reader,</a:t>
            </a:r>
          </a:p>
          <a:p>
            <a:pPr marL="0" indent="0">
              <a:buNone/>
            </a:pPr>
            <a:r>
              <a:rPr lang="en-IN" dirty="0"/>
              <a:t>                               </a:t>
            </a:r>
            <a:r>
              <a:rPr lang="en-IN" dirty="0" err="1"/>
              <a:t>MessagingTemplate</a:t>
            </a:r>
            <a:r>
              <a:rPr lang="en-IN" dirty="0"/>
              <a:t> </a:t>
            </a:r>
            <a:r>
              <a:rPr lang="en-IN" dirty="0" err="1"/>
              <a:t>messagingTemplate</a:t>
            </a:r>
            <a:r>
              <a:rPr lang="en-IN" dirty="0"/>
              <a:t>) {</a:t>
            </a:r>
          </a:p>
          <a:p>
            <a:pPr marL="0" indent="0">
              <a:buNone/>
            </a:pPr>
            <a:r>
              <a:rPr lang="en-IN" dirty="0"/>
              <a:t>    return new </a:t>
            </a:r>
            <a:r>
              <a:rPr lang="en-IN" dirty="0" err="1"/>
              <a:t>RemoteChunkingManagerStepBuilder</a:t>
            </a:r>
            <a:r>
              <a:rPr lang="en-IN" dirty="0"/>
              <a:t>&lt;User, User&gt;(</a:t>
            </a:r>
            <a:r>
              <a:rPr lang="en-IN" dirty="0" err="1"/>
              <a:t>jobRepository</a:t>
            </a:r>
            <a:r>
              <a:rPr lang="en-IN" dirty="0"/>
              <a:t>)</a:t>
            </a:r>
          </a:p>
          <a:p>
            <a:pPr marL="0" indent="0">
              <a:buNone/>
            </a:pPr>
            <a:r>
              <a:rPr lang="en-IN" dirty="0"/>
              <a:t>            .chunk(100)</a:t>
            </a:r>
          </a:p>
          <a:p>
            <a:pPr marL="0" indent="0">
              <a:buNone/>
            </a:pPr>
            <a:r>
              <a:rPr lang="en-IN" dirty="0"/>
              <a:t>            .reader(reader)</a:t>
            </a:r>
          </a:p>
          <a:p>
            <a:pPr marL="0" indent="0">
              <a:buNone/>
            </a:pPr>
            <a:r>
              <a:rPr lang="en-IN" dirty="0"/>
              <a:t>            .</a:t>
            </a:r>
            <a:r>
              <a:rPr lang="en-IN" dirty="0" err="1"/>
              <a:t>outputChannel</a:t>
            </a:r>
            <a:r>
              <a:rPr lang="en-IN" dirty="0"/>
              <a:t>(</a:t>
            </a:r>
            <a:r>
              <a:rPr lang="en-IN" dirty="0" err="1"/>
              <a:t>outboundRequests</a:t>
            </a:r>
            <a:r>
              <a:rPr lang="en-IN" dirty="0"/>
              <a:t>()) // Channel to Workers</a:t>
            </a:r>
          </a:p>
          <a:p>
            <a:pPr marL="0" indent="0">
              <a:buNone/>
            </a:pPr>
            <a:r>
              <a:rPr lang="en-IN" dirty="0"/>
              <a:t>            .</a:t>
            </a:r>
            <a:r>
              <a:rPr lang="en-IN" dirty="0" err="1"/>
              <a:t>inputChannel</a:t>
            </a:r>
            <a:r>
              <a:rPr lang="en-IN" dirty="0"/>
              <a:t>(</a:t>
            </a:r>
            <a:r>
              <a:rPr lang="en-IN" dirty="0" err="1"/>
              <a:t>inboundReplies</a:t>
            </a:r>
            <a:r>
              <a:rPr lang="en-IN" dirty="0"/>
              <a:t>())    // Channel from Workers</a:t>
            </a:r>
          </a:p>
          <a:p>
            <a:pPr marL="0" indent="0">
              <a:buNone/>
            </a:pPr>
            <a:r>
              <a:rPr lang="en-IN" dirty="0"/>
              <a:t>            .build();</a:t>
            </a:r>
          </a:p>
          <a:p>
            <a:pPr marL="0" indent="0">
              <a:buNone/>
            </a:pPr>
            <a:r>
              <a:rPr lang="en-IN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073610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62519-D20F-FA81-F1A5-99DDB4AD3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56A96-C801-1BFA-DE02-B2FA770E8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Remote Partitioning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F5E75-410F-838F-DBE7-566528B033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r>
              <a:rPr lang="en-US" dirty="0"/>
              <a:t>Unlike Remote Chunking (which sends the actual data), </a:t>
            </a:r>
            <a:r>
              <a:rPr lang="en-US" b="1" dirty="0"/>
              <a:t>Remote Partitioning</a:t>
            </a:r>
            <a:r>
              <a:rPr lang="en-US" dirty="0"/>
              <a:t> sends "metadata" (e.g., "Worker 1, handle IDs 1 to 1000").</a:t>
            </a:r>
          </a:p>
          <a:p>
            <a:r>
              <a:rPr lang="en-US" b="1" dirty="0"/>
              <a:t>Pros:</a:t>
            </a:r>
            <a:r>
              <a:rPr lang="en-US" dirty="0"/>
              <a:t> Much higher performance because data isn't serialized over the network. Each worker reads its own data from the shared database.</a:t>
            </a:r>
          </a:p>
          <a:p>
            <a:r>
              <a:rPr lang="en-US" b="1" dirty="0"/>
              <a:t>Components:</a:t>
            </a:r>
            <a:r>
              <a:rPr lang="en-US" dirty="0"/>
              <a:t> </a:t>
            </a:r>
            <a:r>
              <a:rPr lang="en-US" dirty="0" err="1"/>
              <a:t>MessageChannelPartitionHandler</a:t>
            </a:r>
            <a:r>
              <a:rPr lang="en-US" dirty="0"/>
              <a:t>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23997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61007B-F6F0-F28A-1785-7918337F19B1}"/>
              </a:ext>
            </a:extLst>
          </p:cNvPr>
          <p:cNvSpPr txBox="1"/>
          <p:nvPr/>
        </p:nvSpPr>
        <p:spPr>
          <a:xfrm>
            <a:off x="865501" y="1190344"/>
            <a:ext cx="10601173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@Bean</a:t>
            </a:r>
          </a:p>
          <a:p>
            <a:r>
              <a:rPr lang="en-IN" dirty="0"/>
              <a:t>public Step </a:t>
            </a:r>
            <a:r>
              <a:rPr lang="en-IN" dirty="0" err="1"/>
              <a:t>workerStep</a:t>
            </a:r>
            <a:r>
              <a:rPr lang="en-IN" dirty="0"/>
              <a:t>(</a:t>
            </a:r>
            <a:r>
              <a:rPr lang="en-IN" dirty="0" err="1"/>
              <a:t>JobRepository</a:t>
            </a:r>
            <a:r>
              <a:rPr lang="en-IN" dirty="0"/>
              <a:t> </a:t>
            </a:r>
            <a:r>
              <a:rPr lang="en-IN" dirty="0" err="1"/>
              <a:t>jobRepository</a:t>
            </a:r>
            <a:r>
              <a:rPr lang="en-IN" dirty="0"/>
              <a:t>, </a:t>
            </a:r>
            <a:r>
              <a:rPr lang="en-IN" dirty="0" err="1"/>
              <a:t>PlatformTransactionManager</a:t>
            </a:r>
            <a:r>
              <a:rPr lang="en-IN" dirty="0"/>
              <a:t> tm) {</a:t>
            </a:r>
          </a:p>
          <a:p>
            <a:r>
              <a:rPr lang="en-IN" dirty="0"/>
              <a:t>    return new </a:t>
            </a:r>
            <a:r>
              <a:rPr lang="en-IN" dirty="0" err="1"/>
              <a:t>StepBuilder</a:t>
            </a:r>
            <a:r>
              <a:rPr lang="en-IN" dirty="0"/>
              <a:t>("</a:t>
            </a:r>
            <a:r>
              <a:rPr lang="en-IN" dirty="0" err="1"/>
              <a:t>workerStep</a:t>
            </a:r>
            <a:r>
              <a:rPr lang="en-IN" dirty="0"/>
              <a:t>", </a:t>
            </a:r>
            <a:r>
              <a:rPr lang="en-IN" dirty="0" err="1"/>
              <a:t>jobRepository</a:t>
            </a:r>
            <a:r>
              <a:rPr lang="en-IN" dirty="0"/>
              <a:t>)</a:t>
            </a:r>
          </a:p>
          <a:p>
            <a:r>
              <a:rPr lang="en-IN" dirty="0"/>
              <a:t>            .</a:t>
            </a:r>
            <a:r>
              <a:rPr lang="en-IN" dirty="0" err="1"/>
              <a:t>itemReader</a:t>
            </a:r>
            <a:r>
              <a:rPr lang="en-IN" dirty="0"/>
              <a:t>(reader(null)) // Injected via </a:t>
            </a:r>
            <a:r>
              <a:rPr lang="en-IN" dirty="0" err="1"/>
              <a:t>StepScope</a:t>
            </a:r>
            <a:endParaRPr lang="en-IN" dirty="0"/>
          </a:p>
          <a:p>
            <a:r>
              <a:rPr lang="en-IN" dirty="0"/>
              <a:t>            .processor(processor())</a:t>
            </a:r>
          </a:p>
          <a:p>
            <a:r>
              <a:rPr lang="en-IN" dirty="0"/>
              <a:t>            .writer(writer())</a:t>
            </a:r>
          </a:p>
          <a:p>
            <a:r>
              <a:rPr lang="en-IN" dirty="0"/>
              <a:t>            .build();</a:t>
            </a:r>
          </a:p>
          <a:p>
            <a:r>
              <a:rPr lang="en-IN" dirty="0"/>
              <a:t>}</a:t>
            </a:r>
          </a:p>
          <a:p>
            <a:endParaRPr lang="en-IN" dirty="0"/>
          </a:p>
          <a:p>
            <a:r>
              <a:rPr lang="en-IN" dirty="0"/>
              <a:t>// Integration flow on the Worker to listen for partition requests</a:t>
            </a:r>
          </a:p>
          <a:p>
            <a:r>
              <a:rPr lang="en-IN" dirty="0"/>
              <a:t>@Bean</a:t>
            </a:r>
          </a:p>
          <a:p>
            <a:r>
              <a:rPr lang="en-IN" dirty="0"/>
              <a:t>public </a:t>
            </a:r>
            <a:r>
              <a:rPr lang="en-IN" dirty="0" err="1"/>
              <a:t>IntegrationFlow</a:t>
            </a:r>
            <a:r>
              <a:rPr lang="en-IN" dirty="0"/>
              <a:t> </a:t>
            </a:r>
            <a:r>
              <a:rPr lang="en-IN" dirty="0" err="1"/>
              <a:t>workerIntegrationFlow</a:t>
            </a:r>
            <a:r>
              <a:rPr lang="en-IN" dirty="0"/>
              <a:t>(</a:t>
            </a:r>
            <a:r>
              <a:rPr lang="en-IN" dirty="0" err="1"/>
              <a:t>StepExecutionRequestHandler</a:t>
            </a:r>
            <a:r>
              <a:rPr lang="en-IN" dirty="0"/>
              <a:t> handler) {</a:t>
            </a:r>
          </a:p>
          <a:p>
            <a:r>
              <a:rPr lang="en-IN" dirty="0"/>
              <a:t>    return </a:t>
            </a:r>
            <a:r>
              <a:rPr lang="en-IN" dirty="0" err="1"/>
              <a:t>IntegrationFlow.from</a:t>
            </a:r>
            <a:r>
              <a:rPr lang="en-IN" dirty="0"/>
              <a:t>(</a:t>
            </a:r>
            <a:r>
              <a:rPr lang="en-IN" dirty="0" err="1"/>
              <a:t>workerRequests</a:t>
            </a:r>
            <a:r>
              <a:rPr lang="en-IN" dirty="0"/>
              <a:t>())</a:t>
            </a:r>
          </a:p>
          <a:p>
            <a:r>
              <a:rPr lang="en-IN" dirty="0"/>
              <a:t>            .handle(handler)</a:t>
            </a:r>
          </a:p>
          <a:p>
            <a:r>
              <a:rPr lang="en-IN" dirty="0"/>
              <a:t>            .channel(</a:t>
            </a:r>
            <a:r>
              <a:rPr lang="en-IN" dirty="0" err="1"/>
              <a:t>workerReplies</a:t>
            </a:r>
            <a:r>
              <a:rPr lang="en-IN" dirty="0"/>
              <a:t>())</a:t>
            </a:r>
          </a:p>
          <a:p>
            <a:r>
              <a:rPr lang="en-IN" dirty="0"/>
              <a:t>            .get();</a:t>
            </a:r>
          </a:p>
          <a:p>
            <a:r>
              <a:rPr lang="en-IN" dirty="0"/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1B37EB-31E6-02B2-3B18-919D46BF6740}"/>
              </a:ext>
            </a:extLst>
          </p:cNvPr>
          <p:cNvSpPr txBox="1"/>
          <p:nvPr/>
        </p:nvSpPr>
        <p:spPr>
          <a:xfrm>
            <a:off x="588003" y="446123"/>
            <a:ext cx="7798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i="0" dirty="0">
                <a:solidFill>
                  <a:srgbClr val="FF0000"/>
                </a:solidFill>
                <a:effectLst/>
                <a:latin typeface="Inter"/>
              </a:rPr>
              <a:t>Worker Configuration</a:t>
            </a:r>
            <a:r>
              <a:rPr lang="en-IN" sz="2400" b="1" dirty="0">
                <a:solidFill>
                  <a:srgbClr val="FF0000"/>
                </a:solidFill>
                <a:latin typeface="Inter"/>
              </a:rPr>
              <a:t> In </a:t>
            </a:r>
            <a:r>
              <a:rPr lang="en-US" sz="2400" b="1" dirty="0">
                <a:solidFill>
                  <a:srgbClr val="FF0000"/>
                </a:solidFill>
              </a:rPr>
              <a:t>Remote Partitioning</a:t>
            </a:r>
            <a:endParaRPr lang="en-IN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22201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12556-C57F-C0D9-46AE-7CD8B3F70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4670B-913F-2156-4640-EE564DEB4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10EAA4-34CF-CABA-7138-E6A819ADD3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Job Repository</a:t>
            </a:r>
          </a:p>
          <a:p>
            <a:r>
              <a:rPr lang="en-US" dirty="0"/>
              <a:t>Even when using Integration, Spring Batch needs a database to store the state of the job. If the integration flow triggers a job that fails, the metadata in the DB allows it to restart from where it left off.</a:t>
            </a:r>
          </a:p>
          <a:p>
            <a:pPr marL="0" indent="0">
              <a:buNone/>
            </a:pPr>
            <a:r>
              <a:rPr lang="en-US" b="1" dirty="0" err="1"/>
              <a:t>JobLaunchRequest</a:t>
            </a:r>
            <a:endParaRPr lang="en-US" b="1" dirty="0"/>
          </a:p>
          <a:p>
            <a:r>
              <a:rPr lang="en-US" dirty="0"/>
              <a:t>This is the standard DTO used to bridge the two frameworks. It contains:</a:t>
            </a:r>
          </a:p>
          <a:p>
            <a:pPr lvl="1"/>
            <a:r>
              <a:rPr lang="en-US" dirty="0"/>
              <a:t>The Job object to be executed.</a:t>
            </a:r>
          </a:p>
          <a:p>
            <a:pPr lvl="1"/>
            <a:r>
              <a:rPr lang="en-US" dirty="0"/>
              <a:t>The </a:t>
            </a:r>
            <a:r>
              <a:rPr lang="en-US" dirty="0" err="1"/>
              <a:t>JobParameters</a:t>
            </a:r>
            <a:r>
              <a:rPr lang="en-US" dirty="0"/>
              <a:t> required for the job.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881218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51A9A-F945-4D2D-0C41-BDBBF607C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EFE6B-53FF-6DB1-B0B5-DE5DFB9F6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Handling Job Results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F2C6E3-E11C-2976-1290-7CF94A92BB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r>
              <a:rPr lang="en-IN" dirty="0"/>
              <a:t>After </a:t>
            </a:r>
            <a:r>
              <a:rPr lang="en-IN" dirty="0" err="1"/>
              <a:t>JobLaunchingMessageHandler</a:t>
            </a:r>
            <a:r>
              <a:rPr lang="en-IN" dirty="0"/>
              <a:t> runs, it returns a </a:t>
            </a:r>
            <a:r>
              <a:rPr lang="en-IN" dirty="0" err="1"/>
              <a:t>JobExecution</a:t>
            </a:r>
            <a:r>
              <a:rPr lang="en-IN" dirty="0"/>
              <a:t> object. You can route this back into an Integration flow to send notification emails or log status.</a:t>
            </a:r>
          </a:p>
          <a:p>
            <a:pPr marL="0" indent="0">
              <a:buNone/>
            </a:pPr>
            <a:r>
              <a:rPr lang="en-IN" b="1" dirty="0">
                <a:solidFill>
                  <a:srgbClr val="FF0000"/>
                </a:solidFill>
              </a:rPr>
              <a:t>.handle(</a:t>
            </a:r>
            <a:r>
              <a:rPr lang="en-IN" b="1" dirty="0" err="1">
                <a:solidFill>
                  <a:srgbClr val="FF0000"/>
                </a:solidFill>
              </a:rPr>
              <a:t>jobLaunchingMessageHandler</a:t>
            </a:r>
            <a:r>
              <a:rPr lang="en-IN" b="1" dirty="0">
                <a:solidFill>
                  <a:srgbClr val="FF0000"/>
                </a:solidFill>
              </a:rPr>
              <a:t>)</a:t>
            </a:r>
          </a:p>
          <a:p>
            <a:pPr marL="0" indent="0">
              <a:buNone/>
            </a:pPr>
            <a:r>
              <a:rPr lang="en-IN" b="1" dirty="0">
                <a:solidFill>
                  <a:srgbClr val="FF0000"/>
                </a:solidFill>
              </a:rPr>
              <a:t>.route(</a:t>
            </a:r>
            <a:r>
              <a:rPr lang="en-IN" b="1" dirty="0" err="1">
                <a:solidFill>
                  <a:srgbClr val="FF0000"/>
                </a:solidFill>
              </a:rPr>
              <a:t>JobExecution.class</a:t>
            </a:r>
            <a:r>
              <a:rPr lang="en-IN" b="1" dirty="0">
                <a:solidFill>
                  <a:srgbClr val="FF0000"/>
                </a:solidFill>
              </a:rPr>
              <a:t>, </a:t>
            </a:r>
            <a:r>
              <a:rPr lang="en-IN" b="1" dirty="0" err="1">
                <a:solidFill>
                  <a:srgbClr val="FF0000"/>
                </a:solidFill>
              </a:rPr>
              <a:t>jobExecution</a:t>
            </a:r>
            <a:r>
              <a:rPr lang="en-IN" b="1" dirty="0">
                <a:solidFill>
                  <a:srgbClr val="FF0000"/>
                </a:solidFill>
              </a:rPr>
              <a:t> -&gt; {</a:t>
            </a:r>
          </a:p>
          <a:p>
            <a:pPr marL="0" indent="0">
              <a:buNone/>
            </a:pPr>
            <a:r>
              <a:rPr lang="en-IN" b="1" dirty="0">
                <a:solidFill>
                  <a:srgbClr val="FF0000"/>
                </a:solidFill>
              </a:rPr>
              <a:t>    return </a:t>
            </a:r>
            <a:r>
              <a:rPr lang="en-IN" b="1" dirty="0" err="1">
                <a:solidFill>
                  <a:srgbClr val="FF0000"/>
                </a:solidFill>
              </a:rPr>
              <a:t>jobExecution.getStatus</a:t>
            </a:r>
            <a:r>
              <a:rPr lang="en-IN" b="1" dirty="0">
                <a:solidFill>
                  <a:srgbClr val="FF0000"/>
                </a:solidFill>
              </a:rPr>
              <a:t>() == </a:t>
            </a:r>
            <a:r>
              <a:rPr lang="en-IN" b="1" dirty="0" err="1">
                <a:solidFill>
                  <a:srgbClr val="FF0000"/>
                </a:solidFill>
              </a:rPr>
              <a:t>BatchStatus.COMPLETED</a:t>
            </a:r>
            <a:r>
              <a:rPr lang="en-IN" b="1" dirty="0">
                <a:solidFill>
                  <a:srgbClr val="FF0000"/>
                </a:solidFill>
              </a:rPr>
              <a:t> ? "</a:t>
            </a:r>
            <a:r>
              <a:rPr lang="en-IN" b="1" dirty="0" err="1">
                <a:solidFill>
                  <a:srgbClr val="FF0000"/>
                </a:solidFill>
              </a:rPr>
              <a:t>successChannel</a:t>
            </a:r>
            <a:r>
              <a:rPr lang="en-IN" b="1" dirty="0">
                <a:solidFill>
                  <a:srgbClr val="FF0000"/>
                </a:solidFill>
              </a:rPr>
              <a:t>" : "</a:t>
            </a:r>
            <a:r>
              <a:rPr lang="en-IN" b="1" dirty="0" err="1">
                <a:solidFill>
                  <a:srgbClr val="FF0000"/>
                </a:solidFill>
              </a:rPr>
              <a:t>errorChannel</a:t>
            </a:r>
            <a:r>
              <a:rPr lang="en-IN" b="1" dirty="0">
                <a:solidFill>
                  <a:srgbClr val="FF0000"/>
                </a:solidFill>
              </a:rPr>
              <a:t>";</a:t>
            </a:r>
          </a:p>
          <a:p>
            <a:pPr marL="0" indent="0">
              <a:buNone/>
            </a:pPr>
            <a:r>
              <a:rPr lang="en-IN" b="1" dirty="0">
                <a:solidFill>
                  <a:srgbClr val="FF0000"/>
                </a:solidFill>
              </a:rPr>
              <a:t>})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555924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EE0495-DE40-12EE-4222-994458201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72B15-9D45-5974-4DA7-5E1ABEBA0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Idempotency &amp; Message Loss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47B55-AC13-F811-9F8E-1DF12B0FE0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r>
              <a:rPr lang="en-US" b="1" dirty="0"/>
              <a:t> I</a:t>
            </a:r>
            <a:r>
              <a:rPr lang="en-US" dirty="0"/>
              <a:t>n high-level production environments, if a message triggers a batch job and the system crashes:</a:t>
            </a:r>
          </a:p>
          <a:p>
            <a:r>
              <a:rPr lang="en-US" dirty="0"/>
              <a:t>Use </a:t>
            </a:r>
            <a:r>
              <a:rPr lang="en-US" b="1" dirty="0"/>
              <a:t>Transactional Channels</a:t>
            </a:r>
            <a:r>
              <a:rPr lang="en-US" dirty="0"/>
              <a:t> (JMS/JDBC).</a:t>
            </a:r>
          </a:p>
          <a:p>
            <a:r>
              <a:rPr lang="en-US" dirty="0"/>
              <a:t>Ensure the Batch Job is </a:t>
            </a:r>
            <a:r>
              <a:rPr lang="en-US" b="1" dirty="0"/>
              <a:t>idempotent</a:t>
            </a:r>
            <a:r>
              <a:rPr lang="en-US" dirty="0"/>
              <a:t> (running it twice with the same parameters doesn't duplicate data).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008900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CE496-A8AD-9E32-B47A-17CE7DEC2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61F95-1227-46C3-B429-6CA08A9F3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Features of Spring Batch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17953EF-F7F9-AA64-178F-0059DF521DA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36516405"/>
              </p:ext>
            </p:extLst>
          </p:nvPr>
        </p:nvGraphicFramePr>
        <p:xfrm>
          <a:off x="1155700" y="2603500"/>
          <a:ext cx="10046922" cy="36212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48974">
                  <a:extLst>
                    <a:ext uri="{9D8B030D-6E8A-4147-A177-3AD203B41FA5}">
                      <a16:colId xmlns:a16="http://schemas.microsoft.com/office/drawing/2014/main" val="631551379"/>
                    </a:ext>
                  </a:extLst>
                </a:gridCol>
                <a:gridCol w="3348974">
                  <a:extLst>
                    <a:ext uri="{9D8B030D-6E8A-4147-A177-3AD203B41FA5}">
                      <a16:colId xmlns:a16="http://schemas.microsoft.com/office/drawing/2014/main" val="742226025"/>
                    </a:ext>
                  </a:extLst>
                </a:gridCol>
                <a:gridCol w="3348974">
                  <a:extLst>
                    <a:ext uri="{9D8B030D-6E8A-4147-A177-3AD203B41FA5}">
                      <a16:colId xmlns:a16="http://schemas.microsoft.com/office/drawing/2014/main" val="2860422036"/>
                    </a:ext>
                  </a:extLst>
                </a:gridCol>
              </a:tblGrid>
              <a:tr h="605618">
                <a:tc>
                  <a:txBody>
                    <a:bodyPr/>
                    <a:lstStyle/>
                    <a:p>
                      <a:pPr>
                        <a:lnSpc>
                          <a:spcPts val="1575"/>
                        </a:lnSpc>
                        <a:buNone/>
                      </a:pPr>
                      <a:r>
                        <a:rPr lang="en-IN" b="1" dirty="0">
                          <a:effectLst/>
                          <a:latin typeface="Inter"/>
                        </a:rPr>
                        <a:t>Feature</a:t>
                      </a:r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75"/>
                        </a:lnSpc>
                        <a:buNone/>
                      </a:pPr>
                      <a:r>
                        <a:rPr lang="en-IN" b="1">
                          <a:effectLst/>
                          <a:latin typeface="Inter"/>
                        </a:rPr>
                        <a:t>Description</a:t>
                      </a:r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75"/>
                        </a:lnSpc>
                        <a:buNone/>
                      </a:pPr>
                      <a:r>
                        <a:rPr lang="en-IN" b="1">
                          <a:effectLst/>
                          <a:latin typeface="Inter"/>
                        </a:rPr>
                        <a:t>Use Case</a:t>
                      </a:r>
                    </a:p>
                  </a:txBody>
                  <a:tcPr marL="45720" marR="45720" marT="22860" marB="22860" anchor="ctr"/>
                </a:tc>
                <a:extLst>
                  <a:ext uri="{0D108BD9-81ED-4DB2-BD59-A6C34878D82A}">
                    <a16:rowId xmlns:a16="http://schemas.microsoft.com/office/drawing/2014/main" val="2670010461"/>
                  </a:ext>
                </a:extLst>
              </a:tr>
              <a:tr h="753912">
                <a:tc>
                  <a:txBody>
                    <a:bodyPr/>
                    <a:lstStyle/>
                    <a:p>
                      <a:pPr>
                        <a:lnSpc>
                          <a:spcPts val="1575"/>
                        </a:lnSpc>
                        <a:buNone/>
                      </a:pPr>
                      <a:r>
                        <a:rPr lang="en-IN" b="1">
                          <a:effectLst/>
                          <a:latin typeface="Inter"/>
                        </a:rPr>
                        <a:t>JobLaunchingMessageHandler</a:t>
                      </a:r>
                      <a:endParaRPr lang="en-IN" b="0">
                        <a:effectLst/>
                        <a:latin typeface="Inter"/>
                      </a:endParaRPr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75"/>
                        </a:lnSpc>
                        <a:buNone/>
                      </a:pPr>
                      <a:r>
                        <a:rPr lang="en-US" b="0">
                          <a:effectLst/>
                          <a:latin typeface="Inter"/>
                        </a:rPr>
                        <a:t>Converts message to Batch Job.</a:t>
                      </a:r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75"/>
                        </a:lnSpc>
                        <a:buNone/>
                      </a:pPr>
                      <a:r>
                        <a:rPr lang="en-US" b="0">
                          <a:effectLst/>
                          <a:latin typeface="Inter"/>
                        </a:rPr>
                        <a:t>Event-driven batching (File/MQ trigger).</a:t>
                      </a:r>
                    </a:p>
                  </a:txBody>
                  <a:tcPr marL="45720" marR="45720" marT="22860" marB="22860" anchor="ctr"/>
                </a:tc>
                <a:extLst>
                  <a:ext uri="{0D108BD9-81ED-4DB2-BD59-A6C34878D82A}">
                    <a16:rowId xmlns:a16="http://schemas.microsoft.com/office/drawing/2014/main" val="4066677363"/>
                  </a:ext>
                </a:extLst>
              </a:tr>
              <a:tr h="753912">
                <a:tc>
                  <a:txBody>
                    <a:bodyPr/>
                    <a:lstStyle/>
                    <a:p>
                      <a:pPr>
                        <a:lnSpc>
                          <a:spcPts val="1575"/>
                        </a:lnSpc>
                        <a:buNone/>
                      </a:pPr>
                      <a:r>
                        <a:rPr lang="en-IN" b="1">
                          <a:effectLst/>
                          <a:latin typeface="Inter"/>
                        </a:rPr>
                        <a:t>IntegrationItemWriter</a:t>
                      </a:r>
                      <a:endParaRPr lang="en-IN" b="0">
                        <a:effectLst/>
                        <a:latin typeface="Inter"/>
                      </a:endParaRPr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75"/>
                        </a:lnSpc>
                        <a:buNone/>
                      </a:pPr>
                      <a:r>
                        <a:rPr lang="en-US" b="0">
                          <a:effectLst/>
                          <a:latin typeface="Inter"/>
                        </a:rPr>
                        <a:t>Sends batch items to a message channel.</a:t>
                      </a:r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75"/>
                        </a:lnSpc>
                        <a:buNone/>
                      </a:pPr>
                      <a:r>
                        <a:rPr lang="en-US" b="0">
                          <a:effectLst/>
                          <a:latin typeface="Inter"/>
                        </a:rPr>
                        <a:t>Streaming batch results to other systems.</a:t>
                      </a:r>
                    </a:p>
                  </a:txBody>
                  <a:tcPr marL="45720" marR="45720" marT="22860" marB="22860" anchor="ctr"/>
                </a:tc>
                <a:extLst>
                  <a:ext uri="{0D108BD9-81ED-4DB2-BD59-A6C34878D82A}">
                    <a16:rowId xmlns:a16="http://schemas.microsoft.com/office/drawing/2014/main" val="2009631717"/>
                  </a:ext>
                </a:extLst>
              </a:tr>
              <a:tr h="753912">
                <a:tc>
                  <a:txBody>
                    <a:bodyPr/>
                    <a:lstStyle/>
                    <a:p>
                      <a:pPr>
                        <a:lnSpc>
                          <a:spcPts val="1575"/>
                        </a:lnSpc>
                        <a:buNone/>
                      </a:pPr>
                      <a:r>
                        <a:rPr lang="en-IN" b="1">
                          <a:effectLst/>
                          <a:latin typeface="Inter"/>
                        </a:rPr>
                        <a:t>Remote Chunking</a:t>
                      </a:r>
                      <a:endParaRPr lang="en-IN" b="0">
                        <a:effectLst/>
                        <a:latin typeface="Inter"/>
                      </a:endParaRPr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75"/>
                        </a:lnSpc>
                        <a:buNone/>
                      </a:pPr>
                      <a:r>
                        <a:rPr lang="en-US" b="0">
                          <a:effectLst/>
                          <a:latin typeface="Inter"/>
                        </a:rPr>
                        <a:t>Manager sends actual items to workers.</a:t>
                      </a:r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75"/>
                        </a:lnSpc>
                        <a:buNone/>
                      </a:pPr>
                      <a:r>
                        <a:rPr lang="en-IN" b="0" dirty="0">
                          <a:effectLst/>
                          <a:latin typeface="Inter"/>
                        </a:rPr>
                        <a:t>Processing-intensive tasks (CPU heavy).</a:t>
                      </a:r>
                    </a:p>
                  </a:txBody>
                  <a:tcPr marL="45720" marR="45720" marT="22860" marB="22860" anchor="ctr"/>
                </a:tc>
                <a:extLst>
                  <a:ext uri="{0D108BD9-81ED-4DB2-BD59-A6C34878D82A}">
                    <a16:rowId xmlns:a16="http://schemas.microsoft.com/office/drawing/2014/main" val="2259159601"/>
                  </a:ext>
                </a:extLst>
              </a:tr>
              <a:tr h="753912">
                <a:tc>
                  <a:txBody>
                    <a:bodyPr/>
                    <a:lstStyle/>
                    <a:p>
                      <a:pPr>
                        <a:lnSpc>
                          <a:spcPts val="1575"/>
                        </a:lnSpc>
                        <a:buNone/>
                      </a:pPr>
                      <a:r>
                        <a:rPr lang="en-IN" b="1">
                          <a:effectLst/>
                          <a:latin typeface="Inter"/>
                        </a:rPr>
                        <a:t>Remote Partitioning</a:t>
                      </a:r>
                      <a:endParaRPr lang="en-IN" b="0">
                        <a:effectLst/>
                        <a:latin typeface="Inter"/>
                      </a:endParaRPr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75"/>
                        </a:lnSpc>
                        <a:buNone/>
                      </a:pPr>
                      <a:r>
                        <a:rPr lang="en-US" b="0">
                          <a:effectLst/>
                          <a:latin typeface="Inter"/>
                        </a:rPr>
                        <a:t>Manager sends instructions to workers.</a:t>
                      </a:r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575"/>
                        </a:lnSpc>
                        <a:buNone/>
                      </a:pPr>
                      <a:r>
                        <a:rPr lang="en-IN" b="0" dirty="0">
                          <a:effectLst/>
                          <a:latin typeface="Inter"/>
                        </a:rPr>
                        <a:t>Data-intensive tasks (I/O heavy).</a:t>
                      </a:r>
                    </a:p>
                  </a:txBody>
                  <a:tcPr marL="45720" marR="45720" marT="22860" marB="22860" anchor="ctr"/>
                </a:tc>
                <a:extLst>
                  <a:ext uri="{0D108BD9-81ED-4DB2-BD59-A6C34878D82A}">
                    <a16:rowId xmlns:a16="http://schemas.microsoft.com/office/drawing/2014/main" val="15583910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30747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7E2DC-2381-3CFF-D2A1-B75EE8B8B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4A830-AD8E-179A-4639-7A4440CBB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21B030-64A6-3AF1-2983-2DFCC6320C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r>
              <a:rPr lang="en-US" dirty="0"/>
              <a:t>Spring Batch in Spring Integration </a:t>
            </a:r>
          </a:p>
          <a:p>
            <a:pPr lvl="1"/>
            <a:r>
              <a:rPr lang="en-US" dirty="0"/>
              <a:t>turns a static, scheduled process into a dynamic, reactive system.</a:t>
            </a:r>
          </a:p>
          <a:p>
            <a:pPr lvl="1"/>
            <a:r>
              <a:rPr lang="en-US" dirty="0"/>
              <a:t> Use </a:t>
            </a:r>
            <a:r>
              <a:rPr lang="en-US" b="1" dirty="0" err="1"/>
              <a:t>JobLaunchingMessageHandler</a:t>
            </a:r>
            <a:r>
              <a:rPr lang="en-US" dirty="0"/>
              <a:t> for simple triggers</a:t>
            </a:r>
          </a:p>
          <a:p>
            <a:pPr lvl="1"/>
            <a:r>
              <a:rPr lang="en-US" b="1" dirty="0"/>
              <a:t>Remote Partitioning</a:t>
            </a:r>
            <a:r>
              <a:rPr lang="en-US" dirty="0"/>
              <a:t> when you need to scale horizontally across a cluster of servers.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993037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5EB36-056A-8206-5584-3804B2941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8BB8E-BD75-9A72-EF82-8A8C296A1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37D78F-3288-34CE-7F85-170B9BC60D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03185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AB820-32E1-EAC6-7C72-1BBC6DECE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ACE1B-53CC-5220-E2AC-E293711AB7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E315FD-8EF7-3939-B78D-7AE9E54D5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821022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F67AB-C8CE-FA4A-3550-7C191F9AC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AF63A-94E7-E86B-5E40-3EE85E387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690DD9-A589-3BDC-B540-AEACF36B65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063322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14CF0-CB55-6993-1B18-E0EADD4BF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85FFA-4E49-008B-40B8-B903EBCEE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20D0F-339A-FB32-639D-A5B8987E92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4937489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09144-819B-1F96-C972-DEF7CA466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AAF07-79C8-871E-461B-6961B302B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B8106E-85AE-8B55-E9BD-EA7BD79BC5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624460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045B9-5B93-4B36-2407-E3C4F419F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FEA52-CB02-B76D-F66C-A1AE34471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2A9EF3-75FB-A16F-00C7-5B7D40BF59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105884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C5A44-2709-0DE7-5602-D648CA8D7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86E33-7C68-8075-6F67-C7B96CB19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272CE1-F233-55BC-5DC8-5D180B059D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022336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7E61B-21A5-8E77-A5BB-2D9953F9F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85B12-DF44-DB12-6C7F-975849520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73E0D-D229-0600-5119-49ADFF76DD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55870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C842A-AAC5-4711-2FAA-CB153EB04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64E4A-E628-52BF-A345-364FCB223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7D9075-EC2F-921B-326F-42B25E8C2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114757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9D01F-6A4F-8B3C-29C1-1F96AD15E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DC2CA-EC18-95AC-050C-558AD3948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E1928-16E5-2F55-375E-1F8D2161BA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000636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81B70-7643-E318-1835-2A80FBB6C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CE0B3-6780-2773-4694-5484CE9E0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79C593-D1DC-07F4-FC6A-6A619ACB88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420528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C5F9E-9FD8-9CAF-48C5-DEFDC6A04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55768-9626-3099-52CF-0F39D8FAC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5C78C6-4930-21B4-6591-DBB74D7F7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2201113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4AF31-A408-14A7-CAB6-E1E3AE378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C3412-A3E4-1F56-B56C-515757F1F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100CCD-593B-75E5-0D54-7AC09CD42D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2800226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C81E7-99F2-889F-5FBB-C7ED14CAD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1B8776-8274-B7A4-B499-C98DB7151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18C2A5-C8E7-3F64-2CF1-CD4C97F0F9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9794868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AC444-4E1A-F9CC-CCFB-F2E03E2AB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F3A84-3664-1B3D-76D1-67C6BE1AF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5F0F38-0D72-1550-DF14-F61C7263DB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2900925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11BF4-188C-A865-3F94-6AE13DDCA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CEF50-A715-383D-E945-083BB1562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3E83B1-0344-D685-FE46-EAB0072292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8333951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E1885-BF12-F46F-A3F6-5CD6FEC3D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A77AD-D6D9-9A14-EBCC-465C7412F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EFFA13-C0AC-7E79-2FA7-17BE86A8C8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7412357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A8D0F-DAE8-8C5E-2F1D-8B1567AFC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67C79-2214-20E4-91D3-87F150A52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6F49F7-DE7F-4549-F1A7-35EEB02C2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2240673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33678-7AFA-2A36-6973-B445F4272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C4DF3-8BBB-939D-E34A-304946965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87B64C-EB5B-8855-D993-EE715BCDD6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8672979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CF2F1-D7BA-BDF0-D554-C4FF35236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02128-283E-4568-9881-9A77883C9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E53454-AFD8-A46F-45B7-D3CEF9DEAC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629341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FB19A-1A6C-348D-6F7B-356129BB9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3A639-7EC5-2CD6-6474-B984CAD4D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7589DA-CD93-4671-4702-5F93AC713A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7287050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7E359-22EA-73D7-E7E3-653E70A40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8D232-C6C6-C004-84C7-6963D5298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6A0B4-DFBD-6896-C839-1FFD92298E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7876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1CB86-8F93-7055-249B-6EB8003F0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ADD5B-8DC2-706E-CC4E-4EE8941DB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A1B4C6-EEA4-BE68-F007-E76717432F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499"/>
            <a:ext cx="10497534" cy="3948885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6802431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46</TotalTime>
  <Words>2285</Words>
  <Application>Microsoft Office PowerPoint</Application>
  <PresentationFormat>Widescreen</PresentationFormat>
  <Paragraphs>269</Paragraphs>
  <Slides>56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2" baseType="lpstr">
      <vt:lpstr>Arial</vt:lpstr>
      <vt:lpstr>Century Gothic</vt:lpstr>
      <vt:lpstr>Courier New</vt:lpstr>
      <vt:lpstr>Inter</vt:lpstr>
      <vt:lpstr>Wingdings 3</vt:lpstr>
      <vt:lpstr>Ion Boardroom</vt:lpstr>
      <vt:lpstr>Streams and Batch processing in Spring Integration</vt:lpstr>
      <vt:lpstr>Handling Large Payloads &amp; Streaming Data in Spring Integration</vt:lpstr>
      <vt:lpstr>Key Strategies</vt:lpstr>
      <vt:lpstr>Streaming Instead of Loading Entire Payload</vt:lpstr>
      <vt:lpstr>Split Large Payloads (Chunking Pattern)</vt:lpstr>
      <vt:lpstr>Use Streaming Adapters</vt:lpstr>
      <vt:lpstr>Backpressure &amp; Pollers</vt:lpstr>
      <vt:lpstr>Persistent Message Store</vt:lpstr>
      <vt:lpstr>Claim Check Pattern </vt:lpstr>
      <vt:lpstr>Zero-Copy File Transfers</vt:lpstr>
      <vt:lpstr>Best Practices </vt:lpstr>
      <vt:lpstr>Real-World Example</vt:lpstr>
      <vt:lpstr>PowerPoint Presentation</vt:lpstr>
      <vt:lpstr>PowerPoint Presentation</vt:lpstr>
      <vt:lpstr>PowerPoint Presentation</vt:lpstr>
      <vt:lpstr>Batch Processing Integration with Spring Batch</vt:lpstr>
      <vt:lpstr>Why Combine Spring Integration + Spring Batch?</vt:lpstr>
      <vt:lpstr>Why combine them?</vt:lpstr>
      <vt:lpstr>Launching a Job via Messaging</vt:lpstr>
      <vt:lpstr>Core Workflow</vt:lpstr>
      <vt:lpstr>Key Components</vt:lpstr>
      <vt:lpstr>PowerPoint Presentation</vt:lpstr>
      <vt:lpstr>PowerPoint Presentation</vt:lpstr>
      <vt:lpstr>Messaging within a Batch Step</vt:lpstr>
      <vt:lpstr>Remote Chunking</vt:lpstr>
      <vt:lpstr>Remote Chunking</vt:lpstr>
      <vt:lpstr>Remote Partitioning</vt:lpstr>
      <vt:lpstr>PowerPoint Presentation</vt:lpstr>
      <vt:lpstr>PowerPoint Presentation</vt:lpstr>
      <vt:lpstr>Handling Job Results</vt:lpstr>
      <vt:lpstr>Idempotency &amp; Message Loss </vt:lpstr>
      <vt:lpstr>Features of Spring Batch</vt:lpstr>
      <vt:lpstr>Summary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anju munoth</dc:creator>
  <cp:lastModifiedBy>anju munoth</cp:lastModifiedBy>
  <cp:revision>37</cp:revision>
  <dcterms:created xsi:type="dcterms:W3CDTF">2026-03-26T04:09:04Z</dcterms:created>
  <dcterms:modified xsi:type="dcterms:W3CDTF">2026-03-27T01:37:29Z</dcterms:modified>
</cp:coreProperties>
</file>