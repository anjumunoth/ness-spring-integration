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304" r:id="rId14"/>
    <p:sldId id="305" r:id="rId15"/>
    <p:sldId id="306" r:id="rId16"/>
    <p:sldId id="307" r:id="rId17"/>
    <p:sldId id="303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262" r:id="rId52"/>
    <p:sldId id="263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99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5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5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63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8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13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55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9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4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09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15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670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74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616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92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05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34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1B23F7-5DCE-49D8-9317-A5F9C3452F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C35000C-3158-454C-95CA-771396FB0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48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D8FE-6920-61BC-F248-8CEDD5AEC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Streams and Batch processing in Spring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C8065-8FCF-9E72-C04F-6482C7809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71121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ECE7-2612-D993-6BBC-6BCC6090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Large Payloads &amp; Streaming Data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DA8B-7A12-1611-E23F-EF413026C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Problem Context</a:t>
            </a:r>
          </a:p>
          <a:p>
            <a:r>
              <a:rPr lang="en-IN" dirty="0"/>
              <a:t>In real systems, messages are not always small JSON objects. You may deal with:</a:t>
            </a:r>
          </a:p>
          <a:p>
            <a:r>
              <a:rPr lang="en-IN" dirty="0"/>
              <a:t>Large files (GBs) – CSV, XML, videos </a:t>
            </a:r>
          </a:p>
          <a:p>
            <a:r>
              <a:rPr lang="en-IN" dirty="0"/>
              <a:t>Continuous data streams – logs, IoT, Kafka-like streams </a:t>
            </a:r>
          </a:p>
          <a:p>
            <a:r>
              <a:rPr lang="en-IN" dirty="0"/>
              <a:t>Memory-sensitive pipelines </a:t>
            </a:r>
          </a:p>
          <a:p>
            <a:pPr marL="0" indent="0">
              <a:buNone/>
            </a:pPr>
            <a:r>
              <a:rPr lang="en-IN" dirty="0"/>
              <a:t> Default message handling in Spring Integration loads payloads </a:t>
            </a:r>
            <a:r>
              <a:rPr lang="en-IN" b="1" dirty="0"/>
              <a:t>fully into memory</a:t>
            </a:r>
            <a:r>
              <a:rPr lang="en-IN" dirty="0"/>
              <a:t>, which is </a:t>
            </a:r>
            <a:r>
              <a:rPr lang="en-IN" b="1" dirty="0"/>
              <a:t>dangerous for large data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96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77A1-10B8-B839-66F2-541A8243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7270-9A5A-3D73-100C-36E21490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4AAA5-2E1E-22F0-ED8C-4C99538BE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Streaming Instead of Loading Entire Payload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IN" b="1" dirty="0"/>
              <a:t>Split Large Payloads (Chunking Pattern)</a:t>
            </a:r>
          </a:p>
          <a:p>
            <a:pPr marL="0" indent="0">
              <a:buNone/>
            </a:pPr>
            <a:r>
              <a:rPr lang="en-US" b="1" dirty="0"/>
              <a:t>3. Use Streaming Adapters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269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DCC5-A988-6A3E-FB38-0C0646E0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30FB-A38A-8788-E71C-35B36971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Streaming Instead of Loading Entire Payload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C23E-E5F8-CCFF-911F-E703426BD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Instead of: Message&lt;String&gt; // loads entire file</a:t>
            </a:r>
          </a:p>
          <a:p>
            <a:pPr marL="0" indent="0">
              <a:buNone/>
            </a:pPr>
            <a:r>
              <a:rPr lang="en-IN" dirty="0"/>
              <a:t>Use:</a:t>
            </a:r>
          </a:p>
          <a:p>
            <a:r>
              <a:rPr lang="en-IN" dirty="0"/>
              <a:t>Message&lt;</a:t>
            </a:r>
            <a:r>
              <a:rPr lang="en-IN" dirty="0" err="1"/>
              <a:t>InputStream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Message&lt;Resource&gt;</a:t>
            </a:r>
          </a:p>
          <a:p>
            <a:pPr marL="0" indent="0">
              <a:buNone/>
            </a:pPr>
            <a:r>
              <a:rPr lang="en-IN" b="1" dirty="0"/>
              <a:t>✔ Example (File Streaming Flow)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@Bean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public </a:t>
            </a:r>
            <a:r>
              <a:rPr lang="en-IN" b="1" dirty="0" err="1">
                <a:solidFill>
                  <a:srgbClr val="C00000"/>
                </a:solidFill>
              </a:rPr>
              <a:t>IntegrationFlow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b="1" dirty="0" err="1">
                <a:solidFill>
                  <a:srgbClr val="C00000"/>
                </a:solidFill>
              </a:rPr>
              <a:t>fileStreamingFlow</a:t>
            </a:r>
            <a:r>
              <a:rPr lang="en-IN" b="1" dirty="0">
                <a:solidFill>
                  <a:srgbClr val="C00000"/>
                </a:solidFill>
              </a:rPr>
              <a:t>()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return </a:t>
            </a:r>
            <a:r>
              <a:rPr lang="en-IN" b="1" dirty="0" err="1">
                <a:solidFill>
                  <a:srgbClr val="C00000"/>
                </a:solidFill>
              </a:rPr>
              <a:t>IntegrationFlows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.from(</a:t>
            </a:r>
            <a:r>
              <a:rPr lang="en-IN" b="1" dirty="0" err="1">
                <a:solidFill>
                  <a:srgbClr val="C00000"/>
                </a:solidFill>
              </a:rPr>
              <a:t>Files.inboundAdapter</a:t>
            </a:r>
            <a:r>
              <a:rPr lang="en-IN" b="1" dirty="0">
                <a:solidFill>
                  <a:srgbClr val="C00000"/>
                </a:solidFill>
              </a:rPr>
              <a:t>(new File("/input"))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    .</a:t>
            </a:r>
            <a:r>
              <a:rPr lang="en-IN" b="1" dirty="0" err="1">
                <a:solidFill>
                  <a:srgbClr val="C00000"/>
                </a:solidFill>
              </a:rPr>
              <a:t>autoCreateDirectory</a:t>
            </a:r>
            <a:r>
              <a:rPr lang="en-IN" b="1" dirty="0">
                <a:solidFill>
                  <a:srgbClr val="C00000"/>
                </a:solidFill>
              </a:rPr>
              <a:t>(true),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  e -&gt; </a:t>
            </a:r>
            <a:r>
              <a:rPr lang="en-IN" b="1" dirty="0" err="1">
                <a:solidFill>
                  <a:srgbClr val="C00000"/>
                </a:solidFill>
              </a:rPr>
              <a:t>e.poller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Pollers.fixedDelay</a:t>
            </a:r>
            <a:r>
              <a:rPr lang="en-IN" b="1" dirty="0">
                <a:solidFill>
                  <a:srgbClr val="C00000"/>
                </a:solidFill>
              </a:rPr>
              <a:t>(5000)))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.transform(</a:t>
            </a:r>
            <a:r>
              <a:rPr lang="en-IN" b="1" dirty="0" err="1">
                <a:solidFill>
                  <a:srgbClr val="C00000"/>
                </a:solidFill>
              </a:rPr>
              <a:t>File.class</a:t>
            </a:r>
            <a:r>
              <a:rPr lang="en-IN" b="1" dirty="0">
                <a:solidFill>
                  <a:srgbClr val="C00000"/>
                </a:solidFill>
              </a:rPr>
              <a:t>, file -&gt; new </a:t>
            </a:r>
            <a:r>
              <a:rPr lang="en-IN" b="1" dirty="0" err="1">
                <a:solidFill>
                  <a:srgbClr val="C00000"/>
                </a:solidFill>
              </a:rPr>
              <a:t>FileSystemResource</a:t>
            </a:r>
            <a:r>
              <a:rPr lang="en-IN" b="1" dirty="0">
                <a:solidFill>
                  <a:srgbClr val="C00000"/>
                </a:solidFill>
              </a:rPr>
              <a:t>(file))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.handle((payload, headers) -&gt;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</a:t>
            </a:r>
            <a:r>
              <a:rPr lang="en-IN" b="1" dirty="0" err="1">
                <a:solidFill>
                  <a:srgbClr val="C00000"/>
                </a:solidFill>
              </a:rPr>
              <a:t>InputStream</a:t>
            </a:r>
            <a:r>
              <a:rPr lang="en-IN" b="1" dirty="0">
                <a:solidFill>
                  <a:srgbClr val="C00000"/>
                </a:solidFill>
              </a:rPr>
              <a:t> is = ((Resource) payload).</a:t>
            </a:r>
            <a:r>
              <a:rPr lang="en-IN" b="1" dirty="0" err="1">
                <a:solidFill>
                  <a:srgbClr val="C00000"/>
                </a:solidFill>
              </a:rPr>
              <a:t>getInputStream</a:t>
            </a:r>
            <a:r>
              <a:rPr lang="en-IN" b="1" dirty="0">
                <a:solidFill>
                  <a:srgbClr val="C00000"/>
                </a:solidFill>
              </a:rPr>
              <a:t>();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// process stream without loading full file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    return null;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})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.get();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/>
              <a:t>👉 </a:t>
            </a:r>
            <a:r>
              <a:rPr lang="en-IN" b="1" dirty="0"/>
              <a:t>Key idea</a:t>
            </a:r>
            <a:r>
              <a:rPr lang="en-IN" dirty="0"/>
              <a:t>: process chunks, not whole file</a:t>
            </a:r>
          </a:p>
        </p:txBody>
      </p:sp>
    </p:spTree>
    <p:extLst>
      <p:ext uri="{BB962C8B-B14F-4D97-AF65-F5344CB8AC3E}">
        <p14:creationId xmlns:p14="http://schemas.microsoft.com/office/powerpoint/2010/main" val="345603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311E-895B-F46C-F992-FD0301E2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EF73-D84E-8105-6141-BC53816A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Split Large Payloads (Chunking Pattern)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22FC-28C7-DFA8-6A42-D7719AFA5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r>
              <a:rPr lang="en-IN" dirty="0"/>
              <a:t>Break large payload into smaller pieces.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b="1" dirty="0"/>
              <a:t>split(</a:t>
            </a:r>
            <a:r>
              <a:rPr lang="en-IN" b="1" dirty="0" err="1"/>
              <a:t>Files.splitter</a:t>
            </a:r>
            <a:r>
              <a:rPr lang="en-IN" b="1" dirty="0"/>
              <a:t>().markers())</a:t>
            </a:r>
          </a:p>
          <a:p>
            <a:r>
              <a:rPr lang="en-IN" dirty="0"/>
              <a:t>OR custom splitter:</a:t>
            </a:r>
          </a:p>
          <a:p>
            <a:pPr marL="0" indent="0">
              <a:buNone/>
            </a:pPr>
            <a:r>
              <a:rPr lang="en-IN" b="1" dirty="0"/>
              <a:t>.split(file -&gt; </a:t>
            </a:r>
            <a:r>
              <a:rPr lang="en-IN" b="1" dirty="0" err="1"/>
              <a:t>Files.lines</a:t>
            </a:r>
            <a:r>
              <a:rPr lang="en-IN" b="1" dirty="0"/>
              <a:t>(</a:t>
            </a:r>
            <a:r>
              <a:rPr lang="en-IN" b="1" dirty="0" err="1"/>
              <a:t>file.toPath</a:t>
            </a:r>
            <a:r>
              <a:rPr lang="en-IN" b="1" dirty="0"/>
              <a:t>()).collect(</a:t>
            </a:r>
            <a:r>
              <a:rPr lang="en-IN" b="1" dirty="0" err="1"/>
              <a:t>Collectors.toList</a:t>
            </a:r>
            <a:r>
              <a:rPr lang="en-IN" b="1" dirty="0"/>
              <a:t>()))</a:t>
            </a:r>
          </a:p>
          <a:p>
            <a:pPr marL="0" indent="0">
              <a:buNone/>
            </a:pPr>
            <a:r>
              <a:rPr lang="en-IN" dirty="0"/>
              <a:t>👉 Useful when:</a:t>
            </a:r>
          </a:p>
          <a:p>
            <a:r>
              <a:rPr lang="en-IN" dirty="0"/>
              <a:t>Processing large CSV line-by-line </a:t>
            </a:r>
          </a:p>
          <a:p>
            <a:r>
              <a:rPr lang="en-IN" dirty="0"/>
              <a:t>Parallel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14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6FFE-B652-5340-F869-960F84AF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B871-3834-E900-0153-E6B7969C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Streaming Adapters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279B-16F1-E560-EEFC-21AAD6C80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r>
              <a:rPr lang="en-US" dirty="0"/>
              <a:t>Spring Integration provides adapters that support streaming: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A123BB-1F20-BCC7-AAED-6484ADEC6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6154180"/>
              </p:ext>
            </p:extLst>
          </p:nvPr>
        </p:nvGraphicFramePr>
        <p:xfrm>
          <a:off x="1273056" y="3659292"/>
          <a:ext cx="88249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1241396730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2226858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Adapter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27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Adapter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3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FTP/SFTP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04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(InputStream)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687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82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 (via binder)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Streaming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39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9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D290-0C05-D4B0-6096-B8C7B0DA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EE9-5270-6F42-2B67-3118C9EF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Backpressure &amp; Pollers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02674-E59C-8332-24A6-DEB1FB816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Large data needs </a:t>
            </a:r>
            <a:r>
              <a:rPr lang="en-IN" b="1" dirty="0"/>
              <a:t>controlled consumption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.</a:t>
            </a:r>
            <a:r>
              <a:rPr lang="en-IN" b="1" dirty="0" err="1"/>
              <a:t>poller</a:t>
            </a:r>
            <a:r>
              <a:rPr lang="en-IN" b="1" dirty="0"/>
              <a:t>(</a:t>
            </a:r>
            <a:r>
              <a:rPr lang="en-IN" b="1" dirty="0" err="1"/>
              <a:t>Pollers.fixedDelay</a:t>
            </a:r>
            <a:r>
              <a:rPr lang="en-IN" b="1" dirty="0"/>
              <a:t>(1000)</a:t>
            </a:r>
            <a:br>
              <a:rPr lang="en-IN" b="1" dirty="0"/>
            </a:br>
            <a:r>
              <a:rPr lang="en-IN" b="1" dirty="0"/>
              <a:t>        .</a:t>
            </a:r>
            <a:r>
              <a:rPr lang="en-IN" b="1" dirty="0" err="1"/>
              <a:t>maxMessagesPerPoll</a:t>
            </a:r>
            <a:r>
              <a:rPr lang="en-IN" b="1" dirty="0"/>
              <a:t>(10))</a:t>
            </a:r>
          </a:p>
          <a:p>
            <a:pPr marL="0" indent="0">
              <a:buNone/>
            </a:pPr>
            <a:r>
              <a:rPr lang="en-IN" dirty="0"/>
              <a:t>Prevents:</a:t>
            </a:r>
          </a:p>
          <a:p>
            <a:r>
              <a:rPr lang="en-IN" dirty="0"/>
              <a:t>Memory overload </a:t>
            </a:r>
          </a:p>
          <a:p>
            <a:r>
              <a:rPr lang="en-IN" dirty="0"/>
              <a:t>Downstream system crash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27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776A-8B7D-DE49-6760-72545C85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60AB-71F2-B2AE-BE72-1218AE98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Persistent Message Store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05DE-0BC6-4241-993C-665B7001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r>
              <a:rPr lang="en-IN" b="1" dirty="0"/>
              <a:t>Critical for Large Data</a:t>
            </a:r>
          </a:p>
          <a:p>
            <a:r>
              <a:rPr lang="en-IN" dirty="0"/>
              <a:t>Instead of keeping payload in memory:</a:t>
            </a:r>
          </a:p>
          <a:p>
            <a:pPr marL="0" indent="0">
              <a:buNone/>
            </a:pPr>
            <a:r>
              <a:rPr lang="en-IN" b="1" dirty="0"/>
              <a:t>@Bean</a:t>
            </a:r>
            <a:br>
              <a:rPr lang="en-IN" b="1" dirty="0"/>
            </a:br>
            <a:r>
              <a:rPr lang="en-IN" b="1" dirty="0"/>
              <a:t>public </a:t>
            </a:r>
            <a:r>
              <a:rPr lang="en-IN" b="1" dirty="0" err="1"/>
              <a:t>MessageStore</a:t>
            </a:r>
            <a:r>
              <a:rPr lang="en-IN" b="1" dirty="0"/>
              <a:t> </a:t>
            </a:r>
            <a:r>
              <a:rPr lang="en-IN" b="1" dirty="0" err="1"/>
              <a:t>messageStore</a:t>
            </a:r>
            <a:r>
              <a:rPr lang="en-IN" b="1" dirty="0"/>
              <a:t>(</a:t>
            </a:r>
            <a:r>
              <a:rPr lang="en-IN" b="1" dirty="0" err="1"/>
              <a:t>DataSource</a:t>
            </a:r>
            <a:r>
              <a:rPr lang="en-IN" b="1" dirty="0"/>
              <a:t> </a:t>
            </a:r>
            <a:r>
              <a:rPr lang="en-IN" b="1" dirty="0" err="1"/>
              <a:t>dataSource</a:t>
            </a:r>
            <a:r>
              <a:rPr lang="en-IN" b="1" dirty="0"/>
              <a:t>) {</a:t>
            </a:r>
            <a:br>
              <a:rPr lang="en-IN" b="1" dirty="0"/>
            </a:br>
            <a:r>
              <a:rPr lang="en-IN" b="1" dirty="0"/>
              <a:t>    return new </a:t>
            </a:r>
            <a:r>
              <a:rPr lang="en-IN" b="1" dirty="0" err="1"/>
              <a:t>JdbcMessageStore</a:t>
            </a:r>
            <a:r>
              <a:rPr lang="en-IN" b="1" dirty="0"/>
              <a:t>(</a:t>
            </a:r>
            <a:r>
              <a:rPr lang="en-IN" b="1" dirty="0" err="1"/>
              <a:t>dataSource</a:t>
            </a:r>
            <a:r>
              <a:rPr lang="en-IN" b="1" dirty="0"/>
              <a:t>);</a:t>
            </a:r>
            <a:br>
              <a:rPr lang="en-IN" b="1" dirty="0"/>
            </a:br>
            <a:r>
              <a:rPr lang="en-IN" b="1" dirty="0"/>
              <a:t>}</a:t>
            </a:r>
          </a:p>
          <a:p>
            <a:pPr marL="0" indent="0">
              <a:buNone/>
            </a:pPr>
            <a:r>
              <a:rPr lang="en-IN" dirty="0"/>
              <a:t>Benefits:</a:t>
            </a:r>
          </a:p>
          <a:p>
            <a:r>
              <a:rPr lang="en-IN" dirty="0"/>
              <a:t>Survives restarts </a:t>
            </a:r>
          </a:p>
          <a:p>
            <a:r>
              <a:rPr lang="en-IN" dirty="0"/>
              <a:t>Handles large payload 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851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B838-D79A-DF44-4EC9-C51B9B3E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0DC5-058C-AE79-1B58-9226D3AD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Claim Check Pattern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6722C-4D71-2710-5C82-3C56DD496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Instead of sending large payload through system:</a:t>
            </a:r>
          </a:p>
          <a:p>
            <a:r>
              <a:rPr lang="en-IN" dirty="0"/>
              <a:t>👉 Store payload externally (DB, S3, File system)</a:t>
            </a:r>
          </a:p>
          <a:p>
            <a:r>
              <a:rPr lang="en-IN" dirty="0"/>
              <a:t>👉 Send only reference (ID)</a:t>
            </a:r>
          </a:p>
          <a:p>
            <a:pPr marL="0" indent="0">
              <a:buNone/>
            </a:pPr>
            <a:r>
              <a:rPr lang="en-IN" b="1" dirty="0"/>
              <a:t>[Producer]</a:t>
            </a:r>
            <a:br>
              <a:rPr lang="en-IN" b="1" dirty="0"/>
            </a:br>
            <a:r>
              <a:rPr lang="en-IN" b="1" dirty="0"/>
              <a:t>   ↓</a:t>
            </a:r>
            <a:br>
              <a:rPr lang="en-IN" b="1" dirty="0"/>
            </a:br>
            <a:r>
              <a:rPr lang="en-IN" b="1" dirty="0"/>
              <a:t>Store File → DB/S3</a:t>
            </a:r>
            <a:br>
              <a:rPr lang="en-IN" b="1" dirty="0"/>
            </a:br>
            <a:r>
              <a:rPr lang="en-IN" b="1" dirty="0"/>
              <a:t>   ↓</a:t>
            </a:r>
            <a:br>
              <a:rPr lang="en-IN" b="1" dirty="0"/>
            </a:br>
            <a:r>
              <a:rPr lang="en-IN" b="1" dirty="0"/>
              <a:t>Send message with </a:t>
            </a:r>
            <a:r>
              <a:rPr lang="en-IN" b="1" dirty="0" err="1"/>
              <a:t>fileId</a:t>
            </a:r>
            <a:br>
              <a:rPr lang="en-IN" b="1" dirty="0"/>
            </a:br>
            <a:r>
              <a:rPr lang="en-IN" b="1" dirty="0"/>
              <a:t>   ↓</a:t>
            </a:r>
            <a:br>
              <a:rPr lang="en-IN" b="1" dirty="0"/>
            </a:br>
            <a:r>
              <a:rPr lang="en-IN" b="1" dirty="0"/>
              <a:t>[Consumer retrieves file using </a:t>
            </a:r>
            <a:r>
              <a:rPr lang="en-IN" b="1" dirty="0" err="1"/>
              <a:t>fileId</a:t>
            </a:r>
            <a:r>
              <a:rPr lang="en-IN" b="1" dirty="0"/>
              <a:t>]</a:t>
            </a:r>
          </a:p>
          <a:p>
            <a:pPr marL="0" indent="0">
              <a:buNone/>
            </a:pPr>
            <a:r>
              <a:rPr lang="en-IN" dirty="0"/>
              <a:t>Spring Integration Support:</a:t>
            </a:r>
          </a:p>
          <a:p>
            <a:r>
              <a:rPr lang="en-IN" dirty="0"/>
              <a:t>.</a:t>
            </a:r>
            <a:r>
              <a:rPr lang="en-IN" dirty="0" err="1"/>
              <a:t>claimCheckIn</a:t>
            </a:r>
            <a:r>
              <a:rPr lang="en-IN" dirty="0"/>
              <a:t>(</a:t>
            </a:r>
            <a:r>
              <a:rPr lang="en-IN" dirty="0" err="1"/>
              <a:t>messageStore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.</a:t>
            </a:r>
            <a:r>
              <a:rPr lang="en-IN" dirty="0" err="1"/>
              <a:t>claimCheckOut</a:t>
            </a:r>
            <a:r>
              <a:rPr lang="en-IN" dirty="0"/>
              <a:t>(</a:t>
            </a:r>
            <a:r>
              <a:rPr lang="en-IN" dirty="0" err="1"/>
              <a:t>messageStore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8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A24D-6556-4078-D800-BBD8B91D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B39C-84F9-03C9-667A-6EBF5138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Zero-Copy File Transfers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D915-E904-CA00-3CE1-4D4F645B3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ultra-large files:</a:t>
            </a:r>
          </a:p>
          <a:p>
            <a:r>
              <a:rPr lang="en-US" dirty="0"/>
              <a:t>Use OS-level file movement instead of copying </a:t>
            </a:r>
          </a:p>
          <a:p>
            <a:r>
              <a:rPr lang="en-US" dirty="0"/>
              <a:t>Spring Integration File adapters support this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307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2DF6-5016-5265-46C2-A87BEB22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37BC-52EB-3454-460A-29A7F5A0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F5383-8A5A-977A-D8EB-2BF292AC4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✔ Use </a:t>
            </a:r>
            <a:r>
              <a:rPr lang="en-IN" dirty="0" err="1"/>
              <a:t>InputStream</a:t>
            </a:r>
            <a:r>
              <a:rPr lang="en-IN" dirty="0"/>
              <a:t> or Resource, NOT String</a:t>
            </a:r>
            <a:br>
              <a:rPr lang="en-IN" dirty="0"/>
            </a:br>
            <a:r>
              <a:rPr lang="en-IN" dirty="0"/>
              <a:t>✔ Use </a:t>
            </a:r>
            <a:r>
              <a:rPr lang="en-IN" b="1" dirty="0"/>
              <a:t>splitters for parallelism</a:t>
            </a:r>
            <a:br>
              <a:rPr lang="en-IN" dirty="0"/>
            </a:br>
            <a:r>
              <a:rPr lang="en-IN" dirty="0"/>
              <a:t>✔ Use </a:t>
            </a:r>
            <a:r>
              <a:rPr lang="en-IN" b="1" dirty="0"/>
              <a:t>claim check for large payloads</a:t>
            </a:r>
            <a:br>
              <a:rPr lang="en-IN" dirty="0"/>
            </a:br>
            <a:r>
              <a:rPr lang="en-IN" dirty="0"/>
              <a:t>✔ Limit poll rate</a:t>
            </a:r>
            <a:br>
              <a:rPr lang="en-IN" dirty="0"/>
            </a:br>
            <a:r>
              <a:rPr lang="en-IN" dirty="0"/>
              <a:t>✔ Use </a:t>
            </a:r>
            <a:r>
              <a:rPr lang="en-IN" b="1" dirty="0"/>
              <a:t>persistent stores</a:t>
            </a:r>
            <a:br>
              <a:rPr lang="en-IN" dirty="0"/>
            </a:br>
            <a:r>
              <a:rPr lang="en-IN" dirty="0"/>
              <a:t>✔ Avoid logging full payload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83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204B-627A-3B6A-59CD-9635E51F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3BD8-4D19-5023-DAE7-D967A5A8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8EE9-7329-FCDA-16E4-A4F4D2BE0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Scenario: Processing 5GB CSV</a:t>
            </a:r>
            <a:endParaRPr lang="en-IN" dirty="0"/>
          </a:p>
          <a:p>
            <a:r>
              <a:rPr lang="en-IN" dirty="0"/>
              <a:t>Pipeline: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File Adapter → Splitter (line-by-line) → Transformer → DB Writer</a:t>
            </a:r>
          </a:p>
          <a:p>
            <a:pPr marL="0" indent="0">
              <a:buNone/>
            </a:pPr>
            <a:r>
              <a:rPr lang="en-IN" dirty="0"/>
              <a:t>Optimizations:</a:t>
            </a:r>
          </a:p>
          <a:p>
            <a:r>
              <a:rPr lang="en-IN" dirty="0"/>
              <a:t>Stream file </a:t>
            </a:r>
          </a:p>
          <a:p>
            <a:r>
              <a:rPr lang="en-IN" dirty="0"/>
              <a:t>Batch DB inserts </a:t>
            </a:r>
          </a:p>
          <a:p>
            <a:r>
              <a:rPr lang="en-IN" dirty="0"/>
              <a:t>Parallel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059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77D5EB-FB45-B730-64C7-9BB758F44954}"/>
              </a:ext>
            </a:extLst>
          </p:cNvPr>
          <p:cNvSpPr txBox="1"/>
          <p:nvPr/>
        </p:nvSpPr>
        <p:spPr>
          <a:xfrm>
            <a:off x="925809" y="-356652"/>
            <a:ext cx="11432445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fileStreamingFlow</a:t>
            </a:r>
            <a:r>
              <a:rPr lang="en-IN" dirty="0"/>
              <a:t>() {</a:t>
            </a:r>
          </a:p>
          <a:p>
            <a:r>
              <a:rPr lang="en-IN" dirty="0"/>
              <a:t>        return </a:t>
            </a:r>
            <a:r>
              <a:rPr lang="en-IN" dirty="0" err="1"/>
              <a:t>IntegrationFlows</a:t>
            </a:r>
            <a:endParaRPr lang="en-IN" dirty="0"/>
          </a:p>
          <a:p>
            <a:r>
              <a:rPr lang="en-IN" dirty="0"/>
              <a:t>                // Step 1: Read file from directory</a:t>
            </a:r>
          </a:p>
          <a:p>
            <a:r>
              <a:rPr lang="en-IN" dirty="0"/>
              <a:t>                .from(</a:t>
            </a:r>
            <a:r>
              <a:rPr lang="en-IN" dirty="0" err="1"/>
              <a:t>Files.inboundAdapter</a:t>
            </a:r>
            <a:r>
              <a:rPr lang="en-IN" dirty="0"/>
              <a:t>(new File("input"))</a:t>
            </a:r>
          </a:p>
          <a:p>
            <a:r>
              <a:rPr lang="en-IN" dirty="0"/>
              <a:t>                                .</a:t>
            </a:r>
            <a:r>
              <a:rPr lang="en-IN" dirty="0" err="1"/>
              <a:t>autoCreateDirectory</a:t>
            </a:r>
            <a:r>
              <a:rPr lang="en-IN" dirty="0"/>
              <a:t>(true),</a:t>
            </a:r>
          </a:p>
          <a:p>
            <a:r>
              <a:rPr lang="en-IN" dirty="0"/>
              <a:t>                        e -&gt; </a:t>
            </a:r>
            <a:r>
              <a:rPr lang="en-IN" dirty="0" err="1"/>
              <a:t>e.poller</a:t>
            </a:r>
            <a:r>
              <a:rPr lang="en-IN" dirty="0"/>
              <a:t>(</a:t>
            </a:r>
            <a:r>
              <a:rPr lang="en-IN" dirty="0" err="1"/>
              <a:t>Pollers.fixedDelay</a:t>
            </a:r>
            <a:r>
              <a:rPr lang="en-IN" dirty="0"/>
              <a:t>(5000)</a:t>
            </a:r>
          </a:p>
          <a:p>
            <a:r>
              <a:rPr lang="en-IN" dirty="0"/>
              <a:t>                                .</a:t>
            </a:r>
            <a:r>
              <a:rPr lang="en-IN" dirty="0" err="1"/>
              <a:t>maxMessagesPerPoll</a:t>
            </a:r>
            <a:r>
              <a:rPr lang="en-IN" dirty="0"/>
              <a:t>(1))) // control load</a:t>
            </a:r>
          </a:p>
          <a:p>
            <a:r>
              <a:rPr lang="en-IN" dirty="0"/>
              <a:t>                // Step 2: Convert File → Stream (lazy)</a:t>
            </a:r>
          </a:p>
          <a:p>
            <a:r>
              <a:rPr lang="en-IN" dirty="0"/>
              <a:t>                .transform(</a:t>
            </a:r>
            <a:r>
              <a:rPr lang="en-IN" dirty="0" err="1"/>
              <a:t>File.class</a:t>
            </a:r>
            <a:r>
              <a:rPr lang="en-IN" dirty="0"/>
              <a:t>, file -&gt; {</a:t>
            </a:r>
          </a:p>
          <a:p>
            <a:r>
              <a:rPr lang="en-IN" dirty="0"/>
              <a:t>                    try {	                        return </a:t>
            </a:r>
            <a:r>
              <a:rPr lang="en-IN" dirty="0" err="1"/>
              <a:t>Files.lines</a:t>
            </a:r>
            <a:r>
              <a:rPr lang="en-IN" dirty="0"/>
              <a:t>(</a:t>
            </a:r>
            <a:r>
              <a:rPr lang="en-IN" dirty="0" err="1"/>
              <a:t>file.toPath</a:t>
            </a:r>
            <a:r>
              <a:rPr lang="en-IN" dirty="0"/>
              <a:t>()); // STREAM	</a:t>
            </a:r>
          </a:p>
          <a:p>
            <a:r>
              <a:rPr lang="en-IN" dirty="0"/>
              <a:t>            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r>
              <a:rPr lang="en-IN" dirty="0"/>
              <a:t>                        throw new </a:t>
            </a:r>
            <a:r>
              <a:rPr lang="en-IN" dirty="0" err="1"/>
              <a:t>RuntimeException</a:t>
            </a:r>
            <a:r>
              <a:rPr lang="en-IN" dirty="0"/>
              <a:t>(e);		                    } 	                })</a:t>
            </a:r>
          </a:p>
          <a:p>
            <a:r>
              <a:rPr lang="en-IN" dirty="0"/>
              <a:t>                // Step 3: Split stream into individual lines</a:t>
            </a:r>
          </a:p>
          <a:p>
            <a:r>
              <a:rPr lang="en-IN" dirty="0"/>
              <a:t>                </a:t>
            </a:r>
            <a:r>
              <a:rPr lang="en-IN" b="1" dirty="0"/>
              <a:t>.split() // IMPORTANT: streaming split</a:t>
            </a:r>
          </a:p>
          <a:p>
            <a:r>
              <a:rPr lang="en-IN" dirty="0"/>
              <a:t>                // Step 4: Process each line</a:t>
            </a:r>
          </a:p>
          <a:p>
            <a:r>
              <a:rPr lang="en-IN" dirty="0"/>
              <a:t>                .handle((payload, headers) -&gt; {</a:t>
            </a:r>
          </a:p>
          <a:p>
            <a:r>
              <a:rPr lang="en-IN" dirty="0"/>
              <a:t>                    String line = (String) payload;</a:t>
            </a:r>
          </a:p>
          <a:p>
            <a:r>
              <a:rPr lang="en-IN" dirty="0"/>
              <a:t>                    // Business logic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("Processing: " + line);</a:t>
            </a:r>
          </a:p>
          <a:p>
            <a:r>
              <a:rPr lang="en-IN" dirty="0"/>
              <a:t>                    return null;</a:t>
            </a:r>
          </a:p>
          <a:p>
            <a:r>
              <a:rPr lang="en-IN" dirty="0"/>
              <a:t>                })</a:t>
            </a:r>
          </a:p>
          <a:p>
            <a:r>
              <a:rPr lang="en-IN" dirty="0"/>
              <a:t>                .get();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6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1AEF35-99CA-F564-1C95-30045CA067F5}"/>
              </a:ext>
            </a:extLst>
          </p:cNvPr>
          <p:cNvSpPr txBox="1"/>
          <p:nvPr/>
        </p:nvSpPr>
        <p:spPr>
          <a:xfrm>
            <a:off x="3047593" y="1714727"/>
            <a:ext cx="75340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Processing CSV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.handle((payload, headers) -&gt;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String line = (String) payload;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String[] columns = </a:t>
            </a:r>
            <a:r>
              <a:rPr lang="en-IN" dirty="0" err="1">
                <a:latin typeface="Courier New" panose="02070309020205020404" pitchFamily="49" charset="0"/>
              </a:rPr>
              <a:t>line.split</a:t>
            </a:r>
            <a:r>
              <a:rPr lang="en-IN" dirty="0">
                <a:latin typeface="Courier New" panose="02070309020205020404" pitchFamily="49" charset="0"/>
              </a:rPr>
              <a:t>(",");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// Example: insert into DB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("User: " + columns[0]);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return null;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91003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7E86EA-B105-1D1A-F953-2038BB62B4E0}"/>
              </a:ext>
            </a:extLst>
          </p:cNvPr>
          <p:cNvSpPr txBox="1"/>
          <p:nvPr/>
        </p:nvSpPr>
        <p:spPr>
          <a:xfrm>
            <a:off x="1413164" y="1991726"/>
            <a:ext cx="98432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Proper Streaming with Auto-Close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.transform(</a:t>
            </a:r>
            <a:r>
              <a:rPr lang="en-IN" dirty="0" err="1">
                <a:latin typeface="Courier New" panose="02070309020205020404" pitchFamily="49" charset="0"/>
              </a:rPr>
              <a:t>File.class</a:t>
            </a:r>
            <a:r>
              <a:rPr lang="en-IN" dirty="0">
                <a:latin typeface="Courier New" panose="02070309020205020404" pitchFamily="49" charset="0"/>
              </a:rPr>
              <a:t>, file -&gt;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try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return </a:t>
            </a:r>
            <a:r>
              <a:rPr lang="en-IN" dirty="0" err="1">
                <a:latin typeface="Courier New" panose="02070309020205020404" pitchFamily="49" charset="0"/>
              </a:rPr>
              <a:t>Files.lines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file.toPath</a:t>
            </a:r>
            <a:r>
              <a:rPr lang="en-IN" dirty="0">
                <a:latin typeface="Courier New" panose="02070309020205020404" pitchFamily="49" charset="0"/>
              </a:rPr>
              <a:t>())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.</a:t>
            </a:r>
            <a:r>
              <a:rPr lang="en-IN" dirty="0" err="1">
                <a:latin typeface="Courier New" panose="02070309020205020404" pitchFamily="49" charset="0"/>
              </a:rPr>
              <a:t>onClose</a:t>
            </a:r>
            <a:r>
              <a:rPr lang="en-IN" dirty="0">
                <a:latin typeface="Courier New" panose="02070309020205020404" pitchFamily="49" charset="0"/>
              </a:rPr>
              <a:t>(() -&gt; </a:t>
            </a: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("Stream closed"));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 catch (</a:t>
            </a:r>
            <a:r>
              <a:rPr lang="en-IN" dirty="0" err="1">
                <a:latin typeface="Courier New" panose="02070309020205020404" pitchFamily="49" charset="0"/>
              </a:rPr>
              <a:t>IOException</a:t>
            </a:r>
            <a:r>
              <a:rPr lang="en-IN" dirty="0">
                <a:latin typeface="Courier New" panose="02070309020205020404" pitchFamily="49" charset="0"/>
              </a:rPr>
              <a:t> e)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throw new </a:t>
            </a:r>
            <a:r>
              <a:rPr lang="en-IN" dirty="0" err="1">
                <a:latin typeface="Courier New" panose="02070309020205020404" pitchFamily="49" charset="0"/>
              </a:rPr>
              <a:t>RuntimeException</a:t>
            </a:r>
            <a:r>
              <a:rPr lang="en-IN" dirty="0">
                <a:latin typeface="Courier New" panose="02070309020205020404" pitchFamily="49" charset="0"/>
              </a:rPr>
              <a:t>(e);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33892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99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2284FA-D884-DB85-A9E4-BF5564CE2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Batch Processing Integration with Spring Batch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FAD60F-5291-864E-DB8F-FF61BD345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22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A5A2-EBEA-BD35-BDE5-D10165BC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7B1D-DC20-42D3-88B7-C92D855B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Combine Spring Integration + Spring Batch?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E11B2C-FBD7-593E-3181-237501145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195802"/>
              </p:ext>
            </p:extLst>
          </p:nvPr>
        </p:nvGraphicFramePr>
        <p:xfrm>
          <a:off x="1155700" y="2603500"/>
          <a:ext cx="882491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1855957206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2987454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Spring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656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/ event-driven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Bulk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542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Chunk-based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89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Scheduled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5138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972EC4-7317-15D2-2545-3B7BE3045401}"/>
              </a:ext>
            </a:extLst>
          </p:cNvPr>
          <p:cNvSpPr txBox="1"/>
          <p:nvPr/>
        </p:nvSpPr>
        <p:spPr>
          <a:xfrm>
            <a:off x="1116106" y="4630242"/>
            <a:ext cx="609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Together: </a:t>
            </a:r>
            <a:r>
              <a:rPr lang="en-US" b="1" dirty="0"/>
              <a:t>Event-driven batch processing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86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21D7-DF0E-64F0-43ED-C63668DE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BD5F-B493-732D-DE06-D157E913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7595-8BB8-0DBD-0AAB-D2D5426D5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127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33F0-956A-31FB-837E-E3520B34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8DC4-65B4-C857-1FCD-AFC427EA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0B5B-1EB1-7FFE-BAA2-0DF70B425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019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1469-9A83-C945-BD45-3C5296DE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C4E5-FC99-E782-EBF9-1C15FEFC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059E-D032-D417-5FBC-4F61FF58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826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1A30-0DA5-34FE-C1C4-D52F2D83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852A-0A6E-93FF-0E7E-9A073F9F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97F4F-77F6-298B-A947-F8036A9F2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3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4866-737F-23A6-95A3-CE3AED74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D63F-382D-4D1C-30C5-695B5023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D4351-092E-60D5-FD9A-34AB039D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361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2519-D20F-FA81-F1A5-99DDB4AD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6A96-C801-1BFA-DE02-B2FA770E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F5E75-410F-838F-DBE7-566528B03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399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2556-C57F-C0D9-46AE-7CD8B3F7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670B-913F-2156-4640-EE564DEB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EAA4-34CF-CABA-7138-E6A819ADD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12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1A9A-F945-4D2D-0C41-BDBBF607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EFE6B-53FF-6DB1-B0B5-DE5DFB9F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2C6E3-E11C-2976-1290-7CF94A92B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592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0495-DE40-12EE-4222-99445820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2B15-9D45-5974-4DA7-5E1ABEBA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7B55-AC13-F811-9F8E-1DF12B0FE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890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E496-A8AD-9E32-B47A-17CE7DEC2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1F95-1227-46C3-B429-6CA08A9F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CB74-7AEF-2CF5-35AB-10D6F5036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074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E2DC-2381-3CFF-D2A1-B75EE8B8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A830-AD8E-179A-4639-7A4440CB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B030-64A6-3AF1-2983-2DFCC6320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303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EB36-056A-8206-5584-3804B294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BB8E-BD75-9A72-EF82-8A8C296A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D78F-3288-34CE-7F85-170B9BC60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318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B820-32E1-EAC6-7C72-1BBC6DEC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CE1B-53CC-5220-E2AC-E293711A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15FD-8EF7-3939-B78D-7AE9E54D5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102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67AB-C8CE-FA4A-3550-7C191F9A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F63A-94E7-E86B-5E40-3EE85E38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0DD9-A589-3BDC-B540-AEACF36B6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332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4CF0-CB55-6993-1B18-E0EADD4B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5FFA-4E49-008B-40B8-B903EBCE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20D0F-339A-FB32-639D-A5B8987E9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374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9144-819B-1F96-C972-DEF7CA46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AF07-79C8-871E-461B-6961B302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106E-85AE-8B55-E9BD-EA7BD79BC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446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45B9-5B93-4B36-2407-E3C4F419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EA52-CB02-B76D-F66C-A1AE3447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9EF3-75FB-A16F-00C7-5B7D40BF5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588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5A44-2709-0DE7-5602-D648CA8D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6E33-7C68-8075-6F67-C7B96CB1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2CE1-F233-55BC-5DC8-5D180B059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233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E61B-21A5-8E77-A5BB-2D9953F9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5B12-DF44-DB12-6C7F-97584952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3E0D-D229-0600-5119-49ADFF76D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58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842A-AAC5-4711-2FAA-CB153EB0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4E4A-E628-52BF-A345-364FCB22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9075-EC2F-921B-326F-42B25E8C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475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D01F-6A4F-8B3C-29C1-1F96AD15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C2CA-EC18-95AC-050C-558AD394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1928-16E5-2F55-375E-1F8D2161B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0063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1B70-7643-E318-1835-2A80FBB6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E0B3-6780-2773-4694-5484CE9E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C593-D1DC-07F4-FC6A-6A619ACB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052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5F9E-9FD8-9CAF-48C5-DEFDC6A0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5768-9626-3099-52CF-0F39D8FA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78C6-4930-21B4-6591-DBB74D7F7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011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AF31-A408-14A7-CAB6-E1E3AE37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3412-A3E4-1F56-B56C-515757F1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0CCD-593B-75E5-0D54-7AC09CD42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002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81E7-99F2-889F-5FBB-C7ED14CA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8776-8274-B7A4-B499-C98DB715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C2A5-C8E7-3F64-2CF1-CD4C97F0F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948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C444-4E1A-F9CC-CCFB-F2E03E2A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3A84-3664-1B3D-76D1-67C6BE1A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F0F38-0D72-1550-DF14-F61C7263D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009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1BF4-188C-A865-3F94-6AE13DDC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EF50-A715-383D-E945-083BB156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E83B1-0344-D685-FE46-EAB007229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339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1885-BF12-F46F-A3F6-5CD6FEC3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77AD-D6D9-9A14-EBCC-465C7412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FA13-C0AC-7E79-2FA7-17BE86A8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123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D0F-DAE8-8C5E-2F1D-8B1567AF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7C79-2214-20E4-91D3-87F150A5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F49F7-DE7F-4549-F1A7-35EEB02C2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406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3678-7AFA-2A36-6973-B445F427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4DF3-8BBB-939D-E34A-30494696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7B64C-EB5B-8855-D993-EE715BCDD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729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CF2F1-D7BA-BDF0-D554-C4FF3523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2128-283E-4568-9881-9A77883C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3454-AFD8-A46F-45B7-D3CEF9DE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2934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B19A-1A6C-348D-6F7B-356129BB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A639-7EC5-2CD6-6474-B984CAD4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89DA-CD93-4671-4702-5F93AC71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870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E359-22EA-73D7-E7E3-653E70A4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D232-C6C6-C004-84C7-6963D529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A0B4-DFBD-6896-C839-1FFD92298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8768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CB86-8F93-7055-249B-6EB8003F0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DD5B-8DC2-706E-CC4E-4EE8941D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B4C6-EEA4-BE68-F007-E7671743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7534" cy="394888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024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</TotalTime>
  <Words>958</Words>
  <Application>Microsoft Office PowerPoint</Application>
  <PresentationFormat>Widescreen</PresentationFormat>
  <Paragraphs>116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Century Gothic</vt:lpstr>
      <vt:lpstr>Courier New</vt:lpstr>
      <vt:lpstr>Wingdings 3</vt:lpstr>
      <vt:lpstr>Ion Boardroom</vt:lpstr>
      <vt:lpstr>Streams and Batch processing in Spring Integration</vt:lpstr>
      <vt:lpstr>Handling Large Payloads &amp; Streaming Data in Spring Integration</vt:lpstr>
      <vt:lpstr>Key Strategies</vt:lpstr>
      <vt:lpstr>Streaming Instead of Loading Entire Payload</vt:lpstr>
      <vt:lpstr>Split Large Payloads (Chunking Pattern)</vt:lpstr>
      <vt:lpstr>Use Streaming Adapters</vt:lpstr>
      <vt:lpstr>Backpressure &amp; Pollers</vt:lpstr>
      <vt:lpstr>Persistent Message Store</vt:lpstr>
      <vt:lpstr>Claim Check Pattern </vt:lpstr>
      <vt:lpstr>Zero-Copy File Transfers</vt:lpstr>
      <vt:lpstr>Best Practices </vt:lpstr>
      <vt:lpstr>Real-World Example</vt:lpstr>
      <vt:lpstr>PowerPoint Presentation</vt:lpstr>
      <vt:lpstr>PowerPoint Presentation</vt:lpstr>
      <vt:lpstr>PowerPoint Presentation</vt:lpstr>
      <vt:lpstr>PowerPoint Presentation</vt:lpstr>
      <vt:lpstr>Batch Processing Integration with Spring Batch</vt:lpstr>
      <vt:lpstr>Why Combine Spring Integration + Spring Batch?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20</cp:revision>
  <dcterms:created xsi:type="dcterms:W3CDTF">2026-03-26T04:09:04Z</dcterms:created>
  <dcterms:modified xsi:type="dcterms:W3CDTF">2026-03-26T04:37:58Z</dcterms:modified>
</cp:coreProperties>
</file>