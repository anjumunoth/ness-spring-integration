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4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344" r:id="rId21"/>
    <p:sldId id="274" r:id="rId22"/>
    <p:sldId id="345" r:id="rId23"/>
    <p:sldId id="284" r:id="rId24"/>
    <p:sldId id="285" r:id="rId25"/>
    <p:sldId id="286" r:id="rId26"/>
    <p:sldId id="347" r:id="rId27"/>
    <p:sldId id="346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7" r:id="rId38"/>
    <p:sldId id="288" r:id="rId39"/>
    <p:sldId id="289" r:id="rId40"/>
    <p:sldId id="290" r:id="rId41"/>
    <p:sldId id="350" r:id="rId42"/>
    <p:sldId id="291" r:id="rId43"/>
    <p:sldId id="292" r:id="rId44"/>
    <p:sldId id="348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>
        <p:scale>
          <a:sx n="78" d="100"/>
          <a:sy n="78" d="100"/>
        </p:scale>
        <p:origin x="43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80275-DF4D-4758-8B6B-187EEF7FB1F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5B78A-E7C6-4CCE-8547-B763E8FF6B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965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@Service</a:t>
            </a:r>
          </a:p>
          <a:p>
            <a:r>
              <a:rPr lang="en-IN" dirty="0"/>
              <a:t>public class </a:t>
            </a:r>
            <a:r>
              <a:rPr lang="en-IN" dirty="0" err="1"/>
              <a:t>OrderService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private final </a:t>
            </a:r>
            <a:r>
              <a:rPr lang="en-IN" dirty="0" err="1"/>
              <a:t>OrderRepository</a:t>
            </a:r>
            <a:r>
              <a:rPr lang="en-IN" dirty="0"/>
              <a:t> </a:t>
            </a:r>
            <a:r>
              <a:rPr lang="en-IN" dirty="0" err="1"/>
              <a:t>orderRepo</a:t>
            </a:r>
            <a:r>
              <a:rPr lang="en-IN" dirty="0"/>
              <a:t>;</a:t>
            </a:r>
          </a:p>
          <a:p>
            <a:r>
              <a:rPr lang="en-IN" dirty="0"/>
              <a:t>    private final </a:t>
            </a:r>
            <a:r>
              <a:rPr lang="en-IN" dirty="0" err="1"/>
              <a:t>OutboxRepository</a:t>
            </a:r>
            <a:r>
              <a:rPr lang="en-IN" dirty="0"/>
              <a:t> </a:t>
            </a:r>
            <a:r>
              <a:rPr lang="en-IN" dirty="0" err="1"/>
              <a:t>outboxRepo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public </a:t>
            </a:r>
            <a:r>
              <a:rPr lang="en-IN" dirty="0" err="1"/>
              <a:t>OrderService</a:t>
            </a:r>
            <a:r>
              <a:rPr lang="en-IN" dirty="0"/>
              <a:t>(</a:t>
            </a:r>
            <a:r>
              <a:rPr lang="en-IN" dirty="0" err="1"/>
              <a:t>OrderRepository</a:t>
            </a:r>
            <a:r>
              <a:rPr lang="en-IN" dirty="0"/>
              <a:t> </a:t>
            </a:r>
            <a:r>
              <a:rPr lang="en-IN" dirty="0" err="1"/>
              <a:t>orderRepo</a:t>
            </a:r>
            <a:r>
              <a:rPr lang="en-IN" dirty="0"/>
              <a:t>,</a:t>
            </a:r>
          </a:p>
          <a:p>
            <a:r>
              <a:rPr lang="en-IN" dirty="0"/>
              <a:t>                        </a:t>
            </a:r>
            <a:r>
              <a:rPr lang="en-IN" dirty="0" err="1"/>
              <a:t>OutboxRepository</a:t>
            </a:r>
            <a:r>
              <a:rPr lang="en-IN" dirty="0"/>
              <a:t> </a:t>
            </a:r>
            <a:r>
              <a:rPr lang="en-IN" dirty="0" err="1"/>
              <a:t>outboxRepo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this.orderRepo</a:t>
            </a:r>
            <a:r>
              <a:rPr lang="en-IN" dirty="0"/>
              <a:t> = </a:t>
            </a:r>
            <a:r>
              <a:rPr lang="en-IN" dirty="0" err="1"/>
              <a:t>orderRepo</a:t>
            </a:r>
            <a:r>
              <a:rPr lang="en-IN" dirty="0"/>
              <a:t>;</a:t>
            </a:r>
          </a:p>
          <a:p>
            <a:r>
              <a:rPr lang="en-IN" dirty="0"/>
              <a:t>        </a:t>
            </a:r>
            <a:r>
              <a:rPr lang="en-IN" dirty="0" err="1"/>
              <a:t>this.outboxRepo</a:t>
            </a:r>
            <a:r>
              <a:rPr lang="en-IN" dirty="0"/>
              <a:t> = </a:t>
            </a:r>
            <a:r>
              <a:rPr lang="en-IN" dirty="0" err="1"/>
              <a:t>outboxRepo</a:t>
            </a:r>
            <a:r>
              <a:rPr lang="en-IN" dirty="0"/>
              <a:t>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@Transactional</a:t>
            </a:r>
          </a:p>
          <a:p>
            <a:r>
              <a:rPr lang="en-IN" dirty="0"/>
              <a:t>    public void process(Order order) {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("➡️ TX START");</a:t>
            </a:r>
          </a:p>
          <a:p>
            <a:endParaRPr lang="en-IN" dirty="0"/>
          </a:p>
          <a:p>
            <a:r>
              <a:rPr lang="en-IN" dirty="0"/>
              <a:t>        // 1. Save Order</a:t>
            </a:r>
          </a:p>
          <a:p>
            <a:r>
              <a:rPr lang="en-IN" dirty="0"/>
              <a:t>        </a:t>
            </a:r>
            <a:r>
              <a:rPr lang="en-IN" dirty="0" err="1"/>
              <a:t>orderRepo.save</a:t>
            </a:r>
            <a:r>
              <a:rPr lang="en-IN" dirty="0"/>
              <a:t>(order);</a:t>
            </a:r>
          </a:p>
          <a:p>
            <a:endParaRPr lang="en-IN" dirty="0"/>
          </a:p>
          <a:p>
            <a:r>
              <a:rPr lang="en-IN" dirty="0"/>
              <a:t>        // 2. Save Event (NOT sending to Rabbit!)</a:t>
            </a:r>
          </a:p>
          <a:p>
            <a:r>
              <a:rPr lang="en-IN" dirty="0"/>
              <a:t>        </a:t>
            </a:r>
            <a:r>
              <a:rPr lang="en-IN" dirty="0" err="1"/>
              <a:t>OutboxEvent</a:t>
            </a:r>
            <a:r>
              <a:rPr lang="en-IN" dirty="0"/>
              <a:t> event = new </a:t>
            </a:r>
            <a:r>
              <a:rPr lang="en-IN" dirty="0" err="1"/>
              <a:t>OutboxEvent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event.setPayload</a:t>
            </a:r>
            <a:r>
              <a:rPr lang="en-IN" dirty="0"/>
              <a:t>(</a:t>
            </a:r>
            <a:r>
              <a:rPr lang="en-IN" dirty="0" err="1"/>
              <a:t>order.getProduct</a:t>
            </a:r>
            <a:r>
              <a:rPr lang="en-IN" dirty="0"/>
              <a:t>());</a:t>
            </a:r>
          </a:p>
          <a:p>
            <a:r>
              <a:rPr lang="en-IN" dirty="0"/>
              <a:t>        </a:t>
            </a:r>
            <a:r>
              <a:rPr lang="en-IN" dirty="0" err="1"/>
              <a:t>event.setProcessed</a:t>
            </a:r>
            <a:r>
              <a:rPr lang="en-IN" dirty="0"/>
              <a:t>(false);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outboxRepo.save</a:t>
            </a:r>
            <a:r>
              <a:rPr lang="en-IN" dirty="0"/>
              <a:t>(event);</a:t>
            </a:r>
          </a:p>
          <a:p>
            <a:endParaRPr lang="en-IN" dirty="0"/>
          </a:p>
          <a:p>
            <a:r>
              <a:rPr lang="en-IN" dirty="0"/>
              <a:t>        // 3. Simulate failure</a:t>
            </a:r>
          </a:p>
          <a:p>
            <a:r>
              <a:rPr lang="en-IN" dirty="0"/>
              <a:t>        if ("</a:t>
            </a:r>
            <a:r>
              <a:rPr lang="en-IN" dirty="0" err="1"/>
              <a:t>FAIL".equals</a:t>
            </a:r>
            <a:r>
              <a:rPr lang="en-IN" dirty="0"/>
              <a:t>(</a:t>
            </a:r>
            <a:r>
              <a:rPr lang="en-IN" dirty="0" err="1"/>
              <a:t>order.getProduct</a:t>
            </a:r>
            <a:r>
              <a:rPr lang="en-IN" dirty="0"/>
              <a:t>())) {</a:t>
            </a:r>
          </a:p>
          <a:p>
            <a:r>
              <a:rPr lang="en-IN" dirty="0"/>
              <a:t>            throw new </a:t>
            </a:r>
            <a:r>
              <a:rPr lang="en-IN" dirty="0" err="1"/>
              <a:t>RuntimeException</a:t>
            </a:r>
            <a:r>
              <a:rPr lang="en-IN" dirty="0"/>
              <a:t>("Simulated failure");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("✅ TX COMMIT");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5B78A-E7C6-4CCE-8547-B763E8FF6B18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800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6F6DF-AA6F-3BB8-9AD4-FA35D3E3F0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Transactions in Spring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33D72-F684-97F8-FA7D-15388C4D9D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860249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294A-249E-34E9-A295-39DEFCA7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a Transaction?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3B162-2381-B840-99B9-83B94035D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IN" dirty="0"/>
              <a:t>A transaction is a unit of work that follows </a:t>
            </a:r>
            <a:r>
              <a:rPr lang="en-IN" b="1" dirty="0"/>
              <a:t>ACID properties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Atomicity</a:t>
            </a:r>
            <a:r>
              <a:rPr lang="en-IN" dirty="0"/>
              <a:t> → All or nothing </a:t>
            </a:r>
          </a:p>
          <a:p>
            <a:pPr lvl="1"/>
            <a:r>
              <a:rPr lang="en-IN" b="1" dirty="0"/>
              <a:t>Consistency</a:t>
            </a:r>
            <a:r>
              <a:rPr lang="en-IN" dirty="0"/>
              <a:t> → Data remains valid </a:t>
            </a:r>
          </a:p>
          <a:p>
            <a:pPr lvl="1"/>
            <a:r>
              <a:rPr lang="en-IN" b="1" dirty="0"/>
              <a:t>Isolation</a:t>
            </a:r>
            <a:r>
              <a:rPr lang="en-IN" dirty="0"/>
              <a:t> → Transactions don’t interfere </a:t>
            </a:r>
          </a:p>
          <a:p>
            <a:pPr lvl="1"/>
            <a:r>
              <a:rPr lang="en-IN" b="1" dirty="0"/>
              <a:t>Durability</a:t>
            </a:r>
            <a:r>
              <a:rPr lang="en-IN" dirty="0"/>
              <a:t> → Once committed, it stays 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r>
              <a:rPr lang="en-IN" b="1" dirty="0"/>
              <a:t>Save Order → Update Inventory → Send Message</a:t>
            </a:r>
          </a:p>
          <a:p>
            <a:r>
              <a:rPr lang="en-IN" dirty="0"/>
              <a:t>If inventory update fails → everything should rollback.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65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E7228-7868-0F1F-120C-A5CD2FDF7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B83EA-6D37-17DC-7055-F785DD52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Transaction in Spring Integration?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51D4-41CF-2AD6-1262-5DED95B8D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Spring Integration</a:t>
            </a:r>
            <a:r>
              <a:rPr lang="en-US" dirty="0"/>
              <a:t>, a transaction means:</a:t>
            </a:r>
          </a:p>
          <a:p>
            <a:r>
              <a:rPr lang="en-US" b="1" dirty="0"/>
              <a:t>A message is processed through a flow, and all operations inside a defined boundary succeed or rollback together.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Basic Message Flow</a:t>
            </a:r>
          </a:p>
          <a:p>
            <a:r>
              <a:rPr lang="en-US" b="1" dirty="0">
                <a:solidFill>
                  <a:srgbClr val="FF0000"/>
                </a:solidFill>
              </a:rPr>
              <a:t>Message → Channel → Handler → DB/API/MQ</a:t>
            </a:r>
          </a:p>
          <a:p>
            <a:r>
              <a:rPr lang="en-US" dirty="0"/>
              <a:t> Transaction boundary is usually around the </a:t>
            </a:r>
            <a:r>
              <a:rPr lang="en-US" b="1" dirty="0"/>
              <a:t>handler (endpoint)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116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C9690-9C36-B442-8F4D-84AAA47B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319F-6717-8CC6-2B8D-ADE7AA6AC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Where Does Transaction Apply?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D36C4-846A-6DC9-A05A-2636514A9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US" dirty="0"/>
              <a:t>In Spring Integration,  Transactions are applied at:</a:t>
            </a:r>
          </a:p>
          <a:p>
            <a:r>
              <a:rPr lang="en-US" b="1" dirty="0"/>
              <a:t>Message endpoints (handlers)</a:t>
            </a:r>
            <a:r>
              <a:rPr lang="en-US" dirty="0"/>
              <a:t> </a:t>
            </a:r>
          </a:p>
          <a:p>
            <a:r>
              <a:rPr lang="en-US" dirty="0"/>
              <a:t>Not at channels (channels are just pipes)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Important Rule:</a:t>
            </a:r>
          </a:p>
          <a:p>
            <a:pPr marL="0" indent="0">
              <a:buNone/>
            </a:pPr>
            <a:r>
              <a:rPr lang="en-US" dirty="0"/>
              <a:t>✅ </a:t>
            </a:r>
            <a:r>
              <a:rPr lang="en-US" b="1" dirty="0"/>
              <a:t>Transaction starts when message handling begins</a:t>
            </a:r>
            <a:br>
              <a:rPr lang="en-US" dirty="0"/>
            </a:br>
            <a:r>
              <a:rPr lang="en-US" dirty="0"/>
              <a:t>❌ Not when message enters the channel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45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8B96A-F380-68CD-94FE-912D5129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A779C-3A1F-2D40-F518-E750A5E9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Spring Integration Supports Transactions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29CB5-2A09-A1C7-25F1-4F4B3280C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Spring Integration uses:</a:t>
            </a:r>
          </a:p>
          <a:p>
            <a:r>
              <a:rPr lang="en-IN" dirty="0"/>
              <a:t>Spring’s </a:t>
            </a:r>
            <a:r>
              <a:rPr lang="en-IN" dirty="0" err="1"/>
              <a:t>PlatformTransactionManager</a:t>
            </a:r>
            <a:r>
              <a:rPr lang="en-IN" dirty="0"/>
              <a:t> </a:t>
            </a:r>
          </a:p>
          <a:p>
            <a:r>
              <a:rPr lang="en-IN" dirty="0"/>
              <a:t>AOP-based interception </a:t>
            </a:r>
          </a:p>
          <a:p>
            <a:pPr marL="0" indent="0">
              <a:buNone/>
            </a:pPr>
            <a:r>
              <a:rPr lang="en-IN" b="1" dirty="0"/>
              <a:t>Core Components</a:t>
            </a:r>
          </a:p>
          <a:p>
            <a:r>
              <a:rPr lang="en-IN" dirty="0" err="1"/>
              <a:t>PlatformTransactionManager</a:t>
            </a:r>
            <a:r>
              <a:rPr lang="en-IN" dirty="0"/>
              <a:t> </a:t>
            </a:r>
          </a:p>
          <a:p>
            <a:r>
              <a:rPr lang="en-IN" dirty="0" err="1"/>
              <a:t>TransactionInterceptor</a:t>
            </a:r>
            <a:r>
              <a:rPr lang="en-IN" dirty="0"/>
              <a:t> </a:t>
            </a:r>
          </a:p>
          <a:p>
            <a:r>
              <a:rPr lang="en-IN" dirty="0" err="1"/>
              <a:t>TransactionSynchronizationManager</a:t>
            </a:r>
            <a:r>
              <a:rPr lang="en-IN" dirty="0"/>
              <a:t> </a:t>
            </a:r>
          </a:p>
          <a:p>
            <a:r>
              <a:rPr lang="en-IN" dirty="0" err="1"/>
              <a:t>AdviceChain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414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EAB65-A42B-C90A-9549-9189D238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E37D-07D0-21D0-ACBE-10F91254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Transaction Support in Spring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52527-7025-B403-F572-481BD26EF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US" b="1" dirty="0"/>
              <a:t>Declarative Transactions</a:t>
            </a:r>
          </a:p>
          <a:p>
            <a:r>
              <a:rPr lang="en-IN" b="1" dirty="0"/>
              <a:t>Integration Flow Level</a:t>
            </a: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6494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1ADB7-1E7D-07F3-E2CF-DDBA4624D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FB10-544E-1107-7E44-84EC8E2A0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Declarative Transactions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3BD52-4914-147C-B738-F0FFF6D2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US" dirty="0"/>
              <a:t>Using @Transactional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@Service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public class </a:t>
            </a:r>
            <a:r>
              <a:rPr lang="en-US" b="1" dirty="0" err="1">
                <a:solidFill>
                  <a:srgbClr val="FF0000"/>
                </a:solidFill>
              </a:rPr>
              <a:t>OrderService</a:t>
            </a:r>
            <a:r>
              <a:rPr lang="en-US" b="1" dirty="0">
                <a:solidFill>
                  <a:srgbClr val="FF0000"/>
                </a:solidFill>
              </a:rPr>
              <a:t> {</a:t>
            </a: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@Transactional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public void process(Order order) {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 err="1">
                <a:solidFill>
                  <a:srgbClr val="FF0000"/>
                </a:solidFill>
              </a:rPr>
              <a:t>repository.save</a:t>
            </a:r>
            <a:r>
              <a:rPr lang="en-US" b="1" dirty="0">
                <a:solidFill>
                  <a:srgbClr val="FF0000"/>
                </a:solidFill>
              </a:rPr>
              <a:t>(order);</a:t>
            </a:r>
            <a:r>
              <a:rPr lang="en-IN" dirty="0"/>
              <a:t> // rollback if exception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}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}</a:t>
            </a:r>
          </a:p>
          <a:p>
            <a:r>
              <a:rPr lang="en-US" dirty="0"/>
              <a:t>Works when your handler calls this service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100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B2CF4-32D2-7538-18B9-664E8B49A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3C18-F3CF-7CFB-2A4A-1AB000C9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Integration Flow Level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25920-B6CC-1683-73C4-659B9AE9D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@Bean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public </a:t>
            </a:r>
            <a:r>
              <a:rPr lang="en-IN" b="1" dirty="0" err="1">
                <a:solidFill>
                  <a:srgbClr val="FF0000"/>
                </a:solidFill>
              </a:rPr>
              <a:t>IntegrationFlow</a:t>
            </a:r>
            <a:r>
              <a:rPr lang="en-IN" b="1" dirty="0">
                <a:solidFill>
                  <a:srgbClr val="FF0000"/>
                </a:solidFill>
              </a:rPr>
              <a:t> flow(</a:t>
            </a:r>
            <a:r>
              <a:rPr lang="en-IN" b="1" dirty="0" err="1">
                <a:solidFill>
                  <a:srgbClr val="FF0000"/>
                </a:solidFill>
              </a:rPr>
              <a:t>TransactionManager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b="1" dirty="0" err="1">
                <a:solidFill>
                  <a:srgbClr val="FF0000"/>
                </a:solidFill>
              </a:rPr>
              <a:t>txManager</a:t>
            </a:r>
            <a:r>
              <a:rPr lang="en-IN" b="1" dirty="0">
                <a:solidFill>
                  <a:srgbClr val="FF0000"/>
                </a:solidFill>
              </a:rPr>
              <a:t>) {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return </a:t>
            </a:r>
            <a:r>
              <a:rPr lang="en-IN" b="1" dirty="0" err="1">
                <a:solidFill>
                  <a:srgbClr val="FF0000"/>
                </a:solidFill>
              </a:rPr>
              <a:t>IntegrationFlow.from</a:t>
            </a:r>
            <a:r>
              <a:rPr lang="en-IN" b="1" dirty="0">
                <a:solidFill>
                  <a:srgbClr val="FF0000"/>
                </a:solidFill>
              </a:rPr>
              <a:t>("</a:t>
            </a:r>
            <a:r>
              <a:rPr lang="en-IN" b="1" dirty="0" err="1">
                <a:solidFill>
                  <a:srgbClr val="FF0000"/>
                </a:solidFill>
              </a:rPr>
              <a:t>inputChannel</a:t>
            </a:r>
            <a:r>
              <a:rPr lang="en-IN" b="1" dirty="0">
                <a:solidFill>
                  <a:srgbClr val="FF0000"/>
                </a:solidFill>
              </a:rPr>
              <a:t>")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.handle(</a:t>
            </a:r>
            <a:r>
              <a:rPr lang="en-IN" b="1" dirty="0" err="1">
                <a:solidFill>
                  <a:srgbClr val="FF0000"/>
                </a:solidFill>
              </a:rPr>
              <a:t>orderHandler</a:t>
            </a:r>
            <a:r>
              <a:rPr lang="en-IN" b="1" dirty="0">
                <a:solidFill>
                  <a:srgbClr val="FF0000"/>
                </a:solidFill>
              </a:rPr>
              <a:t>(), e -&gt; e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.transactional(</a:t>
            </a:r>
            <a:r>
              <a:rPr lang="en-IN" b="1" dirty="0" err="1">
                <a:solidFill>
                  <a:srgbClr val="FF0000"/>
                </a:solidFill>
              </a:rPr>
              <a:t>tx</a:t>
            </a:r>
            <a:r>
              <a:rPr lang="en-IN" b="1" dirty="0">
                <a:solidFill>
                  <a:srgbClr val="FF0000"/>
                </a:solidFill>
              </a:rPr>
              <a:t> -&gt; </a:t>
            </a:r>
            <a:r>
              <a:rPr lang="en-IN" b="1" dirty="0" err="1">
                <a:solidFill>
                  <a:srgbClr val="FF0000"/>
                </a:solidFill>
              </a:rPr>
              <a:t>tx.transactionManager</a:t>
            </a:r>
            <a:r>
              <a:rPr lang="en-IN" b="1" dirty="0">
                <a:solidFill>
                  <a:srgbClr val="FF0000"/>
                </a:solidFill>
              </a:rPr>
              <a:t>(</a:t>
            </a:r>
            <a:r>
              <a:rPr lang="en-IN" b="1" dirty="0" err="1">
                <a:solidFill>
                  <a:srgbClr val="FF0000"/>
                </a:solidFill>
              </a:rPr>
              <a:t>txManager</a:t>
            </a:r>
            <a:r>
              <a:rPr lang="en-IN" b="1" dirty="0">
                <a:solidFill>
                  <a:srgbClr val="FF0000"/>
                </a:solidFill>
              </a:rPr>
              <a:t>())))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.get();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r>
              <a:rPr lang="en-IN" dirty="0"/>
              <a:t> This defines transaction </a:t>
            </a:r>
            <a:r>
              <a:rPr lang="en-IN" b="1" dirty="0"/>
              <a:t>at message handler level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588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153A-0591-8409-F8F9-1878A200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Transactions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28D869-4A3E-3FE6-FB23-B9C979FC1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5692" y="2675700"/>
            <a:ext cx="4236829" cy="29378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61CA96-5082-400D-BF1E-D3F9F9B1E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038" y="2640516"/>
            <a:ext cx="3198117" cy="303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25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72A8F-E618-1CA9-3D9D-60EF49049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1855-B8AF-C36D-DBC2-989E09509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Transaction Boundary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AA999-43F1-FC83-14F4-B738836C4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Transaction boundary defines:</a:t>
            </a:r>
          </a:p>
          <a:p>
            <a:r>
              <a:rPr lang="en-US" b="1" dirty="0"/>
              <a:t>Where transaction starts and ends in the flow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Channel → Transformer → Filter → Service Activator</a:t>
            </a:r>
          </a:p>
          <a:p>
            <a:r>
              <a:rPr lang="en-US" dirty="0"/>
              <a:t>If transaction is applied at </a:t>
            </a:r>
            <a:r>
              <a:rPr lang="en-US" b="1" dirty="0"/>
              <a:t>Service Activator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Everything before it is </a:t>
            </a:r>
            <a:r>
              <a:rPr lang="en-US" b="1" dirty="0"/>
              <a:t>non-transactional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Only handler logic is transactional </a:t>
            </a:r>
          </a:p>
          <a:p>
            <a:r>
              <a:rPr lang="en-US" b="1" dirty="0"/>
              <a:t>If you want full flow transactional?</a:t>
            </a:r>
          </a:p>
          <a:p>
            <a:r>
              <a:rPr lang="en-US" dirty="0"/>
              <a:t>👉 Use </a:t>
            </a:r>
            <a:r>
              <a:rPr lang="en-US" b="1" dirty="0"/>
              <a:t>transactional </a:t>
            </a:r>
            <a:r>
              <a:rPr lang="en-US" b="1" dirty="0" err="1"/>
              <a:t>poller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0424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7148-4C9C-1E22-625B-FE3480F8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4689F-2F33-2B8C-3F16-4B0DD7F9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Poller-Based Transactions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EE965-AA29-7E15-B4CD-C21B54674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Used when reading from:</a:t>
            </a:r>
          </a:p>
          <a:p>
            <a:r>
              <a:rPr lang="en-US" dirty="0"/>
              <a:t>DB </a:t>
            </a:r>
          </a:p>
          <a:p>
            <a:r>
              <a:rPr lang="en-US" dirty="0"/>
              <a:t>File </a:t>
            </a:r>
          </a:p>
          <a:p>
            <a:r>
              <a:rPr lang="en-US" dirty="0"/>
              <a:t>Queue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@Bean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public </a:t>
            </a:r>
            <a:r>
              <a:rPr lang="en-IN" b="1" dirty="0" err="1">
                <a:solidFill>
                  <a:srgbClr val="FF0000"/>
                </a:solidFill>
              </a:rPr>
              <a:t>IntegrationFlow</a:t>
            </a:r>
            <a:r>
              <a:rPr lang="en-IN" b="1" dirty="0">
                <a:solidFill>
                  <a:srgbClr val="FF0000"/>
                </a:solidFill>
              </a:rPr>
              <a:t> flow() {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return </a:t>
            </a:r>
            <a:r>
              <a:rPr lang="en-IN" b="1" dirty="0" err="1">
                <a:solidFill>
                  <a:srgbClr val="FF0000"/>
                </a:solidFill>
              </a:rPr>
              <a:t>IntegrationFlows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.from(</a:t>
            </a:r>
            <a:r>
              <a:rPr lang="en-IN" b="1" dirty="0" err="1">
                <a:solidFill>
                  <a:srgbClr val="FF0000"/>
                </a:solidFill>
              </a:rPr>
              <a:t>jdbcMessageSource</a:t>
            </a:r>
            <a:r>
              <a:rPr lang="en-IN" b="1" dirty="0">
                <a:solidFill>
                  <a:srgbClr val="FF0000"/>
                </a:solidFill>
              </a:rPr>
              <a:t>(),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c -&gt; </a:t>
            </a:r>
            <a:r>
              <a:rPr lang="en-IN" b="1" dirty="0" err="1">
                <a:solidFill>
                  <a:srgbClr val="FF0000"/>
                </a:solidFill>
              </a:rPr>
              <a:t>c.poller</a:t>
            </a:r>
            <a:r>
              <a:rPr lang="en-IN" b="1" dirty="0">
                <a:solidFill>
                  <a:srgbClr val="FF0000"/>
                </a:solidFill>
              </a:rPr>
              <a:t>(</a:t>
            </a:r>
            <a:r>
              <a:rPr lang="en-IN" b="1" dirty="0" err="1">
                <a:solidFill>
                  <a:srgbClr val="FF0000"/>
                </a:solidFill>
              </a:rPr>
              <a:t>Pollers.fixedDelay</a:t>
            </a:r>
            <a:r>
              <a:rPr lang="en-IN" b="1" dirty="0">
                <a:solidFill>
                  <a:srgbClr val="FF0000"/>
                </a:solidFill>
              </a:rPr>
              <a:t>(1000)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.transactional()))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.handle(</a:t>
            </a:r>
            <a:r>
              <a:rPr lang="en-IN" b="1" dirty="0" err="1">
                <a:solidFill>
                  <a:srgbClr val="FF0000"/>
                </a:solidFill>
              </a:rPr>
              <a:t>orderHandler</a:t>
            </a:r>
            <a:r>
              <a:rPr lang="en-IN" b="1" dirty="0">
                <a:solidFill>
                  <a:srgbClr val="FF0000"/>
                </a:solidFill>
              </a:rPr>
              <a:t>())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.get();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r>
              <a:rPr lang="en-IN" dirty="0"/>
              <a:t>👉 Here:</a:t>
            </a:r>
          </a:p>
          <a:p>
            <a:r>
              <a:rPr lang="en-IN" dirty="0"/>
              <a:t>Polling + processing = </a:t>
            </a:r>
            <a:r>
              <a:rPr lang="en-IN" b="1" dirty="0"/>
              <a:t>single transaction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179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74AF-FA7B-071A-C83B-F0EDA2FE6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E7577-9851-D902-1D9F-9106667B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Happens Internally?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4B3A4-412B-5487-C1C8-24999E571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Step-by-step execution</a:t>
            </a:r>
          </a:p>
          <a:p>
            <a:r>
              <a:rPr lang="en-US" dirty="0"/>
              <a:t>Message arrives at handler </a:t>
            </a:r>
          </a:p>
          <a:p>
            <a:r>
              <a:rPr lang="en-US" dirty="0" err="1"/>
              <a:t>TransactionInterceptor</a:t>
            </a:r>
            <a:r>
              <a:rPr lang="en-US" dirty="0"/>
              <a:t> starts transaction </a:t>
            </a:r>
          </a:p>
          <a:p>
            <a:r>
              <a:rPr lang="en-US" dirty="0"/>
              <a:t>Business logic executes </a:t>
            </a:r>
          </a:p>
          <a:p>
            <a:r>
              <a:rPr lang="en-US" dirty="0"/>
              <a:t>If success → </a:t>
            </a:r>
            <a:r>
              <a:rPr lang="en-US" b="1" dirty="0"/>
              <a:t>commit</a:t>
            </a:r>
            <a:r>
              <a:rPr lang="en-US" dirty="0"/>
              <a:t> </a:t>
            </a:r>
          </a:p>
          <a:p>
            <a:r>
              <a:rPr lang="en-US" dirty="0"/>
              <a:t>If exception → </a:t>
            </a:r>
            <a:r>
              <a:rPr lang="en-US" b="1" dirty="0"/>
              <a:t>rollback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Internally uses:</a:t>
            </a:r>
          </a:p>
          <a:p>
            <a:r>
              <a:rPr lang="en-US" dirty="0" err="1"/>
              <a:t>TransactionAspectSupport</a:t>
            </a:r>
            <a:r>
              <a:rPr lang="en-US" dirty="0"/>
              <a:t> </a:t>
            </a:r>
          </a:p>
          <a:p>
            <a:r>
              <a:rPr lang="en-US" dirty="0"/>
              <a:t>Thread-bound transaction context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0123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8E8B3-6EBE-6B23-E3E5-D4FAAD7A1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CBC7-2715-7B2D-60BC-2DA7EC0D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10089151" cy="706964"/>
          </a:xfrm>
        </p:spPr>
        <p:txBody>
          <a:bodyPr/>
          <a:lstStyle/>
          <a:p>
            <a:r>
              <a:rPr lang="en-US" b="1" dirty="0"/>
              <a:t>Transaction + Message Acknowledgment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DB056-26D8-3294-8F50-91E05EA8D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US" dirty="0"/>
              <a:t>Critical when using:</a:t>
            </a:r>
          </a:p>
          <a:p>
            <a:r>
              <a:rPr lang="en-US" dirty="0"/>
              <a:t>RabbitMQ </a:t>
            </a:r>
          </a:p>
          <a:p>
            <a:r>
              <a:rPr lang="en-US" dirty="0"/>
              <a:t>JMS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ensures:</a:t>
            </a:r>
            <a:br>
              <a:rPr lang="en-US" dirty="0"/>
            </a:br>
            <a:r>
              <a:rPr lang="en-US" dirty="0"/>
              <a:t>✔ No message loss</a:t>
            </a:r>
            <a:br>
              <a:rPr lang="en-US" dirty="0"/>
            </a:br>
            <a:r>
              <a:rPr lang="en-US" dirty="0"/>
              <a:t>✔ Retry capability</a:t>
            </a:r>
          </a:p>
          <a:p>
            <a:endParaRPr lang="en-IN" dirty="0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E07E0587-9BBF-5FE8-71B9-E6458D544C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1246645"/>
              </p:ext>
            </p:extLst>
          </p:nvPr>
        </p:nvGraphicFramePr>
        <p:xfrm>
          <a:off x="1268166" y="3835739"/>
          <a:ext cx="882491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2650687317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1705295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209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Message 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17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Message NOT ACK → retry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071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934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FDD1-BE1A-E03F-8DC7-E095D80B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05D3A-0200-B4B2-0309-F27A639F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points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25194-8512-340E-E770-7836202FF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Common Pitfalls</a:t>
            </a:r>
          </a:p>
          <a:p>
            <a:pPr marL="0" indent="0">
              <a:buNone/>
            </a:pPr>
            <a:r>
              <a:rPr lang="en-IN" dirty="0"/>
              <a:t>❌ Assuming entire flow is transactional</a:t>
            </a:r>
            <a:br>
              <a:rPr lang="en-IN" dirty="0"/>
            </a:br>
            <a:r>
              <a:rPr lang="en-IN" dirty="0"/>
              <a:t>❌ Mixing async channels with transactions</a:t>
            </a:r>
            <a:br>
              <a:rPr lang="en-IN" dirty="0"/>
            </a:br>
            <a:r>
              <a:rPr lang="en-IN" dirty="0"/>
              <a:t>❌ Not handling retries → data loss</a:t>
            </a:r>
            <a:br>
              <a:rPr lang="en-IN" dirty="0"/>
            </a:br>
            <a:r>
              <a:rPr lang="en-IN" dirty="0"/>
              <a:t>❌ Not using idempotency → duplicates</a:t>
            </a:r>
          </a:p>
          <a:p>
            <a:pPr marL="0" indent="0">
              <a:buNone/>
            </a:pPr>
            <a:r>
              <a:rPr lang="en-IN" b="1" dirty="0"/>
              <a:t>Best Practices</a:t>
            </a:r>
          </a:p>
          <a:p>
            <a:pPr marL="0" indent="0">
              <a:buNone/>
            </a:pPr>
            <a:r>
              <a:rPr lang="en-IN" dirty="0"/>
              <a:t>✅ Keep transaction boundaries small</a:t>
            </a:r>
            <a:br>
              <a:rPr lang="en-IN" dirty="0"/>
            </a:br>
            <a:r>
              <a:rPr lang="en-IN" dirty="0"/>
              <a:t>✅ Prefer handler-level transactions</a:t>
            </a:r>
            <a:br>
              <a:rPr lang="en-IN" dirty="0"/>
            </a:br>
            <a:r>
              <a:rPr lang="en-IN" dirty="0"/>
              <a:t>✅ Use </a:t>
            </a:r>
            <a:r>
              <a:rPr lang="en-IN" dirty="0" err="1"/>
              <a:t>poller</a:t>
            </a:r>
            <a:r>
              <a:rPr lang="en-IN" dirty="0"/>
              <a:t> transactions for inbound flows</a:t>
            </a:r>
            <a:br>
              <a:rPr lang="en-IN" dirty="0"/>
            </a:br>
            <a:r>
              <a:rPr lang="en-IN" dirty="0"/>
              <a:t>✅ Combine with retry + DLQ</a:t>
            </a:r>
            <a:br>
              <a:rPr lang="en-IN" dirty="0"/>
            </a:br>
            <a:r>
              <a:rPr lang="en-IN" dirty="0"/>
              <a:t>✅ Avoid long-running transactions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7963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D56F3-771E-5073-5EBA-B6B2994C2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D680A-D80A-6817-CE31-2E3F4C76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E1A64-56F8-DFBA-7AD5-840157B85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/>
          </a:bodyPr>
          <a:lstStyle/>
          <a:p>
            <a:r>
              <a:rPr lang="en-US" dirty="0"/>
              <a:t>Transactions in Spring Integration are </a:t>
            </a:r>
            <a:r>
              <a:rPr lang="en-US" b="1" dirty="0"/>
              <a:t>handler-centric</a:t>
            </a:r>
            <a:r>
              <a:rPr lang="en-US" dirty="0"/>
              <a:t> </a:t>
            </a:r>
          </a:p>
          <a:p>
            <a:r>
              <a:rPr lang="en-US" dirty="0"/>
              <a:t>Controlled via </a:t>
            </a:r>
            <a:r>
              <a:rPr lang="en-US" b="1" dirty="0"/>
              <a:t>Spring Transaction Management</a:t>
            </a:r>
            <a:r>
              <a:rPr lang="en-US" dirty="0"/>
              <a:t> </a:t>
            </a:r>
          </a:p>
          <a:p>
            <a:r>
              <a:rPr lang="en-US" dirty="0"/>
              <a:t>Can be applied: </a:t>
            </a:r>
          </a:p>
          <a:p>
            <a:pPr lvl="1"/>
            <a:r>
              <a:rPr lang="en-US" dirty="0"/>
              <a:t>Declaratively (@Transactional) </a:t>
            </a:r>
          </a:p>
          <a:p>
            <a:pPr lvl="1"/>
            <a:r>
              <a:rPr lang="en-US" dirty="0"/>
              <a:t>Programmatically (DSL) </a:t>
            </a:r>
          </a:p>
          <a:p>
            <a:r>
              <a:rPr lang="en-US" dirty="0"/>
              <a:t>Work closely with: </a:t>
            </a:r>
          </a:p>
          <a:p>
            <a:pPr lvl="1"/>
            <a:r>
              <a:rPr lang="en-US" dirty="0"/>
              <a:t>Message acknowledgment </a:t>
            </a:r>
          </a:p>
          <a:p>
            <a:pPr lvl="1"/>
            <a:r>
              <a:rPr lang="en-US" dirty="0"/>
              <a:t>Retry mechanisms </a:t>
            </a:r>
          </a:p>
          <a:p>
            <a:r>
              <a:rPr lang="en-US" dirty="0"/>
              <a:t>Pollers enable </a:t>
            </a:r>
            <a:r>
              <a:rPr lang="en-US" b="1" dirty="0"/>
              <a:t>end-to-end transactional flows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944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059FA-0184-E272-B93C-E703AE2B7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5A7FE-6F81-F30C-586D-53BA8CF43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Transactional message handling across multiple systems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95528-B8FA-A146-9843-0239D8CA3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Ensuring that a message is processed reliably across multiple systems (DB, MQ, APIs) such that either everything succeeds OR everything rolls back.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Example Scenario</a:t>
            </a:r>
          </a:p>
          <a:p>
            <a:r>
              <a:rPr lang="en-US" dirty="0"/>
              <a:t>Receive message from RabbitMQ </a:t>
            </a:r>
          </a:p>
          <a:p>
            <a:r>
              <a:rPr lang="en-US" dirty="0"/>
              <a:t>Save data in MySQL </a:t>
            </a:r>
          </a:p>
          <a:p>
            <a:r>
              <a:rPr lang="en-US" dirty="0"/>
              <a:t>Call another microservice </a:t>
            </a:r>
          </a:p>
          <a:p>
            <a:r>
              <a:rPr lang="en-US" dirty="0"/>
              <a:t>Publish event to Kafka </a:t>
            </a:r>
          </a:p>
          <a:p>
            <a:r>
              <a:rPr lang="en-US" dirty="0"/>
              <a:t>👉 If anything fails:</a:t>
            </a:r>
          </a:p>
          <a:p>
            <a:r>
              <a:rPr lang="en-US" dirty="0"/>
              <a:t>DB insert should rollback </a:t>
            </a:r>
          </a:p>
          <a:p>
            <a:r>
              <a:rPr lang="en-US" dirty="0"/>
              <a:t>Message should NOT be lost </a:t>
            </a:r>
          </a:p>
          <a:p>
            <a:r>
              <a:rPr lang="en-US" dirty="0"/>
              <a:t>System should retry or move to DLQ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2257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C944-C51F-4827-A59D-EA64A3ED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0D0A2-F38C-1C6B-11C9-7120C13B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Do We Need It?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3A44-760D-5246-B259-1A7EA8CEA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Without transactions:</a:t>
            </a:r>
          </a:p>
          <a:p>
            <a:r>
              <a:rPr lang="en-IN" dirty="0"/>
              <a:t> Message consumed but DB insert fails → data inconsistency </a:t>
            </a:r>
          </a:p>
          <a:p>
            <a:r>
              <a:rPr lang="en-IN" dirty="0"/>
              <a:t> DB insert succeeds but message ack fails → duplicate processing </a:t>
            </a:r>
          </a:p>
          <a:p>
            <a:r>
              <a:rPr lang="en-IN" dirty="0"/>
              <a:t> Partial updates across systems </a:t>
            </a:r>
          </a:p>
          <a:p>
            <a:pPr marL="0" indent="0">
              <a:buNone/>
            </a:pPr>
            <a:r>
              <a:rPr lang="en-IN" dirty="0"/>
              <a:t> Transactions guarantee:</a:t>
            </a:r>
          </a:p>
          <a:p>
            <a:r>
              <a:rPr lang="en-IN" b="1" dirty="0"/>
              <a:t>Consistency</a:t>
            </a:r>
            <a:r>
              <a:rPr lang="en-IN" dirty="0"/>
              <a:t> </a:t>
            </a:r>
          </a:p>
          <a:p>
            <a:r>
              <a:rPr lang="en-IN" b="1" dirty="0"/>
              <a:t>Reliability</a:t>
            </a:r>
            <a:r>
              <a:rPr lang="en-IN" dirty="0"/>
              <a:t> </a:t>
            </a:r>
          </a:p>
          <a:p>
            <a:r>
              <a:rPr lang="en-IN" b="1" dirty="0"/>
              <a:t>Exactly-once (or at-least-once) semantics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036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4F8C3-A097-F0FF-1C23-5608B9C10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A62F-9046-62B0-2D16-9258C13E6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Transactions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E8153-AF79-8D91-BC7F-E59CD44DD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1. Local Transactions</a:t>
            </a:r>
          </a:p>
          <a:p>
            <a:pPr marL="0" indent="0">
              <a:buNone/>
            </a:pPr>
            <a:r>
              <a:rPr lang="en-IN" b="1" dirty="0"/>
              <a:t>2. Global / Distributed Transactions</a:t>
            </a:r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518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FC1A-6C75-EE3C-DB7E-AEBCB47AA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B3C9-7158-0F40-6F1A-1FABF57B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Local Transactions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61382-D8AE-8286-1406-7A059760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IN" dirty="0"/>
              <a:t>Single resource (DB OR JMS) </a:t>
            </a:r>
          </a:p>
          <a:p>
            <a:r>
              <a:rPr lang="en-IN" dirty="0"/>
              <a:t>Managed by: </a:t>
            </a:r>
          </a:p>
          <a:p>
            <a:pPr lvl="1"/>
            <a:r>
              <a:rPr lang="en-IN" dirty="0" err="1"/>
              <a:t>DataSourceTransactionManager</a:t>
            </a:r>
            <a:r>
              <a:rPr lang="en-IN" dirty="0"/>
              <a:t> </a:t>
            </a:r>
          </a:p>
          <a:p>
            <a:pPr lvl="1"/>
            <a:r>
              <a:rPr lang="en-IN" dirty="0" err="1"/>
              <a:t>RabbitTransactionManager</a:t>
            </a:r>
            <a:r>
              <a:rPr lang="en-IN" dirty="0"/>
              <a:t> </a:t>
            </a:r>
          </a:p>
          <a:p>
            <a:r>
              <a:rPr lang="en-IN" dirty="0"/>
              <a:t>Simple but limited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225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37D3-1DD6-9F8A-1398-EBEFD283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local transaction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5D48D-7324-659B-4462-ED3FDF1AAA54}"/>
              </a:ext>
            </a:extLst>
          </p:cNvPr>
          <p:cNvSpPr txBox="1"/>
          <p:nvPr/>
        </p:nvSpPr>
        <p:spPr>
          <a:xfrm>
            <a:off x="699248" y="2285393"/>
            <a:ext cx="9676992" cy="36933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solidFill>
                  <a:srgbClr val="B3AE60"/>
                </a:solidFill>
                <a:effectLst/>
                <a:latin typeface="JetBrains Mono"/>
              </a:rPr>
              <a:t>@Transactional</a:t>
            </a:r>
            <a:br>
              <a:rPr lang="en-IN" sz="1800" dirty="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CF8E6D"/>
                </a:solidFill>
                <a:effectLst/>
                <a:latin typeface="JetBrains Mono"/>
              </a:rPr>
              <a:t>public void </a:t>
            </a:r>
            <a:r>
              <a:rPr lang="en-IN" sz="1800" dirty="0">
                <a:solidFill>
                  <a:srgbClr val="56A8F5"/>
                </a:solidFill>
                <a:effectLst/>
                <a:latin typeface="JetBrains Mono"/>
              </a:rPr>
              <a:t>process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IN" sz="1800" dirty="0" err="1">
                <a:solidFill>
                  <a:srgbClr val="BCBEC4"/>
                </a:solidFill>
                <a:effectLst/>
                <a:latin typeface="JetBrains Mono"/>
              </a:rPr>
              <a:t>OrderRequest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 request) {</a:t>
            </a:r>
            <a:b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IN" sz="1800" dirty="0" err="1"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lang="en-IN" sz="18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IN" sz="1800" dirty="0" err="1"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IN" sz="1800" dirty="0">
                <a:solidFill>
                  <a:srgbClr val="6AAB73"/>
                </a:solidFill>
                <a:effectLst/>
                <a:latin typeface="Courier New" panose="02070309020205020404" pitchFamily="49" charset="0"/>
              </a:rPr>
              <a:t>➡️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 Transaction START"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dirty="0">
                <a:solidFill>
                  <a:srgbClr val="BCBEC4"/>
                </a:solidFill>
                <a:latin typeface="JetBrains Mono"/>
              </a:rPr>
              <a:t>    </a:t>
            </a:r>
            <a:r>
              <a:rPr lang="en-IN" sz="1800" dirty="0" err="1">
                <a:solidFill>
                  <a:srgbClr val="C77DBB"/>
                </a:solidFill>
                <a:effectLst/>
                <a:latin typeface="JetBrains Mono"/>
              </a:rPr>
              <a:t>repository</a:t>
            </a:r>
            <a:r>
              <a:rPr lang="en-IN" sz="1800" dirty="0" err="1">
                <a:solidFill>
                  <a:srgbClr val="BCBEC4"/>
                </a:solidFill>
                <a:effectLst/>
                <a:latin typeface="JetBrains Mono"/>
              </a:rPr>
              <a:t>.save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IN" dirty="0">
                <a:solidFill>
                  <a:srgbClr val="BCBEC4"/>
                </a:solidFill>
                <a:latin typeface="JetBrains Mono"/>
              </a:rPr>
              <a:t>request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7A7E85"/>
                </a:solidFill>
                <a:effectLst/>
                <a:latin typeface="JetBrains Mono"/>
              </a:rPr>
              <a:t>// Simulate failure</a:t>
            </a:r>
            <a:br>
              <a:rPr lang="en-IN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IN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"FAIL"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IN" sz="1800" dirty="0" err="1">
                <a:solidFill>
                  <a:srgbClr val="BCBEC4"/>
                </a:solidFill>
                <a:effectLst/>
                <a:latin typeface="JetBrains Mono"/>
              </a:rPr>
              <a:t>equalsIgnoreCase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IN" sz="1800" dirty="0" err="1">
                <a:solidFill>
                  <a:srgbClr val="BCBEC4"/>
                </a:solidFill>
                <a:effectLst/>
                <a:latin typeface="JetBrains Mono"/>
              </a:rPr>
              <a:t>request.getProduct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())) {</a:t>
            </a:r>
            <a:b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IN" sz="1800" dirty="0" err="1"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lang="en-IN" sz="18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IN" sz="1800" dirty="0" err="1"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IN" sz="1800" dirty="0">
                <a:solidFill>
                  <a:srgbClr val="6AAB73"/>
                </a:solidFill>
                <a:effectLst/>
                <a:latin typeface="Courier New" panose="02070309020205020404" pitchFamily="49" charset="0"/>
              </a:rPr>
              <a:t>❌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 Simulating failure..."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IN" sz="1800" dirty="0">
                <a:solidFill>
                  <a:srgbClr val="CF8E6D"/>
                </a:solidFill>
                <a:effectLst/>
                <a:latin typeface="JetBrains Mono"/>
              </a:rPr>
              <a:t>throw new </a:t>
            </a:r>
            <a:r>
              <a:rPr lang="en-IN" sz="1800" dirty="0" err="1">
                <a:solidFill>
                  <a:srgbClr val="BCBEC4"/>
                </a:solidFill>
                <a:effectLst/>
                <a:latin typeface="JetBrains Mono"/>
              </a:rPr>
              <a:t>RuntimeException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"Simulated Exception"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IN" sz="1800" dirty="0" err="1"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lang="en-IN" sz="1800" i="1" dirty="0" err="1"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lang="en-IN" sz="1800" dirty="0" err="1"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IN" sz="1800" dirty="0">
                <a:solidFill>
                  <a:srgbClr val="6AAB73"/>
                </a:solidFill>
                <a:effectLst/>
                <a:latin typeface="Courier New" panose="02070309020205020404" pitchFamily="49" charset="0"/>
              </a:rPr>
              <a:t>✅</a:t>
            </a:r>
            <a:r>
              <a:rPr lang="en-IN" sz="1800" dirty="0">
                <a:solidFill>
                  <a:srgbClr val="6AAB73"/>
                </a:solidFill>
                <a:effectLst/>
                <a:latin typeface="JetBrains Mono"/>
              </a:rPr>
              <a:t> Transaction COMMIT"</a:t>
            </a: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IN" sz="18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1420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27A24-76F6-1B70-DE9C-73A0FD38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519B-1E05-ABF1-C2FC-BCEC7C4E4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Global / Distributed Transactions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06479-E81D-A969-0C97-17FFF95B9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IN" dirty="0"/>
              <a:t>Multiple systems involved (DB + MQ) </a:t>
            </a:r>
          </a:p>
          <a:p>
            <a:r>
              <a:rPr lang="en-IN" dirty="0"/>
              <a:t>Managed using: </a:t>
            </a:r>
          </a:p>
          <a:p>
            <a:pPr lvl="1"/>
            <a:r>
              <a:rPr lang="en-IN" b="1" dirty="0"/>
              <a:t>JTA (Java Transaction API)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r>
              <a:rPr lang="en-IN" dirty="0"/>
              <a:t>DB + RabbitMQ + Kafka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4078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CDE669-1BF0-85E5-058B-3DAC9CA52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Transactions across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14DD90-232B-4FD9-767F-CB5AFDFD55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Producer Side</a:t>
            </a:r>
          </a:p>
        </p:txBody>
      </p:sp>
    </p:spTree>
    <p:extLst>
      <p:ext uri="{BB962C8B-B14F-4D97-AF65-F5344CB8AC3E}">
        <p14:creationId xmlns:p14="http://schemas.microsoft.com/office/powerpoint/2010/main" val="728389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2D1A7-1813-CC2D-03A2-F0D64789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41501E-0D3E-D39E-5AE3-9A613ACC6A14}"/>
              </a:ext>
            </a:extLst>
          </p:cNvPr>
          <p:cNvSpPr txBox="1"/>
          <p:nvPr/>
        </p:nvSpPr>
        <p:spPr>
          <a:xfrm>
            <a:off x="977968" y="329733"/>
            <a:ext cx="961342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@Transactional</a:t>
            </a:r>
            <a:br>
              <a:rPr lang="en-IN" dirty="0"/>
            </a:br>
            <a:r>
              <a:rPr lang="en-IN" dirty="0"/>
              <a:t>public void process(Order order) {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("➡️ Transaction START");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1. Save to DB</a:t>
            </a:r>
            <a:br>
              <a:rPr lang="en-IN" dirty="0"/>
            </a:br>
            <a:r>
              <a:rPr lang="en-IN" dirty="0" err="1"/>
              <a:t>repository.save</a:t>
            </a:r>
            <a:r>
              <a:rPr lang="en-IN" dirty="0"/>
              <a:t>(order);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2. Send message to RabbitMQ</a:t>
            </a:r>
            <a:br>
              <a:rPr lang="en-IN" dirty="0"/>
            </a:br>
            <a:r>
              <a:rPr lang="en-IN" dirty="0" err="1"/>
              <a:t>rabbitTemplate.convertAndSend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"</a:t>
            </a:r>
            <a:r>
              <a:rPr lang="en-IN" dirty="0" err="1"/>
              <a:t>order.exchange</a:t>
            </a:r>
            <a:r>
              <a:rPr lang="en-IN" dirty="0"/>
              <a:t>",</a:t>
            </a:r>
            <a:br>
              <a:rPr lang="en-IN" dirty="0"/>
            </a:br>
            <a:r>
              <a:rPr lang="en-IN" dirty="0"/>
              <a:t>"</a:t>
            </a:r>
            <a:r>
              <a:rPr lang="en-IN" dirty="0" err="1"/>
              <a:t>order.routingKey</a:t>
            </a:r>
            <a:r>
              <a:rPr lang="en-IN" dirty="0"/>
              <a:t>",</a:t>
            </a:r>
            <a:br>
              <a:rPr lang="en-IN" dirty="0"/>
            </a:br>
            <a:r>
              <a:rPr lang="en-IN" dirty="0" err="1"/>
              <a:t>order.getProduct</a:t>
            </a:r>
            <a:r>
              <a:rPr lang="en-IN" dirty="0"/>
              <a:t>()</a:t>
            </a:r>
            <a:br>
              <a:rPr lang="en-IN" dirty="0"/>
            </a:b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3. Simulate failure</a:t>
            </a:r>
            <a:br>
              <a:rPr lang="en-IN" dirty="0"/>
            </a:br>
            <a:r>
              <a:rPr lang="en-IN" dirty="0"/>
              <a:t>if ("</a:t>
            </a:r>
            <a:r>
              <a:rPr lang="en-IN" dirty="0" err="1"/>
              <a:t>FAIL".equals</a:t>
            </a:r>
            <a:r>
              <a:rPr lang="en-IN" dirty="0"/>
              <a:t>(</a:t>
            </a:r>
            <a:r>
              <a:rPr lang="en-IN" dirty="0" err="1"/>
              <a:t>order.getProduct</a:t>
            </a:r>
            <a:r>
              <a:rPr lang="en-IN" dirty="0"/>
              <a:t>())) {</a:t>
            </a:r>
            <a:br>
              <a:rPr lang="en-IN" dirty="0"/>
            </a:br>
            <a:r>
              <a:rPr lang="en-IN" dirty="0"/>
              <a:t>throw new </a:t>
            </a:r>
            <a:r>
              <a:rPr lang="en-IN" dirty="0" err="1"/>
              <a:t>RuntimeException</a:t>
            </a:r>
            <a:r>
              <a:rPr lang="en-IN" dirty="0"/>
              <a:t>("Simulated failure");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("✅ Transaction COMMIT");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8987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BEEB-ABE8-1729-8E3A-5035804F5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A597-1948-691A-57D7-03D90E8D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Test Scenarios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94A07-33D0-3B91-01D0-FED8EA689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Case 1: Success</a:t>
            </a:r>
          </a:p>
          <a:p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"id": 1,</a:t>
            </a:r>
            <a:br>
              <a:rPr lang="en-IN" dirty="0"/>
            </a:br>
            <a:r>
              <a:rPr lang="en-IN" dirty="0"/>
              <a:t>  "product": "Laptop"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IN" b="1" dirty="0"/>
              <a:t>Result:</a:t>
            </a:r>
          </a:p>
          <a:p>
            <a:r>
              <a:rPr lang="en-IN" dirty="0"/>
              <a:t>➡️ Transaction START</a:t>
            </a:r>
            <a:br>
              <a:rPr lang="en-IN" dirty="0"/>
            </a:br>
            <a:r>
              <a:rPr lang="en-IN" dirty="0"/>
              <a:t>✅ Transaction COMMIT</a:t>
            </a:r>
            <a:br>
              <a:rPr lang="en-IN" dirty="0"/>
            </a:br>
            <a:r>
              <a:rPr lang="en-IN" dirty="0"/>
              <a:t>📥 Received from RabbitMQ: Laptop</a:t>
            </a:r>
          </a:p>
          <a:p>
            <a:r>
              <a:rPr lang="en-IN" dirty="0"/>
              <a:t>✔ DB saved</a:t>
            </a:r>
            <a:br>
              <a:rPr lang="en-IN" dirty="0"/>
            </a:br>
            <a:r>
              <a:rPr lang="en-IN" dirty="0"/>
              <a:t>✔ Message sent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597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003DF-000F-F563-6A5F-FE1FA196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956F-7552-0464-969F-DB3B92F35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Test Scenarios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56E7D-18D2-902C-D75B-33CF440F5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Case 2: Failure</a:t>
            </a:r>
          </a:p>
          <a:p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"id": 2,</a:t>
            </a:r>
            <a:br>
              <a:rPr lang="en-US" dirty="0"/>
            </a:br>
            <a:r>
              <a:rPr lang="en-US" dirty="0"/>
              <a:t>  "product": "FAIL"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Result:</a:t>
            </a:r>
          </a:p>
          <a:p>
            <a:r>
              <a:rPr lang="en-US" dirty="0"/>
              <a:t>➡️ Transaction START</a:t>
            </a:r>
            <a:br>
              <a:rPr lang="en-US" dirty="0"/>
            </a:br>
            <a:r>
              <a:rPr lang="en-US" dirty="0"/>
              <a:t>💥 Exception thrown</a:t>
            </a:r>
          </a:p>
          <a:p>
            <a:r>
              <a:rPr lang="en-US" dirty="0"/>
              <a:t>✔ DB rolled back</a:t>
            </a:r>
            <a:br>
              <a:rPr lang="en-US" dirty="0"/>
            </a:br>
            <a:r>
              <a:rPr lang="en-US" dirty="0"/>
              <a:t>❗ BUT message may already be sent (important!)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6417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FC8C-429F-8973-CF2D-7740D3F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Insight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E28F0-3E9B-A4EC-3CD4-A9ABB763D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👉 This line:</a:t>
            </a:r>
          </a:p>
          <a:p>
            <a:pPr marL="0" indent="0">
              <a:buNone/>
            </a:pPr>
            <a:r>
              <a:rPr lang="en-US" b="1" dirty="0" err="1"/>
              <a:t>rabbitTemplate.convertAndSend</a:t>
            </a:r>
            <a:r>
              <a:rPr lang="en-US" b="1" dirty="0"/>
              <a:t>(...)</a:t>
            </a:r>
          </a:p>
          <a:p>
            <a:r>
              <a:rPr lang="en-US" dirty="0"/>
              <a:t>is </a:t>
            </a:r>
            <a:r>
              <a:rPr lang="en-US" b="1" dirty="0"/>
              <a:t>NOT part of DB transaction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⚠️ Problem</a:t>
            </a:r>
          </a:p>
          <a:p>
            <a:r>
              <a:rPr lang="en-US" dirty="0"/>
              <a:t>Even if transaction rolls back:</a:t>
            </a:r>
          </a:p>
          <a:p>
            <a:pPr marL="0" indent="0">
              <a:buNone/>
            </a:pPr>
            <a:r>
              <a:rPr lang="en-US" dirty="0"/>
              <a:t>👉 Rabbit message </a:t>
            </a:r>
            <a:r>
              <a:rPr lang="en-US" b="1" dirty="0"/>
              <a:t>may already be sent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310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529D-69AC-2B76-6412-59D54B0EC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D4047-DB1F-47DC-CF39-8F70B01E8D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Transactions across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50A2EF6-8385-D0B9-3F25-655E1202F2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Consumer Side</a:t>
            </a:r>
          </a:p>
        </p:txBody>
      </p:sp>
    </p:spTree>
    <p:extLst>
      <p:ext uri="{BB962C8B-B14F-4D97-AF65-F5344CB8AC3E}">
        <p14:creationId xmlns:p14="http://schemas.microsoft.com/office/powerpoint/2010/main" val="2886563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B7B8-257E-E115-97A8-A0E2969C8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5F47-48E4-D4A5-2D38-2EA54B72B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Message-Driven Transactions on Consumer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F5C00-DA37-FEE5-3743-8C31828E5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/>
          </a:bodyPr>
          <a:lstStyle/>
          <a:p>
            <a:r>
              <a:rPr lang="en-US" dirty="0"/>
              <a:t>When using message brokers like RabbitMQ:</a:t>
            </a:r>
          </a:p>
          <a:p>
            <a:r>
              <a:rPr lang="en-US" b="1" dirty="0"/>
              <a:t>Two things must be coordinated:</a:t>
            </a:r>
          </a:p>
          <a:p>
            <a:pPr lvl="1"/>
            <a:r>
              <a:rPr lang="en-US" b="1" dirty="0"/>
              <a:t>Message acknowledgment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Business transaction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 Example Flow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RabbitMQ → Spring Integration → DB → Ack Message</a:t>
            </a:r>
          </a:p>
          <a:p>
            <a:pPr marL="0" indent="0">
              <a:buNone/>
            </a:pPr>
            <a:r>
              <a:rPr lang="en-US" dirty="0"/>
              <a:t>If DB fails:</a:t>
            </a:r>
          </a:p>
          <a:p>
            <a:r>
              <a:rPr lang="en-US" dirty="0"/>
              <a:t>Message should NOT be acknowledged </a:t>
            </a:r>
          </a:p>
          <a:p>
            <a:r>
              <a:rPr lang="en-US" dirty="0"/>
              <a:t>It should be retried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350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2D10D-C908-53B3-6D92-442BD640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7445-78CF-87C5-8FB8-F5F20E51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Rabbit Listener Transaction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7D627-1D0F-BCF7-9F9F-E2F7CF262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@Bean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public </a:t>
            </a:r>
            <a:r>
              <a:rPr lang="en-IN" b="1" dirty="0" err="1">
                <a:solidFill>
                  <a:srgbClr val="FF0000"/>
                </a:solidFill>
              </a:rPr>
              <a:t>SimpleMessageListenerContainer</a:t>
            </a:r>
            <a:r>
              <a:rPr lang="en-IN" b="1" dirty="0">
                <a:solidFill>
                  <a:srgbClr val="FF0000"/>
                </a:solidFill>
              </a:rPr>
              <a:t> container(</a:t>
            </a:r>
            <a:r>
              <a:rPr lang="en-IN" b="1" dirty="0" err="1">
                <a:solidFill>
                  <a:srgbClr val="FF0000"/>
                </a:solidFill>
              </a:rPr>
              <a:t>ConnectionFactory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b="1" dirty="0" err="1">
                <a:solidFill>
                  <a:srgbClr val="FF0000"/>
                </a:solidFill>
              </a:rPr>
              <a:t>cf</a:t>
            </a:r>
            <a:r>
              <a:rPr lang="en-IN" b="1" dirty="0">
                <a:solidFill>
                  <a:srgbClr val="FF0000"/>
                </a:solidFill>
              </a:rPr>
              <a:t>) {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</a:t>
            </a:r>
            <a:r>
              <a:rPr lang="en-IN" b="1" dirty="0" err="1">
                <a:solidFill>
                  <a:srgbClr val="FF0000"/>
                </a:solidFill>
              </a:rPr>
              <a:t>SimpleMessageListenerContainer</a:t>
            </a:r>
            <a:r>
              <a:rPr lang="en-IN" b="1" dirty="0">
                <a:solidFill>
                  <a:srgbClr val="FF0000"/>
                </a:solidFill>
              </a:rPr>
              <a:t> container = new </a:t>
            </a:r>
            <a:r>
              <a:rPr lang="en-IN" b="1" dirty="0" err="1">
                <a:solidFill>
                  <a:srgbClr val="FF0000"/>
                </a:solidFill>
              </a:rPr>
              <a:t>SimpleMessageListenerContainer</a:t>
            </a:r>
            <a:r>
              <a:rPr lang="en-IN" b="1" dirty="0">
                <a:solidFill>
                  <a:srgbClr val="FF0000"/>
                </a:solidFill>
              </a:rPr>
              <a:t>(</a:t>
            </a:r>
            <a:r>
              <a:rPr lang="en-IN" b="1" dirty="0" err="1">
                <a:solidFill>
                  <a:srgbClr val="FF0000"/>
                </a:solidFill>
              </a:rPr>
              <a:t>cf</a:t>
            </a:r>
            <a:r>
              <a:rPr lang="en-IN" b="1" dirty="0">
                <a:solidFill>
                  <a:srgbClr val="FF0000"/>
                </a:solidFill>
              </a:rPr>
              <a:t>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</a:t>
            </a: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N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container.setChannelTransacted</a:t>
            </a: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(true);</a:t>
            </a:r>
            <a:b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return container;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010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1BBE-6C19-6473-F19E-E78BD70A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0C5B-6483-834C-459B-5AE0E17C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Transaction Synchronization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CA0F0-156A-C9A2-DE49-F2621A502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Spring allows synchronization between:</a:t>
            </a:r>
          </a:p>
          <a:p>
            <a:r>
              <a:rPr lang="en-IN" dirty="0"/>
              <a:t>DB commit </a:t>
            </a:r>
          </a:p>
          <a:p>
            <a:r>
              <a:rPr lang="en-IN" dirty="0"/>
              <a:t>Message acknowledgment </a:t>
            </a:r>
          </a:p>
          <a:p>
            <a:pPr marL="0" indent="0">
              <a:buNone/>
            </a:pPr>
            <a:r>
              <a:rPr lang="en-IN" dirty="0"/>
              <a:t>Using:</a:t>
            </a:r>
          </a:p>
          <a:p>
            <a:r>
              <a:rPr lang="en-IN" dirty="0" err="1"/>
              <a:t>TransactionSynchronizationManager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Key Idea:</a:t>
            </a:r>
          </a:p>
          <a:p>
            <a:r>
              <a:rPr lang="en-IN" dirty="0"/>
              <a:t>Message is acknowledged </a:t>
            </a:r>
            <a:r>
              <a:rPr lang="en-IN" b="1" dirty="0"/>
              <a:t>ONLY AFTER transaction commits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2355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DB3B7-0504-E371-58A6-9A8C7F527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C7F4-B72E-4761-E46F-ADAC6507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Distributed Transactions (XA)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D306-365E-0B5E-3698-4AD9B6577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When multiple systems must commit together: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XA Transaction</a:t>
            </a:r>
          </a:p>
          <a:p>
            <a:r>
              <a:rPr lang="en-US" dirty="0"/>
              <a:t>Two-phase commit (2PC)</a:t>
            </a:r>
          </a:p>
          <a:p>
            <a:r>
              <a:rPr lang="en-US" b="1" dirty="0"/>
              <a:t>Phase 1: Prepare</a:t>
            </a:r>
          </a:p>
          <a:p>
            <a:r>
              <a:rPr lang="en-US" dirty="0"/>
              <a:t>All systems say "ready" </a:t>
            </a:r>
          </a:p>
          <a:p>
            <a:r>
              <a:rPr lang="en-US" b="1" dirty="0"/>
              <a:t>Phase 2: Commit</a:t>
            </a:r>
          </a:p>
          <a:p>
            <a:r>
              <a:rPr lang="en-US" dirty="0"/>
              <a:t>All commit OR all rollback</a:t>
            </a:r>
          </a:p>
          <a:p>
            <a:r>
              <a:rPr lang="en-IN" b="1" dirty="0"/>
              <a:t>Tools:</a:t>
            </a:r>
          </a:p>
          <a:p>
            <a:pPr lvl="1"/>
            <a:r>
              <a:rPr lang="en-IN" dirty="0" err="1"/>
              <a:t>Atomikos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Narayana </a:t>
            </a:r>
          </a:p>
          <a:p>
            <a:pPr lvl="1"/>
            <a:r>
              <a:rPr lang="en-IN" dirty="0" err="1"/>
              <a:t>Bitronix</a:t>
            </a:r>
            <a:r>
              <a:rPr lang="en-IN" dirty="0"/>
              <a:t> (deprecated)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376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E62CF-85B2-8A1C-D6AD-89D3679C8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F0E1-0467-C2ED-AD62-904CAB07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Distributed Transactions (XA)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269A2-C310-7010-EB0C-12888610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Example Setup (Conceptual)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@Bean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public </a:t>
            </a:r>
            <a:r>
              <a:rPr lang="en-IN" b="1" dirty="0" err="1">
                <a:solidFill>
                  <a:srgbClr val="C00000"/>
                </a:solidFill>
              </a:rPr>
              <a:t>JtaTransactionManager</a:t>
            </a:r>
            <a:r>
              <a:rPr lang="en-IN" b="1" dirty="0">
                <a:solidFill>
                  <a:srgbClr val="C00000"/>
                </a:solidFill>
              </a:rPr>
              <a:t> </a:t>
            </a:r>
            <a:r>
              <a:rPr lang="en-IN" b="1" dirty="0" err="1">
                <a:solidFill>
                  <a:srgbClr val="C00000"/>
                </a:solidFill>
              </a:rPr>
              <a:t>transactionManager</a:t>
            </a:r>
            <a:r>
              <a:rPr lang="en-IN" b="1" dirty="0">
                <a:solidFill>
                  <a:srgbClr val="C00000"/>
                </a:solidFill>
              </a:rPr>
              <a:t>() {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return new </a:t>
            </a:r>
            <a:r>
              <a:rPr lang="en-IN" b="1" dirty="0" err="1">
                <a:solidFill>
                  <a:srgbClr val="C00000"/>
                </a:solidFill>
              </a:rPr>
              <a:t>JtaTransactionManager</a:t>
            </a:r>
            <a:r>
              <a:rPr lang="en-IN" b="1" dirty="0">
                <a:solidFill>
                  <a:srgbClr val="C00000"/>
                </a:solidFill>
              </a:rPr>
              <a:t>();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}</a:t>
            </a:r>
          </a:p>
          <a:p>
            <a:pPr marL="0" indent="0">
              <a:buNone/>
            </a:pPr>
            <a:r>
              <a:rPr lang="en-IN" b="1" dirty="0"/>
              <a:t>Problems with XA</a:t>
            </a:r>
          </a:p>
          <a:p>
            <a:r>
              <a:rPr lang="en-IN" dirty="0"/>
              <a:t>Slow </a:t>
            </a:r>
          </a:p>
          <a:p>
            <a:r>
              <a:rPr lang="en-IN" dirty="0"/>
              <a:t>Complex </a:t>
            </a:r>
          </a:p>
          <a:p>
            <a:r>
              <a:rPr lang="en-IN" dirty="0"/>
              <a:t>Not cloud-friendly </a:t>
            </a:r>
          </a:p>
          <a:p>
            <a:r>
              <a:rPr lang="en-IN" dirty="0"/>
              <a:t>Hard to scale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377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32CD3-3C17-3E67-B823-19D35165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005F8-01B9-F8DD-DE69-6A363702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45765-59DA-94E0-71F2-0CAB18B4E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Avoid XA (Use Eventual Consistency)</a:t>
            </a:r>
          </a:p>
          <a:p>
            <a:pPr marL="0" indent="0">
              <a:buNone/>
            </a:pPr>
            <a:r>
              <a:rPr lang="en-US" dirty="0"/>
              <a:t>Modern systems prefer:</a:t>
            </a:r>
          </a:p>
          <a:p>
            <a:r>
              <a:rPr lang="en-US" b="1" dirty="0"/>
              <a:t>✅ Saga Pattern / Event-driven approach</a:t>
            </a:r>
          </a:p>
          <a:p>
            <a:r>
              <a:rPr lang="en-US" dirty="0"/>
              <a:t>Instead of one big transaction:</a:t>
            </a:r>
          </a:p>
          <a:p>
            <a:pPr lvl="1"/>
            <a:r>
              <a:rPr lang="en-US" dirty="0"/>
              <a:t>Break into smaller steps </a:t>
            </a:r>
          </a:p>
          <a:p>
            <a:pPr lvl="1"/>
            <a:r>
              <a:rPr lang="en-US" dirty="0"/>
              <a:t>Use events </a:t>
            </a:r>
          </a:p>
          <a:p>
            <a:pPr lvl="1"/>
            <a:r>
              <a:rPr lang="en-US" dirty="0"/>
              <a:t>Compensate on failure 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Save Order (DB) </a:t>
            </a:r>
          </a:p>
          <a:p>
            <a:r>
              <a:rPr lang="en-US" dirty="0"/>
              <a:t>Publish Event </a:t>
            </a:r>
          </a:p>
          <a:p>
            <a:r>
              <a:rPr lang="en-US" dirty="0"/>
              <a:t>Inventory Service reacts </a:t>
            </a:r>
          </a:p>
          <a:p>
            <a:r>
              <a:rPr lang="en-US" dirty="0"/>
              <a:t>Payment Service reacts </a:t>
            </a:r>
          </a:p>
          <a:p>
            <a:r>
              <a:rPr lang="en-US" dirty="0"/>
              <a:t>If failure:</a:t>
            </a:r>
            <a:br>
              <a:rPr lang="en-US" dirty="0"/>
            </a:br>
            <a:r>
              <a:rPr lang="en-US" dirty="0"/>
              <a:t>👉 Send compensation event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4374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57D8D-79BF-33AC-420D-EB8A6FF5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E7C6-4AC6-F4FD-AF42-6214F491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Error Handling + Retry + DLQ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F46AD-A008-6414-EBE0-3C60EDB04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IN" dirty="0"/>
              <a:t>Transactional systems must handle failures gracefully.</a:t>
            </a:r>
          </a:p>
          <a:p>
            <a:pPr marL="0" indent="0">
              <a:buNone/>
            </a:pPr>
            <a:r>
              <a:rPr lang="en-IN" b="1" dirty="0"/>
              <a:t>Retry Example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.handle(handler, e -&gt; e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.advice(</a:t>
            </a:r>
            <a:r>
              <a:rPr lang="en-IN" b="1" dirty="0" err="1">
                <a:solidFill>
                  <a:srgbClr val="C00000"/>
                </a:solidFill>
              </a:rPr>
              <a:t>retryAdvice</a:t>
            </a:r>
            <a:r>
              <a:rPr lang="en-IN" b="1" dirty="0">
                <a:solidFill>
                  <a:srgbClr val="C00000"/>
                </a:solidFill>
              </a:rPr>
              <a:t>()))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133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ECC6F-ED53-91C1-2ED7-53E2257C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0CEFD-8B87-E0F0-59EF-7E44626D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Exactly-once vs At-least-once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E5488-80AE-5BA2-E93D-EEC2BC13C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US" b="1" dirty="0"/>
              <a:t>At-least-once</a:t>
            </a:r>
            <a:r>
              <a:rPr lang="en-US" dirty="0"/>
              <a:t> --May process duplicate messages</a:t>
            </a:r>
          </a:p>
          <a:p>
            <a:r>
              <a:rPr lang="en-US" b="1" dirty="0"/>
              <a:t>Exactly-once</a:t>
            </a:r>
            <a:r>
              <a:rPr lang="en-US" dirty="0"/>
              <a:t>	 -- No duplicates (hard to achieve)</a:t>
            </a:r>
          </a:p>
          <a:p>
            <a:r>
              <a:rPr lang="en-US" dirty="0"/>
              <a:t>Most systems use:</a:t>
            </a:r>
            <a:br>
              <a:rPr lang="en-US" dirty="0"/>
            </a:br>
            <a:r>
              <a:rPr lang="en-US" dirty="0"/>
              <a:t>✔ </a:t>
            </a:r>
            <a:r>
              <a:rPr lang="en-US" b="1" dirty="0"/>
              <a:t>At-least-once + idempotency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394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6B64-F956-A9A0-B14A-93F8FEAE6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38493-F9C5-C80A-D7E9-5F3191D3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Idempotency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52CA9-22B2-27E4-7A03-A6AC47271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IN" dirty="0"/>
              <a:t>Same message processed multiple times → same result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if (!</a:t>
            </a:r>
            <a:r>
              <a:rPr lang="en-IN" b="1" dirty="0" err="1">
                <a:solidFill>
                  <a:srgbClr val="C00000"/>
                </a:solidFill>
              </a:rPr>
              <a:t>repository.existsById</a:t>
            </a:r>
            <a:r>
              <a:rPr lang="en-IN" b="1" dirty="0">
                <a:solidFill>
                  <a:srgbClr val="C00000"/>
                </a:solidFill>
              </a:rPr>
              <a:t>(</a:t>
            </a:r>
            <a:r>
              <a:rPr lang="en-IN" b="1" dirty="0" err="1">
                <a:solidFill>
                  <a:srgbClr val="C00000"/>
                </a:solidFill>
              </a:rPr>
              <a:t>order.getId</a:t>
            </a:r>
            <a:r>
              <a:rPr lang="en-IN" b="1" dirty="0">
                <a:solidFill>
                  <a:srgbClr val="C00000"/>
                </a:solidFill>
              </a:rPr>
              <a:t>())) {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</a:t>
            </a:r>
            <a:r>
              <a:rPr lang="en-IN" b="1" dirty="0" err="1">
                <a:solidFill>
                  <a:srgbClr val="C00000"/>
                </a:solidFill>
              </a:rPr>
              <a:t>repository.save</a:t>
            </a:r>
            <a:r>
              <a:rPr lang="en-IN" b="1" dirty="0">
                <a:solidFill>
                  <a:srgbClr val="C00000"/>
                </a:solidFill>
              </a:rPr>
              <a:t>(order);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98503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B03C0-E63A-3611-9426-57E7EA8EE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E480-247B-240C-A4F9-B29F219E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Transactional Outbox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CFE43-6153-1461-B622-DC5A87DD7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Goal (Correct Distributed Transaction at Producer side)</a:t>
            </a:r>
          </a:p>
          <a:p>
            <a:r>
              <a:rPr lang="en-IN" dirty="0"/>
              <a:t>Save Order + Save Event (DB TX)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Commit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Publish to RabbitMQ (separate step)</a:t>
            </a:r>
          </a:p>
          <a:p>
            <a:r>
              <a:rPr lang="en-IN" dirty="0"/>
              <a:t>👉 No inconsistency</a:t>
            </a:r>
            <a:br>
              <a:rPr lang="en-IN" dirty="0"/>
            </a:br>
            <a:r>
              <a:rPr lang="en-IN" dirty="0"/>
              <a:t>👉 No lost messages</a:t>
            </a:r>
            <a:br>
              <a:rPr lang="en-IN" dirty="0"/>
            </a:br>
            <a:r>
              <a:rPr lang="en-IN" dirty="0"/>
              <a:t>👉 No XA complexity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7242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9DEAC-F347-D2DC-3440-3C9C3670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B40F4-72C8-FB93-321F-8AE5CF605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628AA-95A9-38AC-382F-89A038124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[ REST ]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/>
              <a:t>[ Service (@Transactional) ]</a:t>
            </a:r>
            <a:br>
              <a:rPr lang="en-IN" dirty="0"/>
            </a:br>
            <a:r>
              <a:rPr lang="en-IN" dirty="0"/>
              <a:t>   ├── orders table</a:t>
            </a:r>
            <a:br>
              <a:rPr lang="en-IN" dirty="0"/>
            </a:br>
            <a:r>
              <a:rPr lang="en-IN" dirty="0"/>
              <a:t>   └── outbox table</a:t>
            </a:r>
            <a:br>
              <a:rPr lang="en-IN" dirty="0"/>
            </a:br>
            <a:r>
              <a:rPr lang="en-IN" dirty="0"/>
              <a:t>        ↓ (commit)</a:t>
            </a:r>
            <a:br>
              <a:rPr lang="en-IN" dirty="0"/>
            </a:br>
            <a:r>
              <a:rPr lang="en-IN" dirty="0"/>
              <a:t>[ Publisher (Scheduler / Integration Flow) ]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[ RabbitMQ 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63577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950E-9623-B27F-A01A-C911E0DF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A21D-E0A5-D351-F745-E58ED23EB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Entity: Order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0A96F2-8778-0A2B-11BA-0466642D0CAF}"/>
              </a:ext>
            </a:extLst>
          </p:cNvPr>
          <p:cNvSpPr txBox="1"/>
          <p:nvPr/>
        </p:nvSpPr>
        <p:spPr>
          <a:xfrm>
            <a:off x="1482844" y="2909432"/>
            <a:ext cx="60951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@Entity</a:t>
            </a:r>
          </a:p>
          <a:p>
            <a:r>
              <a:rPr lang="en-IN" dirty="0"/>
              <a:t>@Table(name = "orders")</a:t>
            </a:r>
          </a:p>
          <a:p>
            <a:r>
              <a:rPr lang="en-IN" dirty="0"/>
              <a:t>public class Order {</a:t>
            </a:r>
          </a:p>
          <a:p>
            <a:endParaRPr lang="en-IN" dirty="0"/>
          </a:p>
          <a:p>
            <a:r>
              <a:rPr lang="en-IN" dirty="0"/>
              <a:t>    @Id</a:t>
            </a:r>
          </a:p>
          <a:p>
            <a:r>
              <a:rPr lang="en-IN" dirty="0"/>
              <a:t>    private Long id;</a:t>
            </a:r>
          </a:p>
          <a:p>
            <a:endParaRPr lang="en-IN" dirty="0"/>
          </a:p>
          <a:p>
            <a:r>
              <a:rPr lang="en-IN" dirty="0"/>
              <a:t>    private String product;</a:t>
            </a:r>
          </a:p>
          <a:p>
            <a:endParaRPr lang="en-IN" dirty="0"/>
          </a:p>
          <a:p>
            <a:r>
              <a:rPr lang="en-IN" dirty="0"/>
              <a:t>    // getters/setters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81690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9481D-5A52-B322-1AC6-7100CCE75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C4BF-4A20-5109-9558-86A1C2F6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Entity: Outbox Event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573B3-F220-59F1-2316-A4AC4DC799AC}"/>
              </a:ext>
            </a:extLst>
          </p:cNvPr>
          <p:cNvSpPr txBox="1"/>
          <p:nvPr/>
        </p:nvSpPr>
        <p:spPr>
          <a:xfrm>
            <a:off x="1061095" y="2406054"/>
            <a:ext cx="815991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jakarta.persistence</a:t>
            </a:r>
            <a:r>
              <a:rPr lang="en-IN" dirty="0"/>
              <a:t>.*;</a:t>
            </a:r>
          </a:p>
          <a:p>
            <a:endParaRPr lang="en-IN" dirty="0"/>
          </a:p>
          <a:p>
            <a:r>
              <a:rPr lang="en-IN" dirty="0"/>
              <a:t>@Entity</a:t>
            </a:r>
          </a:p>
          <a:p>
            <a:r>
              <a:rPr lang="en-IN" dirty="0"/>
              <a:t>@Table(name = "outbox")</a:t>
            </a:r>
          </a:p>
          <a:p>
            <a:r>
              <a:rPr lang="en-IN" dirty="0"/>
              <a:t>public class </a:t>
            </a:r>
            <a:r>
              <a:rPr lang="en-IN" dirty="0" err="1"/>
              <a:t>OutboxEvent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@Id</a:t>
            </a:r>
          </a:p>
          <a:p>
            <a:r>
              <a:rPr lang="en-IN" dirty="0"/>
              <a:t>    @GeneratedValue(strategy = </a:t>
            </a:r>
            <a:r>
              <a:rPr lang="en-IN" dirty="0" err="1"/>
              <a:t>GenerationType.IDENTITY</a:t>
            </a:r>
            <a:r>
              <a:rPr lang="en-IN" dirty="0"/>
              <a:t>)</a:t>
            </a:r>
          </a:p>
          <a:p>
            <a:r>
              <a:rPr lang="en-IN" dirty="0"/>
              <a:t>    private Long id;</a:t>
            </a:r>
          </a:p>
          <a:p>
            <a:endParaRPr lang="en-IN" dirty="0"/>
          </a:p>
          <a:p>
            <a:r>
              <a:rPr lang="en-IN" dirty="0"/>
              <a:t>    private String payload;</a:t>
            </a:r>
          </a:p>
          <a:p>
            <a:endParaRPr lang="en-IN" dirty="0"/>
          </a:p>
          <a:p>
            <a:r>
              <a:rPr lang="en-IN" dirty="0"/>
              <a:t>    private </a:t>
            </a:r>
            <a:r>
              <a:rPr lang="en-IN" dirty="0" err="1"/>
              <a:t>boolean</a:t>
            </a:r>
            <a:r>
              <a:rPr lang="en-IN" dirty="0"/>
              <a:t> processed;</a:t>
            </a:r>
          </a:p>
          <a:p>
            <a:endParaRPr lang="en-IN" dirty="0"/>
          </a:p>
          <a:p>
            <a:r>
              <a:rPr lang="en-IN" dirty="0"/>
              <a:t>    // getters/setters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5198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AF06-2FA2-5EA1-BF12-5C727992F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Repository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74ACB-8C30-2AD0-F09A-4D83C23AB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public interface </a:t>
            </a:r>
            <a:r>
              <a:rPr lang="en-IN" dirty="0" err="1"/>
              <a:t>OutboxRepository</a:t>
            </a:r>
            <a:r>
              <a:rPr lang="en-IN" dirty="0"/>
              <a:t> extends </a:t>
            </a:r>
            <a:r>
              <a:rPr lang="en-IN" dirty="0" err="1"/>
              <a:t>JpaRepository</a:t>
            </a:r>
            <a:r>
              <a:rPr lang="en-IN" dirty="0"/>
              <a:t>&lt;</a:t>
            </a:r>
            <a:r>
              <a:rPr lang="en-IN" dirty="0" err="1"/>
              <a:t>OutboxEvent</a:t>
            </a:r>
            <a:r>
              <a:rPr lang="en-IN" dirty="0"/>
              <a:t>, Long&gt; {</a:t>
            </a:r>
          </a:p>
          <a:p>
            <a:pPr marL="0" indent="0">
              <a:buNone/>
            </a:pPr>
            <a:r>
              <a:rPr lang="en-IN" dirty="0"/>
              <a:t>    List&lt;</a:t>
            </a:r>
            <a:r>
              <a:rPr lang="en-IN" dirty="0" err="1"/>
              <a:t>OutboxEvent</a:t>
            </a:r>
            <a:r>
              <a:rPr lang="en-IN" dirty="0"/>
              <a:t>&gt; </a:t>
            </a:r>
            <a:r>
              <a:rPr lang="en-IN" dirty="0" err="1"/>
              <a:t>findByProcessedFalse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39149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AB549-636C-7D52-F19F-DC0478BA6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C41FC-48D3-51F9-7341-05D2FA5296C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6916" y="132085"/>
            <a:ext cx="8761413" cy="70802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Transactional Service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3402C-1C3D-E4A4-3B8A-64E6BDF61A50}"/>
              </a:ext>
            </a:extLst>
          </p:cNvPr>
          <p:cNvSpPr txBox="1"/>
          <p:nvPr/>
        </p:nvSpPr>
        <p:spPr>
          <a:xfrm>
            <a:off x="352068" y="755149"/>
            <a:ext cx="859022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@Transactional</a:t>
            </a:r>
            <a:br>
              <a:rPr lang="en-IN" dirty="0"/>
            </a:br>
            <a:r>
              <a:rPr lang="en-IN" dirty="0"/>
              <a:t>public void process(Order order) {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("➡️ TX START");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1. Save Order</a:t>
            </a:r>
            <a:br>
              <a:rPr lang="en-IN" dirty="0"/>
            </a:br>
            <a:r>
              <a:rPr lang="en-IN" dirty="0" err="1"/>
              <a:t>orderRepo.save</a:t>
            </a:r>
            <a:r>
              <a:rPr lang="en-IN" dirty="0"/>
              <a:t>(order);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2. Save Event (NOT sending to Rabbit!)</a:t>
            </a:r>
            <a:br>
              <a:rPr lang="en-IN" dirty="0"/>
            </a:br>
            <a:r>
              <a:rPr lang="en-IN" dirty="0" err="1"/>
              <a:t>OutboxEvent</a:t>
            </a:r>
            <a:r>
              <a:rPr lang="en-IN" dirty="0"/>
              <a:t> event = new </a:t>
            </a:r>
            <a:r>
              <a:rPr lang="en-IN" dirty="0" err="1"/>
              <a:t>OutboxEvent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 err="1"/>
              <a:t>event.setPayload</a:t>
            </a:r>
            <a:r>
              <a:rPr lang="en-IN" dirty="0"/>
              <a:t>(</a:t>
            </a:r>
            <a:r>
              <a:rPr lang="en-IN" dirty="0" err="1"/>
              <a:t>order.getProduct</a:t>
            </a:r>
            <a:r>
              <a:rPr lang="en-IN" dirty="0"/>
              <a:t>());</a:t>
            </a:r>
            <a:br>
              <a:rPr lang="en-IN" dirty="0"/>
            </a:br>
            <a:r>
              <a:rPr lang="en-IN" dirty="0" err="1"/>
              <a:t>event.setProcessed</a:t>
            </a:r>
            <a:r>
              <a:rPr lang="en-IN" dirty="0"/>
              <a:t>(false);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outboxRepo.save</a:t>
            </a:r>
            <a:r>
              <a:rPr lang="en-IN" dirty="0"/>
              <a:t>(event);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3. Simulate failure</a:t>
            </a:r>
            <a:br>
              <a:rPr lang="en-IN" dirty="0"/>
            </a:br>
            <a:r>
              <a:rPr lang="en-IN" dirty="0"/>
              <a:t>if ("</a:t>
            </a:r>
            <a:r>
              <a:rPr lang="en-IN" dirty="0" err="1"/>
              <a:t>FAIL".equals</a:t>
            </a:r>
            <a:r>
              <a:rPr lang="en-IN" dirty="0"/>
              <a:t>(</a:t>
            </a:r>
            <a:r>
              <a:rPr lang="en-IN" dirty="0" err="1"/>
              <a:t>order.getProduct</a:t>
            </a:r>
            <a:r>
              <a:rPr lang="en-IN" dirty="0"/>
              <a:t>())) {</a:t>
            </a:r>
            <a:br>
              <a:rPr lang="en-IN" dirty="0"/>
            </a:br>
            <a:r>
              <a:rPr lang="en-IN" dirty="0"/>
              <a:t>throw new </a:t>
            </a:r>
            <a:r>
              <a:rPr lang="en-IN" dirty="0" err="1"/>
              <a:t>RuntimeException</a:t>
            </a:r>
            <a:r>
              <a:rPr lang="en-IN" dirty="0"/>
              <a:t>("Simulated failure");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("✅ TX COMMIT");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52B5C-4021-EDEE-5CDA-64A55806A2F3}"/>
              </a:ext>
            </a:extLst>
          </p:cNvPr>
          <p:cNvSpPr txBox="1"/>
          <p:nvPr/>
        </p:nvSpPr>
        <p:spPr>
          <a:xfrm>
            <a:off x="6589874" y="1992311"/>
            <a:ext cx="5346225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</a:t>
            </a:r>
          </a:p>
          <a:p>
            <a:pPr>
              <a:buNone/>
            </a:pPr>
            <a:r>
              <a:rPr lang="en-US" dirty="0"/>
              <a:t>👉 Both inserts happen in </a:t>
            </a:r>
            <a:r>
              <a:rPr lang="en-US" b="1" dirty="0"/>
              <a:t>ONE DB transaction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orders table  ✅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outbox table  ✅</a:t>
            </a:r>
          </a:p>
          <a:p>
            <a:pPr>
              <a:buNone/>
            </a:pPr>
            <a:r>
              <a:rPr lang="en-US" dirty="0"/>
              <a:t>👉 If failure → BOTH rollback</a:t>
            </a:r>
          </a:p>
        </p:txBody>
      </p:sp>
    </p:spTree>
    <p:extLst>
      <p:ext uri="{BB962C8B-B14F-4D97-AF65-F5344CB8AC3E}">
        <p14:creationId xmlns:p14="http://schemas.microsoft.com/office/powerpoint/2010/main" val="33744583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898DC-C85B-58E8-3E8A-E50591280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A78B08-D2C4-E934-1866-9B08E55C9D18}"/>
              </a:ext>
            </a:extLst>
          </p:cNvPr>
          <p:cNvSpPr txBox="1"/>
          <p:nvPr/>
        </p:nvSpPr>
        <p:spPr>
          <a:xfrm>
            <a:off x="1662545" y="1100214"/>
            <a:ext cx="902542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@Component</a:t>
            </a:r>
          </a:p>
          <a:p>
            <a:r>
              <a:rPr lang="en-IN" dirty="0"/>
              <a:t>@EnableScheduling</a:t>
            </a:r>
          </a:p>
          <a:p>
            <a:r>
              <a:rPr lang="en-IN" dirty="0"/>
              <a:t>public class </a:t>
            </a:r>
            <a:r>
              <a:rPr lang="en-IN" dirty="0" err="1"/>
              <a:t>OutboxPublisher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private final </a:t>
            </a:r>
            <a:r>
              <a:rPr lang="en-IN" dirty="0" err="1"/>
              <a:t>OutboxRepository</a:t>
            </a:r>
            <a:r>
              <a:rPr lang="en-IN" dirty="0"/>
              <a:t> repo;</a:t>
            </a:r>
          </a:p>
          <a:p>
            <a:r>
              <a:rPr lang="en-IN" dirty="0"/>
              <a:t>    private final </a:t>
            </a:r>
            <a:r>
              <a:rPr lang="en-IN" dirty="0" err="1"/>
              <a:t>RabbitTemplate</a:t>
            </a:r>
            <a:r>
              <a:rPr lang="en-IN" dirty="0"/>
              <a:t> </a:t>
            </a:r>
            <a:r>
              <a:rPr lang="en-IN" dirty="0" err="1"/>
              <a:t>rabbitTemplate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public </a:t>
            </a:r>
            <a:r>
              <a:rPr lang="en-IN" dirty="0" err="1"/>
              <a:t>OutboxPublisher</a:t>
            </a:r>
            <a:r>
              <a:rPr lang="en-IN" dirty="0"/>
              <a:t>(</a:t>
            </a:r>
            <a:r>
              <a:rPr lang="en-IN" dirty="0" err="1"/>
              <a:t>OutboxRepository</a:t>
            </a:r>
            <a:r>
              <a:rPr lang="en-IN" dirty="0"/>
              <a:t> repo,</a:t>
            </a:r>
          </a:p>
          <a:p>
            <a:r>
              <a:rPr lang="en-IN" dirty="0"/>
              <a:t>                           </a:t>
            </a:r>
            <a:r>
              <a:rPr lang="en-IN" dirty="0" err="1"/>
              <a:t>RabbitTemplate</a:t>
            </a:r>
            <a:r>
              <a:rPr lang="en-IN" dirty="0"/>
              <a:t> </a:t>
            </a:r>
            <a:r>
              <a:rPr lang="en-IN" dirty="0" err="1"/>
              <a:t>rabbitTemplate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this.repo</a:t>
            </a:r>
            <a:r>
              <a:rPr lang="en-IN" dirty="0"/>
              <a:t> = repo;</a:t>
            </a:r>
          </a:p>
          <a:p>
            <a:r>
              <a:rPr lang="en-IN" dirty="0"/>
              <a:t>        </a:t>
            </a:r>
            <a:r>
              <a:rPr lang="en-IN" dirty="0" err="1"/>
              <a:t>this.rabbitTemplate</a:t>
            </a:r>
            <a:r>
              <a:rPr lang="en-IN" dirty="0"/>
              <a:t> = </a:t>
            </a:r>
            <a:r>
              <a:rPr lang="en-IN" dirty="0" err="1"/>
              <a:t>rabbitTemplate</a:t>
            </a:r>
            <a:r>
              <a:rPr lang="en-IN" dirty="0"/>
              <a:t>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// public void publish() – Next slide</a:t>
            </a:r>
          </a:p>
          <a:p>
            <a:r>
              <a:rPr lang="en-IN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8DB1CE-7268-C9A9-8E56-C5826A9D1E97}"/>
              </a:ext>
            </a:extLst>
          </p:cNvPr>
          <p:cNvSpPr txBox="1"/>
          <p:nvPr/>
        </p:nvSpPr>
        <p:spPr>
          <a:xfrm>
            <a:off x="778708" y="309207"/>
            <a:ext cx="6095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RabbitMQ Publisher </a:t>
            </a:r>
          </a:p>
        </p:txBody>
      </p:sp>
    </p:spTree>
    <p:extLst>
      <p:ext uri="{BB962C8B-B14F-4D97-AF65-F5344CB8AC3E}">
        <p14:creationId xmlns:p14="http://schemas.microsoft.com/office/powerpoint/2010/main" val="10407155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BECA3B-2CCC-2500-1D3F-6A639EE5E8D7}"/>
              </a:ext>
            </a:extLst>
          </p:cNvPr>
          <p:cNvSpPr txBox="1"/>
          <p:nvPr/>
        </p:nvSpPr>
        <p:spPr>
          <a:xfrm>
            <a:off x="914400" y="394692"/>
            <a:ext cx="816969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To be added in previous slide code</a:t>
            </a:r>
          </a:p>
          <a:p>
            <a:r>
              <a:rPr lang="en-IN" dirty="0"/>
              <a:t>@Scheduled(fixedDelay = 3000)</a:t>
            </a:r>
          </a:p>
          <a:p>
            <a:r>
              <a:rPr lang="en-IN" dirty="0"/>
              <a:t>    public void publish() {</a:t>
            </a:r>
          </a:p>
          <a:p>
            <a:endParaRPr lang="en-IN" dirty="0"/>
          </a:p>
          <a:p>
            <a:r>
              <a:rPr lang="en-IN" dirty="0"/>
              <a:t>        List&lt;</a:t>
            </a:r>
            <a:r>
              <a:rPr lang="en-IN" dirty="0" err="1"/>
              <a:t>OutboxEvent</a:t>
            </a:r>
            <a:r>
              <a:rPr lang="en-IN" dirty="0"/>
              <a:t>&gt; events = </a:t>
            </a:r>
            <a:r>
              <a:rPr lang="en-IN" dirty="0" err="1"/>
              <a:t>repo.findByProcessedFalse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for (</a:t>
            </a:r>
            <a:r>
              <a:rPr lang="en-IN" dirty="0" err="1"/>
              <a:t>OutboxEvent</a:t>
            </a:r>
            <a:r>
              <a:rPr lang="en-IN" dirty="0"/>
              <a:t> event : events) {</a:t>
            </a:r>
          </a:p>
          <a:p>
            <a:endParaRPr lang="en-IN" dirty="0"/>
          </a:p>
          <a:p>
            <a:r>
              <a:rPr lang="en-IN" dirty="0"/>
              <a:t>            try {</a:t>
            </a:r>
          </a:p>
          <a:p>
            <a:r>
              <a:rPr lang="en-IN" dirty="0"/>
              <a:t>                // Send to RabbitMQ</a:t>
            </a:r>
          </a:p>
          <a:p>
            <a:r>
              <a:rPr lang="en-IN" dirty="0"/>
              <a:t>                </a:t>
            </a:r>
            <a:r>
              <a:rPr lang="en-IN" dirty="0" err="1"/>
              <a:t>rabbitTemplate.convertAndSend</a:t>
            </a:r>
            <a:r>
              <a:rPr lang="en-IN" dirty="0"/>
              <a:t>(</a:t>
            </a:r>
          </a:p>
          <a:p>
            <a:r>
              <a:rPr lang="en-IN" dirty="0"/>
              <a:t>                        "</a:t>
            </a:r>
            <a:r>
              <a:rPr lang="en-IN" dirty="0" err="1"/>
              <a:t>order.exchange</a:t>
            </a:r>
            <a:r>
              <a:rPr lang="en-IN" dirty="0"/>
              <a:t>",</a:t>
            </a:r>
          </a:p>
          <a:p>
            <a:r>
              <a:rPr lang="en-IN" dirty="0"/>
              <a:t>                        "</a:t>
            </a:r>
            <a:r>
              <a:rPr lang="en-IN" dirty="0" err="1"/>
              <a:t>order.routingKey</a:t>
            </a:r>
            <a:r>
              <a:rPr lang="en-IN" dirty="0"/>
              <a:t>",</a:t>
            </a:r>
          </a:p>
          <a:p>
            <a:r>
              <a:rPr lang="en-IN" dirty="0"/>
              <a:t>                        </a:t>
            </a:r>
            <a:r>
              <a:rPr lang="en-IN" dirty="0" err="1"/>
              <a:t>event.getPayload</a:t>
            </a:r>
            <a:r>
              <a:rPr lang="en-IN" dirty="0"/>
              <a:t>()</a:t>
            </a:r>
          </a:p>
          <a:p>
            <a:r>
              <a:rPr lang="en-IN" dirty="0"/>
              <a:t>                );</a:t>
            </a:r>
          </a:p>
          <a:p>
            <a:r>
              <a:rPr lang="en-IN" dirty="0"/>
              <a:t>                // Mark as processed</a:t>
            </a:r>
          </a:p>
          <a:p>
            <a:r>
              <a:rPr lang="en-IN" dirty="0"/>
              <a:t>                </a:t>
            </a:r>
            <a:r>
              <a:rPr lang="en-IN" dirty="0" err="1"/>
              <a:t>event.setProcessed</a:t>
            </a:r>
            <a:r>
              <a:rPr lang="en-IN" dirty="0"/>
              <a:t>(true);</a:t>
            </a:r>
          </a:p>
          <a:p>
            <a:r>
              <a:rPr lang="en-IN" dirty="0"/>
              <a:t>                </a:t>
            </a:r>
            <a:r>
              <a:rPr lang="en-IN" dirty="0" err="1"/>
              <a:t>repo.save</a:t>
            </a:r>
            <a:r>
              <a:rPr lang="en-IN" dirty="0"/>
              <a:t>(event);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("📤 Sent to Rabbit: " + </a:t>
            </a:r>
            <a:r>
              <a:rPr lang="en-IN" dirty="0" err="1"/>
              <a:t>event.getPayload</a:t>
            </a:r>
            <a:r>
              <a:rPr lang="en-IN" dirty="0"/>
              <a:t>());</a:t>
            </a:r>
          </a:p>
          <a:p>
            <a:r>
              <a:rPr lang="en-IN" dirty="0"/>
              <a:t>            } catch (Exception e) {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("❌ Failed to send, will retry...");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3B1AE-1F01-44C7-3E02-633C6A358232}"/>
              </a:ext>
            </a:extLst>
          </p:cNvPr>
          <p:cNvSpPr txBox="1"/>
          <p:nvPr/>
        </p:nvSpPr>
        <p:spPr>
          <a:xfrm>
            <a:off x="323953" y="0"/>
            <a:ext cx="6095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RabbitMQ Publisher </a:t>
            </a:r>
          </a:p>
        </p:txBody>
      </p:sp>
    </p:spTree>
    <p:extLst>
      <p:ext uri="{BB962C8B-B14F-4D97-AF65-F5344CB8AC3E}">
        <p14:creationId xmlns:p14="http://schemas.microsoft.com/office/powerpoint/2010/main" val="39402626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DB581-DF0D-793B-D2A4-A7DB0E93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EDF8-12AC-E3BF-C9C5-D7D80809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20C53-0EC1-6A5F-7833-DF23DEA872D3}"/>
              </a:ext>
            </a:extLst>
          </p:cNvPr>
          <p:cNvSpPr txBox="1"/>
          <p:nvPr/>
        </p:nvSpPr>
        <p:spPr>
          <a:xfrm>
            <a:off x="1081877" y="2241385"/>
            <a:ext cx="883448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@RestController</a:t>
            </a:r>
          </a:p>
          <a:p>
            <a:r>
              <a:rPr lang="en-IN" dirty="0"/>
              <a:t>@RequestMapping("/orders")</a:t>
            </a:r>
          </a:p>
          <a:p>
            <a:r>
              <a:rPr lang="en-IN" dirty="0"/>
              <a:t>public class </a:t>
            </a:r>
            <a:r>
              <a:rPr lang="en-IN" dirty="0" err="1"/>
              <a:t>OrderController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private final </a:t>
            </a:r>
            <a:r>
              <a:rPr lang="en-IN" dirty="0" err="1"/>
              <a:t>OrderService</a:t>
            </a:r>
            <a:r>
              <a:rPr lang="en-IN" dirty="0"/>
              <a:t> service;</a:t>
            </a:r>
          </a:p>
          <a:p>
            <a:endParaRPr lang="en-IN" dirty="0"/>
          </a:p>
          <a:p>
            <a:r>
              <a:rPr lang="en-IN" dirty="0"/>
              <a:t>    public </a:t>
            </a:r>
            <a:r>
              <a:rPr lang="en-IN" dirty="0" err="1"/>
              <a:t>OrderController</a:t>
            </a:r>
            <a:r>
              <a:rPr lang="en-IN" dirty="0"/>
              <a:t>(</a:t>
            </a:r>
            <a:r>
              <a:rPr lang="en-IN" dirty="0" err="1"/>
              <a:t>OrderService</a:t>
            </a:r>
            <a:r>
              <a:rPr lang="en-IN" dirty="0"/>
              <a:t> service) {</a:t>
            </a:r>
          </a:p>
          <a:p>
            <a:r>
              <a:rPr lang="en-IN" dirty="0"/>
              <a:t>        </a:t>
            </a:r>
            <a:r>
              <a:rPr lang="en-IN" dirty="0" err="1"/>
              <a:t>this.service</a:t>
            </a:r>
            <a:r>
              <a:rPr lang="en-IN" dirty="0"/>
              <a:t> = service;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@PostMapping</a:t>
            </a:r>
          </a:p>
          <a:p>
            <a:r>
              <a:rPr lang="en-IN" dirty="0"/>
              <a:t>    public String create(@RequestBody Order order) {</a:t>
            </a:r>
          </a:p>
          <a:p>
            <a:r>
              <a:rPr lang="en-IN" dirty="0"/>
              <a:t>        </a:t>
            </a:r>
            <a:r>
              <a:rPr lang="en-IN" dirty="0" err="1"/>
              <a:t>service.process</a:t>
            </a:r>
            <a:r>
              <a:rPr lang="en-IN" dirty="0"/>
              <a:t>(order);</a:t>
            </a:r>
          </a:p>
          <a:p>
            <a:r>
              <a:rPr lang="en-IN" dirty="0"/>
              <a:t>        return "Processed";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18263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7C0E-DE02-15EA-B5C2-2EA61B8F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B784-DF27-6629-D9E4-5106D4E1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3AB09-48FD-A0BA-7D25-0F2BE2CE0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Case 1: Success</a:t>
            </a:r>
          </a:p>
          <a:p>
            <a:pPr marL="0" indent="0">
              <a:buNone/>
            </a:pPr>
            <a:r>
              <a:rPr lang="en-IN" b="1" dirty="0"/>
              <a:t>{</a:t>
            </a:r>
            <a:br>
              <a:rPr lang="en-IN" b="1" dirty="0"/>
            </a:br>
            <a:r>
              <a:rPr lang="en-IN" b="1" dirty="0"/>
              <a:t>  "id": 1,</a:t>
            </a:r>
            <a:br>
              <a:rPr lang="en-IN" b="1" dirty="0"/>
            </a:br>
            <a:r>
              <a:rPr lang="en-IN" b="1" dirty="0"/>
              <a:t>  "product": "Laptop"</a:t>
            </a:r>
            <a:br>
              <a:rPr lang="en-IN" b="1" dirty="0"/>
            </a:br>
            <a:r>
              <a:rPr lang="en-IN" b="1" dirty="0"/>
              <a:t>}</a:t>
            </a:r>
          </a:p>
          <a:p>
            <a:r>
              <a:rPr lang="en-IN" b="1" dirty="0"/>
              <a:t>Result</a:t>
            </a:r>
          </a:p>
          <a:p>
            <a:r>
              <a:rPr lang="en-IN" dirty="0"/>
              <a:t>➡️ TX START</a:t>
            </a:r>
            <a:br>
              <a:rPr lang="en-IN" dirty="0"/>
            </a:br>
            <a:r>
              <a:rPr lang="en-IN" dirty="0"/>
              <a:t>✅ TX COMMIT</a:t>
            </a:r>
            <a:br>
              <a:rPr lang="en-IN" dirty="0"/>
            </a:br>
            <a:r>
              <a:rPr lang="en-IN" dirty="0"/>
              <a:t>📤 Sent to Rabbit: Laptop</a:t>
            </a:r>
          </a:p>
          <a:p>
            <a:r>
              <a:rPr lang="en-IN" dirty="0"/>
              <a:t>✔ Order saved</a:t>
            </a:r>
            <a:br>
              <a:rPr lang="en-IN" dirty="0"/>
            </a:br>
            <a:r>
              <a:rPr lang="en-IN" dirty="0"/>
              <a:t>✔ Event saved</a:t>
            </a:r>
            <a:br>
              <a:rPr lang="en-IN" dirty="0"/>
            </a:br>
            <a:r>
              <a:rPr lang="en-IN" dirty="0"/>
              <a:t>✔ Message sent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0930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88FE9-CA53-E99F-59E8-5F8772307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305F5-4439-2531-ED51-4D8061F5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2C805-8113-420D-F67F-A72AC5610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Case 2: Failure</a:t>
            </a:r>
          </a:p>
          <a:p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"id": 2,</a:t>
            </a:r>
            <a:br>
              <a:rPr lang="en-US" dirty="0"/>
            </a:br>
            <a:r>
              <a:rPr lang="en-US" dirty="0"/>
              <a:t>  "product": "FAIL"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Result</a:t>
            </a:r>
          </a:p>
          <a:p>
            <a:r>
              <a:rPr lang="en-US" dirty="0"/>
              <a:t>➡️ TX START</a:t>
            </a:r>
            <a:br>
              <a:rPr lang="en-US" dirty="0"/>
            </a:br>
            <a:r>
              <a:rPr lang="en-US" dirty="0"/>
              <a:t>💥 Exception</a:t>
            </a:r>
          </a:p>
          <a:p>
            <a:r>
              <a:rPr lang="en-US" dirty="0"/>
              <a:t>✔ Order NOT saved</a:t>
            </a:r>
            <a:br>
              <a:rPr lang="en-US" dirty="0"/>
            </a:br>
            <a:r>
              <a:rPr lang="en-US" dirty="0"/>
              <a:t>✔ Event NOT saved</a:t>
            </a:r>
            <a:br>
              <a:rPr lang="en-US" dirty="0"/>
            </a:br>
            <a:r>
              <a:rPr lang="en-US" dirty="0"/>
              <a:t>✔ Nothing sent to Rabbit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5656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0F187-7426-CF0D-5D00-E5478748B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6DB3-D424-AFAF-113F-31BAFDF2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If RabbitMQ is Down?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E9326-D65E-C1D6-4779-A45DC7B15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👉 No problem:</a:t>
            </a:r>
          </a:p>
          <a:p>
            <a:r>
              <a:rPr lang="en-US" dirty="0"/>
              <a:t>Event remains in DB (processed = false) </a:t>
            </a:r>
          </a:p>
          <a:p>
            <a:r>
              <a:rPr lang="en-US" dirty="0"/>
              <a:t>Scheduler retries later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6414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932EC-FC4C-C38B-06BC-C8DD48C9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BCB66-9E61-DAF9-5534-F21F682FD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Idempotent Publisher with Retry + DLQ Logic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2ACBC-131C-5818-898A-D90894434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r>
              <a:rPr lang="en-IN" dirty="0"/>
              <a:t>Example.txt</a:t>
            </a:r>
          </a:p>
        </p:txBody>
      </p:sp>
    </p:spTree>
    <p:extLst>
      <p:ext uri="{BB962C8B-B14F-4D97-AF65-F5344CB8AC3E}">
        <p14:creationId xmlns:p14="http://schemas.microsoft.com/office/powerpoint/2010/main" val="29112498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4A5BC-B9C5-C40F-9E7F-24D28FCC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ECA04-D894-9618-7AF9-FF04D0F5E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A86FD-C28E-5912-CEEC-568C969ED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26792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778E1-6D7F-05D7-F2CD-3B5455DA1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EAA2-A689-020B-1843-7AE3B81E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223CC-BB3A-7FE6-C180-9EA5DF623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4344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9DF6-3E84-9BFF-FE19-93802F6B2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23D8-755F-BD92-5264-9B4E642E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5E81-B3A9-BF05-7405-604D8EE28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030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357F1-963F-7FDB-B55B-9CF65F15E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4E94-12AC-B473-249A-0289BB344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51C92-5452-6C45-E00B-0CF9E7A06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9260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F7B33-A77C-8ABC-8344-A9A9F64FB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87A11-153F-3403-ECB4-CDCFAF79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0A013-C752-974A-8846-9032CF7E5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6010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73F2-1F4A-FE4C-3AE1-DB6549C6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6661-960E-8EC1-BDEC-1517777A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91C0B-2195-A6E2-A348-ECE61508C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89708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FC2FD-070B-9288-32CA-FE89F317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16C3-47E1-F45D-D022-109DC85D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F5BAA-3CBD-9FEE-56A1-16B64FB10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8132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EC7D-91EA-FF3A-D25B-1AC89CC4C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D6E8-68E9-A574-4042-A0011604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DB863-707E-CBD7-8AA3-548AC8F11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37732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2702-AF3D-AC18-009A-1F2A29EC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A644D-F07A-18D7-BD6B-C25DA0FE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17A9B-F6EE-F844-D9E1-113153460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8391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244D-B086-C884-9E88-A8E27ACB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4B037-6421-D0A8-4AA9-E92AEFD93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9BDED-21D3-0E0F-E905-FE4BEC94C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7116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D3510-A3BF-5E32-0C2E-ABE720AA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ECF4E-D5EE-A027-2542-E91C9280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64A2F-7A06-8019-2204-700140976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9529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44F61-F71D-6AFD-D542-EC99FD4A7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6FFC-A1A7-B7D4-3786-A733A9D7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3A6D5-5B15-9883-B9FC-4D0426FE8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4986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E6BE3-4C00-816C-D115-796CFD510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C27A-D7BA-E093-10A6-E755BC6E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8431E-FA55-4C7F-CE59-DA68DFC27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7567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431D-34F0-3318-9901-D20342CFF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8D59-7113-5BA4-9304-D6B2CE321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B972F-A5D2-F9EA-A674-A4FACF490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961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7D85-63EE-D9BF-CD47-BFD49335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29E1-73E2-0995-10ED-20E3FF660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281C8-8AB5-DAA8-3444-BB027A3B5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541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0D551-B1FD-C46D-0249-684DC6C4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4524-26B6-A6B9-9B79-1C742D4C0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C4264-2B5B-68C1-53A1-78C0C4F54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4554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3BF86-4F6D-ECF0-F2B6-7298FDA4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3005B-0839-9A1B-7428-572955482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BDE21-B390-ACF7-E7E5-992F9C34E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452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B9E0E-228F-D89D-30EA-E8BE3B46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20065-5655-C94E-DB25-664D9F97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3CCE-82FF-8AE4-E606-52523BD90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1911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E935E-8048-7C4A-89E8-6A723C27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010F-D87D-E38A-DF77-5D1C1171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C8317-06DC-BDAB-23AA-E5AC3F267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6395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180DB-3AA7-D5D4-D9E3-818B3A56C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BCD30-E27E-4545-F470-4477E622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D6DE-259D-3679-609C-EE29D32A6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1480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A7537-D807-BCCA-2E5A-376F7667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90E49-4AFF-BD88-F1B0-F106AC62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23D09-EAF0-5E31-929A-B308C2FC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678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6CBB5-8CB9-8E2D-C22A-AAA213A0B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50F8B-83E4-F1D4-5B0A-9F1FFF9C5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D110-24A5-F877-A0F2-82DB55CB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8395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60B0D-8845-E0D6-9CFE-3C1268A56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5731B-5555-94F8-791A-F3DFD078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2EDC1-245F-FF43-85DE-D97EBD674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51960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CEBFB-9614-F0A7-2C37-5792468F4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0068-7EFC-A59C-A82B-D7DB26F6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5CCAB-5087-D90B-CEDD-BE8520386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537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6A43-E3C0-068A-CB0D-A6841C21D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9B279-3DE8-5020-0C87-C17789E70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FE738-570D-C190-60FD-0F3737B29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7796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8BAF0-6629-AAB8-9901-E3FB5204E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D73B2-9222-4840-592E-DACE4C002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867C2-DD6E-B110-1BC3-A79744F23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15530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4ACD4-FA98-65BA-DF19-4EA57576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533BD-A8B2-698B-A80E-FB85210B8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83FBD-74A3-E12A-52A0-9AD549A7C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1462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D7DC-956E-345B-6EC4-2F0076532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23799-990D-85BE-CA30-F4A5717A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F9D54-6EAC-1F81-4B64-AAF71AAB3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5164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70BC2-3467-EE17-3B27-F09E9EB6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F228-CF7C-3787-7DCA-11C54A3E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9EFBE-12D6-C887-6D94-BB929AE30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43862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50D23-EAF4-10A5-F717-267228F32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90E0-AB34-4367-9EE3-7E5BBFE41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8696A-226A-B006-FCD9-9DF8C4481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6265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E8A14-BBBD-D401-1D5E-E6263074A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657B-057E-6778-29C1-E1F587E7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6F415-BD41-C8B3-09F7-0B9DDBA67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9101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EF2D7-CADA-922E-AD87-5C628390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FF03-F1FB-481B-6601-64F6828E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5C4EA-9FBB-DC69-D344-78A8E8AE7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7403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3EC22-E15D-B8B9-0C6B-21430680E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9E26-36ED-5264-4697-7C82AD61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610BD-D544-76EC-1A27-5156B3333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56025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B1099-718C-67B6-A1E7-598F122DF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DBE1-A9F1-049D-CE19-06C6BB43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9B833-FF6A-D01C-6FBE-A8559BACE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0841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69771-6BCA-0A5F-C3BB-483E8FEA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A2495-429C-4FF9-A8BC-676A5D5E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7E5-E504-3F98-85D7-EDB393B18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330447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1A25F-46E8-48F3-463E-D90DD0ED0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0BA6-1A20-9B13-5ECF-7DE6BB86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B89B8-66DB-4D87-9512-C22BEAB33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66309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AAB6-CCEB-4290-7281-D399F5611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97FA-3FF2-EEEE-FB6A-78B8CD4D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F55D4-1CCB-EF72-638A-ECA8D92B5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26862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78B44-194E-FF65-CE4E-700F166C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23EC-A736-AE34-DE65-ABC98C3F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98E19-DEAF-D61A-EE85-1D8A072A0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33112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349A-2209-DC74-0FD9-AC58E9DCF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9D719-7672-7D69-8CBD-E4F07322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B1AB3-BBC6-5D21-066C-CE106EE6B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39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D812F-1BF8-6BAB-61A4-1FFAAACF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79E02-1187-93A2-4E91-0D7EAB6EA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1C90F-51C4-DED7-6736-F9792DDD3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02003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CC6C8-9DB6-47BD-FC3E-1FE9B3BA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15D4-CD3F-CF87-FA7D-A08396D5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71B51-D41F-B1F4-55EF-6C9478157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9384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9CB8B-8F53-67B9-1219-50CF426CE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370B-5E4E-C8A8-D130-705EA3CBF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8712F-E90B-ECF9-5360-53C069BF8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456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89344-E793-16A3-3C3F-C49657AD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FC3B-1373-E58F-210D-01E6F1E6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1AAAA-ED37-EA80-3405-0BFF4C8BA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765354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9FFF-6985-5172-0433-0A3AA86EF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5212-C5EE-FA65-1787-F105FD89E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AC8B7-0DCF-32D2-118A-6D67FC968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26404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49F8-CA03-3917-A4E2-77F91E80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2868-1E8F-6433-E7E6-B29CCE2AA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318AF-A15C-C319-2217-3F85B0089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6169" cy="377774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6619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{8D791C6D-E695-4FB0-B1F4-73935033FB1C}TF229edf6a-8a49-49ee-a0a6-5037052947485fb3ca0c-bc27bf41d645</Template>
  <TotalTime>93</TotalTime>
  <Words>2380</Words>
  <Application>Microsoft Office PowerPoint</Application>
  <PresentationFormat>Widescreen</PresentationFormat>
  <Paragraphs>386</Paragraphs>
  <Slides>94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1" baseType="lpstr">
      <vt:lpstr>Arial</vt:lpstr>
      <vt:lpstr>Calibri</vt:lpstr>
      <vt:lpstr>Century Gothic</vt:lpstr>
      <vt:lpstr>Courier New</vt:lpstr>
      <vt:lpstr>JetBrains Mono</vt:lpstr>
      <vt:lpstr>Wingdings 3</vt:lpstr>
      <vt:lpstr>Ion Boardroom</vt:lpstr>
      <vt:lpstr>Transactions in Spring Integration</vt:lpstr>
      <vt:lpstr>What is a Transaction? </vt:lpstr>
      <vt:lpstr>Transaction in Spring Integration?</vt:lpstr>
      <vt:lpstr>Where Does Transaction Apply?</vt:lpstr>
      <vt:lpstr>How Spring Integration Supports Transactions</vt:lpstr>
      <vt:lpstr>Types of Transaction Support in Spring Integration</vt:lpstr>
      <vt:lpstr>Declarative Transactions</vt:lpstr>
      <vt:lpstr>Integration Flow Level</vt:lpstr>
      <vt:lpstr>Transactions</vt:lpstr>
      <vt:lpstr>Transaction Boundary</vt:lpstr>
      <vt:lpstr>Poller-Based Transactions</vt:lpstr>
      <vt:lpstr>What Happens Internally?</vt:lpstr>
      <vt:lpstr>Transaction + Message Acknowledgment</vt:lpstr>
      <vt:lpstr>Important points</vt:lpstr>
      <vt:lpstr>Final Summary</vt:lpstr>
      <vt:lpstr>Transactional message handling across multiple systems </vt:lpstr>
      <vt:lpstr>Why Do We Need It?</vt:lpstr>
      <vt:lpstr>Types of Transactions</vt:lpstr>
      <vt:lpstr>Local Transactions</vt:lpstr>
      <vt:lpstr>Example of local transaction</vt:lpstr>
      <vt:lpstr>Global / Distributed Transactions</vt:lpstr>
      <vt:lpstr>Transactions across systems</vt:lpstr>
      <vt:lpstr>PowerPoint Presentation</vt:lpstr>
      <vt:lpstr>Test Scenarios</vt:lpstr>
      <vt:lpstr>Test Scenarios</vt:lpstr>
      <vt:lpstr>Key Insight </vt:lpstr>
      <vt:lpstr>Transactions across systems</vt:lpstr>
      <vt:lpstr>Message-Driven Transactions on Consumer</vt:lpstr>
      <vt:lpstr>Rabbit Listener Transaction Example</vt:lpstr>
      <vt:lpstr>Transaction Synchronization</vt:lpstr>
      <vt:lpstr>Distributed Transactions (XA)</vt:lpstr>
      <vt:lpstr>Distributed Transactions (XA)</vt:lpstr>
      <vt:lpstr>Best Practice:</vt:lpstr>
      <vt:lpstr>Error Handling + Retry + DLQ</vt:lpstr>
      <vt:lpstr>Exactly-once vs At-least-once</vt:lpstr>
      <vt:lpstr>Idempotency</vt:lpstr>
      <vt:lpstr>Transactional Outbox Pattern</vt:lpstr>
      <vt:lpstr>Architecture</vt:lpstr>
      <vt:lpstr>Entity: Order</vt:lpstr>
      <vt:lpstr>Entity: Outbox Event</vt:lpstr>
      <vt:lpstr>Repository</vt:lpstr>
      <vt:lpstr>Transactional Service </vt:lpstr>
      <vt:lpstr>PowerPoint Presentation</vt:lpstr>
      <vt:lpstr>PowerPoint Presentation</vt:lpstr>
      <vt:lpstr>Controller</vt:lpstr>
      <vt:lpstr>Test Scenarios</vt:lpstr>
      <vt:lpstr>Test Scenarios</vt:lpstr>
      <vt:lpstr>What If RabbitMQ is Down?</vt:lpstr>
      <vt:lpstr>Idempotent Publisher with Retry + DLQ Logic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46</cp:revision>
  <dcterms:created xsi:type="dcterms:W3CDTF">2026-03-26T02:35:00Z</dcterms:created>
  <dcterms:modified xsi:type="dcterms:W3CDTF">2026-03-26T04:08:59Z</dcterms:modified>
</cp:coreProperties>
</file>