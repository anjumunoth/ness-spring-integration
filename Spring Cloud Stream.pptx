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43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2983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217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0494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3253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96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2146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06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532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54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9985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785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01606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719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4702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8616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67494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253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6CD5CD0-6A70-4D3F-8AFB-DE1607D1170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97DF3B17-588C-4FCE-BADC-98E76E9C52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2453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1AFE8-2D4E-B6C2-3CFC-1858F8F67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Spring Cloud Stream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A48AF-2143-CD12-6EF7-A14564C91F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Anju munoth</a:t>
            </a:r>
          </a:p>
        </p:txBody>
      </p:sp>
    </p:spTree>
    <p:extLst>
      <p:ext uri="{BB962C8B-B14F-4D97-AF65-F5344CB8AC3E}">
        <p14:creationId xmlns:p14="http://schemas.microsoft.com/office/powerpoint/2010/main" val="3120913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764B-F5D1-999B-D495-B979992F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Spring Cloud Stream?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17046-6FB3-52CC-E3A0-34172BBFA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463305" cy="3846198"/>
          </a:xfrm>
        </p:spPr>
        <p:txBody>
          <a:bodyPr/>
          <a:lstStyle/>
          <a:p>
            <a:r>
              <a:rPr lang="en-US" dirty="0"/>
              <a:t>Framework that helps you build </a:t>
            </a:r>
            <a:r>
              <a:rPr lang="en-US" b="1" dirty="0"/>
              <a:t>event-driven microservices</a:t>
            </a:r>
            <a:r>
              <a:rPr lang="en-US" dirty="0"/>
              <a:t> by simplifying communication with </a:t>
            </a:r>
            <a:r>
              <a:rPr lang="en-US" b="1" dirty="0"/>
              <a:t>message brokers</a:t>
            </a:r>
            <a:r>
              <a:rPr lang="en-US" dirty="0"/>
              <a:t> like:</a:t>
            </a:r>
          </a:p>
          <a:p>
            <a:r>
              <a:rPr lang="en-US" dirty="0"/>
              <a:t>Kafka </a:t>
            </a:r>
          </a:p>
          <a:p>
            <a:r>
              <a:rPr lang="en-US" dirty="0"/>
              <a:t>RabbitMQ </a:t>
            </a:r>
          </a:p>
          <a:p>
            <a:r>
              <a:rPr lang="en-US" dirty="0"/>
              <a:t>Spring Cloud Stream is an </a:t>
            </a:r>
            <a:r>
              <a:rPr lang="en-US" b="1" dirty="0"/>
              <a:t>abstraction layer over messaging systems</a:t>
            </a:r>
            <a:r>
              <a:rPr lang="en-US" dirty="0"/>
              <a:t> that lets you write business logic without worrying about broker-specific code.</a:t>
            </a:r>
          </a:p>
          <a:p>
            <a:r>
              <a:rPr lang="en-US" b="1" dirty="0"/>
              <a:t>Uses a binding model</a:t>
            </a:r>
          </a:p>
          <a:p>
            <a:r>
              <a:rPr lang="en-US" dirty="0"/>
              <a:t>App ↔ Spring Cloud Stream ↔ Binder ↔ Message Broker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978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518F4-FFD2-EDFB-AEA4-CD56BF9F8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Why Do We Need It?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52840-919C-0142-7902-C30AAB0E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Without Spring Cloud Stream</a:t>
            </a:r>
          </a:p>
          <a:p>
            <a:r>
              <a:rPr lang="en-US" dirty="0"/>
              <a:t>Directly use broker APIs:</a:t>
            </a:r>
          </a:p>
          <a:p>
            <a:r>
              <a:rPr lang="en-US" dirty="0"/>
              <a:t>Kafka Producer/Consumer APIs </a:t>
            </a:r>
          </a:p>
          <a:p>
            <a:r>
              <a:rPr lang="en-US" dirty="0"/>
              <a:t>RabbitMQ templates </a:t>
            </a:r>
          </a:p>
          <a:p>
            <a:pPr marL="0" indent="0">
              <a:buNone/>
            </a:pPr>
            <a:r>
              <a:rPr lang="en-US" b="1" dirty="0"/>
              <a:t>Problems:</a:t>
            </a:r>
          </a:p>
          <a:p>
            <a:r>
              <a:rPr lang="en-US" dirty="0"/>
              <a:t>Tight coupling to broker </a:t>
            </a:r>
          </a:p>
          <a:p>
            <a:r>
              <a:rPr lang="en-US" dirty="0"/>
              <a:t>Boilerplate code </a:t>
            </a:r>
          </a:p>
          <a:p>
            <a:r>
              <a:rPr lang="en-US" dirty="0"/>
              <a:t>Hard to switch brokers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8376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44D98-05FB-6402-D3A1-5CA23B60A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B9E34-3476-FEDD-F982-5E261A275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With Spring Cloud Stream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76305-37B9-3D9D-CB90-342D60C23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IN" dirty="0"/>
              <a:t>You just write: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@Bean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public Consumer&lt;String&gt; consume() {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return </a:t>
            </a:r>
            <a:r>
              <a:rPr lang="en-IN" b="1" dirty="0" err="1">
                <a:solidFill>
                  <a:srgbClr val="C00000"/>
                </a:solidFill>
              </a:rPr>
              <a:t>msg</a:t>
            </a:r>
            <a:r>
              <a:rPr lang="en-IN" b="1" dirty="0">
                <a:solidFill>
                  <a:srgbClr val="C00000"/>
                </a:solidFill>
              </a:rPr>
              <a:t> -&gt; </a:t>
            </a:r>
            <a:r>
              <a:rPr lang="en-IN" b="1" dirty="0" err="1">
                <a:solidFill>
                  <a:srgbClr val="C00000"/>
                </a:solidFill>
              </a:rPr>
              <a:t>System.out.println</a:t>
            </a:r>
            <a:r>
              <a:rPr lang="en-IN" b="1" dirty="0">
                <a:solidFill>
                  <a:srgbClr val="C00000"/>
                </a:solidFill>
              </a:rPr>
              <a:t>(</a:t>
            </a:r>
            <a:r>
              <a:rPr lang="en-IN" b="1" dirty="0" err="1">
                <a:solidFill>
                  <a:srgbClr val="C00000"/>
                </a:solidFill>
              </a:rPr>
              <a:t>msg</a:t>
            </a:r>
            <a:r>
              <a:rPr lang="en-IN" b="1" dirty="0">
                <a:solidFill>
                  <a:srgbClr val="C00000"/>
                </a:solidFill>
              </a:rPr>
              <a:t>);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}</a:t>
            </a:r>
          </a:p>
          <a:p>
            <a:r>
              <a:rPr lang="en-IN" dirty="0"/>
              <a:t>👉 No Kafka/RabbitMQ code!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8485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77049-F368-221D-2689-77E584DD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B61A6-9D90-B286-CBE3-C7F370DA5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8841-02BE-E496-FE5C-DDFA429B0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1. Binder</a:t>
            </a:r>
          </a:p>
          <a:p>
            <a:r>
              <a:rPr lang="en-IN" dirty="0"/>
              <a:t> </a:t>
            </a:r>
            <a:r>
              <a:rPr lang="en-IN" b="1" dirty="0"/>
              <a:t>binder</a:t>
            </a:r>
            <a:r>
              <a:rPr lang="en-IN" dirty="0"/>
              <a:t> connects your app to a messaging system.</a:t>
            </a:r>
          </a:p>
          <a:p>
            <a:r>
              <a:rPr lang="en-IN" dirty="0"/>
              <a:t>Examples: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Kafka Binder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RabbitMQ Binder</a:t>
            </a:r>
          </a:p>
          <a:p>
            <a:r>
              <a:rPr lang="da-DK" dirty="0"/>
              <a:t>Binder = Adapter/Driver for a message broker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4598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0DAC5-1D58-425C-0174-DE818298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483EB-1D1E-22F2-9512-C8172C50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0332E-8664-8032-5A84-707536C12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2.Bindings</a:t>
            </a:r>
          </a:p>
          <a:p>
            <a:r>
              <a:rPr lang="en-IN" dirty="0"/>
              <a:t>Bindings connect your </a:t>
            </a:r>
            <a:r>
              <a:rPr lang="en-IN" b="1" dirty="0"/>
              <a:t>functions</a:t>
            </a:r>
            <a:r>
              <a:rPr lang="en-IN" dirty="0"/>
              <a:t> to destinations (topics/queues).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spring: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cloud: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stream: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bindings: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consume-in-0: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destination: orders</a:t>
            </a:r>
          </a:p>
          <a:p>
            <a:r>
              <a:rPr lang="en-IN" dirty="0"/>
              <a:t>Input binding → listens to orders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353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F447D-CABD-EFDE-28BB-D94A3620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45D54-D8B0-A26D-49DE-83BF7C07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D3F56-51A4-84E3-9E23-FC429F6FC9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3. Destination</a:t>
            </a:r>
          </a:p>
          <a:p>
            <a:r>
              <a:rPr lang="en-IN" dirty="0"/>
              <a:t>Kafka → Topic </a:t>
            </a:r>
          </a:p>
          <a:p>
            <a:r>
              <a:rPr lang="en-IN" dirty="0"/>
              <a:t>RabbitMQ → Exchange/Queue 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116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F1E9-2975-E144-7EE3-8E8B1FC7B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E9CD1-C771-95EE-E552-62572DED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ADFEB-D5EA-2D19-E344-2D7DE5267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4. Functions (Modern Style)</a:t>
            </a:r>
          </a:p>
          <a:p>
            <a:r>
              <a:rPr lang="en-IN" dirty="0"/>
              <a:t>Spring Cloud Stream uses </a:t>
            </a:r>
            <a:r>
              <a:rPr lang="en-IN" b="1" dirty="0"/>
              <a:t>functional programming model</a:t>
            </a:r>
            <a:r>
              <a:rPr lang="en-IN" dirty="0"/>
              <a:t>:</a:t>
            </a:r>
          </a:p>
          <a:p>
            <a:endParaRPr lang="en-IN" dirty="0"/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462558-5588-FC5C-EAB0-DAD51CF10B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49143"/>
              </p:ext>
            </p:extLst>
          </p:nvPr>
        </p:nvGraphicFramePr>
        <p:xfrm>
          <a:off x="1155700" y="3580130"/>
          <a:ext cx="8761412" cy="1463040"/>
        </p:xfrm>
        <a:graphic>
          <a:graphicData uri="http://schemas.openxmlformats.org/drawingml/2006/table">
            <a:tbl>
              <a:tblPr/>
              <a:tblGrid>
                <a:gridCol w="4380706">
                  <a:extLst>
                    <a:ext uri="{9D8B030D-6E8A-4147-A177-3AD203B41FA5}">
                      <a16:colId xmlns:a16="http://schemas.microsoft.com/office/drawing/2014/main" val="4167915646"/>
                    </a:ext>
                  </a:extLst>
                </a:gridCol>
                <a:gridCol w="4380706">
                  <a:extLst>
                    <a:ext uri="{9D8B030D-6E8A-4147-A177-3AD203B41FA5}">
                      <a16:colId xmlns:a16="http://schemas.microsoft.com/office/drawing/2014/main" val="199709034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2109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Supplier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Produces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36589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Consumer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Consumes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4889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Consumes + Produces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3518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8996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56825-C50E-3F66-08E6-1F2D9B0CA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AF344-3040-8783-47B3-45BAC8F51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Producer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0EF9B-C006-E0A8-F6BB-C0BC2CAF9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@Bean</a:t>
            </a:r>
            <a:br>
              <a:rPr lang="en-US" dirty="0"/>
            </a:br>
            <a:r>
              <a:rPr lang="en-US" dirty="0"/>
              <a:t>public Supplier&lt;String&gt; producer() {</a:t>
            </a:r>
            <a:br>
              <a:rPr lang="en-US" dirty="0"/>
            </a:br>
            <a:r>
              <a:rPr lang="en-US" dirty="0"/>
              <a:t>    return () -&gt; "Hello Event!";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5282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727BA-5420-FE86-E779-9338BD16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63E98-BD28-5782-8A39-2EE0BD58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Consumer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AC37B-9DF3-5751-4C25-EB374820A7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US" dirty="0"/>
              <a:t>@Bean</a:t>
            </a:r>
            <a:br>
              <a:rPr lang="en-US" dirty="0"/>
            </a:br>
            <a:r>
              <a:rPr lang="en-US" dirty="0"/>
              <a:t>public Consumer&lt;String&gt; consumer() {</a:t>
            </a:r>
            <a:br>
              <a:rPr lang="en-US" dirty="0"/>
            </a:br>
            <a:r>
              <a:rPr lang="en-US" dirty="0"/>
              <a:t>    return msg -&gt; </a:t>
            </a:r>
            <a:r>
              <a:rPr lang="en-US" dirty="0" err="1"/>
              <a:t>System.out.println</a:t>
            </a:r>
            <a:r>
              <a:rPr lang="en-US" dirty="0"/>
              <a:t>("Received: " + msg);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361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1065B-CB29-5903-BC30-6F0BFB5C0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9391-591F-94F2-189E-081EFB779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416A4-2BAF-DEE0-3B86-3A000AA64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spring:</a:t>
            </a:r>
          </a:p>
          <a:p>
            <a:pPr marL="0" indent="0">
              <a:buNone/>
            </a:pPr>
            <a:r>
              <a:rPr lang="en-US" dirty="0"/>
              <a:t>  cloud:</a:t>
            </a:r>
          </a:p>
          <a:p>
            <a:pPr marL="0" indent="0">
              <a:buNone/>
            </a:pPr>
            <a:r>
              <a:rPr lang="en-US" dirty="0"/>
              <a:t>    stream:</a:t>
            </a:r>
          </a:p>
          <a:p>
            <a:pPr marL="0" indent="0">
              <a:buNone/>
            </a:pPr>
            <a:r>
              <a:rPr lang="en-US" dirty="0"/>
              <a:t>      bindings:</a:t>
            </a:r>
          </a:p>
          <a:p>
            <a:pPr marL="0" indent="0">
              <a:buNone/>
            </a:pPr>
            <a:r>
              <a:rPr lang="en-US" dirty="0"/>
              <a:t>        producer-out-0:</a:t>
            </a:r>
          </a:p>
          <a:p>
            <a:pPr marL="0" indent="0">
              <a:buNone/>
            </a:pPr>
            <a:r>
              <a:rPr lang="en-US" dirty="0"/>
              <a:t>          destination: orders</a:t>
            </a:r>
          </a:p>
          <a:p>
            <a:pPr marL="0" indent="0">
              <a:buNone/>
            </a:pPr>
            <a:r>
              <a:rPr lang="en-US" dirty="0"/>
              <a:t>        consumer-in-0:</a:t>
            </a:r>
          </a:p>
          <a:p>
            <a:pPr marL="0" indent="0">
              <a:buNone/>
            </a:pPr>
            <a:r>
              <a:rPr lang="en-US" dirty="0"/>
              <a:t>          destination: orders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3610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CA0EA-C50B-59E1-8602-E342B92CC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35ACA-18E1-A554-5AE9-B9EE17C5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It Works Internally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E3016-B551-473D-36BB-9F1B0FE79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US" dirty="0"/>
              <a:t>Your function generates a message </a:t>
            </a:r>
          </a:p>
          <a:p>
            <a:r>
              <a:rPr lang="en-US" dirty="0"/>
              <a:t>Spring Cloud Stream wraps it into a message </a:t>
            </a:r>
          </a:p>
          <a:p>
            <a:r>
              <a:rPr lang="en-US" dirty="0"/>
              <a:t>Binder sends it to broker </a:t>
            </a:r>
          </a:p>
          <a:p>
            <a:r>
              <a:rPr lang="en-US" dirty="0"/>
              <a:t>Consumer receives it </a:t>
            </a:r>
          </a:p>
          <a:p>
            <a:r>
              <a:rPr lang="en-US" dirty="0"/>
              <a:t>Binder converts message → function input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Supplier → Binding → Binder → Broker → Binder → Binding → Consumer</a:t>
            </a:r>
            <a:endParaRPr lang="en-US" b="1" dirty="0">
              <a:solidFill>
                <a:srgbClr val="C00000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3405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673BF-94E4-B447-7919-A7E81B2EF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D9211-A71C-1B4C-E29F-44FE1CEB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Message Structure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5C3D8-E484-342E-43EB-421759CA1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Every message has:</a:t>
            </a:r>
          </a:p>
          <a:p>
            <a:r>
              <a:rPr lang="en-US" dirty="0"/>
              <a:t>Payload </a:t>
            </a:r>
          </a:p>
          <a:p>
            <a:r>
              <a:rPr lang="en-US" dirty="0"/>
              <a:t>Headers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{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"payload": "Order Created",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"headers": {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"</a:t>
            </a:r>
            <a:r>
              <a:rPr lang="en-US" b="1" dirty="0" err="1">
                <a:solidFill>
                  <a:srgbClr val="C00000"/>
                </a:solidFill>
              </a:rPr>
              <a:t>contentType</a:t>
            </a:r>
            <a:r>
              <a:rPr lang="en-US" b="1" dirty="0">
                <a:solidFill>
                  <a:srgbClr val="C00000"/>
                </a:solidFill>
              </a:rPr>
              <a:t>": "application/</a:t>
            </a:r>
            <a:r>
              <a:rPr lang="en-US" b="1" dirty="0" err="1">
                <a:solidFill>
                  <a:srgbClr val="C00000"/>
                </a:solidFill>
              </a:rPr>
              <a:t>json</a:t>
            </a:r>
            <a:r>
              <a:rPr lang="en-US" b="1" dirty="0">
                <a:solidFill>
                  <a:srgbClr val="C00000"/>
                </a:solidFill>
              </a:rPr>
              <a:t>"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}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}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b="1" dirty="0"/>
              <a:t>Content Type Conversion</a:t>
            </a:r>
          </a:p>
          <a:p>
            <a:r>
              <a:rPr lang="en-IN" dirty="0"/>
              <a:t>Automatic conversion:</a:t>
            </a:r>
          </a:p>
          <a:p>
            <a:r>
              <a:rPr lang="en-IN" dirty="0"/>
              <a:t>JSON → Object </a:t>
            </a:r>
          </a:p>
          <a:p>
            <a:r>
              <a:rPr lang="en-IN" dirty="0"/>
              <a:t>String → POJO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9878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EFDC7-E7DC-F871-D9F4-4B2428714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CC7F9-76FD-46B1-DD54-176411A74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Consumer Groups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8AEBA-D7D6-A820-CFCC-F6270A8CC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spring: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cloud: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stream: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bindings: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consumer-in-0: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group: inventory-group</a:t>
            </a:r>
          </a:p>
          <a:p>
            <a:pPr marL="0" indent="0">
              <a:buNone/>
            </a:pPr>
            <a:r>
              <a:rPr lang="en-US" dirty="0"/>
              <a:t> Ensures:</a:t>
            </a:r>
          </a:p>
          <a:p>
            <a:r>
              <a:rPr lang="en-US" dirty="0"/>
              <a:t>Load balancing </a:t>
            </a:r>
          </a:p>
          <a:p>
            <a:r>
              <a:rPr lang="en-US" dirty="0"/>
              <a:t>Each message processed once per group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49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C2D84-14F4-4500-C627-36E7E6307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61FB9-7E9B-C8F9-37CF-6513E2F4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Partitioning (Scaling)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3CE74-B601-D3BF-DB1D-A3452CF93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producer: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</a:t>
            </a:r>
            <a:r>
              <a:rPr lang="en-IN" b="1" dirty="0" err="1">
                <a:solidFill>
                  <a:srgbClr val="C00000"/>
                </a:solidFill>
              </a:rPr>
              <a:t>partitionKeyExpression</a:t>
            </a:r>
            <a:r>
              <a:rPr lang="en-IN" b="1" dirty="0">
                <a:solidFill>
                  <a:srgbClr val="C00000"/>
                </a:solidFill>
              </a:rPr>
              <a:t>: </a:t>
            </a:r>
            <a:r>
              <a:rPr lang="en-IN" b="1" dirty="0" err="1">
                <a:solidFill>
                  <a:srgbClr val="C00000"/>
                </a:solidFill>
              </a:rPr>
              <a:t>payload.orderId</a:t>
            </a:r>
            <a:endParaRPr lang="en-IN" b="1" dirty="0">
              <a:solidFill>
                <a:srgbClr val="C00000"/>
              </a:solidFill>
            </a:endParaRPr>
          </a:p>
          <a:p>
            <a:r>
              <a:rPr lang="en-IN" dirty="0"/>
              <a:t>👉 Ensures:</a:t>
            </a:r>
          </a:p>
          <a:p>
            <a:r>
              <a:rPr lang="en-IN" dirty="0"/>
              <a:t>Same key → same partition </a:t>
            </a:r>
          </a:p>
          <a:p>
            <a:r>
              <a:rPr lang="en-IN" dirty="0"/>
              <a:t>Maintains order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410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A894-EE4A-DAEF-897D-6D8C20D5F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9B785-E540-2BBD-EBAE-A10D14E9D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Error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72DA7-7703-EFBF-8E6D-7C12D56F0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IN" dirty="0"/>
              <a:t>Retries </a:t>
            </a:r>
          </a:p>
          <a:p>
            <a:r>
              <a:rPr lang="en-IN" dirty="0"/>
              <a:t>Dead Letter Queue (DLQ) </a:t>
            </a:r>
          </a:p>
          <a:p>
            <a:r>
              <a:rPr lang="en-IN" dirty="0" err="1"/>
              <a:t>autoBindDlq</a:t>
            </a:r>
            <a:r>
              <a:rPr lang="en-IN" dirty="0"/>
              <a:t>: true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97193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44D4-3A29-E047-D87C-F3438AF76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2F574-80F3-39F3-4FFC-001FA132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Multiple Binders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C4488-71DD-A65E-52ED-43BD9A767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Can use:</a:t>
            </a:r>
          </a:p>
          <a:p>
            <a:r>
              <a:rPr lang="en-IN" dirty="0"/>
              <a:t>Kafka + RabbitMQ in same app 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42030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60F2F-879B-B52B-D2BD-D16DA5BB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4E964-2139-EA79-9FF0-61D81EE5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 Key Advantages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C5E9D-196D-82B4-82F4-C143FEE36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✅ Broker abstraction</a:t>
            </a:r>
            <a:br>
              <a:rPr lang="en-IN" dirty="0"/>
            </a:br>
            <a:r>
              <a:rPr lang="en-IN" dirty="0"/>
              <a:t>✅ Less boilerplate</a:t>
            </a:r>
            <a:br>
              <a:rPr lang="en-IN" dirty="0"/>
            </a:br>
            <a:r>
              <a:rPr lang="en-IN" dirty="0"/>
              <a:t>✅ Easy to switch Kafka ↔ RabbitMQ</a:t>
            </a:r>
            <a:br>
              <a:rPr lang="en-IN" dirty="0"/>
            </a:br>
            <a:r>
              <a:rPr lang="en-IN" dirty="0"/>
              <a:t>✅ Built-in scaling support</a:t>
            </a:r>
            <a:br>
              <a:rPr lang="en-IN" dirty="0"/>
            </a:br>
            <a:r>
              <a:rPr lang="en-IN" dirty="0"/>
              <a:t>✅ Functional programming model</a:t>
            </a:r>
            <a:br>
              <a:rPr lang="en-IN" dirty="0"/>
            </a:br>
            <a:r>
              <a:rPr lang="en-IN" dirty="0"/>
              <a:t>✅ Production-ready features (DLQ, retries)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150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4015-C5B8-D097-B37D-A044124EE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C6FF8-AACC-8192-6257-63DB83126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Limitations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A6C40-D820-9F35-BC24-F991B95B8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US" dirty="0"/>
              <a:t> Less control over low-level broker features</a:t>
            </a:r>
            <a:br>
              <a:rPr lang="en-US" dirty="0"/>
            </a:br>
            <a:r>
              <a:rPr lang="en-US" dirty="0"/>
              <a:t> Learning curve (bindings, config)</a:t>
            </a:r>
            <a:br>
              <a:rPr lang="en-US" dirty="0"/>
            </a:br>
            <a:r>
              <a:rPr lang="en-US" dirty="0"/>
              <a:t> Debugging can be tricky</a:t>
            </a:r>
            <a:br>
              <a:rPr lang="en-US" dirty="0"/>
            </a:br>
            <a:r>
              <a:rPr lang="en-US" dirty="0"/>
              <a:t> Not ideal for ultra-low latency systems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5273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3FB22-270F-5D05-EF3F-BC1872F1A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80-A79D-6DCF-DD29-328DED84A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When to Use 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5D863-EEE4-E94A-A3C4-890BA9353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Use Spring Cloud Stream when:</a:t>
            </a:r>
          </a:p>
          <a:p>
            <a:r>
              <a:rPr lang="en-US" dirty="0"/>
              <a:t>Building </a:t>
            </a:r>
            <a:r>
              <a:rPr lang="en-US" b="1" dirty="0"/>
              <a:t>event-driven microservices</a:t>
            </a:r>
            <a:r>
              <a:rPr lang="en-US" dirty="0"/>
              <a:t> </a:t>
            </a:r>
          </a:p>
          <a:p>
            <a:r>
              <a:rPr lang="en-US" dirty="0"/>
              <a:t>You want </a:t>
            </a:r>
            <a:r>
              <a:rPr lang="en-US" b="1" dirty="0"/>
              <a:t>broker abstraction</a:t>
            </a:r>
            <a:r>
              <a:rPr lang="en-US" dirty="0"/>
              <a:t> </a:t>
            </a:r>
          </a:p>
          <a:p>
            <a:r>
              <a:rPr lang="en-US" dirty="0"/>
              <a:t>You need </a:t>
            </a:r>
            <a:r>
              <a:rPr lang="en-US" b="1" dirty="0"/>
              <a:t>scalability + resilience</a:t>
            </a:r>
            <a:r>
              <a:rPr lang="en-US" dirty="0"/>
              <a:t> </a:t>
            </a:r>
          </a:p>
          <a:p>
            <a:r>
              <a:rPr lang="en-US" dirty="0"/>
              <a:t>You want clean, function-based code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8216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80D53-F1D1-1277-BC34-D97FA2618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8A0A9-6EAB-AD2C-F485-ECC542E6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When NOT to Use 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20923-8B07-C26E-90F7-5B7165EAF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Avoid when:</a:t>
            </a:r>
          </a:p>
          <a:p>
            <a:r>
              <a:rPr lang="en-US" dirty="0"/>
              <a:t>You need </a:t>
            </a:r>
            <a:r>
              <a:rPr lang="en-US" b="1" dirty="0"/>
              <a:t>fine-grained Kafka control</a:t>
            </a:r>
            <a:r>
              <a:rPr lang="en-US" dirty="0"/>
              <a:t> </a:t>
            </a:r>
          </a:p>
          <a:p>
            <a:r>
              <a:rPr lang="en-US" dirty="0"/>
              <a:t>Ultra-performance critical systems </a:t>
            </a:r>
          </a:p>
          <a:p>
            <a:r>
              <a:rPr lang="en-US" dirty="0"/>
              <a:t>Simple apps (overkill)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482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C586-63CF-F890-E044-6F424F313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BAA5-2F1B-E21F-A3EB-9C27297CC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What RabbitMQ Binder Does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B4D49-1704-B6BD-46D7-B41562A82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IN" b="1" dirty="0"/>
              <a:t>RabbitMQ binder</a:t>
            </a:r>
            <a:r>
              <a:rPr lang="en-IN" dirty="0"/>
              <a:t> in Spring Cloud Stream maps your </a:t>
            </a:r>
            <a:r>
              <a:rPr lang="en-IN" b="1" dirty="0"/>
              <a:t>logical bindings</a:t>
            </a:r>
            <a:r>
              <a:rPr lang="en-IN" dirty="0"/>
              <a:t> to </a:t>
            </a:r>
            <a:r>
              <a:rPr lang="en-IN" b="1" dirty="0"/>
              <a:t>actual RabbitMQ components</a:t>
            </a:r>
            <a:r>
              <a:rPr lang="en-IN" dirty="0"/>
              <a:t>:</a:t>
            </a:r>
          </a:p>
          <a:p>
            <a:r>
              <a:rPr lang="en-IN" dirty="0"/>
              <a:t>Spring Cloud Stream → Rabbit Binder → RabbitMQ</a:t>
            </a:r>
          </a:p>
          <a:p>
            <a:pPr marL="0" indent="0">
              <a:buNone/>
            </a:pPr>
            <a:r>
              <a:rPr lang="en-IN" dirty="0"/>
              <a:t>It automatically creates and connects:</a:t>
            </a:r>
          </a:p>
          <a:p>
            <a:r>
              <a:rPr lang="en-IN" dirty="0"/>
              <a:t>Exchanges </a:t>
            </a:r>
          </a:p>
          <a:p>
            <a:r>
              <a:rPr lang="en-IN" dirty="0"/>
              <a:t>Queues </a:t>
            </a:r>
          </a:p>
          <a:p>
            <a:r>
              <a:rPr lang="en-IN" dirty="0"/>
              <a:t>Bindings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5609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200DC-F330-D2C0-8FCA-3E38493C1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5FAF-1ECD-BDE3-3814-885BFB182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F04590F-6552-F5EE-74A5-F308987A74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129045"/>
              </p:ext>
            </p:extLst>
          </p:nvPr>
        </p:nvGraphicFramePr>
        <p:xfrm>
          <a:off x="1155700" y="2603500"/>
          <a:ext cx="88249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2456">
                  <a:extLst>
                    <a:ext uri="{9D8B030D-6E8A-4147-A177-3AD203B41FA5}">
                      <a16:colId xmlns:a16="http://schemas.microsoft.com/office/drawing/2014/main" val="3375050914"/>
                    </a:ext>
                  </a:extLst>
                </a:gridCol>
                <a:gridCol w="4412456">
                  <a:extLst>
                    <a:ext uri="{9D8B030D-6E8A-4147-A177-3AD203B41FA5}">
                      <a16:colId xmlns:a16="http://schemas.microsoft.com/office/drawing/2014/main" val="13667147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Spring 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RabbitMQ Equivalent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7997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Destination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Exchange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0915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Group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Queue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1212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Exchange → Queue binding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155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Routing key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3373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17973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955B9-D808-438A-A45B-521F749E7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4EAFE-3903-9BDB-F687-CD76C8B14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What Gets Created Automatically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C95DD-984D-6DD7-DFE7-5237F8E85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📤 Producer Side</a:t>
            </a:r>
          </a:p>
          <a:p>
            <a:r>
              <a:rPr lang="en-IN" dirty="0"/>
              <a:t>spring:</a:t>
            </a:r>
            <a:br>
              <a:rPr lang="en-IN" dirty="0"/>
            </a:br>
            <a:r>
              <a:rPr lang="en-IN" dirty="0"/>
              <a:t>  cloud:</a:t>
            </a:r>
            <a:br>
              <a:rPr lang="en-IN" dirty="0"/>
            </a:br>
            <a:r>
              <a:rPr lang="en-IN" dirty="0"/>
              <a:t>    stream:</a:t>
            </a:r>
            <a:br>
              <a:rPr lang="en-IN" dirty="0"/>
            </a:br>
            <a:r>
              <a:rPr lang="en-IN" dirty="0"/>
              <a:t>      bindings:</a:t>
            </a:r>
            <a:br>
              <a:rPr lang="en-IN" dirty="0"/>
            </a:br>
            <a:r>
              <a:rPr lang="en-IN" dirty="0"/>
              <a:t>        order-out-0:</a:t>
            </a:r>
            <a:br>
              <a:rPr lang="en-IN" dirty="0"/>
            </a:br>
            <a:r>
              <a:rPr lang="en-IN" dirty="0"/>
              <a:t>          destination: orders</a:t>
            </a:r>
          </a:p>
          <a:p>
            <a:r>
              <a:rPr lang="en-IN" dirty="0"/>
              <a:t>👉 RabbitMQ binder creates:</a:t>
            </a:r>
          </a:p>
          <a:p>
            <a:r>
              <a:rPr lang="en-IN" b="1" dirty="0"/>
              <a:t>Exchange → orders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9703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E8F7F-4F0C-9192-09DA-53137C70D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F3D24-2770-DF01-4AA8-A22C718B8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Consumer Side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474D1-6765-BA3A-6042-222796038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spring:</a:t>
            </a:r>
            <a:br>
              <a:rPr lang="en-IN" dirty="0"/>
            </a:br>
            <a:r>
              <a:rPr lang="en-IN" dirty="0"/>
              <a:t>  cloud:</a:t>
            </a:r>
            <a:br>
              <a:rPr lang="en-IN" dirty="0"/>
            </a:br>
            <a:r>
              <a:rPr lang="en-IN" dirty="0"/>
              <a:t>    stream:</a:t>
            </a:r>
            <a:br>
              <a:rPr lang="en-IN" dirty="0"/>
            </a:br>
            <a:r>
              <a:rPr lang="en-IN" dirty="0"/>
              <a:t>      bindings:</a:t>
            </a:r>
            <a:br>
              <a:rPr lang="en-IN" dirty="0"/>
            </a:br>
            <a:r>
              <a:rPr lang="en-IN" dirty="0"/>
              <a:t>        order-in-0:</a:t>
            </a:r>
            <a:br>
              <a:rPr lang="en-IN" dirty="0"/>
            </a:br>
            <a:r>
              <a:rPr lang="en-IN" dirty="0"/>
              <a:t>          destination: orders</a:t>
            </a:r>
            <a:br>
              <a:rPr lang="en-IN" dirty="0"/>
            </a:br>
            <a:r>
              <a:rPr lang="en-IN" dirty="0"/>
              <a:t>          group: inventory</a:t>
            </a:r>
          </a:p>
          <a:p>
            <a:r>
              <a:rPr lang="en-IN" dirty="0"/>
              <a:t>👉 Creates:</a:t>
            </a:r>
          </a:p>
          <a:p>
            <a:r>
              <a:rPr lang="en-IN" b="1" dirty="0"/>
              <a:t>Queue → </a:t>
            </a:r>
            <a:r>
              <a:rPr lang="en-IN" b="1" dirty="0" err="1"/>
              <a:t>orders.inventory</a:t>
            </a:r>
            <a:r>
              <a:rPr lang="en-IN" b="1" dirty="0"/>
              <a:t> </a:t>
            </a:r>
          </a:p>
          <a:p>
            <a:r>
              <a:rPr lang="en-IN" b="1" dirty="0"/>
              <a:t>Binding → Exchange (orders) → Queue (</a:t>
            </a:r>
            <a:r>
              <a:rPr lang="en-IN" b="1" dirty="0" err="1"/>
              <a:t>orders.inventory</a:t>
            </a:r>
            <a:r>
              <a:rPr lang="en-IN" b="1" dirty="0"/>
              <a:t>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6427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31A0-AC8F-F96E-E3E2-9803BA274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56B80-757A-982F-8E24-D3AFDB394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8B35B-54D5-D29E-94CB-F642E1607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dirty="0"/>
              <a:t>Producer Function</a:t>
            </a:r>
          </a:p>
          <a:p>
            <a:pPr marL="0" indent="0">
              <a:buNone/>
            </a:pPr>
            <a:r>
              <a:rPr lang="en-IN" dirty="0"/>
              <a:t>   ↓</a:t>
            </a:r>
          </a:p>
          <a:p>
            <a:pPr marL="0" indent="0">
              <a:buNone/>
            </a:pPr>
            <a:r>
              <a:rPr lang="en-IN" dirty="0"/>
              <a:t>Output Binding (order-out-0)</a:t>
            </a:r>
          </a:p>
          <a:p>
            <a:pPr marL="0" indent="0">
              <a:buNone/>
            </a:pPr>
            <a:r>
              <a:rPr lang="en-IN" dirty="0"/>
              <a:t>   ↓</a:t>
            </a:r>
          </a:p>
          <a:p>
            <a:pPr marL="0" indent="0">
              <a:buNone/>
            </a:pPr>
            <a:r>
              <a:rPr lang="en-IN" dirty="0"/>
              <a:t>Rabbit Binder</a:t>
            </a:r>
          </a:p>
          <a:p>
            <a:pPr marL="0" indent="0">
              <a:buNone/>
            </a:pPr>
            <a:r>
              <a:rPr lang="en-IN" dirty="0"/>
              <a:t>   ↓</a:t>
            </a:r>
          </a:p>
          <a:p>
            <a:pPr marL="0" indent="0">
              <a:buNone/>
            </a:pPr>
            <a:r>
              <a:rPr lang="en-IN" dirty="0"/>
              <a:t>Exchange (orders)</a:t>
            </a:r>
          </a:p>
          <a:p>
            <a:pPr marL="0" indent="0">
              <a:buNone/>
            </a:pPr>
            <a:r>
              <a:rPr lang="en-IN" dirty="0"/>
              <a:t>   ↓ (via routing key)</a:t>
            </a:r>
          </a:p>
          <a:p>
            <a:pPr marL="0" indent="0">
              <a:buNone/>
            </a:pPr>
            <a:r>
              <a:rPr lang="en-IN" dirty="0"/>
              <a:t>Queue (</a:t>
            </a:r>
            <a:r>
              <a:rPr lang="en-IN" dirty="0" err="1"/>
              <a:t>orders.inventory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   ↓</a:t>
            </a:r>
          </a:p>
          <a:p>
            <a:pPr marL="0" indent="0">
              <a:buNone/>
            </a:pPr>
            <a:r>
              <a:rPr lang="en-IN" dirty="0"/>
              <a:t>Consumer Binding (order-in-0)</a:t>
            </a:r>
          </a:p>
          <a:p>
            <a:pPr marL="0" indent="0">
              <a:buNone/>
            </a:pPr>
            <a:r>
              <a:rPr lang="en-IN" dirty="0"/>
              <a:t>   ↓</a:t>
            </a:r>
          </a:p>
          <a:p>
            <a:pPr marL="0" indent="0">
              <a:buNone/>
            </a:pPr>
            <a:r>
              <a:rPr lang="en-IN" dirty="0"/>
              <a:t>Consumer Function</a:t>
            </a:r>
          </a:p>
        </p:txBody>
      </p:sp>
    </p:spTree>
    <p:extLst>
      <p:ext uri="{BB962C8B-B14F-4D97-AF65-F5344CB8AC3E}">
        <p14:creationId xmlns:p14="http://schemas.microsoft.com/office/powerpoint/2010/main" val="33128408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A9E8A-A909-2E22-BEE7-A992AB1D6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F5F0-6861-9C90-7726-01DC1FF98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Exchange Types in Rabbit Binder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5FB47-DFCC-1FB7-1EA5-6A58821A0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/>
          </a:bodyPr>
          <a:lstStyle/>
          <a:p>
            <a:r>
              <a:rPr lang="en-IN" b="1" dirty="0"/>
              <a:t>Default = Topic Exchange</a:t>
            </a:r>
          </a:p>
          <a:p>
            <a:r>
              <a:rPr lang="en-IN" dirty="0"/>
              <a:t> Spring Cloud Stream uses </a:t>
            </a:r>
            <a:r>
              <a:rPr lang="en-IN" b="1" dirty="0"/>
              <a:t>topic exchange by default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Why Topic?</a:t>
            </a:r>
          </a:p>
          <a:p>
            <a:r>
              <a:rPr lang="en-IN" dirty="0"/>
              <a:t>Because it supports flexible routing using patterns.</a:t>
            </a:r>
          </a:p>
          <a:p>
            <a:pPr marL="0" indent="0">
              <a:buNone/>
            </a:pPr>
            <a:r>
              <a:rPr lang="en-IN" b="1" dirty="0"/>
              <a:t> Routing Key Pattern</a:t>
            </a:r>
          </a:p>
          <a:p>
            <a:r>
              <a:rPr lang="en-IN" b="1" dirty="0" err="1">
                <a:solidFill>
                  <a:srgbClr val="C00000"/>
                </a:solidFill>
              </a:rPr>
              <a:t>order.created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 err="1">
                <a:solidFill>
                  <a:srgbClr val="C00000"/>
                </a:solidFill>
              </a:rPr>
              <a:t>order.updated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order.*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order.#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62983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D413E-4658-289C-0380-E7CA2B96F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508E-8153-35F6-0AD4-8C6F07DC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Routing Keys in Binder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1CD7A-BBCF-ADCB-13C5-134B4F79B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📤 Producer Routing Key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spring: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cloud: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stream: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rabbit: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bindings: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order-out-0: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producer: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  </a:t>
            </a:r>
            <a:r>
              <a:rPr lang="en-IN" b="1" dirty="0" err="1">
                <a:solidFill>
                  <a:srgbClr val="C00000"/>
                </a:solidFill>
              </a:rPr>
              <a:t>routingKeyExpression</a:t>
            </a:r>
            <a:r>
              <a:rPr lang="en-IN" b="1" dirty="0">
                <a:solidFill>
                  <a:srgbClr val="C00000"/>
                </a:solidFill>
              </a:rPr>
              <a:t>: '''</a:t>
            </a:r>
            <a:r>
              <a:rPr lang="en-IN" b="1" dirty="0" err="1">
                <a:solidFill>
                  <a:srgbClr val="C00000"/>
                </a:solidFill>
              </a:rPr>
              <a:t>order.created</a:t>
            </a:r>
            <a:r>
              <a:rPr lang="en-IN" b="1" dirty="0">
                <a:solidFill>
                  <a:srgbClr val="C00000"/>
                </a:solidFill>
              </a:rPr>
              <a:t>'''</a:t>
            </a:r>
          </a:p>
          <a:p>
            <a:pPr marL="0" indent="0">
              <a:buNone/>
            </a:pPr>
            <a:r>
              <a:rPr lang="en-IN" dirty="0"/>
              <a:t> This sets:</a:t>
            </a:r>
          </a:p>
          <a:p>
            <a:r>
              <a:rPr lang="en-IN" dirty="0"/>
              <a:t>Routing Key = </a:t>
            </a:r>
            <a:r>
              <a:rPr lang="en-IN" dirty="0" err="1"/>
              <a:t>order.created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7548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D23D4-D909-AAA7-22FA-B43F06F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D6E74-2DCF-1B8A-25D5-CEABC6657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Consumer Binding Key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A347A-EBDD-C757-2330-38D53990B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spring: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cloud: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stream: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rabbit: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bindings: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order-in-0: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  consumer: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    </a:t>
            </a:r>
            <a:r>
              <a:rPr lang="en-US" b="1" dirty="0" err="1">
                <a:solidFill>
                  <a:srgbClr val="C00000"/>
                </a:solidFill>
              </a:rPr>
              <a:t>bindingRoutingKey</a:t>
            </a:r>
            <a:r>
              <a:rPr lang="en-US" b="1" dirty="0">
                <a:solidFill>
                  <a:srgbClr val="C00000"/>
                </a:solidFill>
              </a:rPr>
              <a:t>: order.*</a:t>
            </a:r>
          </a:p>
          <a:p>
            <a:pPr marL="0" indent="0">
              <a:buNone/>
            </a:pPr>
            <a:r>
              <a:rPr lang="en-US" dirty="0"/>
              <a:t>Means:</a:t>
            </a:r>
          </a:p>
          <a:p>
            <a:r>
              <a:rPr lang="en-US" dirty="0"/>
              <a:t>This consumer will receive: </a:t>
            </a:r>
          </a:p>
          <a:p>
            <a:pPr lvl="1"/>
            <a:r>
              <a:rPr lang="en-US" dirty="0" err="1"/>
              <a:t>order.created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order.updated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84287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5C77C-62FA-78CE-83C6-08C2FCE06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0B5F-83F1-14AB-FE1C-69B77162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Binding Creation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B8044-6E12-FF5C-FB1C-B707347A4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When app starts:</a:t>
            </a:r>
          </a:p>
          <a:p>
            <a:r>
              <a:rPr lang="en-IN" dirty="0"/>
              <a:t>Exchange created (if not exists) </a:t>
            </a:r>
          </a:p>
          <a:p>
            <a:r>
              <a:rPr lang="en-IN" dirty="0"/>
              <a:t>Queue created (if group defined) </a:t>
            </a:r>
          </a:p>
          <a:p>
            <a:r>
              <a:rPr lang="en-IN" dirty="0"/>
              <a:t>Binding created: </a:t>
            </a:r>
          </a:p>
          <a:p>
            <a:r>
              <a:rPr lang="en-IN" dirty="0"/>
              <a:t>Exchange → Queue (with routing key pattern)</a:t>
            </a:r>
          </a:p>
          <a:p>
            <a:pPr marL="0" indent="0">
              <a:buNone/>
            </a:pPr>
            <a:r>
              <a:rPr lang="en-IN" b="1" dirty="0"/>
              <a:t> Example</a:t>
            </a:r>
          </a:p>
          <a:p>
            <a:r>
              <a:rPr lang="en-IN" b="1" dirty="0">
                <a:solidFill>
                  <a:srgbClr val="C00000"/>
                </a:solidFill>
              </a:rPr>
              <a:t>Exchange: orders (topic)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Queue: </a:t>
            </a:r>
            <a:r>
              <a:rPr lang="en-IN" b="1" dirty="0" err="1">
                <a:solidFill>
                  <a:srgbClr val="C00000"/>
                </a:solidFill>
              </a:rPr>
              <a:t>orders.inventory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Binding key: order.*</a:t>
            </a:r>
          </a:p>
          <a:p>
            <a:r>
              <a:rPr lang="en-IN" dirty="0"/>
              <a:t>👉 Flow:</a:t>
            </a:r>
          </a:p>
          <a:p>
            <a:r>
              <a:rPr lang="en-IN" dirty="0"/>
              <a:t>Message with </a:t>
            </a:r>
            <a:r>
              <a:rPr lang="en-IN" dirty="0" err="1"/>
              <a:t>routingKey</a:t>
            </a:r>
            <a:r>
              <a:rPr lang="en-IN" dirty="0"/>
              <a:t>=</a:t>
            </a:r>
            <a:r>
              <a:rPr lang="en-IN" dirty="0" err="1"/>
              <a:t>order.created</a:t>
            </a:r>
            <a:r>
              <a:rPr lang="en-IN" dirty="0"/>
              <a:t> → delivered</a:t>
            </a:r>
            <a:br>
              <a:rPr lang="en-IN" dirty="0"/>
            </a:br>
            <a:r>
              <a:rPr lang="en-IN" dirty="0"/>
              <a:t>Message with </a:t>
            </a:r>
            <a:r>
              <a:rPr lang="en-IN" dirty="0" err="1"/>
              <a:t>routingKey</a:t>
            </a:r>
            <a:r>
              <a:rPr lang="en-IN" dirty="0"/>
              <a:t>=</a:t>
            </a:r>
            <a:r>
              <a:rPr lang="en-IN" dirty="0" err="1"/>
              <a:t>payment.done</a:t>
            </a:r>
            <a:r>
              <a:rPr lang="en-IN" dirty="0"/>
              <a:t> → ignored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873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65DEE-D4E3-39F7-3258-F8CC2111D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E9027-251A-EBE9-F10F-2FB5ADF8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Fanout Behavior (Broadcast)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95D1F-7DFF-8E4B-92EC-71C7FBE11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521983" cy="3816859"/>
          </a:xfrm>
        </p:spPr>
        <p:txBody>
          <a:bodyPr/>
          <a:lstStyle/>
          <a:p>
            <a:r>
              <a:rPr lang="en-US" dirty="0"/>
              <a:t>If </a:t>
            </a:r>
            <a:r>
              <a:rPr lang="en-US" b="1" dirty="0"/>
              <a:t>no routing key specified</a:t>
            </a:r>
            <a:r>
              <a:rPr lang="en-US" dirty="0"/>
              <a:t>, or configured as fanout:</a:t>
            </a:r>
          </a:p>
          <a:p>
            <a:r>
              <a:rPr lang="en-US" dirty="0"/>
              <a:t>All queues receive the message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producer: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</a:t>
            </a:r>
            <a:r>
              <a:rPr lang="en-US" b="1" dirty="0" err="1">
                <a:solidFill>
                  <a:srgbClr val="C00000"/>
                </a:solidFill>
              </a:rPr>
              <a:t>routingKeyExpression</a:t>
            </a:r>
            <a:r>
              <a:rPr lang="en-US" b="1" dirty="0">
                <a:solidFill>
                  <a:srgbClr val="C00000"/>
                </a:solidFill>
              </a:rPr>
              <a:t>: ''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Or: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C00000"/>
                </a:solidFill>
              </a:rPr>
              <a:t>exchangeType</a:t>
            </a:r>
            <a:r>
              <a:rPr lang="en-US" b="1" dirty="0">
                <a:solidFill>
                  <a:srgbClr val="C00000"/>
                </a:solidFill>
              </a:rPr>
              <a:t>: fanout</a:t>
            </a:r>
          </a:p>
          <a:p>
            <a:pPr marL="0" indent="0">
              <a:buNone/>
            </a:pPr>
            <a:endParaRPr lang="en-IN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757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EBC24-2FEC-2AB4-78B5-80C2E39FF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Dead Letter Queue (DLQ)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D06C4-49A3-6C46-D5D1-5E87837A3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consumer: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</a:t>
            </a:r>
            <a:r>
              <a:rPr lang="en-IN" b="1" dirty="0" err="1">
                <a:solidFill>
                  <a:srgbClr val="C00000"/>
                </a:solidFill>
              </a:rPr>
              <a:t>autoBindDlq</a:t>
            </a:r>
            <a:r>
              <a:rPr lang="en-IN" b="1" dirty="0">
                <a:solidFill>
                  <a:srgbClr val="C00000"/>
                </a:solidFill>
              </a:rPr>
              <a:t>: true</a:t>
            </a:r>
          </a:p>
          <a:p>
            <a:r>
              <a:rPr lang="en-IN" dirty="0"/>
              <a:t>👉 Creates:</a:t>
            </a:r>
          </a:p>
          <a:p>
            <a:r>
              <a:rPr lang="en-IN" dirty="0"/>
              <a:t>DLQ → </a:t>
            </a:r>
            <a:r>
              <a:rPr lang="en-IN" dirty="0" err="1"/>
              <a:t>orders.inventory.dlq</a:t>
            </a:r>
            <a:r>
              <a:rPr lang="en-IN" dirty="0"/>
              <a:t> </a:t>
            </a:r>
          </a:p>
          <a:p>
            <a:r>
              <a:rPr lang="en-IN" dirty="0"/>
              <a:t>DLX → Dead Letter Exchange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5048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8AE-FAC6-91ED-EC09-21CBB70F9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Retry + Backoff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6867B-270C-3E4D-8658-A0A42BEE3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consumer:</a:t>
            </a:r>
            <a:br>
              <a:rPr lang="en-US" dirty="0"/>
            </a:br>
            <a:r>
              <a:rPr lang="en-US" dirty="0"/>
              <a:t>  </a:t>
            </a:r>
            <a:r>
              <a:rPr lang="en-US" dirty="0" err="1"/>
              <a:t>maxAttempts</a:t>
            </a:r>
            <a:r>
              <a:rPr lang="en-US" dirty="0"/>
              <a:t>: 3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27357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C417-2EC5-F2A8-5792-FC491DCC5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Queue Properties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BF4F9-838A-9668-3941-039524D59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consumer:</a:t>
            </a:r>
            <a:br>
              <a:rPr lang="en-IN" dirty="0"/>
            </a:br>
            <a:r>
              <a:rPr lang="en-IN" dirty="0"/>
              <a:t>  durable: true</a:t>
            </a:r>
            <a:br>
              <a:rPr lang="en-IN" dirty="0"/>
            </a:br>
            <a:r>
              <a:rPr lang="en-IN" dirty="0"/>
              <a:t>  exclusive: false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autoDelete</a:t>
            </a:r>
            <a:r>
              <a:rPr lang="en-IN" dirty="0"/>
              <a:t>: false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15763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36D6D-01CE-285B-8A47-11996E7069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Spring Cloud Stream RabbitMQ binder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F091CE6-2DF0-A181-B162-9DDCFF0E02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45796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F4CAC-48EA-B98E-8D6D-3E8F123D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Spring Cloud Stream RabbitMQ binder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5959D-6440-79EB-DE97-78997198F2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73085" cy="389509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combining two layers:</a:t>
            </a:r>
          </a:p>
          <a:p>
            <a:r>
              <a:rPr lang="en-US" dirty="0"/>
              <a:t>Spring Integration = internal processing pipeline</a:t>
            </a:r>
            <a:br>
              <a:rPr lang="en-US" dirty="0"/>
            </a:br>
            <a:r>
              <a:rPr lang="en-US" dirty="0"/>
              <a:t>Spring Cloud Stream (Rabbit Binder) = external communication</a:t>
            </a:r>
          </a:p>
          <a:p>
            <a:endParaRPr lang="en-US" dirty="0"/>
          </a:p>
          <a:p>
            <a:r>
              <a:rPr lang="en-US" b="1" dirty="0"/>
              <a:t>Spring Integration does the “thinking”</a:t>
            </a:r>
            <a:br>
              <a:rPr lang="en-US" dirty="0"/>
            </a:br>
            <a:r>
              <a:rPr lang="en-US" b="1" dirty="0"/>
              <a:t>Spring Cloud Stream does the “talking”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309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AAFFC6-763F-5015-FE40-5F186F7F54E1}"/>
              </a:ext>
            </a:extLst>
          </p:cNvPr>
          <p:cNvSpPr txBox="1"/>
          <p:nvPr/>
        </p:nvSpPr>
        <p:spPr>
          <a:xfrm>
            <a:off x="3047593" y="745231"/>
            <a:ext cx="60951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[REST API]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Spring Integration Flow (transform, filter, route)</a:t>
            </a:r>
          </a:p>
          <a:p>
            <a:r>
              <a:rPr lang="en-IN" dirty="0"/>
              <a:t>     ↓</a:t>
            </a:r>
          </a:p>
          <a:p>
            <a:r>
              <a:rPr lang="en-IN" dirty="0" err="1"/>
              <a:t>MessageChannel</a:t>
            </a:r>
            <a:r>
              <a:rPr lang="en-IN" dirty="0"/>
              <a:t> (output)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Spring Cloud Stream Binder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RabbitMQ Exchange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Queue (group)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Spring Cloud Stream Binder</a:t>
            </a:r>
          </a:p>
          <a:p>
            <a:r>
              <a:rPr lang="en-IN" dirty="0"/>
              <a:t>     ↓</a:t>
            </a:r>
          </a:p>
          <a:p>
            <a:r>
              <a:rPr lang="en-IN" dirty="0" err="1"/>
              <a:t>MessageChannel</a:t>
            </a:r>
            <a:r>
              <a:rPr lang="en-IN" dirty="0"/>
              <a:t> (input)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Spring Integration Flow (process)</a:t>
            </a:r>
          </a:p>
          <a:p>
            <a:r>
              <a:rPr lang="en-IN" dirty="0"/>
              <a:t>     ↓</a:t>
            </a:r>
          </a:p>
          <a:p>
            <a:r>
              <a:rPr lang="en-IN" dirty="0"/>
              <a:t>Business Logic</a:t>
            </a:r>
          </a:p>
        </p:txBody>
      </p:sp>
    </p:spTree>
    <p:extLst>
      <p:ext uri="{BB962C8B-B14F-4D97-AF65-F5344CB8AC3E}">
        <p14:creationId xmlns:p14="http://schemas.microsoft.com/office/powerpoint/2010/main" val="24970309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88FFB-F27A-4094-24E9-E47A778D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09C84-5A2E-441F-B789-BE1AABFE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Producer Service (Integration → RabbitMQ)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95451-9B16-76E6-7D6A-DE85CC264A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 Step 1: Integration Flow</a:t>
            </a:r>
          </a:p>
          <a:p>
            <a:r>
              <a:rPr lang="en-IN" dirty="0"/>
              <a:t>@Bean</a:t>
            </a:r>
            <a:br>
              <a:rPr lang="en-IN" dirty="0"/>
            </a:br>
            <a:r>
              <a:rPr lang="en-IN" dirty="0"/>
              <a:t>public </a:t>
            </a:r>
            <a:r>
              <a:rPr lang="en-IN" dirty="0" err="1"/>
              <a:t>IntegrationFlow</a:t>
            </a:r>
            <a:r>
              <a:rPr lang="en-IN" dirty="0"/>
              <a:t> </a:t>
            </a:r>
            <a:r>
              <a:rPr lang="en-IN" dirty="0" err="1"/>
              <a:t>orderFlow</a:t>
            </a:r>
            <a:r>
              <a:rPr lang="en-IN" dirty="0"/>
              <a:t>() {</a:t>
            </a:r>
            <a:br>
              <a:rPr lang="en-IN" dirty="0"/>
            </a:br>
            <a:r>
              <a:rPr lang="en-IN" dirty="0"/>
              <a:t>    return </a:t>
            </a:r>
            <a:r>
              <a:rPr lang="en-IN" dirty="0" err="1"/>
              <a:t>IntegrationFlows.from</a:t>
            </a:r>
            <a:r>
              <a:rPr lang="en-IN" dirty="0"/>
              <a:t>("</a:t>
            </a:r>
            <a:r>
              <a:rPr lang="en-IN" dirty="0" err="1"/>
              <a:t>orderChannel</a:t>
            </a:r>
            <a:r>
              <a:rPr lang="en-IN" dirty="0"/>
              <a:t>")</a:t>
            </a:r>
            <a:br>
              <a:rPr lang="en-IN" dirty="0"/>
            </a:br>
            <a:r>
              <a:rPr lang="en-IN" dirty="0"/>
              <a:t>        .transform(order -&gt; enrich(order))</a:t>
            </a:r>
            <a:br>
              <a:rPr lang="en-IN" dirty="0"/>
            </a:br>
            <a:r>
              <a:rPr lang="en-IN" dirty="0"/>
              <a:t>        .filter(order -&gt; </a:t>
            </a:r>
            <a:r>
              <a:rPr lang="en-IN" dirty="0" err="1"/>
              <a:t>order.isValid</a:t>
            </a:r>
            <a:r>
              <a:rPr lang="en-IN" dirty="0"/>
              <a:t>())</a:t>
            </a:r>
            <a:br>
              <a:rPr lang="en-IN" dirty="0"/>
            </a:br>
            <a:r>
              <a:rPr lang="en-IN" dirty="0"/>
              <a:t>        .handle(message -&gt; {</a:t>
            </a:r>
            <a:br>
              <a:rPr lang="en-IN" dirty="0"/>
            </a:br>
            <a:r>
              <a:rPr lang="en-IN" dirty="0"/>
              <a:t>            // send to stream output</a:t>
            </a:r>
            <a:br>
              <a:rPr lang="en-IN" dirty="0"/>
            </a:br>
            <a:r>
              <a:rPr lang="en-IN" dirty="0"/>
              <a:t>        })</a:t>
            </a:r>
            <a:br>
              <a:rPr lang="en-IN" dirty="0"/>
            </a:br>
            <a:r>
              <a:rPr lang="en-IN" dirty="0"/>
              <a:t>        .get();</a:t>
            </a:r>
            <a:br>
              <a:rPr lang="en-IN" dirty="0"/>
            </a:br>
            <a:r>
              <a:rPr lang="en-IN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3474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38FF-1DCE-6ABD-0BC0-1EDC72E9B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8303-C04C-2090-ECE3-405B05E5F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Producer Service (Integration → RabbitMQ)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CF64A-B8E0-06D7-66C6-622EA206D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Step 2: Bridge to Spring Cloud Stream</a:t>
            </a:r>
          </a:p>
          <a:p>
            <a:r>
              <a:rPr lang="en-IN" dirty="0"/>
              <a:t>Connect Integration → Stream using a </a:t>
            </a:r>
            <a:r>
              <a:rPr lang="en-IN" b="1" dirty="0" err="1"/>
              <a:t>MessageChannel</a:t>
            </a:r>
            <a:r>
              <a:rPr lang="en-IN" b="1" dirty="0"/>
              <a:t> bridge</a:t>
            </a:r>
            <a:endParaRPr lang="en-IN" dirty="0"/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@Bean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public </a:t>
            </a:r>
            <a:r>
              <a:rPr lang="en-IN" b="1" dirty="0" err="1">
                <a:solidFill>
                  <a:srgbClr val="C00000"/>
                </a:solidFill>
              </a:rPr>
              <a:t>IntegrationFlow</a:t>
            </a:r>
            <a:r>
              <a:rPr lang="en-IN" b="1" dirty="0">
                <a:solidFill>
                  <a:srgbClr val="C00000"/>
                </a:solidFill>
              </a:rPr>
              <a:t> </a:t>
            </a:r>
            <a:r>
              <a:rPr lang="en-IN" b="1" dirty="0" err="1">
                <a:solidFill>
                  <a:srgbClr val="C00000"/>
                </a:solidFill>
              </a:rPr>
              <a:t>outboundFlow</a:t>
            </a:r>
            <a:r>
              <a:rPr lang="en-IN" b="1" dirty="0">
                <a:solidFill>
                  <a:srgbClr val="C00000"/>
                </a:solidFill>
              </a:rPr>
              <a:t>() {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return </a:t>
            </a:r>
            <a:r>
              <a:rPr lang="en-IN" b="1" dirty="0" err="1">
                <a:solidFill>
                  <a:srgbClr val="C00000"/>
                </a:solidFill>
              </a:rPr>
              <a:t>IntegrationFlows.from</a:t>
            </a:r>
            <a:r>
              <a:rPr lang="en-IN" b="1" dirty="0">
                <a:solidFill>
                  <a:srgbClr val="C00000"/>
                </a:solidFill>
              </a:rPr>
              <a:t>("</a:t>
            </a:r>
            <a:r>
              <a:rPr lang="en-IN" b="1" dirty="0" err="1">
                <a:solidFill>
                  <a:srgbClr val="C00000"/>
                </a:solidFill>
              </a:rPr>
              <a:t>orderChannel</a:t>
            </a:r>
            <a:r>
              <a:rPr lang="en-IN" b="1" dirty="0">
                <a:solidFill>
                  <a:srgbClr val="C00000"/>
                </a:solidFill>
              </a:rPr>
              <a:t>")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.channel("order-out-0") // binding name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.get();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}</a:t>
            </a:r>
          </a:p>
          <a:p>
            <a:r>
              <a:rPr lang="en-IN" dirty="0"/>
              <a:t> order-out-0 is a </a:t>
            </a:r>
            <a:r>
              <a:rPr lang="en-IN" b="1" dirty="0"/>
              <a:t>Spring Cloud Stream output binding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3481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F1DE-05D9-D180-8540-48D18287E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52705-8145-88AE-C967-BBFEE051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Producer Service (Integration → RabbitMQ)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D5EF2-3F33-8C89-067E-C0ED31AC6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Step 3: Stream Configuration</a:t>
            </a:r>
          </a:p>
          <a:p>
            <a:r>
              <a:rPr lang="en-US" dirty="0"/>
              <a:t>spring:</a:t>
            </a:r>
            <a:br>
              <a:rPr lang="en-US" dirty="0"/>
            </a:br>
            <a:r>
              <a:rPr lang="en-US" dirty="0"/>
              <a:t>  cloud:</a:t>
            </a:r>
            <a:br>
              <a:rPr lang="en-US" dirty="0"/>
            </a:br>
            <a:r>
              <a:rPr lang="en-US" dirty="0"/>
              <a:t>    stream:</a:t>
            </a:r>
            <a:br>
              <a:rPr lang="en-US" dirty="0"/>
            </a:br>
            <a:r>
              <a:rPr lang="en-US" dirty="0"/>
              <a:t>      bindings:</a:t>
            </a:r>
            <a:br>
              <a:rPr lang="en-US" dirty="0"/>
            </a:br>
            <a:r>
              <a:rPr lang="en-US" dirty="0"/>
              <a:t>        order-out-0:</a:t>
            </a:r>
            <a:br>
              <a:rPr lang="en-US" dirty="0"/>
            </a:br>
            <a:r>
              <a:rPr lang="en-US" dirty="0"/>
              <a:t>          destination: orders</a:t>
            </a:r>
            <a:br>
              <a:rPr lang="en-US" dirty="0"/>
            </a:br>
            <a:r>
              <a:rPr lang="en-US" dirty="0"/>
              <a:t>      rabbit:</a:t>
            </a:r>
            <a:br>
              <a:rPr lang="en-US" dirty="0"/>
            </a:br>
            <a:r>
              <a:rPr lang="en-US" dirty="0"/>
              <a:t>        bindings:</a:t>
            </a:r>
            <a:br>
              <a:rPr lang="en-US" dirty="0"/>
            </a:br>
            <a:r>
              <a:rPr lang="en-US" dirty="0"/>
              <a:t>          order-out-0:</a:t>
            </a:r>
            <a:br>
              <a:rPr lang="en-US" dirty="0"/>
            </a:br>
            <a:r>
              <a:rPr lang="en-US" dirty="0"/>
              <a:t>            producer:</a:t>
            </a:r>
            <a:br>
              <a:rPr lang="en-US" dirty="0"/>
            </a:br>
            <a:r>
              <a:rPr lang="en-US" dirty="0"/>
              <a:t>              </a:t>
            </a:r>
            <a:r>
              <a:rPr lang="en-US" dirty="0" err="1"/>
              <a:t>routingKeyExpression</a:t>
            </a:r>
            <a:r>
              <a:rPr lang="en-US" dirty="0"/>
              <a:t>: '''</a:t>
            </a:r>
            <a:r>
              <a:rPr lang="en-US" dirty="0" err="1"/>
              <a:t>order.created</a:t>
            </a:r>
            <a:r>
              <a:rPr lang="en-US" dirty="0"/>
              <a:t>'''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41648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897D6-06F8-8D5E-0DE9-9C09A0656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A33D3-9797-4ADF-D3B1-6B16FBBD5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Consumer Service (RabbitMQ → Integration)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2804A-F39F-1D65-E058-B608BEBB1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Step 1: Stream Consumer Binding</a:t>
            </a:r>
          </a:p>
          <a:p>
            <a:pPr marL="0" indent="0">
              <a:buNone/>
            </a:pPr>
            <a:r>
              <a:rPr lang="en-IN" b="1" dirty="0"/>
              <a:t>spring:</a:t>
            </a:r>
            <a:br>
              <a:rPr lang="en-IN" b="1" dirty="0"/>
            </a:br>
            <a:r>
              <a:rPr lang="en-IN" b="1" dirty="0"/>
              <a:t>  cloud:</a:t>
            </a:r>
            <a:br>
              <a:rPr lang="en-IN" b="1" dirty="0"/>
            </a:br>
            <a:r>
              <a:rPr lang="en-IN" b="1" dirty="0"/>
              <a:t>    stream:</a:t>
            </a:r>
            <a:br>
              <a:rPr lang="en-IN" b="1" dirty="0"/>
            </a:br>
            <a:r>
              <a:rPr lang="en-IN" b="1" dirty="0"/>
              <a:t>      bindings:</a:t>
            </a:r>
            <a:br>
              <a:rPr lang="en-IN" b="1" dirty="0"/>
            </a:br>
            <a:r>
              <a:rPr lang="en-IN" b="1" dirty="0"/>
              <a:t>        order-in-0:</a:t>
            </a:r>
            <a:br>
              <a:rPr lang="en-IN" b="1" dirty="0"/>
            </a:br>
            <a:r>
              <a:rPr lang="en-IN" b="1" dirty="0"/>
              <a:t>          destination: orders</a:t>
            </a:r>
            <a:br>
              <a:rPr lang="en-IN" b="1" dirty="0"/>
            </a:br>
            <a:r>
              <a:rPr lang="en-IN" b="1" dirty="0"/>
              <a:t>          group: inventory</a:t>
            </a:r>
            <a:br>
              <a:rPr lang="en-IN" b="1" dirty="0"/>
            </a:br>
            <a:r>
              <a:rPr lang="en-IN" b="1" dirty="0"/>
              <a:t>      rabbit:</a:t>
            </a:r>
            <a:br>
              <a:rPr lang="en-IN" b="1" dirty="0"/>
            </a:br>
            <a:r>
              <a:rPr lang="en-IN" b="1" dirty="0"/>
              <a:t>        bindings:</a:t>
            </a:r>
            <a:br>
              <a:rPr lang="en-IN" b="1" dirty="0"/>
            </a:br>
            <a:r>
              <a:rPr lang="en-IN" b="1" dirty="0"/>
              <a:t>          order-in-0:</a:t>
            </a:r>
            <a:br>
              <a:rPr lang="en-IN" b="1" dirty="0"/>
            </a:br>
            <a:r>
              <a:rPr lang="en-IN" b="1" dirty="0"/>
              <a:t>            consumer:</a:t>
            </a:r>
            <a:br>
              <a:rPr lang="en-IN" b="1" dirty="0"/>
            </a:br>
            <a:r>
              <a:rPr lang="en-IN" b="1" dirty="0"/>
              <a:t>              </a:t>
            </a:r>
            <a:r>
              <a:rPr lang="en-IN" b="1" dirty="0" err="1"/>
              <a:t>bindingRoutingKey</a:t>
            </a:r>
            <a:r>
              <a:rPr lang="en-IN" b="1" dirty="0"/>
              <a:t>: order.*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41064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E259-456D-760A-5A8B-C43AC274D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57627-B06F-425A-3369-8A62C0D88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Consumer Service (RabbitMQ → Integration)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DBC65-EEDC-6A42-8872-FEBA7DB34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Step 2: Bridge to Integration Flow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@Bean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public </a:t>
            </a:r>
            <a:r>
              <a:rPr lang="en-IN" b="1" dirty="0" err="1">
                <a:solidFill>
                  <a:srgbClr val="C00000"/>
                </a:solidFill>
              </a:rPr>
              <a:t>IntegrationFlow</a:t>
            </a:r>
            <a:r>
              <a:rPr lang="en-IN" b="1" dirty="0">
                <a:solidFill>
                  <a:srgbClr val="C00000"/>
                </a:solidFill>
              </a:rPr>
              <a:t> </a:t>
            </a:r>
            <a:r>
              <a:rPr lang="en-IN" b="1" dirty="0" err="1">
                <a:solidFill>
                  <a:srgbClr val="C00000"/>
                </a:solidFill>
              </a:rPr>
              <a:t>inboundFlow</a:t>
            </a:r>
            <a:r>
              <a:rPr lang="en-IN" b="1" dirty="0">
                <a:solidFill>
                  <a:srgbClr val="C00000"/>
                </a:solidFill>
              </a:rPr>
              <a:t>() {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return </a:t>
            </a:r>
            <a:r>
              <a:rPr lang="en-IN" b="1" dirty="0" err="1">
                <a:solidFill>
                  <a:srgbClr val="C00000"/>
                </a:solidFill>
              </a:rPr>
              <a:t>IntegrationFlows.from</a:t>
            </a:r>
            <a:r>
              <a:rPr lang="en-IN" b="1" dirty="0">
                <a:solidFill>
                  <a:srgbClr val="C00000"/>
                </a:solidFill>
              </a:rPr>
              <a:t>("order-in-0")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.transform(message -&gt; convert(message))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.handle(</a:t>
            </a:r>
            <a:r>
              <a:rPr lang="en-IN" b="1" dirty="0" err="1">
                <a:solidFill>
                  <a:srgbClr val="C00000"/>
                </a:solidFill>
              </a:rPr>
              <a:t>orderService</a:t>
            </a:r>
            <a:r>
              <a:rPr lang="en-IN" b="1" dirty="0">
                <a:solidFill>
                  <a:srgbClr val="C00000"/>
                </a:solidFill>
              </a:rPr>
              <a:t>, "</a:t>
            </a:r>
            <a:r>
              <a:rPr lang="en-IN" b="1" dirty="0" err="1">
                <a:solidFill>
                  <a:srgbClr val="C00000"/>
                </a:solidFill>
              </a:rPr>
              <a:t>processOrder</a:t>
            </a:r>
            <a:r>
              <a:rPr lang="en-IN" b="1" dirty="0">
                <a:solidFill>
                  <a:srgbClr val="C00000"/>
                </a:solidFill>
              </a:rPr>
              <a:t>")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.get();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4226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9A4A9-86F8-7B6B-6544-17BF925A8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E1B6F-F3D2-10A9-BFBD-EEC9897B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Full Flow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C0D44-5A29-19E1-9ED1-425D472B2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📤 Producer Side</a:t>
            </a:r>
          </a:p>
          <a:p>
            <a:r>
              <a:rPr lang="en-IN" dirty="0"/>
              <a:t>REST API → </a:t>
            </a:r>
            <a:r>
              <a:rPr lang="en-IN" dirty="0" err="1"/>
              <a:t>orderChannel</a:t>
            </a:r>
            <a:br>
              <a:rPr lang="en-IN" dirty="0"/>
            </a:br>
            <a:r>
              <a:rPr lang="en-IN" dirty="0"/>
              <a:t>          → transform (add metadata)</a:t>
            </a:r>
            <a:br>
              <a:rPr lang="en-IN" dirty="0"/>
            </a:br>
            <a:r>
              <a:rPr lang="en-IN" dirty="0"/>
              <a:t>          → filter (valid orders only)</a:t>
            </a:r>
            <a:br>
              <a:rPr lang="en-IN" dirty="0"/>
            </a:br>
            <a:r>
              <a:rPr lang="en-IN" dirty="0"/>
              <a:t>          → order-out-0</a:t>
            </a:r>
            <a:br>
              <a:rPr lang="en-IN" dirty="0"/>
            </a:br>
            <a:r>
              <a:rPr lang="en-IN" dirty="0"/>
              <a:t>          → RabbitMQ exchange (orders)</a:t>
            </a:r>
          </a:p>
          <a:p>
            <a:pPr marL="0" indent="0">
              <a:buNone/>
            </a:pPr>
            <a:r>
              <a:rPr lang="en-IN" b="1" dirty="0"/>
              <a:t>📥 Consumer Side</a:t>
            </a:r>
          </a:p>
          <a:p>
            <a:r>
              <a:rPr lang="en-IN" dirty="0"/>
              <a:t>RabbitMQ exchange</a:t>
            </a:r>
            <a:br>
              <a:rPr lang="en-IN" dirty="0"/>
            </a:br>
            <a:r>
              <a:rPr lang="en-IN" dirty="0"/>
              <a:t>   → queue (</a:t>
            </a:r>
            <a:r>
              <a:rPr lang="en-IN" dirty="0" err="1"/>
              <a:t>orders.inventory</a:t>
            </a:r>
            <a:r>
              <a:rPr lang="en-IN" dirty="0"/>
              <a:t>)</a:t>
            </a:r>
            <a:br>
              <a:rPr lang="en-IN" dirty="0"/>
            </a:br>
            <a:r>
              <a:rPr lang="en-IN" dirty="0"/>
              <a:t>   → order-in-0</a:t>
            </a:r>
            <a:br>
              <a:rPr lang="en-IN" dirty="0"/>
            </a:br>
            <a:r>
              <a:rPr lang="en-IN" dirty="0"/>
              <a:t>   → transform (deserialize)</a:t>
            </a:r>
            <a:br>
              <a:rPr lang="en-IN" dirty="0"/>
            </a:br>
            <a:r>
              <a:rPr lang="en-IN" dirty="0"/>
              <a:t>   → service activator</a:t>
            </a:r>
            <a:br>
              <a:rPr lang="en-IN" dirty="0"/>
            </a:br>
            <a:r>
              <a:rPr lang="en-IN" dirty="0"/>
              <a:t>   → DB update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52546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5A1D-D205-9C80-3667-170662E4D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B030-33E0-22DD-8908-113351A0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What Happens Internally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F46AF-A1DF-3940-3FB1-705A7DD94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🧠 Producer Side</a:t>
            </a:r>
          </a:p>
          <a:p>
            <a:r>
              <a:rPr lang="en-IN" dirty="0"/>
              <a:t>Message enters </a:t>
            </a:r>
            <a:r>
              <a:rPr lang="en-IN" dirty="0" err="1"/>
              <a:t>orderChannel</a:t>
            </a:r>
            <a:r>
              <a:rPr lang="en-IN" dirty="0"/>
              <a:t> </a:t>
            </a:r>
          </a:p>
          <a:p>
            <a:r>
              <a:rPr lang="en-IN" dirty="0"/>
              <a:t>Spring Integration processes it </a:t>
            </a:r>
          </a:p>
          <a:p>
            <a:r>
              <a:rPr lang="en-IN" dirty="0"/>
              <a:t>Routed to order-out-0 </a:t>
            </a:r>
          </a:p>
          <a:p>
            <a:r>
              <a:rPr lang="en-IN" dirty="0"/>
              <a:t>Binder sends to RabbitMQ exchange </a:t>
            </a:r>
          </a:p>
          <a:p>
            <a:pPr marL="0" indent="0">
              <a:buNone/>
            </a:pPr>
            <a:r>
              <a:rPr lang="en-IN" b="1" dirty="0"/>
              <a:t>🧠 Consumer Side</a:t>
            </a:r>
          </a:p>
          <a:p>
            <a:r>
              <a:rPr lang="en-IN" dirty="0"/>
              <a:t>Binder reads from queue </a:t>
            </a:r>
          </a:p>
          <a:p>
            <a:r>
              <a:rPr lang="en-IN" dirty="0"/>
              <a:t>Pushes to order-in-0 channel </a:t>
            </a:r>
          </a:p>
          <a:p>
            <a:r>
              <a:rPr lang="en-IN" dirty="0"/>
              <a:t>Spring Integration flow processes it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29381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0C8A7-C754-486F-1A7D-3E8F4D9B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67E58-AD79-8A0E-D414-597105DA2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Advanced Patterns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66A64-C474-1504-8046-5B47B4F84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Content-Based Routing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.route(order -&gt; </a:t>
            </a:r>
            <a:r>
              <a:rPr lang="en-IN" b="1" dirty="0" err="1">
                <a:solidFill>
                  <a:srgbClr val="C00000"/>
                </a:solidFill>
              </a:rPr>
              <a:t>order.getType</a:t>
            </a:r>
            <a:r>
              <a:rPr lang="en-IN" b="1" dirty="0">
                <a:solidFill>
                  <a:srgbClr val="C00000"/>
                </a:solidFill>
              </a:rPr>
              <a:t>(), mapping -&gt; mapping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.</a:t>
            </a:r>
            <a:r>
              <a:rPr lang="en-IN" b="1" dirty="0" err="1">
                <a:solidFill>
                  <a:srgbClr val="C00000"/>
                </a:solidFill>
              </a:rPr>
              <a:t>channelMapping</a:t>
            </a:r>
            <a:r>
              <a:rPr lang="en-IN" b="1" dirty="0">
                <a:solidFill>
                  <a:srgbClr val="C00000"/>
                </a:solidFill>
              </a:rPr>
              <a:t>("PRIORITY", "</a:t>
            </a:r>
            <a:r>
              <a:rPr lang="en-IN" b="1" dirty="0" err="1">
                <a:solidFill>
                  <a:srgbClr val="C00000"/>
                </a:solidFill>
              </a:rPr>
              <a:t>priorityChannel</a:t>
            </a:r>
            <a:r>
              <a:rPr lang="en-IN" b="1" dirty="0">
                <a:solidFill>
                  <a:srgbClr val="C00000"/>
                </a:solidFill>
              </a:rPr>
              <a:t>")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.</a:t>
            </a:r>
            <a:r>
              <a:rPr lang="en-IN" b="1" dirty="0" err="1">
                <a:solidFill>
                  <a:srgbClr val="C00000"/>
                </a:solidFill>
              </a:rPr>
              <a:t>channelMapping</a:t>
            </a:r>
            <a:r>
              <a:rPr lang="en-IN" b="1" dirty="0">
                <a:solidFill>
                  <a:srgbClr val="C00000"/>
                </a:solidFill>
              </a:rPr>
              <a:t>("NORMAL", "</a:t>
            </a:r>
            <a:r>
              <a:rPr lang="en-IN" b="1" dirty="0" err="1">
                <a:solidFill>
                  <a:srgbClr val="C00000"/>
                </a:solidFill>
              </a:rPr>
              <a:t>normalChannel</a:t>
            </a:r>
            <a:r>
              <a:rPr lang="en-IN" b="1" dirty="0">
                <a:solidFill>
                  <a:srgbClr val="C00000"/>
                </a:solidFill>
              </a:rPr>
              <a:t>")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)</a:t>
            </a:r>
          </a:p>
          <a:p>
            <a:r>
              <a:rPr lang="en-IN" dirty="0"/>
              <a:t>👉 Different events → different bindings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6187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F40F5-9FE5-E80E-317B-44BE1185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E21B-A16F-ADED-57C5-1B9832757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Splitter + Parallel Processing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11EA2-2EB6-2535-CB28-FD7B94024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.split()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.channel("order-out-0")</a:t>
            </a:r>
          </a:p>
          <a:p>
            <a:r>
              <a:rPr lang="en-US" dirty="0"/>
              <a:t>Sends multiple messages to RabbitMQ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67593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486-7736-6D1C-398A-EA91A44D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C133A-C42B-60DD-F857-942F5C2B7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Aggregator (After Consumption)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C1A7F-C562-51A6-CC5A-14626D7BE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r>
              <a:rPr lang="en-US" dirty="0"/>
              <a:t>.aggregate()</a:t>
            </a:r>
          </a:p>
          <a:p>
            <a:r>
              <a:rPr lang="en-US" dirty="0"/>
              <a:t>👉 Combine multiple events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7068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CD9B1-295D-4FC3-E2C0-E5B407BB6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7EA1-3B51-6CD5-09E8-5116DA401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Error Channel + DLQ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16143-2E99-9598-425C-B5DE346B8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r>
              <a:rPr lang="en-IN" dirty="0"/>
              <a:t>consumer: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autoBindDlq</a:t>
            </a:r>
            <a:r>
              <a:rPr lang="en-IN" dirty="0"/>
              <a:t>: true</a:t>
            </a:r>
          </a:p>
          <a:p>
            <a:pPr marL="0" indent="0">
              <a:buNone/>
            </a:pPr>
            <a:r>
              <a:rPr lang="en-IN" dirty="0"/>
              <a:t>Flow:</a:t>
            </a:r>
          </a:p>
          <a:p>
            <a:r>
              <a:rPr lang="en-IN" dirty="0"/>
              <a:t>Failure → Retry → DLQ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76557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394DD-1E27-47B9-4764-ACE3EE83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5875C-FA5C-A731-12DE-ADA50A337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Spring Cloud Stream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E5BCC-E517-C44F-4631-10441DBEC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r>
              <a:rPr lang="en-IN" dirty="0"/>
              <a:t>Spring Integration handles internal message processing using EIP patterns like transformers, filters, and routers, </a:t>
            </a:r>
          </a:p>
          <a:p>
            <a:r>
              <a:rPr lang="en-IN" dirty="0"/>
              <a:t>Spring Cloud Stream connects those processed messages to external systems like RabbitMQ using binders. </a:t>
            </a:r>
          </a:p>
          <a:p>
            <a:r>
              <a:rPr lang="en-IN" dirty="0"/>
              <a:t>Integration flows produce and consume messages through channels, which are mapped to Stream bindings, enabling seamless event-driven microservice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5487914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90C01-B02F-10E4-9596-C354C5AA2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78E6F-31EF-4C1E-F909-015A23DDB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13A74-F17E-BB49-7695-5601084DE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664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EC4E-5925-56A0-DA15-771E9D636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C9EA6-10B1-CE97-6991-978F34F3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8CB98-3FD9-B63B-8472-257A8A556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1682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B027-687F-76E2-3A9F-F30B8D1B0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75369-E7FB-F6B9-9846-F324547D3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165EA-A02B-879F-7A4A-881EC205B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9071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ADC1D-B9FD-9261-A464-E7D5C809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CA64-D960-D56A-42DC-19261902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355F7-16AE-7BC2-A089-EFE74D30A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92721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78507-79C1-9D97-A32E-26D1E0D72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1562C-4B15-CAE6-C549-1A98A4BE7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0CDBB-89F3-F88B-A7A7-7CF1BDA9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13904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022D0-D4D8-E02F-81E8-FECB794C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A5FD-59FD-415F-55C3-0E5A230CF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1E7FD-CAE2-7DE2-7806-8D36A4828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11060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7A34F-26D5-2885-3350-D747AC8F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92849-AFA4-27F2-4EFE-E5C8AFFEB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C11E4-675D-D672-3A06-332B3343A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5503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F6F0-AB8E-3D4C-DFCF-D1A28B9F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B57F8-B5A2-B8D5-993D-E55F24F6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10E46-63D8-11B3-7A39-160265F7F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13260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B6BE9-6945-3C95-E972-DD906640B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9C8E8-41DB-7E88-2F28-CDBFF1D42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046D-E896-77E5-6CD3-0B4BD863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7561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943CA-4FAA-4DD5-D6A4-3549A2FE8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C063D-895A-0B8A-2CF8-29EA27D7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C1C6A-BD4D-740E-7B7E-6A500D542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69774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ECCD6-D92F-C3EE-3384-5C248B29C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14E0-A1C6-04D9-68BE-8B2D5D562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87DF9-C528-ACE6-B31A-1A963BED2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75096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28E88-A43F-C976-A00D-A927BF63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BA85C-A356-26CB-F44E-A088E2DB3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7D04D-529D-A372-26BC-9F9764365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8441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07C66-43B9-71F2-F2DF-5B76CE373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0E8F-97E3-50AF-94DD-5D5B966E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7B5F7-D468-0DF0-CEA9-B3ADE5222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6688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D8BD4-1A75-614E-A733-F634414D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D5478-A41C-9BEA-9CE3-B8ED1B2B5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22199-68FA-CF9A-6979-FD1D6DF49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26983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0C168-A52C-19BB-86A9-1C55C5CB0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C8F96-D04C-6403-A3AB-575592ED3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0BEE0-55B2-64F5-ADD8-D453CD3AF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3459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9FC98-3677-76BD-AC46-6D540032D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551F7-5654-F35E-B0EC-7F530709E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D95B1-20BB-13DA-C960-A1E97C418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33925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4F123-F0FD-40BC-5E4D-B7FF4D2CE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CD354-30CF-8633-FBA0-00D9986BC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95C78-7D73-9C54-90B1-4C358CFBC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0450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1C408-369A-01AF-CBD3-51134A3B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3DB39-806E-EE87-B854-2CFAE4084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E42CC-6F2E-E534-6C21-90DDB1443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91490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D9724-BDE8-D8E4-FB08-F8F4824D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CB986-4DF0-B624-5ACD-531B1A301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20CEB-A85A-693F-A7B9-F74F52EB0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07784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01973-9B46-FC65-E432-3D75DAC51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54B24-9A5F-15D2-4F07-8E3032158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5C79E-148E-7493-817D-35B54A51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74739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40590-086D-19B8-6C67-ED84BFE76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C719-AAF4-00D8-5A18-C6B4701A2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8C7C4-FB72-ABF6-CCB4-2BCEB94EF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98119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DE9C0-3512-1312-2F97-9A2AD26A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C1ED-940F-66E9-3946-8132A8F92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113CF-F4E1-A785-3447-542631CC3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1444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27652-9709-EFA7-DFFA-1BAFF839F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FF6F-F9AC-D649-0AF9-1D01C3945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462A0-B365-2801-D1C8-72A127906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97437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4686-CC6F-ABA7-2F8A-ABBA333F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B201D-71C8-6A91-D3FD-B96655B93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BF166-BC57-BB37-2779-EE460963D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86528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4CCD1-FCD2-938F-18F2-201EBDB80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25FF-7A3D-A915-F70A-CCB063B11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A0E24-BE27-B43C-7142-979B5D32D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61944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DEF3A-7AAC-A77A-E91F-9DC049D0C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ABFFF-A186-4247-0F13-D3EB5FBF0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E52B7-25E8-DA71-6321-DB1EE88E2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53491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DBCF8-229F-EBCB-FD52-C8B23770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34E9-6F24-275F-0336-FC53F9CD6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26C8F-F40B-EF13-C6C1-902937D87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53278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9A334-454E-6F69-CB72-1AE11B7FC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ED16-438A-EFD7-C971-DADB8B5C3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7A78-1A1E-5C06-12AC-1D3CA381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80030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D7F9B-9A62-0B0A-D765-BFA9F8F2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B61-C767-9D0C-B322-EA569D1D7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ED20-6968-A1DB-26F6-0E9F20B3D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399674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8A94-F377-5341-8DB3-56AF8BDD2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4F553-7781-275B-D442-EBAECF56E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565F8-7C05-667D-72F6-829003C8C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115985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2DEF-B6B8-73CE-B68E-1ACA87D7A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2F8CE-760A-F548-7504-0CD6620B1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E1B34-4768-10DB-FBC9-0A6436DFF3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295856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E761-6815-F2B8-7DD0-BC0170BD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6EA45-880E-DAAB-9C46-E2472728C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8DD24-53E6-FB2E-E2EF-4754A4101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932683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3693-6B06-81E9-B76C-40AAEA5F5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B65F6-9EB4-62CE-4D8E-CDF1A993F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DF49C-F7DA-B311-3D69-6BDFD727A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795219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C7F00-AAFA-D03F-03C4-A0F0AFEE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A10E6-2D56-B07A-E9DC-848C339C3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5E670-1DE7-1884-91B7-CD74B5256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729738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22C47-F671-FFEC-754D-81993F429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9B86D-ECE7-A578-7FEF-E9D76BDE7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CCD73-83EC-998F-9412-9E1A05F32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394847" cy="3743512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5366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117</TotalTime>
  <Words>1819</Words>
  <Application>Microsoft Office PowerPoint</Application>
  <PresentationFormat>Widescreen</PresentationFormat>
  <Paragraphs>272</Paragraphs>
  <Slides>84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9" baseType="lpstr">
      <vt:lpstr>Arial</vt:lpstr>
      <vt:lpstr>Century Gothic</vt:lpstr>
      <vt:lpstr>Wingdings</vt:lpstr>
      <vt:lpstr>Wingdings 3</vt:lpstr>
      <vt:lpstr>Ion Boardroom</vt:lpstr>
      <vt:lpstr>Spring Cloud Stream</vt:lpstr>
      <vt:lpstr>Spring Cloud Stream?</vt:lpstr>
      <vt:lpstr>Why Do We Need It?</vt:lpstr>
      <vt:lpstr>With Spring Cloud Stream</vt:lpstr>
      <vt:lpstr>Core Components</vt:lpstr>
      <vt:lpstr>Core Components</vt:lpstr>
      <vt:lpstr>Core Components</vt:lpstr>
      <vt:lpstr>Core Components</vt:lpstr>
      <vt:lpstr>Producer</vt:lpstr>
      <vt:lpstr>Consumer</vt:lpstr>
      <vt:lpstr>Configuration</vt:lpstr>
      <vt:lpstr>How It Works Internally</vt:lpstr>
      <vt:lpstr>Message Structure</vt:lpstr>
      <vt:lpstr>Consumer Groups</vt:lpstr>
      <vt:lpstr>Partitioning (Scaling)</vt:lpstr>
      <vt:lpstr>Error Handling</vt:lpstr>
      <vt:lpstr>Multiple Binders</vt:lpstr>
      <vt:lpstr> Key Advantages</vt:lpstr>
      <vt:lpstr>Limitations</vt:lpstr>
      <vt:lpstr>When to Use It</vt:lpstr>
      <vt:lpstr>When NOT to Use It</vt:lpstr>
      <vt:lpstr>What RabbitMQ Binder Does</vt:lpstr>
      <vt:lpstr>PowerPoint Presentation</vt:lpstr>
      <vt:lpstr>What Gets Created Automatically</vt:lpstr>
      <vt:lpstr>Consumer Side</vt:lpstr>
      <vt:lpstr>Flow</vt:lpstr>
      <vt:lpstr>Exchange Types in Rabbit Binder</vt:lpstr>
      <vt:lpstr>Routing Keys in Binder</vt:lpstr>
      <vt:lpstr>Consumer Binding Key</vt:lpstr>
      <vt:lpstr>Binding Creation</vt:lpstr>
      <vt:lpstr>Fanout Behavior (Broadcast)</vt:lpstr>
      <vt:lpstr>Dead Letter Queue (DLQ)</vt:lpstr>
      <vt:lpstr>Retry + Backoff</vt:lpstr>
      <vt:lpstr>Queue Properties</vt:lpstr>
      <vt:lpstr>Spring Cloud Stream RabbitMQ binder</vt:lpstr>
      <vt:lpstr>Spring Cloud Stream RabbitMQ binder</vt:lpstr>
      <vt:lpstr>PowerPoint Presentation</vt:lpstr>
      <vt:lpstr>Producer Service (Integration → RabbitMQ)</vt:lpstr>
      <vt:lpstr>Producer Service (Integration → RabbitMQ)</vt:lpstr>
      <vt:lpstr>Producer Service (Integration → RabbitMQ)</vt:lpstr>
      <vt:lpstr>Consumer Service (RabbitMQ → Integration)</vt:lpstr>
      <vt:lpstr>Consumer Service (RabbitMQ → Integration)</vt:lpstr>
      <vt:lpstr>Full Flow</vt:lpstr>
      <vt:lpstr>What Happens Internally</vt:lpstr>
      <vt:lpstr>Advanced Patterns</vt:lpstr>
      <vt:lpstr>Splitter + Parallel Processing</vt:lpstr>
      <vt:lpstr>Aggregator (After Consumption)</vt:lpstr>
      <vt:lpstr>Error Channel + DLQ</vt:lpstr>
      <vt:lpstr>Spring Cloud Stream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anju munoth</dc:creator>
  <cp:lastModifiedBy>anju munoth</cp:lastModifiedBy>
  <cp:revision>48</cp:revision>
  <dcterms:created xsi:type="dcterms:W3CDTF">2026-03-25T04:04:07Z</dcterms:created>
  <dcterms:modified xsi:type="dcterms:W3CDTF">2026-03-26T04:37:51Z</dcterms:modified>
</cp:coreProperties>
</file>