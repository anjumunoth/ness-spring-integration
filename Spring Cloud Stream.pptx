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98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17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49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253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96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4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0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3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4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98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785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160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719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0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861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49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53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CD5CD0-6A70-4D3F-8AFB-DE1607D1170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7DF3B17-588C-4FCE-BADC-98E76E9C5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5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AFE8-2D4E-B6C2-3CFC-1858F8F67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Spring Cloud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A48AF-2143-CD12-6EF7-A14564C91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312091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764B-F5D1-999B-D495-B979992F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Spring Cloud Stream?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7046-6FB3-52CC-E3A0-34172BBFA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3305" cy="3846198"/>
          </a:xfrm>
        </p:spPr>
        <p:txBody>
          <a:bodyPr/>
          <a:lstStyle/>
          <a:p>
            <a:r>
              <a:rPr lang="en-US" dirty="0"/>
              <a:t>Framework that helps you build </a:t>
            </a:r>
            <a:r>
              <a:rPr lang="en-US" b="1" dirty="0"/>
              <a:t>event-driven microservices</a:t>
            </a:r>
            <a:r>
              <a:rPr lang="en-US" dirty="0"/>
              <a:t> by simplifying communication with </a:t>
            </a:r>
            <a:r>
              <a:rPr lang="en-US" b="1" dirty="0"/>
              <a:t>message brokers</a:t>
            </a:r>
            <a:r>
              <a:rPr lang="en-US" dirty="0"/>
              <a:t> like:</a:t>
            </a:r>
          </a:p>
          <a:p>
            <a:r>
              <a:rPr lang="en-US" dirty="0"/>
              <a:t>Kafka </a:t>
            </a:r>
          </a:p>
          <a:p>
            <a:r>
              <a:rPr lang="en-US" dirty="0"/>
              <a:t>RabbitMQ </a:t>
            </a:r>
          </a:p>
          <a:p>
            <a:r>
              <a:rPr lang="en-US" dirty="0"/>
              <a:t>Spring Cloud Stream is an </a:t>
            </a:r>
            <a:r>
              <a:rPr lang="en-US" b="1" dirty="0"/>
              <a:t>abstraction layer over messaging systems</a:t>
            </a:r>
            <a:r>
              <a:rPr lang="en-US" dirty="0"/>
              <a:t> that lets you write business logic without worrying about broker-specific code.</a:t>
            </a:r>
          </a:p>
          <a:p>
            <a:r>
              <a:rPr lang="en-US" b="1" dirty="0"/>
              <a:t>Uses a binding model</a:t>
            </a:r>
          </a:p>
          <a:p>
            <a:r>
              <a:rPr lang="en-US" dirty="0"/>
              <a:t>App ↔ Spring Cloud Stream ↔ Binder ↔ Message Broker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78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518F4-FFD2-EDFB-AEA4-CD56BF9F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It?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52840-919C-0142-7902-C30AAB0E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Without Spring Cloud Stream</a:t>
            </a:r>
          </a:p>
          <a:p>
            <a:r>
              <a:rPr lang="en-US" dirty="0"/>
              <a:t>Directly use broker APIs:</a:t>
            </a:r>
          </a:p>
          <a:p>
            <a:r>
              <a:rPr lang="en-US" dirty="0"/>
              <a:t>Kafka Producer/Consumer APIs </a:t>
            </a:r>
          </a:p>
          <a:p>
            <a:r>
              <a:rPr lang="en-US" dirty="0"/>
              <a:t>RabbitMQ templates </a:t>
            </a:r>
          </a:p>
          <a:p>
            <a:pPr marL="0" indent="0">
              <a:buNone/>
            </a:pPr>
            <a:r>
              <a:rPr lang="en-US" b="1" dirty="0"/>
              <a:t>Problems:</a:t>
            </a:r>
          </a:p>
          <a:p>
            <a:r>
              <a:rPr lang="en-US" dirty="0"/>
              <a:t>Tight coupling to broker </a:t>
            </a:r>
          </a:p>
          <a:p>
            <a:r>
              <a:rPr lang="en-US" dirty="0"/>
              <a:t>Boilerplate code </a:t>
            </a:r>
          </a:p>
          <a:p>
            <a:r>
              <a:rPr lang="en-US" dirty="0"/>
              <a:t>Hard to switch brokers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37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4D98-05FB-6402-D3A1-5CA23B60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9E34-3476-FEDD-F982-5E261A27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With Spring Cloud Stream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6305-37B9-3D9D-CB90-342D60C23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IN" dirty="0"/>
              <a:t>You just write: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@Bean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public Consumer&lt;String&gt; consume()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return </a:t>
            </a:r>
            <a:r>
              <a:rPr lang="en-IN" b="1" dirty="0" err="1">
                <a:solidFill>
                  <a:srgbClr val="C00000"/>
                </a:solidFill>
              </a:rPr>
              <a:t>msg</a:t>
            </a:r>
            <a:r>
              <a:rPr lang="en-IN" b="1" dirty="0">
                <a:solidFill>
                  <a:srgbClr val="C00000"/>
                </a:solidFill>
              </a:rPr>
              <a:t> -&gt; </a:t>
            </a:r>
            <a:r>
              <a:rPr lang="en-IN" b="1" dirty="0" err="1">
                <a:solidFill>
                  <a:srgbClr val="C00000"/>
                </a:solidFill>
              </a:rPr>
              <a:t>System.out.println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msg</a:t>
            </a:r>
            <a:r>
              <a:rPr lang="en-IN" b="1" dirty="0">
                <a:solidFill>
                  <a:srgbClr val="C00000"/>
                </a:solidFill>
              </a:rPr>
              <a:t>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</a:t>
            </a:r>
          </a:p>
          <a:p>
            <a:r>
              <a:rPr lang="en-IN" dirty="0"/>
              <a:t>👉 No Kafka/RabbitMQ code!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48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77049-F368-221D-2689-77E584DD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61A6-9D90-B286-CBE3-C7F370DA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8841-02BE-E496-FE5C-DDFA429B0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1. Binder</a:t>
            </a:r>
          </a:p>
          <a:p>
            <a:r>
              <a:rPr lang="en-IN" dirty="0"/>
              <a:t> </a:t>
            </a:r>
            <a:r>
              <a:rPr lang="en-IN" b="1" dirty="0"/>
              <a:t>binder</a:t>
            </a:r>
            <a:r>
              <a:rPr lang="en-IN" dirty="0"/>
              <a:t> connects your app to a messaging system.</a:t>
            </a:r>
          </a:p>
          <a:p>
            <a:r>
              <a:rPr lang="en-IN" dirty="0"/>
              <a:t>Examples: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Kafka Binder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RabbitMQ Binder</a:t>
            </a:r>
          </a:p>
          <a:p>
            <a:r>
              <a:rPr lang="da-DK" dirty="0"/>
              <a:t>Binder = Adapter/Driver for a message broker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59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DAC5-1D58-425C-0174-DE818298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83EB-1D1E-22F2-9512-C8172C5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0332E-8664-8032-5A84-707536C1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2.Bindings</a:t>
            </a:r>
          </a:p>
          <a:p>
            <a:r>
              <a:rPr lang="en-IN" dirty="0"/>
              <a:t>Bindings connect your </a:t>
            </a:r>
            <a:r>
              <a:rPr lang="en-IN" b="1" dirty="0"/>
              <a:t>functions</a:t>
            </a:r>
            <a:r>
              <a:rPr lang="en-IN" dirty="0"/>
              <a:t> to destinations (topics/queues).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spring: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cloud: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stream: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bindings: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consume-in-0: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destination: orders</a:t>
            </a:r>
          </a:p>
          <a:p>
            <a:r>
              <a:rPr lang="en-IN" dirty="0"/>
              <a:t>Input binding → listens to orders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353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447D-CABD-EFDE-28BB-D94A3620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45D54-D8B0-A26D-49DE-83BF7C07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3F56-51A4-84E3-9E23-FC429F6FC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Destination</a:t>
            </a:r>
          </a:p>
          <a:p>
            <a:r>
              <a:rPr lang="en-IN" dirty="0"/>
              <a:t>Kafka → Topic </a:t>
            </a:r>
          </a:p>
          <a:p>
            <a:r>
              <a:rPr lang="en-IN" dirty="0"/>
              <a:t>RabbitMQ → Exchange/Queue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1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F1E9-2975-E144-7EE3-8E8B1FC7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9CD1-C771-95EE-E552-62572DED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ADFEB-D5EA-2D19-E344-2D7DE5267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Functions (Modern Style)</a:t>
            </a:r>
          </a:p>
          <a:p>
            <a:r>
              <a:rPr lang="en-IN" dirty="0"/>
              <a:t>Spring Cloud Stream uses </a:t>
            </a:r>
            <a:r>
              <a:rPr lang="en-IN" b="1" dirty="0"/>
              <a:t>functional programming model</a:t>
            </a:r>
            <a:r>
              <a:rPr lang="en-IN" dirty="0"/>
              <a:t>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462558-5588-FC5C-EAB0-DAD51CF10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49143"/>
              </p:ext>
            </p:extLst>
          </p:nvPr>
        </p:nvGraphicFramePr>
        <p:xfrm>
          <a:off x="1155700" y="3580130"/>
          <a:ext cx="8761412" cy="1463040"/>
        </p:xfrm>
        <a:graphic>
          <a:graphicData uri="http://schemas.openxmlformats.org/drawingml/2006/table">
            <a:tbl>
              <a:tblPr/>
              <a:tblGrid>
                <a:gridCol w="4380706">
                  <a:extLst>
                    <a:ext uri="{9D8B030D-6E8A-4147-A177-3AD203B41FA5}">
                      <a16:colId xmlns:a16="http://schemas.microsoft.com/office/drawing/2014/main" val="4167915646"/>
                    </a:ext>
                  </a:extLst>
                </a:gridCol>
                <a:gridCol w="4380706">
                  <a:extLst>
                    <a:ext uri="{9D8B030D-6E8A-4147-A177-3AD203B41FA5}">
                      <a16:colId xmlns:a16="http://schemas.microsoft.com/office/drawing/2014/main" val="199709034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2109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Supplier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Produces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3658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Consumer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Consumes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4889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Consumes + Produces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51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996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6825-C50E-3F66-08E6-1F2D9B0C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F344-3040-8783-47B3-45BAC8F5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EF9B-C006-E0A8-F6BB-C0BC2CAF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@Bean</a:t>
            </a:r>
            <a:br>
              <a:rPr lang="en-US" dirty="0"/>
            </a:br>
            <a:r>
              <a:rPr lang="en-US" dirty="0"/>
              <a:t>public Supplier&lt;String&gt; producer() {</a:t>
            </a:r>
            <a:br>
              <a:rPr lang="en-US" dirty="0"/>
            </a:br>
            <a:r>
              <a:rPr lang="en-US" dirty="0"/>
              <a:t>    return () -&gt; "Hello Event!";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28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27BA-5420-FE86-E779-9338BD16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3E98-BD28-5782-8A39-2EE0BD58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Consumer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AC37B-9DF3-5751-4C25-EB374820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US" dirty="0"/>
              <a:t>@Bean</a:t>
            </a:r>
            <a:br>
              <a:rPr lang="en-US" dirty="0"/>
            </a:br>
            <a:r>
              <a:rPr lang="en-US" dirty="0"/>
              <a:t>public Consumer&lt;String&gt; consumer() {</a:t>
            </a:r>
            <a:br>
              <a:rPr lang="en-US" dirty="0"/>
            </a:br>
            <a:r>
              <a:rPr lang="en-US" dirty="0"/>
              <a:t>    return msg -&gt; </a:t>
            </a:r>
            <a:r>
              <a:rPr lang="en-US" dirty="0" err="1"/>
              <a:t>System.out.println</a:t>
            </a:r>
            <a:r>
              <a:rPr lang="en-US" dirty="0"/>
              <a:t>("Received: " + msg);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6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065B-CB29-5903-BC30-6F0BFB5C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9391-591F-94F2-189E-081EFB77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16A4-2BAF-DEE0-3B86-3A000AA6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spring:</a:t>
            </a:r>
          </a:p>
          <a:p>
            <a:pPr marL="0" indent="0">
              <a:buNone/>
            </a:pPr>
            <a:r>
              <a:rPr lang="en-US" dirty="0"/>
              <a:t>  cloud:</a:t>
            </a:r>
          </a:p>
          <a:p>
            <a:pPr marL="0" indent="0">
              <a:buNone/>
            </a:pPr>
            <a:r>
              <a:rPr lang="en-US" dirty="0"/>
              <a:t>    stream:</a:t>
            </a:r>
          </a:p>
          <a:p>
            <a:pPr marL="0" indent="0">
              <a:buNone/>
            </a:pPr>
            <a:r>
              <a:rPr lang="en-US" dirty="0"/>
              <a:t>      bindings:</a:t>
            </a:r>
          </a:p>
          <a:p>
            <a:pPr marL="0" indent="0">
              <a:buNone/>
            </a:pPr>
            <a:r>
              <a:rPr lang="en-US" dirty="0"/>
              <a:t>        producer-out-0:</a:t>
            </a:r>
          </a:p>
          <a:p>
            <a:pPr marL="0" indent="0">
              <a:buNone/>
            </a:pPr>
            <a:r>
              <a:rPr lang="en-US" dirty="0"/>
              <a:t>          destination: orders</a:t>
            </a:r>
          </a:p>
          <a:p>
            <a:pPr marL="0" indent="0">
              <a:buNone/>
            </a:pPr>
            <a:r>
              <a:rPr lang="en-US" dirty="0"/>
              <a:t>        consumer-in-0:</a:t>
            </a:r>
          </a:p>
          <a:p>
            <a:pPr marL="0" indent="0">
              <a:buNone/>
            </a:pPr>
            <a:r>
              <a:rPr lang="en-US" dirty="0"/>
              <a:t>          destination: orders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610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A0EA-C50B-59E1-8602-E342B92C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5ACA-18E1-A554-5AE9-B9EE17C5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 Internally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3016-B551-473D-36BB-9F1B0FE79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US" dirty="0"/>
              <a:t>Your function generates a message </a:t>
            </a:r>
          </a:p>
          <a:p>
            <a:r>
              <a:rPr lang="en-US" dirty="0"/>
              <a:t>Spring Cloud Stream wraps it into a message </a:t>
            </a:r>
          </a:p>
          <a:p>
            <a:r>
              <a:rPr lang="en-US" dirty="0"/>
              <a:t>Binder sends it to broker </a:t>
            </a:r>
          </a:p>
          <a:p>
            <a:r>
              <a:rPr lang="en-US" dirty="0"/>
              <a:t>Consumer receives it </a:t>
            </a:r>
          </a:p>
          <a:p>
            <a:r>
              <a:rPr lang="en-US" dirty="0"/>
              <a:t>Binder converts message → function input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Supplier → Binding → Binder → Broker → Binder → Binding → Consumer</a:t>
            </a:r>
            <a:endParaRPr lang="en-US" b="1" dirty="0">
              <a:solidFill>
                <a:srgbClr val="C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405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73BF-94E4-B447-7919-A7E81B2E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9211-A71C-1B4C-E29F-44FE1CEB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5C3D8-E484-342E-43EB-421759CA1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message has:</a:t>
            </a:r>
          </a:p>
          <a:p>
            <a:r>
              <a:rPr lang="en-US" dirty="0"/>
              <a:t>Payload </a:t>
            </a:r>
          </a:p>
          <a:p>
            <a:r>
              <a:rPr lang="en-US" dirty="0"/>
              <a:t>Headers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{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"payload": "Order Created",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"headers": {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"</a:t>
            </a:r>
            <a:r>
              <a:rPr lang="en-US" b="1" dirty="0" err="1">
                <a:solidFill>
                  <a:srgbClr val="C00000"/>
                </a:solidFill>
              </a:rPr>
              <a:t>contentType</a:t>
            </a:r>
            <a:r>
              <a:rPr lang="en-US" b="1" dirty="0">
                <a:solidFill>
                  <a:srgbClr val="C00000"/>
                </a:solidFill>
              </a:rPr>
              <a:t>": "application/</a:t>
            </a:r>
            <a:r>
              <a:rPr lang="en-US" b="1" dirty="0" err="1">
                <a:solidFill>
                  <a:srgbClr val="C00000"/>
                </a:solidFill>
              </a:rPr>
              <a:t>json</a:t>
            </a:r>
            <a:r>
              <a:rPr lang="en-US" b="1" dirty="0">
                <a:solidFill>
                  <a:srgbClr val="C00000"/>
                </a:solidFill>
              </a:rPr>
              <a:t>"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}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Content Type Conversion</a:t>
            </a:r>
          </a:p>
          <a:p>
            <a:r>
              <a:rPr lang="en-IN" dirty="0"/>
              <a:t>Automatic conversion:</a:t>
            </a:r>
          </a:p>
          <a:p>
            <a:r>
              <a:rPr lang="en-IN" dirty="0"/>
              <a:t>JSON → Object </a:t>
            </a:r>
          </a:p>
          <a:p>
            <a:r>
              <a:rPr lang="en-IN" dirty="0"/>
              <a:t>String → POJO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87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FDC7-E7DC-F871-D9F4-4B242871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C7F9-76FD-46B1-DD54-176411A7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Consumer 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AEBA-D7D6-A820-CFCC-F6270A8CC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spring: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cloud: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stream: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bindings: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consumer-in-0: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group: inventory-group</a:t>
            </a:r>
          </a:p>
          <a:p>
            <a:pPr marL="0" indent="0">
              <a:buNone/>
            </a:pPr>
            <a:r>
              <a:rPr lang="en-US" dirty="0"/>
              <a:t> Ensures:</a:t>
            </a:r>
          </a:p>
          <a:p>
            <a:r>
              <a:rPr lang="en-US" dirty="0"/>
              <a:t>Load balancing </a:t>
            </a:r>
          </a:p>
          <a:p>
            <a:r>
              <a:rPr lang="en-US" dirty="0"/>
              <a:t>Each message processed once per group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49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2D84-14F4-4500-C627-36E7E630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1FB9-7E9B-C8F9-37CF-6513E2F4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Partitioning (Scaling)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3CE74-B601-D3BF-DB1D-A3452CF9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producer: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</a:t>
            </a:r>
            <a:r>
              <a:rPr lang="en-IN" b="1" dirty="0" err="1">
                <a:solidFill>
                  <a:srgbClr val="C00000"/>
                </a:solidFill>
              </a:rPr>
              <a:t>partitionKeyExpression</a:t>
            </a:r>
            <a:r>
              <a:rPr lang="en-IN" b="1" dirty="0">
                <a:solidFill>
                  <a:srgbClr val="C00000"/>
                </a:solidFill>
              </a:rPr>
              <a:t>: </a:t>
            </a:r>
            <a:r>
              <a:rPr lang="en-IN" b="1" dirty="0" err="1">
                <a:solidFill>
                  <a:srgbClr val="C00000"/>
                </a:solidFill>
              </a:rPr>
              <a:t>payload.orderId</a:t>
            </a:r>
            <a:endParaRPr lang="en-IN" b="1" dirty="0">
              <a:solidFill>
                <a:srgbClr val="C00000"/>
              </a:solidFill>
            </a:endParaRPr>
          </a:p>
          <a:p>
            <a:r>
              <a:rPr lang="en-IN" dirty="0"/>
              <a:t>👉 Ensures:</a:t>
            </a:r>
          </a:p>
          <a:p>
            <a:r>
              <a:rPr lang="en-IN" dirty="0"/>
              <a:t>Same key → same partition </a:t>
            </a:r>
          </a:p>
          <a:p>
            <a:r>
              <a:rPr lang="en-IN" dirty="0"/>
              <a:t>Maintains order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410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A894-EE4A-DAEF-897D-6D8C20D5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B785-E540-2BBD-EBAE-A10D14E9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Error Handling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72DA7-7703-EFBF-8E6D-7C12D56F0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IN" dirty="0"/>
              <a:t>Retries </a:t>
            </a:r>
          </a:p>
          <a:p>
            <a:r>
              <a:rPr lang="en-IN" dirty="0"/>
              <a:t>Dead Letter Queue (DLQ) </a:t>
            </a:r>
          </a:p>
          <a:p>
            <a:r>
              <a:rPr lang="en-IN" dirty="0" err="1"/>
              <a:t>autoBindDlq</a:t>
            </a:r>
            <a:r>
              <a:rPr lang="en-IN" dirty="0"/>
              <a:t>: true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71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44D4-3A29-E047-D87C-F3438AF7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F574-80F3-39F3-4FFC-001FA132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Multiple Binders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C4488-71DD-A65E-52ED-43BD9A76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Can use:</a:t>
            </a:r>
          </a:p>
          <a:p>
            <a:r>
              <a:rPr lang="en-IN" dirty="0"/>
              <a:t>Kafka + RabbitMQ in same app 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203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0F2F-879B-B52B-D2BD-D16DA5BB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4E964-2139-EA79-9FF0-61D81EE5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Key 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C5E9D-196D-82B4-82F4-C143FEE3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✅ Broker abstraction</a:t>
            </a:r>
            <a:br>
              <a:rPr lang="en-IN" dirty="0"/>
            </a:br>
            <a:r>
              <a:rPr lang="en-IN" dirty="0"/>
              <a:t>✅ Less boilerplate</a:t>
            </a:r>
            <a:br>
              <a:rPr lang="en-IN" dirty="0"/>
            </a:br>
            <a:r>
              <a:rPr lang="en-IN" dirty="0"/>
              <a:t>✅ Easy to switch Kafka ↔ RabbitMQ</a:t>
            </a:r>
            <a:br>
              <a:rPr lang="en-IN" dirty="0"/>
            </a:br>
            <a:r>
              <a:rPr lang="en-IN" dirty="0"/>
              <a:t>✅ Built-in scaling support</a:t>
            </a:r>
            <a:br>
              <a:rPr lang="en-IN" dirty="0"/>
            </a:br>
            <a:r>
              <a:rPr lang="en-IN" dirty="0"/>
              <a:t>✅ Functional programming model</a:t>
            </a:r>
            <a:br>
              <a:rPr lang="en-IN" dirty="0"/>
            </a:br>
            <a:r>
              <a:rPr lang="en-IN" dirty="0"/>
              <a:t>✅ Production-ready features (DLQ, retries)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150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04015-C5B8-D097-B37D-A044124E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6FF8-AACC-8192-6257-63DB8312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A6C40-D820-9F35-BC24-F991B95B8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US" dirty="0"/>
              <a:t> Less control over low-level broker features</a:t>
            </a:r>
            <a:br>
              <a:rPr lang="en-US" dirty="0"/>
            </a:br>
            <a:r>
              <a:rPr lang="en-US" dirty="0"/>
              <a:t> Learning curve (bindings, config)</a:t>
            </a:r>
            <a:br>
              <a:rPr lang="en-US" dirty="0"/>
            </a:br>
            <a:r>
              <a:rPr lang="en-US" dirty="0"/>
              <a:t> Debugging can be tricky</a:t>
            </a:r>
            <a:br>
              <a:rPr lang="en-US" dirty="0"/>
            </a:br>
            <a:r>
              <a:rPr lang="en-US" dirty="0"/>
              <a:t> Not ideal for ultra-low latency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273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3FB22-270F-5D05-EF3F-BC1872F1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4180-A79D-6DCF-DD29-328DED84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5D863-EEE4-E94A-A3C4-890BA9353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Spring Cloud Stream when:</a:t>
            </a:r>
          </a:p>
          <a:p>
            <a:r>
              <a:rPr lang="en-US" dirty="0"/>
              <a:t>Building </a:t>
            </a:r>
            <a:r>
              <a:rPr lang="en-US" b="1" dirty="0"/>
              <a:t>event-driven microservices</a:t>
            </a:r>
            <a:r>
              <a:rPr lang="en-US" dirty="0"/>
              <a:t> </a:t>
            </a:r>
          </a:p>
          <a:p>
            <a:r>
              <a:rPr lang="en-US" dirty="0"/>
              <a:t>You want </a:t>
            </a:r>
            <a:r>
              <a:rPr lang="en-US" b="1" dirty="0"/>
              <a:t>broker abstraction</a:t>
            </a:r>
            <a:r>
              <a:rPr lang="en-US" dirty="0"/>
              <a:t> </a:t>
            </a:r>
          </a:p>
          <a:p>
            <a:r>
              <a:rPr lang="en-US" dirty="0"/>
              <a:t>You need </a:t>
            </a:r>
            <a:r>
              <a:rPr lang="en-US" b="1" dirty="0"/>
              <a:t>scalability + resilience</a:t>
            </a:r>
            <a:r>
              <a:rPr lang="en-US" dirty="0"/>
              <a:t> </a:t>
            </a:r>
          </a:p>
          <a:p>
            <a:r>
              <a:rPr lang="en-US" dirty="0"/>
              <a:t>You want clean, function-based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216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0D53-F1D1-1277-BC34-D97FA261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A0A9-6EAB-AD2C-F485-ECC542E6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NOT to Use 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20923-8B07-C26E-90F7-5B7165EAF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Avoid when:</a:t>
            </a:r>
          </a:p>
          <a:p>
            <a:r>
              <a:rPr lang="en-US" dirty="0"/>
              <a:t>You need </a:t>
            </a:r>
            <a:r>
              <a:rPr lang="en-US" b="1" dirty="0"/>
              <a:t>fine-grained Kafka control</a:t>
            </a:r>
            <a:r>
              <a:rPr lang="en-US" dirty="0"/>
              <a:t> </a:t>
            </a:r>
          </a:p>
          <a:p>
            <a:r>
              <a:rPr lang="en-US" dirty="0"/>
              <a:t>Ultra-performance critical systems </a:t>
            </a:r>
          </a:p>
          <a:p>
            <a:r>
              <a:rPr lang="en-US" dirty="0"/>
              <a:t>Simple apps (overkill)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823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C586-63CF-F890-E044-6F424F31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BAA5-2F1B-E21F-A3EB-9C27297C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RabbitMQ Binder Does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B4D49-1704-B6BD-46D7-B41562A82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IN" b="1" dirty="0"/>
              <a:t>RabbitMQ binder</a:t>
            </a:r>
            <a:r>
              <a:rPr lang="en-IN" dirty="0"/>
              <a:t> in Spring Cloud Stream maps your </a:t>
            </a:r>
            <a:r>
              <a:rPr lang="en-IN" b="1" dirty="0"/>
              <a:t>logical bindings</a:t>
            </a:r>
            <a:r>
              <a:rPr lang="en-IN" dirty="0"/>
              <a:t> to </a:t>
            </a:r>
            <a:r>
              <a:rPr lang="en-IN" b="1" dirty="0"/>
              <a:t>actual RabbitMQ components</a:t>
            </a:r>
            <a:r>
              <a:rPr lang="en-IN" dirty="0"/>
              <a:t>:</a:t>
            </a:r>
          </a:p>
          <a:p>
            <a:r>
              <a:rPr lang="en-IN" dirty="0"/>
              <a:t>Spring Cloud Stream → Rabbit Binder → RabbitMQ</a:t>
            </a:r>
          </a:p>
          <a:p>
            <a:pPr marL="0" indent="0">
              <a:buNone/>
            </a:pPr>
            <a:r>
              <a:rPr lang="en-IN" dirty="0"/>
              <a:t>It automatically creates and connects:</a:t>
            </a:r>
          </a:p>
          <a:p>
            <a:r>
              <a:rPr lang="en-IN" dirty="0"/>
              <a:t>Exchanges </a:t>
            </a:r>
          </a:p>
          <a:p>
            <a:r>
              <a:rPr lang="en-IN" dirty="0"/>
              <a:t>Queues </a:t>
            </a:r>
          </a:p>
          <a:p>
            <a:r>
              <a:rPr lang="en-IN" dirty="0"/>
              <a:t>Bindings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609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00DC-F330-D2C0-8FCA-3E38493C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5FAF-1ECD-BDE3-3814-885BFB18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04590F-6552-F5EE-74A5-F308987A74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129045"/>
              </p:ext>
            </p:extLst>
          </p:nvPr>
        </p:nvGraphicFramePr>
        <p:xfrm>
          <a:off x="1155700" y="2603500"/>
          <a:ext cx="88249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3375050914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13667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Spring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RabbitMQ Equivalent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99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91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12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Exchange → Queue binding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55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Routing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373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797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55B9-D808-438A-A45B-521F749E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EAFE-3903-9BDB-F687-CD76C8B1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Gets Created Automatically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C95DD-984D-6DD7-DFE7-5237F8E85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📤 Producer Side</a:t>
            </a:r>
          </a:p>
          <a:p>
            <a:r>
              <a:rPr lang="en-IN" dirty="0"/>
              <a:t>spring:</a:t>
            </a:r>
            <a:br>
              <a:rPr lang="en-IN" dirty="0"/>
            </a:br>
            <a:r>
              <a:rPr lang="en-IN" dirty="0"/>
              <a:t>  cloud:</a:t>
            </a:r>
            <a:br>
              <a:rPr lang="en-IN" dirty="0"/>
            </a:br>
            <a:r>
              <a:rPr lang="en-IN" dirty="0"/>
              <a:t>    stream:</a:t>
            </a:r>
            <a:br>
              <a:rPr lang="en-IN" dirty="0"/>
            </a:br>
            <a:r>
              <a:rPr lang="en-IN" dirty="0"/>
              <a:t>      bindings:</a:t>
            </a:r>
            <a:br>
              <a:rPr lang="en-IN" dirty="0"/>
            </a:br>
            <a:r>
              <a:rPr lang="en-IN" dirty="0"/>
              <a:t>        order-out-0:</a:t>
            </a:r>
            <a:br>
              <a:rPr lang="en-IN" dirty="0"/>
            </a:br>
            <a:r>
              <a:rPr lang="en-IN" dirty="0"/>
              <a:t>          destination: orders</a:t>
            </a:r>
          </a:p>
          <a:p>
            <a:r>
              <a:rPr lang="en-IN" dirty="0"/>
              <a:t>👉 RabbitMQ binder creates:</a:t>
            </a:r>
          </a:p>
          <a:p>
            <a:r>
              <a:rPr lang="en-IN" b="1" dirty="0"/>
              <a:t>Exchange → orders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703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8F7F-4F0C-9192-09DA-53137C70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3D24-2770-DF01-4AA8-A22C718B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Consumer Side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74D1-6765-BA3A-6042-222796038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spring:</a:t>
            </a:r>
            <a:br>
              <a:rPr lang="en-IN" dirty="0"/>
            </a:br>
            <a:r>
              <a:rPr lang="en-IN" dirty="0"/>
              <a:t>  cloud:</a:t>
            </a:r>
            <a:br>
              <a:rPr lang="en-IN" dirty="0"/>
            </a:br>
            <a:r>
              <a:rPr lang="en-IN" dirty="0"/>
              <a:t>    stream:</a:t>
            </a:r>
            <a:br>
              <a:rPr lang="en-IN" dirty="0"/>
            </a:br>
            <a:r>
              <a:rPr lang="en-IN" dirty="0"/>
              <a:t>      bindings:</a:t>
            </a:r>
            <a:br>
              <a:rPr lang="en-IN" dirty="0"/>
            </a:br>
            <a:r>
              <a:rPr lang="en-IN" dirty="0"/>
              <a:t>        order-in-0:</a:t>
            </a:r>
            <a:br>
              <a:rPr lang="en-IN" dirty="0"/>
            </a:br>
            <a:r>
              <a:rPr lang="en-IN" dirty="0"/>
              <a:t>          destination: orders</a:t>
            </a:r>
            <a:br>
              <a:rPr lang="en-IN" dirty="0"/>
            </a:br>
            <a:r>
              <a:rPr lang="en-IN" dirty="0"/>
              <a:t>          group: inventory</a:t>
            </a:r>
          </a:p>
          <a:p>
            <a:r>
              <a:rPr lang="en-IN" dirty="0"/>
              <a:t>👉 Creates:</a:t>
            </a:r>
          </a:p>
          <a:p>
            <a:r>
              <a:rPr lang="en-IN" b="1" dirty="0"/>
              <a:t>Queue → </a:t>
            </a:r>
            <a:r>
              <a:rPr lang="en-IN" b="1" dirty="0" err="1"/>
              <a:t>orders.inventory</a:t>
            </a:r>
            <a:r>
              <a:rPr lang="en-IN" b="1" dirty="0"/>
              <a:t> </a:t>
            </a:r>
          </a:p>
          <a:p>
            <a:r>
              <a:rPr lang="en-IN" b="1" dirty="0"/>
              <a:t>Binding → Exchange (orders) → Queue (</a:t>
            </a:r>
            <a:r>
              <a:rPr lang="en-IN" b="1" dirty="0" err="1"/>
              <a:t>orders.inventory</a:t>
            </a:r>
            <a:r>
              <a:rPr lang="en-IN" b="1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427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31A0-AC8F-F96E-E3E2-9803BA27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6B80-757A-982F-8E24-D3AFDB394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B35B-54D5-D29E-94CB-F642E1607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Producer Function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Output Binding (order-out-0)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Rabbit Binder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Exchange (orders)</a:t>
            </a:r>
          </a:p>
          <a:p>
            <a:pPr marL="0" indent="0">
              <a:buNone/>
            </a:pPr>
            <a:r>
              <a:rPr lang="en-IN" dirty="0"/>
              <a:t>   ↓ (via routing key)</a:t>
            </a:r>
          </a:p>
          <a:p>
            <a:pPr marL="0" indent="0">
              <a:buNone/>
            </a:pPr>
            <a:r>
              <a:rPr lang="en-IN" dirty="0"/>
              <a:t>Queue (</a:t>
            </a:r>
            <a:r>
              <a:rPr lang="en-IN" dirty="0" err="1"/>
              <a:t>orders.inventory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Consumer Binding (order-in-0)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Consumer Function</a:t>
            </a:r>
          </a:p>
        </p:txBody>
      </p:sp>
    </p:spTree>
    <p:extLst>
      <p:ext uri="{BB962C8B-B14F-4D97-AF65-F5344CB8AC3E}">
        <p14:creationId xmlns:p14="http://schemas.microsoft.com/office/powerpoint/2010/main" val="3312840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A9E8A-A909-2E22-BEE7-A992AB1D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F5F0-6861-9C90-7726-01DC1FF98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Exchange Types in Rabbit Binder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5FB47-DFCC-1FB7-1EA5-6A58821A0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/>
          </a:bodyPr>
          <a:lstStyle/>
          <a:p>
            <a:r>
              <a:rPr lang="en-IN" b="1" dirty="0"/>
              <a:t>Default = Topic Exchange</a:t>
            </a:r>
          </a:p>
          <a:p>
            <a:r>
              <a:rPr lang="en-IN" dirty="0"/>
              <a:t> Spring Cloud Stream uses </a:t>
            </a:r>
            <a:r>
              <a:rPr lang="en-IN" b="1" dirty="0"/>
              <a:t>topic exchange by default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Why Topic?</a:t>
            </a:r>
          </a:p>
          <a:p>
            <a:r>
              <a:rPr lang="en-IN" dirty="0"/>
              <a:t>Because it supports flexible routing using patterns.</a:t>
            </a:r>
          </a:p>
          <a:p>
            <a:pPr marL="0" indent="0">
              <a:buNone/>
            </a:pPr>
            <a:r>
              <a:rPr lang="en-IN" b="1" dirty="0"/>
              <a:t> Routing Key Pattern</a:t>
            </a:r>
          </a:p>
          <a:p>
            <a:r>
              <a:rPr lang="en-IN" b="1" dirty="0" err="1">
                <a:solidFill>
                  <a:srgbClr val="C00000"/>
                </a:solidFill>
              </a:rPr>
              <a:t>order.created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 err="1">
                <a:solidFill>
                  <a:srgbClr val="C00000"/>
                </a:solidFill>
              </a:rPr>
              <a:t>order.updated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order.*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order.#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298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413E-4658-289C-0380-E7CA2B96F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508E-8153-35F6-0AD4-8C6F07DC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Routing Keys in Binder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CD7A-BBCF-ADCB-13C5-134B4F79B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📤 Producer Routing Key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spring: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cloud: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stream: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rabbit: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bindings: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order-out-0: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producer: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  </a:t>
            </a:r>
            <a:r>
              <a:rPr lang="en-IN" b="1" dirty="0" err="1">
                <a:solidFill>
                  <a:srgbClr val="C00000"/>
                </a:solidFill>
              </a:rPr>
              <a:t>routingKeyExpression</a:t>
            </a:r>
            <a:r>
              <a:rPr lang="en-IN" b="1" dirty="0">
                <a:solidFill>
                  <a:srgbClr val="C00000"/>
                </a:solidFill>
              </a:rPr>
              <a:t>: '''</a:t>
            </a:r>
            <a:r>
              <a:rPr lang="en-IN" b="1" dirty="0" err="1">
                <a:solidFill>
                  <a:srgbClr val="C00000"/>
                </a:solidFill>
              </a:rPr>
              <a:t>order.created</a:t>
            </a:r>
            <a:r>
              <a:rPr lang="en-IN" b="1" dirty="0">
                <a:solidFill>
                  <a:srgbClr val="C00000"/>
                </a:solidFill>
              </a:rPr>
              <a:t>'''</a:t>
            </a:r>
          </a:p>
          <a:p>
            <a:pPr marL="0" indent="0">
              <a:buNone/>
            </a:pPr>
            <a:r>
              <a:rPr lang="en-IN" dirty="0"/>
              <a:t> This sets:</a:t>
            </a:r>
          </a:p>
          <a:p>
            <a:r>
              <a:rPr lang="en-IN" dirty="0"/>
              <a:t>Routing Key = </a:t>
            </a:r>
            <a:r>
              <a:rPr lang="en-IN" dirty="0" err="1"/>
              <a:t>order.created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548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23D4-D909-AAA7-22FA-B43F06FD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D6E74-2DCF-1B8A-25D5-CEABC6657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Consumer Binding Key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A347A-EBDD-C757-2330-38D53990B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spring: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cloud: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stream: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rabbit: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bindings: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order-in-0: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 consumer: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   </a:t>
            </a:r>
            <a:r>
              <a:rPr lang="en-US" b="1" dirty="0" err="1">
                <a:solidFill>
                  <a:srgbClr val="C00000"/>
                </a:solidFill>
              </a:rPr>
              <a:t>bindingRoutingKey</a:t>
            </a:r>
            <a:r>
              <a:rPr lang="en-US" b="1" dirty="0">
                <a:solidFill>
                  <a:srgbClr val="C00000"/>
                </a:solidFill>
              </a:rPr>
              <a:t>: order.*</a:t>
            </a:r>
          </a:p>
          <a:p>
            <a:pPr marL="0" indent="0">
              <a:buNone/>
            </a:pPr>
            <a:r>
              <a:rPr lang="en-US" dirty="0"/>
              <a:t>Means:</a:t>
            </a:r>
          </a:p>
          <a:p>
            <a:r>
              <a:rPr lang="en-US" dirty="0"/>
              <a:t>This consumer will receive: </a:t>
            </a:r>
          </a:p>
          <a:p>
            <a:pPr lvl="1"/>
            <a:r>
              <a:rPr lang="en-US" dirty="0" err="1"/>
              <a:t>order.created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order.updated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428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C77C-62FA-78CE-83C6-08C2FCE0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0B5F-83F1-14AB-FE1C-69B77162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Binding Creation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B8044-6E12-FF5C-FB1C-B707347A4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When app starts:</a:t>
            </a:r>
          </a:p>
          <a:p>
            <a:r>
              <a:rPr lang="en-IN" dirty="0"/>
              <a:t>Exchange created (if not exists) </a:t>
            </a:r>
          </a:p>
          <a:p>
            <a:r>
              <a:rPr lang="en-IN" dirty="0"/>
              <a:t>Queue created (if group defined) </a:t>
            </a:r>
          </a:p>
          <a:p>
            <a:r>
              <a:rPr lang="en-IN" dirty="0"/>
              <a:t>Binding created: </a:t>
            </a:r>
          </a:p>
          <a:p>
            <a:r>
              <a:rPr lang="en-IN" dirty="0"/>
              <a:t>Exchange → Queue (with routing key pattern)</a:t>
            </a:r>
          </a:p>
          <a:p>
            <a:pPr marL="0" indent="0">
              <a:buNone/>
            </a:pPr>
            <a:r>
              <a:rPr lang="en-IN" b="1" dirty="0"/>
              <a:t> Example</a:t>
            </a:r>
          </a:p>
          <a:p>
            <a:r>
              <a:rPr lang="en-IN" b="1" dirty="0">
                <a:solidFill>
                  <a:srgbClr val="C00000"/>
                </a:solidFill>
              </a:rPr>
              <a:t>Exchange: orders (topic)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Queue: </a:t>
            </a:r>
            <a:r>
              <a:rPr lang="en-IN" b="1" dirty="0" err="1">
                <a:solidFill>
                  <a:srgbClr val="C00000"/>
                </a:solidFill>
              </a:rPr>
              <a:t>orders.inventory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Binding key: order.*</a:t>
            </a:r>
          </a:p>
          <a:p>
            <a:r>
              <a:rPr lang="en-IN" dirty="0"/>
              <a:t>👉 Flow:</a:t>
            </a:r>
          </a:p>
          <a:p>
            <a:r>
              <a:rPr lang="en-IN" dirty="0"/>
              <a:t>Message with </a:t>
            </a:r>
            <a:r>
              <a:rPr lang="en-IN" dirty="0" err="1"/>
              <a:t>routingKey</a:t>
            </a:r>
            <a:r>
              <a:rPr lang="en-IN" dirty="0"/>
              <a:t>=</a:t>
            </a:r>
            <a:r>
              <a:rPr lang="en-IN" dirty="0" err="1"/>
              <a:t>order.created</a:t>
            </a:r>
            <a:r>
              <a:rPr lang="en-IN" dirty="0"/>
              <a:t> → delivered</a:t>
            </a:r>
            <a:br>
              <a:rPr lang="en-IN" dirty="0"/>
            </a:br>
            <a:r>
              <a:rPr lang="en-IN" dirty="0"/>
              <a:t>Message with </a:t>
            </a:r>
            <a:r>
              <a:rPr lang="en-IN" dirty="0" err="1"/>
              <a:t>routingKey</a:t>
            </a:r>
            <a:r>
              <a:rPr lang="en-IN" dirty="0"/>
              <a:t>=</a:t>
            </a:r>
            <a:r>
              <a:rPr lang="en-IN" dirty="0" err="1"/>
              <a:t>payment.done</a:t>
            </a:r>
            <a:r>
              <a:rPr lang="en-IN" dirty="0"/>
              <a:t> → ignored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873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5DEE-D4E3-39F7-3258-F8CC2111D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9027-251A-EBE9-F10F-2FB5ADF8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Fanout Behavior (Broadcast)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95D1F-7DFF-8E4B-92EC-71C7FBE11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816859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n-US" b="1" dirty="0"/>
              <a:t>no routing key specified</a:t>
            </a:r>
            <a:r>
              <a:rPr lang="en-US" dirty="0"/>
              <a:t>, or configured as fanout:</a:t>
            </a:r>
          </a:p>
          <a:p>
            <a:r>
              <a:rPr lang="en-US" dirty="0"/>
              <a:t>All queues receive the message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producer: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</a:t>
            </a:r>
            <a:r>
              <a:rPr lang="en-US" b="1" dirty="0" err="1">
                <a:solidFill>
                  <a:srgbClr val="C00000"/>
                </a:solidFill>
              </a:rPr>
              <a:t>routingKeyExpression</a:t>
            </a:r>
            <a:r>
              <a:rPr lang="en-US" b="1" dirty="0">
                <a:solidFill>
                  <a:srgbClr val="C00000"/>
                </a:solidFill>
              </a:rPr>
              <a:t>: ''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Or: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C00000"/>
                </a:solidFill>
              </a:rPr>
              <a:t>exchangeType</a:t>
            </a:r>
            <a:r>
              <a:rPr lang="en-US" b="1" dirty="0">
                <a:solidFill>
                  <a:srgbClr val="C00000"/>
                </a:solidFill>
              </a:rPr>
              <a:t>: fanout</a:t>
            </a:r>
          </a:p>
          <a:p>
            <a:pPr marL="0" indent="0">
              <a:buNone/>
            </a:pP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757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BC24-2FEC-2AB4-78B5-80C2E39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Dead Letter Queue (DLQ)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D06C4-49A3-6C46-D5D1-5E87837A3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consumer: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</a:t>
            </a:r>
            <a:r>
              <a:rPr lang="en-IN" b="1" dirty="0" err="1">
                <a:solidFill>
                  <a:srgbClr val="C00000"/>
                </a:solidFill>
              </a:rPr>
              <a:t>autoBindDlq</a:t>
            </a:r>
            <a:r>
              <a:rPr lang="en-IN" b="1" dirty="0">
                <a:solidFill>
                  <a:srgbClr val="C00000"/>
                </a:solidFill>
              </a:rPr>
              <a:t>: true</a:t>
            </a:r>
          </a:p>
          <a:p>
            <a:r>
              <a:rPr lang="en-IN" dirty="0"/>
              <a:t>👉 Creates:</a:t>
            </a:r>
          </a:p>
          <a:p>
            <a:r>
              <a:rPr lang="en-IN" dirty="0"/>
              <a:t>DLQ → </a:t>
            </a:r>
            <a:r>
              <a:rPr lang="en-IN" dirty="0" err="1"/>
              <a:t>orders.inventory.dlq</a:t>
            </a:r>
            <a:r>
              <a:rPr lang="en-IN" dirty="0"/>
              <a:t> </a:t>
            </a:r>
          </a:p>
          <a:p>
            <a:r>
              <a:rPr lang="en-IN" dirty="0"/>
              <a:t>DLX → Dead Letter Exchange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048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18AE-FAC6-91ED-EC09-21CBB70F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Retry + Backoff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6867B-270C-3E4D-8658-A0A42BEE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consumer: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maxAttempts</a:t>
            </a:r>
            <a:r>
              <a:rPr lang="en-US" dirty="0"/>
              <a:t>: 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735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C417-2EC5-F2A8-5792-FC491DCC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Queue 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F4F9-838A-9668-3941-039524D59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consumer:</a:t>
            </a:r>
            <a:br>
              <a:rPr lang="en-IN" dirty="0"/>
            </a:br>
            <a:r>
              <a:rPr lang="en-IN" dirty="0"/>
              <a:t>  durable: true</a:t>
            </a:r>
            <a:br>
              <a:rPr lang="en-IN" dirty="0"/>
            </a:br>
            <a:r>
              <a:rPr lang="en-IN" dirty="0"/>
              <a:t>  exclusive: false</a:t>
            </a:r>
            <a:br>
              <a:rPr lang="en-IN" dirty="0"/>
            </a:br>
            <a:r>
              <a:rPr lang="en-IN" dirty="0"/>
              <a:t>  </a:t>
            </a:r>
            <a:r>
              <a:rPr lang="en-IN" dirty="0" err="1"/>
              <a:t>autoDelete</a:t>
            </a:r>
            <a:r>
              <a:rPr lang="en-IN" dirty="0"/>
              <a:t>: false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576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1126</Words>
  <Application>Microsoft Office PowerPoint</Application>
  <PresentationFormat>Widescreen</PresentationFormat>
  <Paragraphs>197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Century Gothic</vt:lpstr>
      <vt:lpstr>Wingdings</vt:lpstr>
      <vt:lpstr>Wingdings 3</vt:lpstr>
      <vt:lpstr>Ion Boardroom</vt:lpstr>
      <vt:lpstr>Spring Cloud Stream</vt:lpstr>
      <vt:lpstr>Spring Cloud Stream?</vt:lpstr>
      <vt:lpstr>Why Do We Need It?</vt:lpstr>
      <vt:lpstr>With Spring Cloud Stream</vt:lpstr>
      <vt:lpstr>Core Components</vt:lpstr>
      <vt:lpstr>Core Components</vt:lpstr>
      <vt:lpstr>Core Components</vt:lpstr>
      <vt:lpstr>Core Components</vt:lpstr>
      <vt:lpstr>Producer</vt:lpstr>
      <vt:lpstr>Consumer</vt:lpstr>
      <vt:lpstr>Configuration</vt:lpstr>
      <vt:lpstr>How It Works Internally</vt:lpstr>
      <vt:lpstr>Message Structure</vt:lpstr>
      <vt:lpstr>Consumer Groups</vt:lpstr>
      <vt:lpstr>Partitioning (Scaling)</vt:lpstr>
      <vt:lpstr>Error Handling</vt:lpstr>
      <vt:lpstr>Multiple Binders</vt:lpstr>
      <vt:lpstr> Key Advantages</vt:lpstr>
      <vt:lpstr>Limitations</vt:lpstr>
      <vt:lpstr>When to Use It</vt:lpstr>
      <vt:lpstr>When NOT to Use It</vt:lpstr>
      <vt:lpstr>What RabbitMQ Binder Does</vt:lpstr>
      <vt:lpstr>PowerPoint Presentation</vt:lpstr>
      <vt:lpstr>What Gets Created Automatically</vt:lpstr>
      <vt:lpstr>Consumer Side</vt:lpstr>
      <vt:lpstr>Flow</vt:lpstr>
      <vt:lpstr>Exchange Types in Rabbit Binder</vt:lpstr>
      <vt:lpstr>Routing Keys in Binder</vt:lpstr>
      <vt:lpstr>Consumer Binding Key</vt:lpstr>
      <vt:lpstr>Binding Creation</vt:lpstr>
      <vt:lpstr>Fanout Behavior (Broadcast)</vt:lpstr>
      <vt:lpstr>Dead Letter Queue (DLQ)</vt:lpstr>
      <vt:lpstr>Retry + Backoff</vt:lpstr>
      <vt:lpstr>Queue Properties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34</cp:revision>
  <dcterms:created xsi:type="dcterms:W3CDTF">2026-03-25T04:04:07Z</dcterms:created>
  <dcterms:modified xsi:type="dcterms:W3CDTF">2026-03-25T04:30:53Z</dcterms:modified>
</cp:coreProperties>
</file>