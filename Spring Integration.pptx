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336" r:id="rId4"/>
    <p:sldId id="337" r:id="rId5"/>
    <p:sldId id="338" r:id="rId6"/>
    <p:sldId id="357"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8" r:id="rId21"/>
    <p:sldId id="359" r:id="rId22"/>
    <p:sldId id="360" r:id="rId23"/>
    <p:sldId id="361" r:id="rId24"/>
    <p:sldId id="362" r:id="rId25"/>
    <p:sldId id="363" r:id="rId26"/>
    <p:sldId id="364" r:id="rId27"/>
    <p:sldId id="365" r:id="rId28"/>
    <p:sldId id="258" r:id="rId29"/>
    <p:sldId id="259" r:id="rId30"/>
    <p:sldId id="260" r:id="rId31"/>
    <p:sldId id="261" r:id="rId32"/>
    <p:sldId id="262" r:id="rId33"/>
    <p:sldId id="263" r:id="rId34"/>
    <p:sldId id="264" r:id="rId35"/>
    <p:sldId id="265" r:id="rId36"/>
    <p:sldId id="317" r:id="rId37"/>
    <p:sldId id="266" r:id="rId38"/>
    <p:sldId id="267" r:id="rId39"/>
    <p:sldId id="268" r:id="rId40"/>
    <p:sldId id="269" r:id="rId41"/>
    <p:sldId id="320" r:id="rId42"/>
    <p:sldId id="322" r:id="rId43"/>
    <p:sldId id="327" r:id="rId44"/>
    <p:sldId id="323" r:id="rId45"/>
    <p:sldId id="324" r:id="rId46"/>
    <p:sldId id="325" r:id="rId47"/>
    <p:sldId id="321" r:id="rId48"/>
    <p:sldId id="326" r:id="rId49"/>
    <p:sldId id="270" r:id="rId50"/>
    <p:sldId id="271" r:id="rId51"/>
    <p:sldId id="272" r:id="rId52"/>
    <p:sldId id="273" r:id="rId53"/>
    <p:sldId id="274" r:id="rId54"/>
    <p:sldId id="275" r:id="rId55"/>
    <p:sldId id="276" r:id="rId56"/>
    <p:sldId id="277" r:id="rId57"/>
    <p:sldId id="318" r:id="rId58"/>
    <p:sldId id="278" r:id="rId59"/>
    <p:sldId id="279" r:id="rId60"/>
    <p:sldId id="319" r:id="rId61"/>
    <p:sldId id="328" r:id="rId62"/>
    <p:sldId id="329" r:id="rId63"/>
    <p:sldId id="330" r:id="rId64"/>
    <p:sldId id="331" r:id="rId65"/>
    <p:sldId id="356" r:id="rId66"/>
    <p:sldId id="355" r:id="rId67"/>
    <p:sldId id="352" r:id="rId68"/>
    <p:sldId id="332" r:id="rId69"/>
    <p:sldId id="353" r:id="rId70"/>
    <p:sldId id="354" r:id="rId71"/>
    <p:sldId id="333" r:id="rId72"/>
    <p:sldId id="334" r:id="rId73"/>
    <p:sldId id="335"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p:scale>
          <a:sx n="82" d="100"/>
          <a:sy n="82" d="100"/>
        </p:scale>
        <p:origin x="290"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1134E-AE91-6FC2-08AB-3D74B0987829}"/>
              </a:ext>
            </a:extLst>
          </p:cNvPr>
          <p:cNvSpPr>
            <a:spLocks noGrp="1"/>
          </p:cNvSpPr>
          <p:nvPr>
            <p:ph type="ctrTitle"/>
          </p:nvPr>
        </p:nvSpPr>
        <p:spPr/>
        <p:txBody>
          <a:bodyPr/>
          <a:lstStyle/>
          <a:p>
            <a:r>
              <a:rPr lang="en-IN" dirty="0"/>
              <a:t>Spring Integration</a:t>
            </a:r>
          </a:p>
        </p:txBody>
      </p:sp>
      <p:sp>
        <p:nvSpPr>
          <p:cNvPr id="3" name="Subtitle 2">
            <a:extLst>
              <a:ext uri="{FF2B5EF4-FFF2-40B4-BE49-F238E27FC236}">
                <a16:creationId xmlns:a16="http://schemas.microsoft.com/office/drawing/2014/main" id="{96DD1AD6-357B-E519-DDFD-FC2DCA92C295}"/>
              </a:ext>
            </a:extLst>
          </p:cNvPr>
          <p:cNvSpPr>
            <a:spLocks noGrp="1"/>
          </p:cNvSpPr>
          <p:nvPr>
            <p:ph type="subTitle" idx="1"/>
          </p:nvPr>
        </p:nvSpPr>
        <p:spPr/>
        <p:txBody>
          <a:bodyPr/>
          <a:lstStyle/>
          <a:p>
            <a:r>
              <a:rPr lang="en-IN" dirty="0"/>
              <a:t>Anju munoth</a:t>
            </a:r>
          </a:p>
        </p:txBody>
      </p:sp>
    </p:spTree>
    <p:extLst>
      <p:ext uri="{BB962C8B-B14F-4D97-AF65-F5344CB8AC3E}">
        <p14:creationId xmlns:p14="http://schemas.microsoft.com/office/powerpoint/2010/main" val="2302576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483D2-A61D-6286-43E1-3E6C05A121FE}"/>
              </a:ext>
            </a:extLst>
          </p:cNvPr>
          <p:cNvSpPr>
            <a:spLocks noGrp="1"/>
          </p:cNvSpPr>
          <p:nvPr>
            <p:ph type="title"/>
          </p:nvPr>
        </p:nvSpPr>
        <p:spPr/>
        <p:txBody>
          <a:bodyPr/>
          <a:lstStyle/>
          <a:p>
            <a:r>
              <a:rPr lang="en-US" b="1" dirty="0"/>
              <a:t>Spring Integration</a:t>
            </a:r>
            <a:endParaRPr lang="en-IN" b="1" dirty="0"/>
          </a:p>
        </p:txBody>
      </p:sp>
      <p:sp>
        <p:nvSpPr>
          <p:cNvPr id="3" name="Content Placeholder 2">
            <a:extLst>
              <a:ext uri="{FF2B5EF4-FFF2-40B4-BE49-F238E27FC236}">
                <a16:creationId xmlns:a16="http://schemas.microsoft.com/office/drawing/2014/main" id="{D2AB45D2-79B7-2B8A-2B1E-BD56DB394D75}"/>
              </a:ext>
            </a:extLst>
          </p:cNvPr>
          <p:cNvSpPr>
            <a:spLocks noGrp="1"/>
          </p:cNvSpPr>
          <p:nvPr>
            <p:ph idx="1"/>
          </p:nvPr>
        </p:nvSpPr>
        <p:spPr>
          <a:xfrm>
            <a:off x="1154954" y="2603500"/>
            <a:ext cx="10116126" cy="3787520"/>
          </a:xfrm>
        </p:spPr>
        <p:txBody>
          <a:bodyPr>
            <a:normAutofit/>
          </a:bodyPr>
          <a:lstStyle/>
          <a:p>
            <a:r>
              <a:rPr lang="en-US" dirty="0"/>
              <a:t>Spring Integration is an extension of the Spring programming model that supports Enterprise Integration Patterns (EIP).</a:t>
            </a:r>
          </a:p>
          <a:p>
            <a:r>
              <a:rPr lang="en-US" dirty="0"/>
              <a:t>Enables </a:t>
            </a:r>
            <a:r>
              <a:rPr lang="en-US" b="1" dirty="0"/>
              <a:t>lightweight messaging</a:t>
            </a:r>
            <a:r>
              <a:rPr lang="en-US" dirty="0"/>
              <a:t> within Spring-based applications and facilitates integration with external systems through </a:t>
            </a:r>
            <a:r>
              <a:rPr lang="en-US" b="1" dirty="0"/>
              <a:t>declarative adapters. </a:t>
            </a:r>
          </a:p>
          <a:p>
            <a:r>
              <a:rPr lang="en-US" dirty="0"/>
              <a:t>These adapters provide a higher level of abstraction over Spring’s support for remoting, messaging, and scheduling.</a:t>
            </a:r>
          </a:p>
          <a:p>
            <a:r>
              <a:rPr lang="en-US" dirty="0"/>
              <a:t>Provide a simple model for building enterprise integration solutions while maintaining the separation of concerns that is essential for producing maintainable, testable code</a:t>
            </a:r>
          </a:p>
        </p:txBody>
      </p:sp>
    </p:spTree>
    <p:extLst>
      <p:ext uri="{BB962C8B-B14F-4D97-AF65-F5344CB8AC3E}">
        <p14:creationId xmlns:p14="http://schemas.microsoft.com/office/powerpoint/2010/main" val="2355969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F2E2-4224-048B-60BE-D980CDEBD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1A848-AEB7-9E1E-C205-FE6BD1386951}"/>
              </a:ext>
            </a:extLst>
          </p:cNvPr>
          <p:cNvSpPr>
            <a:spLocks noGrp="1"/>
          </p:cNvSpPr>
          <p:nvPr>
            <p:ph type="title"/>
          </p:nvPr>
        </p:nvSpPr>
        <p:spPr/>
        <p:txBody>
          <a:bodyPr/>
          <a:lstStyle/>
          <a:p>
            <a:r>
              <a:rPr lang="en-US" dirty="0"/>
              <a:t>Spring Integration</a:t>
            </a:r>
            <a:endParaRPr lang="en-IN" dirty="0"/>
          </a:p>
        </p:txBody>
      </p:sp>
      <p:sp>
        <p:nvSpPr>
          <p:cNvPr id="3" name="Content Placeholder 2">
            <a:extLst>
              <a:ext uri="{FF2B5EF4-FFF2-40B4-BE49-F238E27FC236}">
                <a16:creationId xmlns:a16="http://schemas.microsoft.com/office/drawing/2014/main" id="{2B8E3CE9-3DD1-A3C3-C9A6-47174C906DD7}"/>
              </a:ext>
            </a:extLst>
          </p:cNvPr>
          <p:cNvSpPr>
            <a:spLocks noGrp="1"/>
          </p:cNvSpPr>
          <p:nvPr>
            <p:ph idx="1"/>
          </p:nvPr>
        </p:nvSpPr>
        <p:spPr>
          <a:xfrm>
            <a:off x="1154954" y="2603500"/>
            <a:ext cx="10289042" cy="3988578"/>
          </a:xfrm>
        </p:spPr>
        <p:txBody>
          <a:bodyPr/>
          <a:lstStyle/>
          <a:p>
            <a:r>
              <a:rPr lang="en-US" b="1" dirty="0"/>
              <a:t>Spring Integration</a:t>
            </a:r>
            <a:r>
              <a:rPr lang="en-US" dirty="0"/>
              <a:t> is a Spring-based framework for building </a:t>
            </a:r>
            <a:r>
              <a:rPr lang="en-US" b="1" dirty="0"/>
              <a:t>message-driven applications</a:t>
            </a:r>
            <a:r>
              <a:rPr lang="en-US" dirty="0"/>
              <a:t> and connecting </a:t>
            </a:r>
            <a:r>
              <a:rPr lang="en-US" b="1" dirty="0"/>
              <a:t>different systems/apps/services</a:t>
            </a:r>
            <a:r>
              <a:rPr lang="en-US" dirty="0"/>
              <a:t> without tightly coupling them.</a:t>
            </a:r>
          </a:p>
          <a:p>
            <a:pPr marL="0" indent="0">
              <a:buNone/>
            </a:pPr>
            <a:r>
              <a:rPr lang="en-US" dirty="0"/>
              <a:t>Think of it like this:</a:t>
            </a:r>
          </a:p>
          <a:p>
            <a:r>
              <a:rPr lang="en-US" dirty="0"/>
              <a:t>app has to talk to databases, REST APIs, file systems, email servers, Kafka/RabbitMQ, FTP, legacy apps, and internal modules. </a:t>
            </a:r>
          </a:p>
          <a:p>
            <a:r>
              <a:rPr lang="en-US" dirty="0"/>
              <a:t>Instead of writing messy custom glue code everywhere, Spring Integration gives you a clean way to connect them using </a:t>
            </a:r>
            <a:r>
              <a:rPr lang="en-US" b="1" dirty="0"/>
              <a:t>Enterprise Integration Patterns (EIP)</a:t>
            </a:r>
            <a:r>
              <a:rPr lang="en-US" dirty="0"/>
              <a:t>.</a:t>
            </a:r>
            <a:endParaRPr lang="en-IN" dirty="0"/>
          </a:p>
        </p:txBody>
      </p:sp>
    </p:spTree>
    <p:extLst>
      <p:ext uri="{BB962C8B-B14F-4D97-AF65-F5344CB8AC3E}">
        <p14:creationId xmlns:p14="http://schemas.microsoft.com/office/powerpoint/2010/main" val="4220807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30439-8E12-4470-76E2-F963E00EE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B76C5-C2FE-B73C-FBD7-87FE79A52878}"/>
              </a:ext>
            </a:extLst>
          </p:cNvPr>
          <p:cNvSpPr>
            <a:spLocks noGrp="1"/>
          </p:cNvSpPr>
          <p:nvPr>
            <p:ph type="title"/>
          </p:nvPr>
        </p:nvSpPr>
        <p:spPr/>
        <p:txBody>
          <a:bodyPr/>
          <a:lstStyle/>
          <a:p>
            <a:r>
              <a:rPr lang="en-US" dirty="0"/>
              <a:t>Spring Integration</a:t>
            </a:r>
            <a:endParaRPr lang="en-IN" dirty="0"/>
          </a:p>
        </p:txBody>
      </p:sp>
      <p:sp>
        <p:nvSpPr>
          <p:cNvPr id="3" name="Content Placeholder 2">
            <a:extLst>
              <a:ext uri="{FF2B5EF4-FFF2-40B4-BE49-F238E27FC236}">
                <a16:creationId xmlns:a16="http://schemas.microsoft.com/office/drawing/2014/main" id="{E0BED3F7-8473-5073-609F-3ABA19BAE163}"/>
              </a:ext>
            </a:extLst>
          </p:cNvPr>
          <p:cNvSpPr>
            <a:spLocks noGrp="1"/>
          </p:cNvSpPr>
          <p:nvPr>
            <p:ph idx="1"/>
          </p:nvPr>
        </p:nvSpPr>
        <p:spPr>
          <a:xfrm>
            <a:off x="1154954" y="2603500"/>
            <a:ext cx="10289042" cy="3988578"/>
          </a:xfrm>
        </p:spPr>
        <p:txBody>
          <a:bodyPr/>
          <a:lstStyle/>
          <a:p>
            <a:r>
              <a:rPr lang="en-US" dirty="0"/>
              <a:t>Helps you move data from </a:t>
            </a:r>
            <a:r>
              <a:rPr lang="en-US" b="1" dirty="0"/>
              <a:t>Point A to Point B</a:t>
            </a:r>
            <a:r>
              <a:rPr lang="en-US" dirty="0"/>
              <a:t> and transform/process it on the way.</a:t>
            </a:r>
          </a:p>
          <a:p>
            <a:pPr marL="0" indent="0">
              <a:buNone/>
            </a:pPr>
            <a:r>
              <a:rPr lang="en-US" dirty="0"/>
              <a:t>For example:</a:t>
            </a:r>
          </a:p>
          <a:p>
            <a:pPr>
              <a:buFont typeface="Wingdings" panose="05000000000000000000" pitchFamily="2" charset="2"/>
              <a:buChar char="q"/>
            </a:pPr>
            <a:r>
              <a:rPr lang="en-US" dirty="0"/>
              <a:t>read a file from a folder </a:t>
            </a:r>
          </a:p>
          <a:p>
            <a:pPr>
              <a:buFont typeface="Wingdings" panose="05000000000000000000" pitchFamily="2" charset="2"/>
              <a:buChar char="q"/>
            </a:pPr>
            <a:r>
              <a:rPr lang="en-US" dirty="0"/>
              <a:t>convert it to JSON </a:t>
            </a:r>
          </a:p>
          <a:p>
            <a:pPr>
              <a:buFont typeface="Wingdings" panose="05000000000000000000" pitchFamily="2" charset="2"/>
              <a:buChar char="q"/>
            </a:pPr>
            <a:r>
              <a:rPr lang="en-US" dirty="0"/>
              <a:t>validate it </a:t>
            </a:r>
          </a:p>
          <a:p>
            <a:pPr>
              <a:buFont typeface="Wingdings" panose="05000000000000000000" pitchFamily="2" charset="2"/>
              <a:buChar char="q"/>
            </a:pPr>
            <a:r>
              <a:rPr lang="en-US" dirty="0"/>
              <a:t>send it to a queue </a:t>
            </a:r>
          </a:p>
          <a:p>
            <a:pPr>
              <a:buFont typeface="Wingdings" panose="05000000000000000000" pitchFamily="2" charset="2"/>
              <a:buChar char="q"/>
            </a:pPr>
            <a:r>
              <a:rPr lang="en-US" dirty="0"/>
              <a:t>call another service </a:t>
            </a:r>
          </a:p>
          <a:p>
            <a:pPr>
              <a:buFont typeface="Wingdings" panose="05000000000000000000" pitchFamily="2" charset="2"/>
              <a:buChar char="q"/>
            </a:pPr>
            <a:r>
              <a:rPr lang="en-US" dirty="0"/>
              <a:t>store the result in DB </a:t>
            </a:r>
          </a:p>
          <a:p>
            <a:pPr>
              <a:buFont typeface="Wingdings" panose="05000000000000000000" pitchFamily="2" charset="2"/>
              <a:buChar char="q"/>
            </a:pPr>
            <a:r>
              <a:rPr lang="en-US" dirty="0"/>
              <a:t>notify someone by email </a:t>
            </a:r>
          </a:p>
          <a:p>
            <a:r>
              <a:rPr lang="en-US" dirty="0"/>
              <a:t>That whole pipeline can be built using Spring Integration.</a:t>
            </a:r>
          </a:p>
          <a:p>
            <a:endParaRPr lang="en-IN" dirty="0"/>
          </a:p>
        </p:txBody>
      </p:sp>
    </p:spTree>
    <p:extLst>
      <p:ext uri="{BB962C8B-B14F-4D97-AF65-F5344CB8AC3E}">
        <p14:creationId xmlns:p14="http://schemas.microsoft.com/office/powerpoint/2010/main" val="1797868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26638-7684-BCBF-4F61-898870A2F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5400B-0801-FB13-8549-080243B5697E}"/>
              </a:ext>
            </a:extLst>
          </p:cNvPr>
          <p:cNvSpPr>
            <a:spLocks noGrp="1"/>
          </p:cNvSpPr>
          <p:nvPr>
            <p:ph type="title"/>
          </p:nvPr>
        </p:nvSpPr>
        <p:spPr/>
        <p:txBody>
          <a:bodyPr/>
          <a:lstStyle/>
          <a:p>
            <a:r>
              <a:rPr lang="en-US" b="1" dirty="0"/>
              <a:t>Why is it required?</a:t>
            </a:r>
            <a:endParaRPr lang="en-IN" dirty="0"/>
          </a:p>
        </p:txBody>
      </p:sp>
      <p:sp>
        <p:nvSpPr>
          <p:cNvPr id="3" name="Content Placeholder 2">
            <a:extLst>
              <a:ext uri="{FF2B5EF4-FFF2-40B4-BE49-F238E27FC236}">
                <a16:creationId xmlns:a16="http://schemas.microsoft.com/office/drawing/2014/main" id="{FBAD72C6-4D84-72D4-23A7-439F9BF6C8B6}"/>
              </a:ext>
            </a:extLst>
          </p:cNvPr>
          <p:cNvSpPr>
            <a:spLocks noGrp="1"/>
          </p:cNvSpPr>
          <p:nvPr>
            <p:ph idx="1"/>
          </p:nvPr>
        </p:nvSpPr>
        <p:spPr>
          <a:xfrm>
            <a:off x="1154954" y="2603500"/>
            <a:ext cx="10289042" cy="3988578"/>
          </a:xfrm>
        </p:spPr>
        <p:txBody>
          <a:bodyPr>
            <a:normAutofit/>
          </a:bodyPr>
          <a:lstStyle/>
          <a:p>
            <a:r>
              <a:rPr lang="en-US" dirty="0"/>
              <a:t>Without a framework like Spring Integration, you often end up with:</a:t>
            </a:r>
          </a:p>
          <a:p>
            <a:pPr>
              <a:buFont typeface="Wingdings" panose="05000000000000000000" pitchFamily="2" charset="2"/>
              <a:buChar char="Ø"/>
            </a:pPr>
            <a:r>
              <a:rPr lang="en-US" dirty="0"/>
              <a:t>tightly coupled code </a:t>
            </a:r>
          </a:p>
          <a:p>
            <a:pPr>
              <a:buFont typeface="Wingdings" panose="05000000000000000000" pitchFamily="2" charset="2"/>
              <a:buChar char="Ø"/>
            </a:pPr>
            <a:r>
              <a:rPr lang="en-US" dirty="0"/>
              <a:t>duplicated integration logic </a:t>
            </a:r>
          </a:p>
          <a:p>
            <a:pPr>
              <a:buFont typeface="Wingdings" panose="05000000000000000000" pitchFamily="2" charset="2"/>
              <a:buChar char="Ø"/>
            </a:pPr>
            <a:r>
              <a:rPr lang="en-US" dirty="0"/>
              <a:t>hard-to-maintain workflows </a:t>
            </a:r>
          </a:p>
          <a:p>
            <a:pPr>
              <a:buFont typeface="Wingdings" panose="05000000000000000000" pitchFamily="2" charset="2"/>
              <a:buChar char="Ø"/>
            </a:pPr>
            <a:r>
              <a:rPr lang="en-US" dirty="0"/>
              <a:t>poor retry/error handling </a:t>
            </a:r>
          </a:p>
          <a:p>
            <a:pPr>
              <a:buFont typeface="Wingdings" panose="05000000000000000000" pitchFamily="2" charset="2"/>
              <a:buChar char="Ø"/>
            </a:pPr>
            <a:r>
              <a:rPr lang="en-US" dirty="0"/>
              <a:t>difficulty scaling async flows</a:t>
            </a:r>
          </a:p>
          <a:p>
            <a:endParaRPr lang="en-IN" dirty="0"/>
          </a:p>
        </p:txBody>
      </p:sp>
    </p:spTree>
    <p:extLst>
      <p:ext uri="{BB962C8B-B14F-4D97-AF65-F5344CB8AC3E}">
        <p14:creationId xmlns:p14="http://schemas.microsoft.com/office/powerpoint/2010/main" val="2778672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86393-EB0B-C19E-683C-6595742BE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696A5-1181-D084-6D90-C24072A87095}"/>
              </a:ext>
            </a:extLst>
          </p:cNvPr>
          <p:cNvSpPr>
            <a:spLocks noGrp="1"/>
          </p:cNvSpPr>
          <p:nvPr>
            <p:ph type="title"/>
          </p:nvPr>
        </p:nvSpPr>
        <p:spPr/>
        <p:txBody>
          <a:bodyPr/>
          <a:lstStyle/>
          <a:p>
            <a:r>
              <a:rPr lang="en-US" b="1" dirty="0"/>
              <a:t>Why is it required?</a:t>
            </a:r>
            <a:endParaRPr lang="en-IN" dirty="0"/>
          </a:p>
        </p:txBody>
      </p:sp>
      <p:sp>
        <p:nvSpPr>
          <p:cNvPr id="3" name="Content Placeholder 2">
            <a:extLst>
              <a:ext uri="{FF2B5EF4-FFF2-40B4-BE49-F238E27FC236}">
                <a16:creationId xmlns:a16="http://schemas.microsoft.com/office/drawing/2014/main" id="{41640CF4-F712-5187-EE9F-0D4DCF1E4AE4}"/>
              </a:ext>
            </a:extLst>
          </p:cNvPr>
          <p:cNvSpPr>
            <a:spLocks noGrp="1"/>
          </p:cNvSpPr>
          <p:nvPr>
            <p:ph idx="1"/>
          </p:nvPr>
        </p:nvSpPr>
        <p:spPr>
          <a:xfrm>
            <a:off x="1154954" y="2603500"/>
            <a:ext cx="10289042" cy="3988578"/>
          </a:xfrm>
        </p:spPr>
        <p:txBody>
          <a:bodyPr>
            <a:normAutofit/>
          </a:bodyPr>
          <a:lstStyle/>
          <a:p>
            <a:r>
              <a:rPr lang="en-US" dirty="0"/>
              <a:t>In real projects, systems are rarely standalone. Usually need to integrate:</a:t>
            </a:r>
          </a:p>
          <a:p>
            <a:pPr>
              <a:buFont typeface="Wingdings" panose="05000000000000000000" pitchFamily="2" charset="2"/>
              <a:buChar char="q"/>
            </a:pPr>
            <a:r>
              <a:rPr lang="en-US" dirty="0"/>
              <a:t>internal microservices </a:t>
            </a:r>
          </a:p>
          <a:p>
            <a:pPr>
              <a:buFont typeface="Wingdings" panose="05000000000000000000" pitchFamily="2" charset="2"/>
              <a:buChar char="q"/>
            </a:pPr>
            <a:r>
              <a:rPr lang="en-US" dirty="0"/>
              <a:t>third-party APIs </a:t>
            </a:r>
          </a:p>
          <a:p>
            <a:pPr>
              <a:buFont typeface="Wingdings" panose="05000000000000000000" pitchFamily="2" charset="2"/>
              <a:buChar char="q"/>
            </a:pPr>
            <a:r>
              <a:rPr lang="en-US" dirty="0"/>
              <a:t>payment gateways </a:t>
            </a:r>
          </a:p>
          <a:p>
            <a:pPr>
              <a:buFont typeface="Wingdings" panose="05000000000000000000" pitchFamily="2" charset="2"/>
              <a:buChar char="q"/>
            </a:pPr>
            <a:r>
              <a:rPr lang="en-US" dirty="0"/>
              <a:t>message brokers </a:t>
            </a:r>
          </a:p>
          <a:p>
            <a:pPr>
              <a:buFont typeface="Wingdings" panose="05000000000000000000" pitchFamily="2" charset="2"/>
              <a:buChar char="q"/>
            </a:pPr>
            <a:r>
              <a:rPr lang="en-US" dirty="0"/>
              <a:t>legacy systems </a:t>
            </a:r>
          </a:p>
          <a:p>
            <a:pPr>
              <a:buFont typeface="Wingdings" panose="05000000000000000000" pitchFamily="2" charset="2"/>
              <a:buChar char="q"/>
            </a:pPr>
            <a:r>
              <a:rPr lang="en-US" dirty="0"/>
              <a:t>ERP/CRM platforms </a:t>
            </a:r>
          </a:p>
          <a:p>
            <a:pPr>
              <a:buFont typeface="Wingdings" panose="05000000000000000000" pitchFamily="2" charset="2"/>
              <a:buChar char="q"/>
            </a:pPr>
            <a:r>
              <a:rPr lang="en-US" dirty="0"/>
              <a:t>file-based batch systems </a:t>
            </a:r>
          </a:p>
          <a:p>
            <a:pPr>
              <a:buFont typeface="Wingdings" panose="05000000000000000000" pitchFamily="2" charset="2"/>
              <a:buChar char="q"/>
            </a:pPr>
            <a:r>
              <a:rPr lang="en-US" dirty="0"/>
              <a:t>email/SMS systems </a:t>
            </a:r>
          </a:p>
          <a:p>
            <a:endParaRPr lang="en-IN" dirty="0"/>
          </a:p>
        </p:txBody>
      </p:sp>
    </p:spTree>
    <p:extLst>
      <p:ext uri="{BB962C8B-B14F-4D97-AF65-F5344CB8AC3E}">
        <p14:creationId xmlns:p14="http://schemas.microsoft.com/office/powerpoint/2010/main" val="146356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79CE6-CCB7-9798-68F8-CFB9E270C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65821-1D67-9ED6-455B-BCA56FB2AC3F}"/>
              </a:ext>
            </a:extLst>
          </p:cNvPr>
          <p:cNvSpPr>
            <a:spLocks noGrp="1"/>
          </p:cNvSpPr>
          <p:nvPr>
            <p:ph type="title"/>
          </p:nvPr>
        </p:nvSpPr>
        <p:spPr/>
        <p:txBody>
          <a:bodyPr/>
          <a:lstStyle/>
          <a:p>
            <a:r>
              <a:rPr lang="en-IN" dirty="0"/>
              <a:t>Features of Spring Integration</a:t>
            </a:r>
          </a:p>
        </p:txBody>
      </p:sp>
      <p:sp>
        <p:nvSpPr>
          <p:cNvPr id="3" name="Content Placeholder 2">
            <a:extLst>
              <a:ext uri="{FF2B5EF4-FFF2-40B4-BE49-F238E27FC236}">
                <a16:creationId xmlns:a16="http://schemas.microsoft.com/office/drawing/2014/main" id="{1E2EAE6E-3298-B5B6-102B-88FC2DBD448C}"/>
              </a:ext>
            </a:extLst>
          </p:cNvPr>
          <p:cNvSpPr>
            <a:spLocks noGrp="1"/>
          </p:cNvSpPr>
          <p:nvPr>
            <p:ph idx="1"/>
          </p:nvPr>
        </p:nvSpPr>
        <p:spPr>
          <a:xfrm>
            <a:off x="1154954" y="2603500"/>
            <a:ext cx="10289042" cy="3988578"/>
          </a:xfrm>
        </p:spPr>
        <p:txBody>
          <a:bodyPr/>
          <a:lstStyle/>
          <a:p>
            <a:pPr marL="0" indent="0">
              <a:buNone/>
            </a:pPr>
            <a:r>
              <a:rPr lang="en-IN" b="1" dirty="0"/>
              <a:t>1. Loose coupling</a:t>
            </a:r>
          </a:p>
          <a:p>
            <a:r>
              <a:rPr lang="en-IN" dirty="0"/>
              <a:t>Components communicate through </a:t>
            </a:r>
            <a:r>
              <a:rPr lang="en-IN" b="1" dirty="0"/>
              <a:t>messages</a:t>
            </a:r>
            <a:r>
              <a:rPr lang="en-IN" dirty="0"/>
              <a:t>, not direct method calls.</a:t>
            </a:r>
          </a:p>
          <a:p>
            <a:pPr marL="0" indent="0">
              <a:buNone/>
            </a:pPr>
            <a:r>
              <a:rPr lang="en-IN" b="1" dirty="0"/>
              <a:t>2. Reusable integration flows</a:t>
            </a:r>
          </a:p>
          <a:p>
            <a:r>
              <a:rPr lang="en-IN" dirty="0"/>
              <a:t>You can define pipelines for routing, filtering, transformation, enrichment, splitting, aggregation, etc.</a:t>
            </a:r>
          </a:p>
          <a:p>
            <a:pPr marL="0" indent="0">
              <a:buNone/>
            </a:pPr>
            <a:r>
              <a:rPr lang="en-IN" b="1" dirty="0"/>
              <a:t>3. Asynchronous processing</a:t>
            </a:r>
          </a:p>
          <a:p>
            <a:r>
              <a:rPr lang="en-IN" dirty="0"/>
              <a:t>Very useful for event-driven and high-throughput systems.</a:t>
            </a:r>
          </a:p>
          <a:p>
            <a:endParaRPr lang="en-IN" dirty="0"/>
          </a:p>
        </p:txBody>
      </p:sp>
    </p:spTree>
    <p:extLst>
      <p:ext uri="{BB962C8B-B14F-4D97-AF65-F5344CB8AC3E}">
        <p14:creationId xmlns:p14="http://schemas.microsoft.com/office/powerpoint/2010/main" val="979464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12DF-4025-A532-693D-8E14114FF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6F3CC-5A19-5EF3-2854-21B9D53B1FFC}"/>
              </a:ext>
            </a:extLst>
          </p:cNvPr>
          <p:cNvSpPr>
            <a:spLocks noGrp="1"/>
          </p:cNvSpPr>
          <p:nvPr>
            <p:ph type="title"/>
          </p:nvPr>
        </p:nvSpPr>
        <p:spPr/>
        <p:txBody>
          <a:bodyPr/>
          <a:lstStyle/>
          <a:p>
            <a:r>
              <a:rPr lang="en-IN" dirty="0"/>
              <a:t>Features of Spring Integration</a:t>
            </a:r>
          </a:p>
        </p:txBody>
      </p:sp>
      <p:sp>
        <p:nvSpPr>
          <p:cNvPr id="3" name="Content Placeholder 2">
            <a:extLst>
              <a:ext uri="{FF2B5EF4-FFF2-40B4-BE49-F238E27FC236}">
                <a16:creationId xmlns:a16="http://schemas.microsoft.com/office/drawing/2014/main" id="{D013E1C3-E8DA-9EAF-0A6E-56A79860868B}"/>
              </a:ext>
            </a:extLst>
          </p:cNvPr>
          <p:cNvSpPr>
            <a:spLocks noGrp="1"/>
          </p:cNvSpPr>
          <p:nvPr>
            <p:ph idx="1"/>
          </p:nvPr>
        </p:nvSpPr>
        <p:spPr>
          <a:xfrm>
            <a:off x="1154954" y="2603500"/>
            <a:ext cx="10289042" cy="3988578"/>
          </a:xfrm>
        </p:spPr>
        <p:txBody>
          <a:bodyPr>
            <a:normAutofit/>
          </a:bodyPr>
          <a:lstStyle/>
          <a:p>
            <a:pPr marL="0" indent="0">
              <a:buNone/>
            </a:pPr>
            <a:r>
              <a:rPr lang="en-IN" b="1" dirty="0"/>
              <a:t>4. Easy connectivity</a:t>
            </a:r>
          </a:p>
          <a:p>
            <a:r>
              <a:rPr lang="en-IN" dirty="0"/>
              <a:t>Supports many adapters like:</a:t>
            </a:r>
          </a:p>
          <a:p>
            <a:pPr marL="0" indent="0">
              <a:buNone/>
            </a:pPr>
            <a:r>
              <a:rPr lang="en-IN" dirty="0"/>
              <a:t>HTTP ,JMS , Kafka , AMQP/RabbitMQ , FTP/SFTP ,File , Mail ,TCP/UDP ,</a:t>
            </a:r>
            <a:r>
              <a:rPr lang="en-IN" dirty="0" err="1"/>
              <a:t>WebSockets</a:t>
            </a:r>
            <a:r>
              <a:rPr lang="en-IN" dirty="0"/>
              <a:t> </a:t>
            </a:r>
          </a:p>
          <a:p>
            <a:pPr marL="0" indent="0">
              <a:buNone/>
            </a:pPr>
            <a:r>
              <a:rPr lang="en-IN" b="1" dirty="0"/>
              <a:t>5. Better reliability</a:t>
            </a:r>
          </a:p>
          <a:p>
            <a:r>
              <a:rPr lang="en-IN" dirty="0"/>
              <a:t>Det retries, error channels, dead-letter style handling, throttling patterns, polling, etc.</a:t>
            </a:r>
          </a:p>
          <a:p>
            <a:pPr marL="0" indent="0">
              <a:buNone/>
            </a:pPr>
            <a:r>
              <a:rPr lang="en-IN" b="1" dirty="0"/>
              <a:t>6. Cleaner architecture</a:t>
            </a:r>
          </a:p>
          <a:p>
            <a:r>
              <a:rPr lang="en-IN" dirty="0"/>
              <a:t>Business logic stays separate from integration plumbing.</a:t>
            </a:r>
          </a:p>
          <a:p>
            <a:endParaRPr lang="en-IN" dirty="0"/>
          </a:p>
        </p:txBody>
      </p:sp>
    </p:spTree>
    <p:extLst>
      <p:ext uri="{BB962C8B-B14F-4D97-AF65-F5344CB8AC3E}">
        <p14:creationId xmlns:p14="http://schemas.microsoft.com/office/powerpoint/2010/main" val="1845957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70FB-F1FB-F2AA-56DE-9059F31D0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BF0C1-9B5E-FC5F-2538-B09993101443}"/>
              </a:ext>
            </a:extLst>
          </p:cNvPr>
          <p:cNvSpPr>
            <a:spLocks noGrp="1"/>
          </p:cNvSpPr>
          <p:nvPr>
            <p:ph type="title"/>
          </p:nvPr>
        </p:nvSpPr>
        <p:spPr/>
        <p:txBody>
          <a:bodyPr/>
          <a:lstStyle/>
          <a:p>
            <a:r>
              <a:rPr lang="en-US" b="1" dirty="0"/>
              <a:t>Core idea: Message-based architecture</a:t>
            </a:r>
            <a:endParaRPr lang="en-IN" dirty="0"/>
          </a:p>
        </p:txBody>
      </p:sp>
      <p:sp>
        <p:nvSpPr>
          <p:cNvPr id="3" name="Content Placeholder 2">
            <a:extLst>
              <a:ext uri="{FF2B5EF4-FFF2-40B4-BE49-F238E27FC236}">
                <a16:creationId xmlns:a16="http://schemas.microsoft.com/office/drawing/2014/main" id="{79EE1538-16FF-3718-2030-9D6D3A85781C}"/>
              </a:ext>
            </a:extLst>
          </p:cNvPr>
          <p:cNvSpPr>
            <a:spLocks noGrp="1"/>
          </p:cNvSpPr>
          <p:nvPr>
            <p:ph idx="1"/>
          </p:nvPr>
        </p:nvSpPr>
        <p:spPr>
          <a:xfrm>
            <a:off x="1154954" y="2603500"/>
            <a:ext cx="10289042" cy="3988578"/>
          </a:xfrm>
        </p:spPr>
        <p:txBody>
          <a:bodyPr/>
          <a:lstStyle/>
          <a:p>
            <a:r>
              <a:rPr lang="en-US" dirty="0"/>
              <a:t>In Spring Integration, data usually moves as a </a:t>
            </a:r>
            <a:r>
              <a:rPr lang="en-US" b="1" dirty="0"/>
              <a:t>Message</a:t>
            </a:r>
            <a:r>
              <a:rPr lang="en-US" dirty="0"/>
              <a:t>:</a:t>
            </a:r>
          </a:p>
          <a:p>
            <a:r>
              <a:rPr lang="en-US" b="1" dirty="0"/>
              <a:t>Payload</a:t>
            </a:r>
            <a:r>
              <a:rPr lang="en-US" dirty="0"/>
              <a:t> → actual data </a:t>
            </a:r>
          </a:p>
          <a:p>
            <a:r>
              <a:rPr lang="en-US" b="1" dirty="0"/>
              <a:t>Headers</a:t>
            </a:r>
            <a:r>
              <a:rPr lang="en-US" dirty="0"/>
              <a:t> → metadata like source, timestamp, type, correlation ID </a:t>
            </a:r>
          </a:p>
          <a:p>
            <a:r>
              <a:rPr lang="en-US" dirty="0"/>
              <a:t>This message passes through channels and components.</a:t>
            </a:r>
          </a:p>
          <a:p>
            <a:endParaRPr lang="en-IN" dirty="0"/>
          </a:p>
        </p:txBody>
      </p:sp>
    </p:spTree>
    <p:extLst>
      <p:ext uri="{BB962C8B-B14F-4D97-AF65-F5344CB8AC3E}">
        <p14:creationId xmlns:p14="http://schemas.microsoft.com/office/powerpoint/2010/main" val="1536558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A2F3E-1051-82E3-A582-66557C24B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474BC-D4CF-4C44-5503-25EEFAAADD4A}"/>
              </a:ext>
            </a:extLst>
          </p:cNvPr>
          <p:cNvSpPr>
            <a:spLocks noGrp="1"/>
          </p:cNvSpPr>
          <p:nvPr>
            <p:ph type="title"/>
          </p:nvPr>
        </p:nvSpPr>
        <p:spPr/>
        <p:txBody>
          <a:bodyPr/>
          <a:lstStyle/>
          <a:p>
            <a:r>
              <a:rPr lang="en-IN" dirty="0"/>
              <a:t>Common building blocks:</a:t>
            </a:r>
          </a:p>
        </p:txBody>
      </p:sp>
      <p:sp>
        <p:nvSpPr>
          <p:cNvPr id="3" name="Content Placeholder 2">
            <a:extLst>
              <a:ext uri="{FF2B5EF4-FFF2-40B4-BE49-F238E27FC236}">
                <a16:creationId xmlns:a16="http://schemas.microsoft.com/office/drawing/2014/main" id="{26D3CAF6-E6DF-739B-5481-03AEB60FD23C}"/>
              </a:ext>
            </a:extLst>
          </p:cNvPr>
          <p:cNvSpPr>
            <a:spLocks noGrp="1"/>
          </p:cNvSpPr>
          <p:nvPr>
            <p:ph idx="1"/>
          </p:nvPr>
        </p:nvSpPr>
        <p:spPr>
          <a:xfrm>
            <a:off x="1154954" y="2603500"/>
            <a:ext cx="10289042" cy="3988578"/>
          </a:xfrm>
        </p:spPr>
        <p:txBody>
          <a:bodyPr>
            <a:normAutofit/>
          </a:bodyPr>
          <a:lstStyle/>
          <a:p>
            <a:r>
              <a:rPr lang="en-IN" b="1" dirty="0"/>
              <a:t>Message Channel</a:t>
            </a:r>
            <a:r>
              <a:rPr lang="en-IN" dirty="0"/>
              <a:t> → pathway for messages </a:t>
            </a:r>
          </a:p>
          <a:p>
            <a:r>
              <a:rPr lang="en-IN" b="1" dirty="0"/>
              <a:t>Message Source</a:t>
            </a:r>
            <a:r>
              <a:rPr lang="en-IN" dirty="0"/>
              <a:t> → where message comes from </a:t>
            </a:r>
          </a:p>
          <a:p>
            <a:r>
              <a:rPr lang="en-IN" b="1" dirty="0"/>
              <a:t>Message Handler</a:t>
            </a:r>
            <a:r>
              <a:rPr lang="en-IN" dirty="0"/>
              <a:t> → processes message </a:t>
            </a:r>
          </a:p>
          <a:p>
            <a:r>
              <a:rPr lang="en-IN" b="1" dirty="0"/>
              <a:t>Transformer</a:t>
            </a:r>
            <a:r>
              <a:rPr lang="en-IN" dirty="0"/>
              <a:t> → changes format </a:t>
            </a:r>
          </a:p>
          <a:p>
            <a:r>
              <a:rPr lang="en-IN" b="1" dirty="0"/>
              <a:t>Filter</a:t>
            </a:r>
            <a:r>
              <a:rPr lang="en-IN" dirty="0"/>
              <a:t> → removes unwanted messages </a:t>
            </a:r>
          </a:p>
          <a:p>
            <a:r>
              <a:rPr lang="en-IN" b="1" dirty="0"/>
              <a:t>Router</a:t>
            </a:r>
            <a:r>
              <a:rPr lang="en-IN" dirty="0"/>
              <a:t> → sends to different paths </a:t>
            </a:r>
          </a:p>
          <a:p>
            <a:r>
              <a:rPr lang="en-IN" b="1" dirty="0"/>
              <a:t>Splitter</a:t>
            </a:r>
            <a:r>
              <a:rPr lang="en-IN" dirty="0"/>
              <a:t> → breaks one message into many </a:t>
            </a:r>
          </a:p>
          <a:p>
            <a:r>
              <a:rPr lang="en-IN" b="1" dirty="0"/>
              <a:t>Aggregator</a:t>
            </a:r>
            <a:r>
              <a:rPr lang="en-IN" dirty="0"/>
              <a:t> → combines many into one </a:t>
            </a:r>
          </a:p>
          <a:p>
            <a:r>
              <a:rPr lang="en-IN" b="1" dirty="0"/>
              <a:t>Service Activator</a:t>
            </a:r>
            <a:r>
              <a:rPr lang="en-IN" dirty="0"/>
              <a:t> → invokes business logic </a:t>
            </a:r>
          </a:p>
          <a:p>
            <a:r>
              <a:rPr lang="en-IN" b="1" dirty="0"/>
              <a:t>Gateway</a:t>
            </a:r>
            <a:r>
              <a:rPr lang="en-IN" dirty="0"/>
              <a:t> → entry point into integration flow</a:t>
            </a:r>
          </a:p>
          <a:p>
            <a:endParaRPr lang="en-IN" dirty="0"/>
          </a:p>
        </p:txBody>
      </p:sp>
    </p:spTree>
    <p:extLst>
      <p:ext uri="{BB962C8B-B14F-4D97-AF65-F5344CB8AC3E}">
        <p14:creationId xmlns:p14="http://schemas.microsoft.com/office/powerpoint/2010/main" val="2564685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1B69-3BA2-174F-4445-F90812E3A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18EB2-0C06-3C3B-05D0-8E735D335345}"/>
              </a:ext>
            </a:extLst>
          </p:cNvPr>
          <p:cNvSpPr>
            <a:spLocks noGrp="1"/>
          </p:cNvSpPr>
          <p:nvPr>
            <p:ph type="title"/>
          </p:nvPr>
        </p:nvSpPr>
        <p:spPr/>
        <p:txBody>
          <a:bodyPr/>
          <a:lstStyle/>
          <a:p>
            <a:r>
              <a:rPr lang="en-US" b="1" dirty="0"/>
              <a:t>Real-world examples</a:t>
            </a:r>
            <a:endParaRPr lang="en-IN" dirty="0"/>
          </a:p>
        </p:txBody>
      </p:sp>
      <p:sp>
        <p:nvSpPr>
          <p:cNvPr id="3" name="Content Placeholder 2">
            <a:extLst>
              <a:ext uri="{FF2B5EF4-FFF2-40B4-BE49-F238E27FC236}">
                <a16:creationId xmlns:a16="http://schemas.microsoft.com/office/drawing/2014/main" id="{C6896CBD-41B8-155F-22FB-535EA94B0EE3}"/>
              </a:ext>
            </a:extLst>
          </p:cNvPr>
          <p:cNvSpPr>
            <a:spLocks noGrp="1"/>
          </p:cNvSpPr>
          <p:nvPr>
            <p:ph idx="1"/>
          </p:nvPr>
        </p:nvSpPr>
        <p:spPr>
          <a:xfrm>
            <a:off x="1154954" y="2603500"/>
            <a:ext cx="10289042" cy="3988578"/>
          </a:xfrm>
        </p:spPr>
        <p:txBody>
          <a:bodyPr>
            <a:normAutofit/>
          </a:bodyPr>
          <a:lstStyle/>
          <a:p>
            <a:pPr marL="0" indent="0">
              <a:buNone/>
            </a:pPr>
            <a:r>
              <a:rPr lang="en-US" b="1" dirty="0"/>
              <a:t>E-commerce order processing</a:t>
            </a:r>
          </a:p>
          <a:p>
            <a:r>
              <a:rPr lang="en-US" dirty="0"/>
              <a:t>When an order is placed:</a:t>
            </a:r>
          </a:p>
          <a:p>
            <a:pPr lvl="1">
              <a:buFont typeface="Wingdings" panose="05000000000000000000" pitchFamily="2" charset="2"/>
              <a:buChar char="v"/>
            </a:pPr>
            <a:r>
              <a:rPr lang="en-US" dirty="0"/>
              <a:t>receive order event </a:t>
            </a:r>
          </a:p>
          <a:p>
            <a:pPr lvl="1">
              <a:buFont typeface="Wingdings" panose="05000000000000000000" pitchFamily="2" charset="2"/>
              <a:buChar char="v"/>
            </a:pPr>
            <a:r>
              <a:rPr lang="en-US" dirty="0"/>
              <a:t>validate order </a:t>
            </a:r>
          </a:p>
          <a:p>
            <a:pPr lvl="1">
              <a:buFont typeface="Wingdings" panose="05000000000000000000" pitchFamily="2" charset="2"/>
              <a:buChar char="v"/>
            </a:pPr>
            <a:r>
              <a:rPr lang="en-US" dirty="0"/>
              <a:t>enrich customer details </a:t>
            </a:r>
          </a:p>
          <a:p>
            <a:pPr lvl="1">
              <a:buFont typeface="Wingdings" panose="05000000000000000000" pitchFamily="2" charset="2"/>
              <a:buChar char="v"/>
            </a:pPr>
            <a:r>
              <a:rPr lang="en-US" dirty="0"/>
              <a:t>check inventory </a:t>
            </a:r>
          </a:p>
          <a:p>
            <a:pPr lvl="1">
              <a:buFont typeface="Wingdings" panose="05000000000000000000" pitchFamily="2" charset="2"/>
              <a:buChar char="v"/>
            </a:pPr>
            <a:r>
              <a:rPr lang="en-US" dirty="0"/>
              <a:t>send payment request </a:t>
            </a:r>
          </a:p>
          <a:p>
            <a:pPr lvl="1">
              <a:buFont typeface="Wingdings" panose="05000000000000000000" pitchFamily="2" charset="2"/>
              <a:buChar char="v"/>
            </a:pPr>
            <a:r>
              <a:rPr lang="en-US" dirty="0"/>
              <a:t>notify shipping service </a:t>
            </a:r>
          </a:p>
          <a:p>
            <a:pPr lvl="1">
              <a:buFont typeface="Wingdings" panose="05000000000000000000" pitchFamily="2" charset="2"/>
              <a:buChar char="v"/>
            </a:pPr>
            <a:r>
              <a:rPr lang="en-US" dirty="0"/>
              <a:t>send confirmation email </a:t>
            </a:r>
          </a:p>
          <a:p>
            <a:r>
              <a:rPr lang="en-US" dirty="0"/>
              <a:t>Spring Integration can orchestrate this whole message flow.</a:t>
            </a:r>
          </a:p>
          <a:p>
            <a:endParaRPr lang="en-IN" dirty="0"/>
          </a:p>
        </p:txBody>
      </p:sp>
    </p:spTree>
    <p:extLst>
      <p:ext uri="{BB962C8B-B14F-4D97-AF65-F5344CB8AC3E}">
        <p14:creationId xmlns:p14="http://schemas.microsoft.com/office/powerpoint/2010/main" val="3347338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FA1E-0461-BF18-BBBC-E7B6DFA08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9A5D97-B95B-485A-E2B0-6FFB99E9F9C6}"/>
              </a:ext>
            </a:extLst>
          </p:cNvPr>
          <p:cNvSpPr>
            <a:spLocks noGrp="1"/>
          </p:cNvSpPr>
          <p:nvPr>
            <p:ph type="title"/>
          </p:nvPr>
        </p:nvSpPr>
        <p:spPr/>
        <p:txBody>
          <a:bodyPr/>
          <a:lstStyle/>
          <a:p>
            <a:r>
              <a:rPr lang="en-US" b="1" dirty="0"/>
              <a:t>Real-world examples</a:t>
            </a:r>
            <a:endParaRPr lang="en-IN" dirty="0"/>
          </a:p>
        </p:txBody>
      </p:sp>
      <p:sp>
        <p:nvSpPr>
          <p:cNvPr id="3" name="Content Placeholder 2">
            <a:extLst>
              <a:ext uri="{FF2B5EF4-FFF2-40B4-BE49-F238E27FC236}">
                <a16:creationId xmlns:a16="http://schemas.microsoft.com/office/drawing/2014/main" id="{F3D12037-C79A-42A1-64E2-F35D2C10569A}"/>
              </a:ext>
            </a:extLst>
          </p:cNvPr>
          <p:cNvSpPr>
            <a:spLocks noGrp="1"/>
          </p:cNvSpPr>
          <p:nvPr>
            <p:ph idx="1"/>
          </p:nvPr>
        </p:nvSpPr>
        <p:spPr>
          <a:xfrm>
            <a:off x="1154954" y="2603500"/>
            <a:ext cx="10289042" cy="3988578"/>
          </a:xfrm>
        </p:spPr>
        <p:txBody>
          <a:bodyPr/>
          <a:lstStyle/>
          <a:p>
            <a:pPr marL="0" indent="0">
              <a:buNone/>
            </a:pPr>
            <a:r>
              <a:rPr lang="en-IN" b="1" dirty="0"/>
              <a:t> Bank transaction file processing</a:t>
            </a:r>
          </a:p>
          <a:p>
            <a:r>
              <a:rPr lang="en-IN" dirty="0"/>
              <a:t>A bank gets transaction files from SFTP every hour:</a:t>
            </a:r>
          </a:p>
          <a:p>
            <a:pPr lvl="1">
              <a:buFont typeface="Wingdings" panose="05000000000000000000" pitchFamily="2" charset="2"/>
              <a:buChar char="v"/>
            </a:pPr>
            <a:r>
              <a:rPr lang="en-IN" dirty="0"/>
              <a:t>poll SFTP server </a:t>
            </a:r>
          </a:p>
          <a:p>
            <a:pPr lvl="1">
              <a:buFont typeface="Wingdings" panose="05000000000000000000" pitchFamily="2" charset="2"/>
              <a:buChar char="v"/>
            </a:pPr>
            <a:r>
              <a:rPr lang="en-IN" dirty="0"/>
              <a:t>download file </a:t>
            </a:r>
          </a:p>
          <a:p>
            <a:pPr lvl="1">
              <a:buFont typeface="Wingdings" panose="05000000000000000000" pitchFamily="2" charset="2"/>
              <a:buChar char="v"/>
            </a:pPr>
            <a:r>
              <a:rPr lang="en-IN" dirty="0"/>
              <a:t>parse CSV </a:t>
            </a:r>
          </a:p>
          <a:p>
            <a:pPr lvl="1">
              <a:buFont typeface="Wingdings" panose="05000000000000000000" pitchFamily="2" charset="2"/>
              <a:buChar char="v"/>
            </a:pPr>
            <a:r>
              <a:rPr lang="en-IN" dirty="0"/>
              <a:t>validate records </a:t>
            </a:r>
          </a:p>
          <a:p>
            <a:pPr lvl="1">
              <a:buFont typeface="Wingdings" panose="05000000000000000000" pitchFamily="2" charset="2"/>
              <a:buChar char="v"/>
            </a:pPr>
            <a:r>
              <a:rPr lang="en-IN" dirty="0"/>
              <a:t>route failed records to error queue </a:t>
            </a:r>
          </a:p>
          <a:p>
            <a:pPr lvl="1">
              <a:buFont typeface="Wingdings" panose="05000000000000000000" pitchFamily="2" charset="2"/>
              <a:buChar char="v"/>
            </a:pPr>
            <a:r>
              <a:rPr lang="en-IN" dirty="0"/>
              <a:t>send valid ones to core banking system </a:t>
            </a:r>
          </a:p>
          <a:p>
            <a:pPr lvl="1">
              <a:buFont typeface="Wingdings" panose="05000000000000000000" pitchFamily="2" charset="2"/>
              <a:buChar char="v"/>
            </a:pPr>
            <a:r>
              <a:rPr lang="en-IN" dirty="0"/>
              <a:t>archive processed file </a:t>
            </a:r>
          </a:p>
          <a:p>
            <a:r>
              <a:rPr lang="en-IN" dirty="0"/>
              <a:t>This is a super classic Spring Integration use case.</a:t>
            </a:r>
          </a:p>
          <a:p>
            <a:endParaRPr lang="en-IN" dirty="0"/>
          </a:p>
        </p:txBody>
      </p:sp>
    </p:spTree>
    <p:extLst>
      <p:ext uri="{BB962C8B-B14F-4D97-AF65-F5344CB8AC3E}">
        <p14:creationId xmlns:p14="http://schemas.microsoft.com/office/powerpoint/2010/main" val="171839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D6172-2EC9-BD81-7FD0-5A5F36717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ACACB-AA1F-8509-81C6-A715098974F4}"/>
              </a:ext>
            </a:extLst>
          </p:cNvPr>
          <p:cNvSpPr>
            <a:spLocks noGrp="1"/>
          </p:cNvSpPr>
          <p:nvPr>
            <p:ph type="title"/>
          </p:nvPr>
        </p:nvSpPr>
        <p:spPr/>
        <p:txBody>
          <a:bodyPr/>
          <a:lstStyle/>
          <a:p>
            <a:r>
              <a:rPr lang="en-US" b="1" dirty="0"/>
              <a:t>Real-world examples</a:t>
            </a:r>
            <a:endParaRPr lang="en-IN" dirty="0"/>
          </a:p>
        </p:txBody>
      </p:sp>
      <p:sp>
        <p:nvSpPr>
          <p:cNvPr id="3" name="Content Placeholder 2">
            <a:extLst>
              <a:ext uri="{FF2B5EF4-FFF2-40B4-BE49-F238E27FC236}">
                <a16:creationId xmlns:a16="http://schemas.microsoft.com/office/drawing/2014/main" id="{93508911-66F3-AB3A-80DC-CF8E540C99F9}"/>
              </a:ext>
            </a:extLst>
          </p:cNvPr>
          <p:cNvSpPr>
            <a:spLocks noGrp="1"/>
          </p:cNvSpPr>
          <p:nvPr>
            <p:ph idx="1"/>
          </p:nvPr>
        </p:nvSpPr>
        <p:spPr>
          <a:xfrm>
            <a:off x="1154954" y="2603500"/>
            <a:ext cx="10289042" cy="3988578"/>
          </a:xfrm>
        </p:spPr>
        <p:txBody>
          <a:bodyPr/>
          <a:lstStyle/>
          <a:p>
            <a:r>
              <a:rPr lang="en-IN" b="1" dirty="0"/>
              <a:t>ERP to CRM synchronization</a:t>
            </a:r>
          </a:p>
          <a:p>
            <a:r>
              <a:rPr lang="en-IN" dirty="0"/>
              <a:t>A company wants to sync customer updates from ERP to CRM:</a:t>
            </a:r>
          </a:p>
          <a:p>
            <a:pPr lvl="1">
              <a:buFont typeface="Wingdings" panose="05000000000000000000" pitchFamily="2" charset="2"/>
              <a:buChar char="v"/>
            </a:pPr>
            <a:r>
              <a:rPr lang="en-IN" dirty="0"/>
              <a:t>listen to DB changes or file drops </a:t>
            </a:r>
          </a:p>
          <a:p>
            <a:pPr lvl="1">
              <a:buFont typeface="Wingdings" panose="05000000000000000000" pitchFamily="2" charset="2"/>
              <a:buChar char="v"/>
            </a:pPr>
            <a:r>
              <a:rPr lang="en-IN" dirty="0"/>
              <a:t>transform ERP format to CRM API format </a:t>
            </a:r>
          </a:p>
          <a:p>
            <a:pPr lvl="1">
              <a:buFont typeface="Wingdings" panose="05000000000000000000" pitchFamily="2" charset="2"/>
              <a:buChar char="v"/>
            </a:pPr>
            <a:r>
              <a:rPr lang="en-IN" dirty="0"/>
              <a:t>call CRM REST API </a:t>
            </a:r>
          </a:p>
          <a:p>
            <a:pPr lvl="1">
              <a:buFont typeface="Wingdings" panose="05000000000000000000" pitchFamily="2" charset="2"/>
              <a:buChar char="v"/>
            </a:pPr>
            <a:r>
              <a:rPr lang="en-IN" dirty="0"/>
              <a:t>log failures </a:t>
            </a:r>
          </a:p>
          <a:p>
            <a:pPr lvl="1">
              <a:buFont typeface="Wingdings" panose="05000000000000000000" pitchFamily="2" charset="2"/>
              <a:buChar char="v"/>
            </a:pPr>
            <a:r>
              <a:rPr lang="en-IN" dirty="0"/>
              <a:t>retry temporary errors </a:t>
            </a:r>
          </a:p>
          <a:p>
            <a:pPr lvl="1">
              <a:buFont typeface="Wingdings" panose="05000000000000000000" pitchFamily="2" charset="2"/>
              <a:buChar char="v"/>
            </a:pPr>
            <a:r>
              <a:rPr lang="en-IN" dirty="0"/>
              <a:t>send alerts on repeated failure</a:t>
            </a:r>
          </a:p>
          <a:p>
            <a:pPr marL="0" indent="0">
              <a:buNone/>
            </a:pPr>
            <a:endParaRPr lang="en-IN" dirty="0"/>
          </a:p>
        </p:txBody>
      </p:sp>
    </p:spTree>
    <p:extLst>
      <p:ext uri="{BB962C8B-B14F-4D97-AF65-F5344CB8AC3E}">
        <p14:creationId xmlns:p14="http://schemas.microsoft.com/office/powerpoint/2010/main" val="2214982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ECBA-CE3E-F4CD-83E6-8B4746F0C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1AE94-C29E-CB89-2689-C0BAC3107EB7}"/>
              </a:ext>
            </a:extLst>
          </p:cNvPr>
          <p:cNvSpPr>
            <a:spLocks noGrp="1"/>
          </p:cNvSpPr>
          <p:nvPr>
            <p:ph type="title"/>
          </p:nvPr>
        </p:nvSpPr>
        <p:spPr/>
        <p:txBody>
          <a:bodyPr/>
          <a:lstStyle/>
          <a:p>
            <a:r>
              <a:rPr lang="en-US" b="1" dirty="0"/>
              <a:t>Real-world examples</a:t>
            </a:r>
            <a:endParaRPr lang="en-IN" dirty="0"/>
          </a:p>
        </p:txBody>
      </p:sp>
      <p:sp>
        <p:nvSpPr>
          <p:cNvPr id="3" name="Content Placeholder 2">
            <a:extLst>
              <a:ext uri="{FF2B5EF4-FFF2-40B4-BE49-F238E27FC236}">
                <a16:creationId xmlns:a16="http://schemas.microsoft.com/office/drawing/2014/main" id="{2A0B731D-4169-BA73-7DEF-082ECBD73AE8}"/>
              </a:ext>
            </a:extLst>
          </p:cNvPr>
          <p:cNvSpPr>
            <a:spLocks noGrp="1"/>
          </p:cNvSpPr>
          <p:nvPr>
            <p:ph idx="1"/>
          </p:nvPr>
        </p:nvSpPr>
        <p:spPr>
          <a:xfrm>
            <a:off x="1154954" y="2603500"/>
            <a:ext cx="10289042" cy="3988578"/>
          </a:xfrm>
        </p:spPr>
        <p:txBody>
          <a:bodyPr/>
          <a:lstStyle/>
          <a:p>
            <a:r>
              <a:rPr lang="en-US" b="1" dirty="0"/>
              <a:t>Invoice processing</a:t>
            </a:r>
          </a:p>
          <a:p>
            <a:r>
              <a:rPr lang="en-US" dirty="0"/>
              <a:t>Invoices arrive by email or upload:</a:t>
            </a:r>
          </a:p>
          <a:p>
            <a:pPr lvl="1">
              <a:buFont typeface="Wingdings" panose="05000000000000000000" pitchFamily="2" charset="2"/>
              <a:buChar char="v"/>
            </a:pPr>
            <a:r>
              <a:rPr lang="en-US" dirty="0"/>
              <a:t>receive PDF/XML invoice </a:t>
            </a:r>
          </a:p>
          <a:p>
            <a:pPr lvl="1">
              <a:buFont typeface="Wingdings" panose="05000000000000000000" pitchFamily="2" charset="2"/>
              <a:buChar char="v"/>
            </a:pPr>
            <a:r>
              <a:rPr lang="en-US" dirty="0"/>
              <a:t>extract metadata </a:t>
            </a:r>
          </a:p>
          <a:p>
            <a:pPr lvl="1">
              <a:buFont typeface="Wingdings" panose="05000000000000000000" pitchFamily="2" charset="2"/>
              <a:buChar char="v"/>
            </a:pPr>
            <a:r>
              <a:rPr lang="en-US" dirty="0"/>
              <a:t>route by vendor </a:t>
            </a:r>
          </a:p>
          <a:p>
            <a:pPr lvl="1">
              <a:buFont typeface="Wingdings" panose="05000000000000000000" pitchFamily="2" charset="2"/>
              <a:buChar char="v"/>
            </a:pPr>
            <a:r>
              <a:rPr lang="en-US" dirty="0"/>
              <a:t>enrich tax information </a:t>
            </a:r>
          </a:p>
          <a:p>
            <a:pPr lvl="1">
              <a:buFont typeface="Wingdings" panose="05000000000000000000" pitchFamily="2" charset="2"/>
              <a:buChar char="v"/>
            </a:pPr>
            <a:r>
              <a:rPr lang="en-US" dirty="0"/>
              <a:t>send to approval workflow </a:t>
            </a:r>
          </a:p>
          <a:p>
            <a:pPr lvl="1">
              <a:buFont typeface="Wingdings" panose="05000000000000000000" pitchFamily="2" charset="2"/>
              <a:buChar char="v"/>
            </a:pPr>
            <a:r>
              <a:rPr lang="en-US" dirty="0"/>
              <a:t>persist to finance system </a:t>
            </a:r>
          </a:p>
          <a:p>
            <a:endParaRPr lang="en-IN" dirty="0"/>
          </a:p>
        </p:txBody>
      </p:sp>
    </p:spTree>
    <p:extLst>
      <p:ext uri="{BB962C8B-B14F-4D97-AF65-F5344CB8AC3E}">
        <p14:creationId xmlns:p14="http://schemas.microsoft.com/office/powerpoint/2010/main" val="2268692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CA166-DB57-91C9-5C77-BE4D92A46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E4150-2AD8-D5EC-A71B-35D36E663DBF}"/>
              </a:ext>
            </a:extLst>
          </p:cNvPr>
          <p:cNvSpPr>
            <a:spLocks noGrp="1"/>
          </p:cNvSpPr>
          <p:nvPr>
            <p:ph type="title"/>
          </p:nvPr>
        </p:nvSpPr>
        <p:spPr/>
        <p:txBody>
          <a:bodyPr/>
          <a:lstStyle/>
          <a:p>
            <a:r>
              <a:rPr lang="en-US" b="1" dirty="0"/>
              <a:t>Real-world examples</a:t>
            </a:r>
            <a:endParaRPr lang="en-IN" dirty="0"/>
          </a:p>
        </p:txBody>
      </p:sp>
      <p:sp>
        <p:nvSpPr>
          <p:cNvPr id="3" name="Content Placeholder 2">
            <a:extLst>
              <a:ext uri="{FF2B5EF4-FFF2-40B4-BE49-F238E27FC236}">
                <a16:creationId xmlns:a16="http://schemas.microsoft.com/office/drawing/2014/main" id="{87BDF98C-7977-9028-FD22-64712690E276}"/>
              </a:ext>
            </a:extLst>
          </p:cNvPr>
          <p:cNvSpPr>
            <a:spLocks noGrp="1"/>
          </p:cNvSpPr>
          <p:nvPr>
            <p:ph idx="1"/>
          </p:nvPr>
        </p:nvSpPr>
        <p:spPr>
          <a:xfrm>
            <a:off x="1154954" y="2603500"/>
            <a:ext cx="10289042" cy="3988578"/>
          </a:xfrm>
        </p:spPr>
        <p:txBody>
          <a:bodyPr/>
          <a:lstStyle/>
          <a:p>
            <a:r>
              <a:rPr lang="en-IN" b="1" dirty="0"/>
              <a:t>IoT / device data ingestion</a:t>
            </a:r>
          </a:p>
          <a:p>
            <a:r>
              <a:rPr lang="en-IN" dirty="0"/>
              <a:t>Devices send readings continuously:</a:t>
            </a:r>
          </a:p>
          <a:p>
            <a:pPr lvl="1">
              <a:buFont typeface="Wingdings" panose="05000000000000000000" pitchFamily="2" charset="2"/>
              <a:buChar char="v"/>
            </a:pPr>
            <a:r>
              <a:rPr lang="en-IN" dirty="0"/>
              <a:t>receive via MQTT/TCP/HTTP </a:t>
            </a:r>
          </a:p>
          <a:p>
            <a:pPr lvl="1">
              <a:buFont typeface="Wingdings" panose="05000000000000000000" pitchFamily="2" charset="2"/>
              <a:buChar char="v"/>
            </a:pPr>
            <a:r>
              <a:rPr lang="en-IN" dirty="0"/>
              <a:t>filter invalid sensor data </a:t>
            </a:r>
          </a:p>
          <a:p>
            <a:pPr lvl="1">
              <a:buFont typeface="Wingdings" panose="05000000000000000000" pitchFamily="2" charset="2"/>
              <a:buChar char="v"/>
            </a:pPr>
            <a:r>
              <a:rPr lang="en-IN" dirty="0"/>
              <a:t>transform format </a:t>
            </a:r>
          </a:p>
          <a:p>
            <a:pPr lvl="1">
              <a:buFont typeface="Wingdings" panose="05000000000000000000" pitchFamily="2" charset="2"/>
              <a:buChar char="v"/>
            </a:pPr>
            <a:r>
              <a:rPr lang="en-IN" dirty="0"/>
              <a:t>route critical alerts immediately </a:t>
            </a:r>
          </a:p>
          <a:p>
            <a:pPr lvl="1">
              <a:buFont typeface="Wingdings" panose="05000000000000000000" pitchFamily="2" charset="2"/>
              <a:buChar char="v"/>
            </a:pPr>
            <a:r>
              <a:rPr lang="en-IN" dirty="0"/>
              <a:t>batch normal data into storage/analytics pipeline</a:t>
            </a:r>
          </a:p>
          <a:p>
            <a:endParaRPr lang="en-IN" dirty="0"/>
          </a:p>
        </p:txBody>
      </p:sp>
    </p:spTree>
    <p:extLst>
      <p:ext uri="{BB962C8B-B14F-4D97-AF65-F5344CB8AC3E}">
        <p14:creationId xmlns:p14="http://schemas.microsoft.com/office/powerpoint/2010/main" val="4089914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3BF6-0D79-B2FE-224E-EAA17E5F9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73B9F-02C5-550D-1422-59D02804D13C}"/>
              </a:ext>
            </a:extLst>
          </p:cNvPr>
          <p:cNvSpPr>
            <a:spLocks noGrp="1"/>
          </p:cNvSpPr>
          <p:nvPr>
            <p:ph type="title"/>
          </p:nvPr>
        </p:nvSpPr>
        <p:spPr/>
        <p:txBody>
          <a:bodyPr/>
          <a:lstStyle/>
          <a:p>
            <a:r>
              <a:rPr lang="en-US" b="1" dirty="0"/>
              <a:t>Real-world examples</a:t>
            </a:r>
            <a:endParaRPr lang="en-IN" dirty="0"/>
          </a:p>
        </p:txBody>
      </p:sp>
      <p:sp>
        <p:nvSpPr>
          <p:cNvPr id="3" name="Content Placeholder 2">
            <a:extLst>
              <a:ext uri="{FF2B5EF4-FFF2-40B4-BE49-F238E27FC236}">
                <a16:creationId xmlns:a16="http://schemas.microsoft.com/office/drawing/2014/main" id="{29CBEE24-14B2-1D0F-8BBD-0AC69E50C94A}"/>
              </a:ext>
            </a:extLst>
          </p:cNvPr>
          <p:cNvSpPr>
            <a:spLocks noGrp="1"/>
          </p:cNvSpPr>
          <p:nvPr>
            <p:ph idx="1"/>
          </p:nvPr>
        </p:nvSpPr>
        <p:spPr>
          <a:xfrm>
            <a:off x="1154954" y="2603500"/>
            <a:ext cx="10289042" cy="3988578"/>
          </a:xfrm>
        </p:spPr>
        <p:txBody>
          <a:bodyPr/>
          <a:lstStyle/>
          <a:p>
            <a:r>
              <a:rPr lang="en-US" b="1" dirty="0"/>
              <a:t>Microservices event orchestration</a:t>
            </a:r>
          </a:p>
          <a:p>
            <a:r>
              <a:rPr lang="en-US" dirty="0"/>
              <a:t>In a microservices setup:</a:t>
            </a:r>
          </a:p>
          <a:p>
            <a:pPr lvl="1">
              <a:buFont typeface="Wingdings" panose="05000000000000000000" pitchFamily="2" charset="2"/>
              <a:buChar char="v"/>
            </a:pPr>
            <a:r>
              <a:rPr lang="en-US" dirty="0"/>
              <a:t>consume event from Kafka </a:t>
            </a:r>
          </a:p>
          <a:p>
            <a:pPr lvl="1">
              <a:buFont typeface="Wingdings" panose="05000000000000000000" pitchFamily="2" charset="2"/>
              <a:buChar char="v"/>
            </a:pPr>
            <a:r>
              <a:rPr lang="en-US" dirty="0"/>
              <a:t>transform payload </a:t>
            </a:r>
          </a:p>
          <a:p>
            <a:pPr lvl="1">
              <a:buFont typeface="Wingdings" panose="05000000000000000000" pitchFamily="2" charset="2"/>
              <a:buChar char="v"/>
            </a:pPr>
            <a:r>
              <a:rPr lang="en-US" dirty="0"/>
              <a:t>call downstream service </a:t>
            </a:r>
          </a:p>
          <a:p>
            <a:pPr lvl="1">
              <a:buFont typeface="Wingdings" panose="05000000000000000000" pitchFamily="2" charset="2"/>
              <a:buChar char="v"/>
            </a:pPr>
            <a:r>
              <a:rPr lang="en-US" dirty="0"/>
              <a:t>route based on event type </a:t>
            </a:r>
          </a:p>
          <a:p>
            <a:pPr lvl="1">
              <a:buFont typeface="Wingdings" panose="05000000000000000000" pitchFamily="2" charset="2"/>
              <a:buChar char="v"/>
            </a:pPr>
            <a:r>
              <a:rPr lang="en-US" dirty="0"/>
              <a:t>publish processed event to another topic </a:t>
            </a:r>
          </a:p>
          <a:p>
            <a:r>
              <a:rPr lang="en-US" dirty="0"/>
              <a:t>Spring Integration can act like the glue between all these pieces.</a:t>
            </a:r>
          </a:p>
          <a:p>
            <a:endParaRPr lang="en-IN" dirty="0"/>
          </a:p>
        </p:txBody>
      </p:sp>
    </p:spTree>
    <p:extLst>
      <p:ext uri="{BB962C8B-B14F-4D97-AF65-F5344CB8AC3E}">
        <p14:creationId xmlns:p14="http://schemas.microsoft.com/office/powerpoint/2010/main" val="2647569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6D707-26C8-F2B7-5910-740DFC189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ED862-3974-947B-3A02-837C8AF69A62}"/>
              </a:ext>
            </a:extLst>
          </p:cNvPr>
          <p:cNvSpPr>
            <a:spLocks noGrp="1"/>
          </p:cNvSpPr>
          <p:nvPr>
            <p:ph type="title"/>
          </p:nvPr>
        </p:nvSpPr>
        <p:spPr/>
        <p:txBody>
          <a:bodyPr/>
          <a:lstStyle/>
          <a:p>
            <a:r>
              <a:rPr lang="en-US" b="1" dirty="0"/>
              <a:t>When should you use Spring Integration?</a:t>
            </a:r>
            <a:endParaRPr lang="en-IN" dirty="0"/>
          </a:p>
        </p:txBody>
      </p:sp>
      <p:sp>
        <p:nvSpPr>
          <p:cNvPr id="3" name="Content Placeholder 2">
            <a:extLst>
              <a:ext uri="{FF2B5EF4-FFF2-40B4-BE49-F238E27FC236}">
                <a16:creationId xmlns:a16="http://schemas.microsoft.com/office/drawing/2014/main" id="{211A5848-8045-40C5-2F52-BB6BB11DC864}"/>
              </a:ext>
            </a:extLst>
          </p:cNvPr>
          <p:cNvSpPr>
            <a:spLocks noGrp="1"/>
          </p:cNvSpPr>
          <p:nvPr>
            <p:ph idx="1"/>
          </p:nvPr>
        </p:nvSpPr>
        <p:spPr>
          <a:xfrm>
            <a:off x="1154954" y="2603500"/>
            <a:ext cx="10289042" cy="3988578"/>
          </a:xfrm>
        </p:spPr>
        <p:txBody>
          <a:bodyPr/>
          <a:lstStyle/>
          <a:p>
            <a:pPr marL="0" indent="0">
              <a:buNone/>
            </a:pPr>
            <a:r>
              <a:rPr lang="en-US" dirty="0"/>
              <a:t>Use it when:</a:t>
            </a:r>
          </a:p>
          <a:p>
            <a:r>
              <a:rPr lang="en-US" dirty="0"/>
              <a:t>Application integrates with multiple systems </a:t>
            </a:r>
          </a:p>
          <a:p>
            <a:r>
              <a:rPr lang="en-US" dirty="0"/>
              <a:t>Have async/message-driven workflows </a:t>
            </a:r>
          </a:p>
          <a:p>
            <a:r>
              <a:rPr lang="en-US" dirty="0"/>
              <a:t>Need polling/routing/transformation pipelines </a:t>
            </a:r>
          </a:p>
          <a:p>
            <a:r>
              <a:rPr lang="en-US" dirty="0"/>
              <a:t>Want clean integration code using patterns </a:t>
            </a:r>
          </a:p>
          <a:p>
            <a:r>
              <a:rPr lang="en-US" dirty="0"/>
              <a:t>App deals with files, queues, APIs, and external systems together</a:t>
            </a:r>
          </a:p>
          <a:p>
            <a:endParaRPr lang="en-IN" dirty="0"/>
          </a:p>
        </p:txBody>
      </p:sp>
    </p:spTree>
    <p:extLst>
      <p:ext uri="{BB962C8B-B14F-4D97-AF65-F5344CB8AC3E}">
        <p14:creationId xmlns:p14="http://schemas.microsoft.com/office/powerpoint/2010/main" val="1871098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601D5-9CA6-BE0A-3CB7-2DF2C2588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8C218-75FC-D84B-593A-2AB5879F74BB}"/>
              </a:ext>
            </a:extLst>
          </p:cNvPr>
          <p:cNvSpPr>
            <a:spLocks noGrp="1"/>
          </p:cNvSpPr>
          <p:nvPr>
            <p:ph type="title"/>
          </p:nvPr>
        </p:nvSpPr>
        <p:spPr/>
        <p:txBody>
          <a:bodyPr/>
          <a:lstStyle/>
          <a:p>
            <a:r>
              <a:rPr lang="en-US" b="1" dirty="0"/>
              <a:t>When should you use Spring Integration?</a:t>
            </a:r>
            <a:endParaRPr lang="en-IN" dirty="0"/>
          </a:p>
        </p:txBody>
      </p:sp>
      <p:sp>
        <p:nvSpPr>
          <p:cNvPr id="3" name="Content Placeholder 2">
            <a:extLst>
              <a:ext uri="{FF2B5EF4-FFF2-40B4-BE49-F238E27FC236}">
                <a16:creationId xmlns:a16="http://schemas.microsoft.com/office/drawing/2014/main" id="{DB4CFCC7-97AC-7ED4-BACA-D0AB90BB7FC9}"/>
              </a:ext>
            </a:extLst>
          </p:cNvPr>
          <p:cNvSpPr>
            <a:spLocks noGrp="1"/>
          </p:cNvSpPr>
          <p:nvPr>
            <p:ph idx="1"/>
          </p:nvPr>
        </p:nvSpPr>
        <p:spPr>
          <a:xfrm>
            <a:off x="1154954" y="2603500"/>
            <a:ext cx="10289042" cy="3988578"/>
          </a:xfrm>
        </p:spPr>
        <p:txBody>
          <a:bodyPr/>
          <a:lstStyle/>
          <a:p>
            <a:pPr marL="0" indent="0">
              <a:buNone/>
            </a:pPr>
            <a:r>
              <a:rPr lang="en-US" dirty="0"/>
              <a:t>Especially useful in:</a:t>
            </a:r>
          </a:p>
          <a:p>
            <a:r>
              <a:rPr lang="en-US" dirty="0"/>
              <a:t>enterprise apps </a:t>
            </a:r>
          </a:p>
          <a:p>
            <a:r>
              <a:rPr lang="en-US" dirty="0"/>
              <a:t>middleware layers </a:t>
            </a:r>
          </a:p>
          <a:p>
            <a:r>
              <a:rPr lang="en-US" dirty="0"/>
              <a:t>event-driven systems </a:t>
            </a:r>
          </a:p>
          <a:p>
            <a:r>
              <a:rPr lang="en-US" dirty="0"/>
              <a:t>batch + integration-heavy platforms</a:t>
            </a:r>
          </a:p>
          <a:p>
            <a:endParaRPr lang="en-IN" dirty="0"/>
          </a:p>
        </p:txBody>
      </p:sp>
    </p:spTree>
    <p:extLst>
      <p:ext uri="{BB962C8B-B14F-4D97-AF65-F5344CB8AC3E}">
        <p14:creationId xmlns:p14="http://schemas.microsoft.com/office/powerpoint/2010/main" val="3693607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F44BB-495E-BFF7-744C-916B98289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37F08-C38D-2A39-ADB0-A419ED2FAADD}"/>
              </a:ext>
            </a:extLst>
          </p:cNvPr>
          <p:cNvSpPr>
            <a:spLocks noGrp="1"/>
          </p:cNvSpPr>
          <p:nvPr>
            <p:ph type="title"/>
          </p:nvPr>
        </p:nvSpPr>
        <p:spPr/>
        <p:txBody>
          <a:bodyPr/>
          <a:lstStyle/>
          <a:p>
            <a:r>
              <a:rPr lang="en-US" b="1" dirty="0"/>
              <a:t>When it may be overkill</a:t>
            </a:r>
            <a:endParaRPr lang="en-IN" dirty="0"/>
          </a:p>
        </p:txBody>
      </p:sp>
      <p:sp>
        <p:nvSpPr>
          <p:cNvPr id="3" name="Content Placeholder 2">
            <a:extLst>
              <a:ext uri="{FF2B5EF4-FFF2-40B4-BE49-F238E27FC236}">
                <a16:creationId xmlns:a16="http://schemas.microsoft.com/office/drawing/2014/main" id="{F938B9E1-3D8B-BA84-F375-341F3F83388D}"/>
              </a:ext>
            </a:extLst>
          </p:cNvPr>
          <p:cNvSpPr>
            <a:spLocks noGrp="1"/>
          </p:cNvSpPr>
          <p:nvPr>
            <p:ph idx="1"/>
          </p:nvPr>
        </p:nvSpPr>
        <p:spPr>
          <a:xfrm>
            <a:off x="1154954" y="2603500"/>
            <a:ext cx="10289042" cy="3988578"/>
          </a:xfrm>
        </p:spPr>
        <p:txBody>
          <a:bodyPr/>
          <a:lstStyle/>
          <a:p>
            <a:pPr marL="0" indent="0">
              <a:buNone/>
            </a:pPr>
            <a:r>
              <a:rPr lang="en-US" dirty="0"/>
              <a:t>It may be too much if:</a:t>
            </a:r>
          </a:p>
          <a:p>
            <a:pPr lvl="1">
              <a:buFont typeface="Wingdings" panose="05000000000000000000" pitchFamily="2" charset="2"/>
              <a:buChar char="v"/>
            </a:pPr>
            <a:r>
              <a:rPr lang="en-US" dirty="0"/>
              <a:t>App is very small </a:t>
            </a:r>
          </a:p>
          <a:p>
            <a:pPr lvl="1">
              <a:buFont typeface="Wingdings" panose="05000000000000000000" pitchFamily="2" charset="2"/>
              <a:buChar char="v"/>
            </a:pPr>
            <a:r>
              <a:rPr lang="en-US" dirty="0"/>
              <a:t>Only call 1–2 REST APIs directly </a:t>
            </a:r>
          </a:p>
          <a:p>
            <a:pPr lvl="1">
              <a:buFont typeface="Wingdings" panose="05000000000000000000" pitchFamily="2" charset="2"/>
              <a:buChar char="v"/>
            </a:pPr>
            <a:r>
              <a:rPr lang="en-US" dirty="0"/>
              <a:t>No messaging or integration complexity </a:t>
            </a:r>
          </a:p>
          <a:p>
            <a:pPr lvl="1">
              <a:buFont typeface="Wingdings" panose="05000000000000000000" pitchFamily="2" charset="2"/>
              <a:buChar char="v"/>
            </a:pPr>
            <a:r>
              <a:rPr lang="en-US" dirty="0"/>
              <a:t>Plain Spring Boot service classes are enough </a:t>
            </a:r>
          </a:p>
          <a:p>
            <a:r>
              <a:rPr lang="en-US" dirty="0"/>
              <a:t>For simple CRUD apps, Spring Integration can feel like bringing a truck to carry a backpack.</a:t>
            </a:r>
          </a:p>
          <a:p>
            <a:endParaRPr lang="en-IN" dirty="0"/>
          </a:p>
        </p:txBody>
      </p:sp>
    </p:spTree>
    <p:extLst>
      <p:ext uri="{BB962C8B-B14F-4D97-AF65-F5344CB8AC3E}">
        <p14:creationId xmlns:p14="http://schemas.microsoft.com/office/powerpoint/2010/main" val="1464403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3F7D0-ACD2-ADE9-66A6-2BF0B30C4F34}"/>
              </a:ext>
            </a:extLst>
          </p:cNvPr>
          <p:cNvSpPr>
            <a:spLocks noGrp="1"/>
          </p:cNvSpPr>
          <p:nvPr>
            <p:ph type="title"/>
          </p:nvPr>
        </p:nvSpPr>
        <p:spPr/>
        <p:txBody>
          <a:bodyPr/>
          <a:lstStyle/>
          <a:p>
            <a:r>
              <a:rPr lang="en-US" b="1" dirty="0"/>
              <a:t>Small conceptual example</a:t>
            </a:r>
            <a:endParaRPr lang="en-IN" dirty="0"/>
          </a:p>
        </p:txBody>
      </p:sp>
      <p:sp>
        <p:nvSpPr>
          <p:cNvPr id="3" name="Content Placeholder 2">
            <a:extLst>
              <a:ext uri="{FF2B5EF4-FFF2-40B4-BE49-F238E27FC236}">
                <a16:creationId xmlns:a16="http://schemas.microsoft.com/office/drawing/2014/main" id="{69CC39A5-A400-00D1-3962-22C242DFB982}"/>
              </a:ext>
            </a:extLst>
          </p:cNvPr>
          <p:cNvSpPr>
            <a:spLocks noGrp="1"/>
          </p:cNvSpPr>
          <p:nvPr>
            <p:ph idx="1"/>
          </p:nvPr>
        </p:nvSpPr>
        <p:spPr/>
        <p:txBody>
          <a:bodyPr>
            <a:normAutofit/>
          </a:bodyPr>
          <a:lstStyle/>
          <a:p>
            <a:r>
              <a:rPr lang="en-US" dirty="0"/>
              <a:t>Suppose you want to process files from a folder:</a:t>
            </a:r>
          </a:p>
          <a:p>
            <a:pPr lvl="1">
              <a:buFont typeface="Wingdings" panose="05000000000000000000" pitchFamily="2" charset="2"/>
              <a:buChar char="v"/>
            </a:pPr>
            <a:r>
              <a:rPr lang="en-US" dirty="0"/>
              <a:t>watch /input </a:t>
            </a:r>
          </a:p>
          <a:p>
            <a:pPr lvl="1">
              <a:buFont typeface="Wingdings" panose="05000000000000000000" pitchFamily="2" charset="2"/>
              <a:buChar char="v"/>
            </a:pPr>
            <a:r>
              <a:rPr lang="en-US" dirty="0"/>
              <a:t>read new file </a:t>
            </a:r>
          </a:p>
          <a:p>
            <a:pPr lvl="1">
              <a:buFont typeface="Wingdings" panose="05000000000000000000" pitchFamily="2" charset="2"/>
              <a:buChar char="v"/>
            </a:pPr>
            <a:r>
              <a:rPr lang="en-US" dirty="0"/>
              <a:t>convert text to object </a:t>
            </a:r>
          </a:p>
          <a:p>
            <a:pPr lvl="1">
              <a:buFont typeface="Wingdings" panose="05000000000000000000" pitchFamily="2" charset="2"/>
              <a:buChar char="v"/>
            </a:pPr>
            <a:r>
              <a:rPr lang="en-US" dirty="0"/>
              <a:t>validate object </a:t>
            </a:r>
          </a:p>
          <a:p>
            <a:pPr lvl="1">
              <a:buFont typeface="Wingdings" panose="05000000000000000000" pitchFamily="2" charset="2"/>
              <a:buChar char="v"/>
            </a:pPr>
            <a:r>
              <a:rPr lang="en-US" dirty="0"/>
              <a:t>send valid data to DB </a:t>
            </a:r>
          </a:p>
          <a:p>
            <a:pPr lvl="1">
              <a:buFont typeface="Wingdings" panose="05000000000000000000" pitchFamily="2" charset="2"/>
              <a:buChar char="v"/>
            </a:pPr>
            <a:r>
              <a:rPr lang="en-US" dirty="0"/>
              <a:t>move invalid file to /error </a:t>
            </a:r>
          </a:p>
          <a:p>
            <a:r>
              <a:rPr lang="en-US" dirty="0"/>
              <a:t>Spring Integration lets you define this as a flow instead of writing manual watcher/handler/plumbing code.</a:t>
            </a:r>
          </a:p>
          <a:p>
            <a:endParaRPr lang="en-IN" dirty="0"/>
          </a:p>
        </p:txBody>
      </p:sp>
    </p:spTree>
    <p:extLst>
      <p:ext uri="{BB962C8B-B14F-4D97-AF65-F5344CB8AC3E}">
        <p14:creationId xmlns:p14="http://schemas.microsoft.com/office/powerpoint/2010/main" val="1831718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BACCC-0274-47B6-BBA0-30CA144C12D3}"/>
              </a:ext>
            </a:extLst>
          </p:cNvPr>
          <p:cNvSpPr>
            <a:spLocks noGrp="1"/>
          </p:cNvSpPr>
          <p:nvPr>
            <p:ph type="title"/>
          </p:nvPr>
        </p:nvSpPr>
        <p:spPr/>
        <p:txBody>
          <a:bodyPr/>
          <a:lstStyle/>
          <a:p>
            <a:r>
              <a:rPr lang="en-US" b="1" dirty="0"/>
              <a:t>Difference from Spring Batch</a:t>
            </a:r>
            <a:endParaRPr lang="en-IN" dirty="0"/>
          </a:p>
        </p:txBody>
      </p:sp>
      <p:sp>
        <p:nvSpPr>
          <p:cNvPr id="3" name="Content Placeholder 2">
            <a:extLst>
              <a:ext uri="{FF2B5EF4-FFF2-40B4-BE49-F238E27FC236}">
                <a16:creationId xmlns:a16="http://schemas.microsoft.com/office/drawing/2014/main" id="{80450644-6985-BED5-293A-FC3A778168B7}"/>
              </a:ext>
            </a:extLst>
          </p:cNvPr>
          <p:cNvSpPr>
            <a:spLocks noGrp="1"/>
          </p:cNvSpPr>
          <p:nvPr>
            <p:ph idx="1"/>
          </p:nvPr>
        </p:nvSpPr>
        <p:spPr>
          <a:xfrm>
            <a:off x="1154954" y="2603500"/>
            <a:ext cx="10265715" cy="3983912"/>
          </a:xfrm>
        </p:spPr>
        <p:txBody>
          <a:bodyPr>
            <a:normAutofit fontScale="55000" lnSpcReduction="20000"/>
          </a:bodyPr>
          <a:lstStyle/>
          <a:p>
            <a:pPr marL="0" indent="0">
              <a:buNone/>
            </a:pPr>
            <a:r>
              <a:rPr lang="en-US" dirty="0"/>
              <a:t>People mix these up a lot.</a:t>
            </a:r>
          </a:p>
          <a:p>
            <a:pPr>
              <a:buFont typeface="Wingdings" panose="05000000000000000000" pitchFamily="2" charset="2"/>
              <a:buChar char="Ø"/>
            </a:pPr>
            <a:r>
              <a:rPr lang="en-US" b="1" dirty="0"/>
              <a:t>Spring Integration</a:t>
            </a:r>
          </a:p>
          <a:p>
            <a:pPr lvl="1">
              <a:buFont typeface="Wingdings" panose="05000000000000000000" pitchFamily="2" charset="2"/>
              <a:buChar char="v"/>
            </a:pPr>
            <a:r>
              <a:rPr lang="en-US" dirty="0"/>
              <a:t>meant for </a:t>
            </a:r>
            <a:r>
              <a:rPr lang="en-US" b="1" dirty="0"/>
              <a:t>system-to-system integration</a:t>
            </a:r>
            <a:r>
              <a:rPr lang="en-US" dirty="0"/>
              <a:t> </a:t>
            </a:r>
          </a:p>
          <a:p>
            <a:pPr lvl="1">
              <a:buFont typeface="Wingdings" panose="05000000000000000000" pitchFamily="2" charset="2"/>
              <a:buChar char="v"/>
            </a:pPr>
            <a:r>
              <a:rPr lang="en-US" dirty="0"/>
              <a:t>message-driven </a:t>
            </a:r>
          </a:p>
          <a:p>
            <a:pPr lvl="1">
              <a:buFont typeface="Wingdings" panose="05000000000000000000" pitchFamily="2" charset="2"/>
              <a:buChar char="v"/>
            </a:pPr>
            <a:r>
              <a:rPr lang="en-US" dirty="0"/>
              <a:t>real-time or near-real-time </a:t>
            </a:r>
          </a:p>
          <a:p>
            <a:pPr lvl="1">
              <a:buFont typeface="Wingdings" panose="05000000000000000000" pitchFamily="2" charset="2"/>
              <a:buChar char="v"/>
            </a:pPr>
            <a:r>
              <a:rPr lang="en-US" dirty="0"/>
              <a:t>focuses on flow between systems </a:t>
            </a:r>
          </a:p>
          <a:p>
            <a:pPr>
              <a:buFont typeface="Wingdings" panose="05000000000000000000" pitchFamily="2" charset="2"/>
              <a:buChar char="Ø"/>
            </a:pPr>
            <a:r>
              <a:rPr lang="en-US" b="1" dirty="0"/>
              <a:t>Spring Batch</a:t>
            </a:r>
          </a:p>
          <a:p>
            <a:pPr lvl="1">
              <a:buFont typeface="Wingdings" panose="05000000000000000000" pitchFamily="2" charset="2"/>
              <a:buChar char="v"/>
            </a:pPr>
            <a:r>
              <a:rPr lang="en-US" dirty="0"/>
              <a:t>meant for </a:t>
            </a:r>
            <a:r>
              <a:rPr lang="en-US" b="1" dirty="0"/>
              <a:t>large batch processing</a:t>
            </a:r>
            <a:r>
              <a:rPr lang="en-US" dirty="0"/>
              <a:t> </a:t>
            </a:r>
          </a:p>
          <a:p>
            <a:pPr lvl="1">
              <a:buFont typeface="Wingdings" panose="05000000000000000000" pitchFamily="2" charset="2"/>
              <a:buChar char="v"/>
            </a:pPr>
            <a:r>
              <a:rPr lang="en-US" dirty="0"/>
              <a:t>chunk-based processing </a:t>
            </a:r>
          </a:p>
          <a:p>
            <a:pPr lvl="1">
              <a:buFont typeface="Wingdings" panose="05000000000000000000" pitchFamily="2" charset="2"/>
              <a:buChar char="v"/>
            </a:pPr>
            <a:r>
              <a:rPr lang="en-US" dirty="0"/>
              <a:t>jobs, steps, readers, writers </a:t>
            </a:r>
          </a:p>
          <a:p>
            <a:pPr lvl="1">
              <a:buFont typeface="Wingdings" panose="05000000000000000000" pitchFamily="2" charset="2"/>
              <a:buChar char="v"/>
            </a:pPr>
            <a:r>
              <a:rPr lang="en-US" dirty="0"/>
              <a:t>focuses on bulk data processing </a:t>
            </a:r>
          </a:p>
          <a:p>
            <a:r>
              <a:rPr lang="en-US" dirty="0"/>
              <a:t>Can also be used together.</a:t>
            </a:r>
          </a:p>
          <a:p>
            <a:r>
              <a:rPr lang="en-US" dirty="0"/>
              <a:t>Example:</a:t>
            </a:r>
          </a:p>
          <a:p>
            <a:r>
              <a:rPr lang="en-US" b="1" dirty="0"/>
              <a:t>Spring Integration fetches files from SFTP </a:t>
            </a:r>
          </a:p>
          <a:p>
            <a:r>
              <a:rPr lang="en-US" b="1" dirty="0"/>
              <a:t>Spring Batch processes huge file contents </a:t>
            </a:r>
          </a:p>
          <a:p>
            <a:r>
              <a:rPr lang="en-US" b="1" dirty="0"/>
              <a:t>That combo is pretty common in enterprise systems.</a:t>
            </a:r>
          </a:p>
          <a:p>
            <a:endParaRPr lang="en-US" dirty="0"/>
          </a:p>
          <a:p>
            <a:endParaRPr lang="en-IN" dirty="0"/>
          </a:p>
        </p:txBody>
      </p:sp>
    </p:spTree>
    <p:extLst>
      <p:ext uri="{BB962C8B-B14F-4D97-AF65-F5344CB8AC3E}">
        <p14:creationId xmlns:p14="http://schemas.microsoft.com/office/powerpoint/2010/main" val="78583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F1BDB-9615-6537-4E75-2FD3CB6E4DF5}"/>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CEC98F5-2E11-4C6D-BE18-A62C772C7CB0}"/>
              </a:ext>
            </a:extLst>
          </p:cNvPr>
          <p:cNvSpPr>
            <a:spLocks noGrp="1"/>
          </p:cNvSpPr>
          <p:nvPr>
            <p:ph idx="1"/>
          </p:nvPr>
        </p:nvSpPr>
        <p:spPr/>
        <p:txBody>
          <a:bodyPr>
            <a:normAutofit/>
          </a:bodyPr>
          <a:lstStyle/>
          <a:p>
            <a:r>
              <a:rPr lang="en-US" b="1" dirty="0"/>
              <a:t>Read a text file from a folder and print its content to the console.</a:t>
            </a:r>
            <a:endParaRPr lang="en-US" dirty="0"/>
          </a:p>
          <a:p>
            <a:pPr marL="0" indent="0">
              <a:buNone/>
            </a:pPr>
            <a:r>
              <a:rPr lang="en-US" b="1" dirty="0"/>
              <a:t>What this example does</a:t>
            </a:r>
          </a:p>
          <a:p>
            <a:r>
              <a:rPr lang="en-US" dirty="0"/>
              <a:t>watches a folder like input/ </a:t>
            </a:r>
          </a:p>
          <a:p>
            <a:r>
              <a:rPr lang="en-US" dirty="0"/>
              <a:t>picks up new .txt files </a:t>
            </a:r>
          </a:p>
          <a:p>
            <a:r>
              <a:rPr lang="en-US" dirty="0"/>
              <a:t>reads file content </a:t>
            </a:r>
          </a:p>
          <a:p>
            <a:r>
              <a:rPr lang="en-US" dirty="0"/>
              <a:t>transforms content to uppercase </a:t>
            </a:r>
          </a:p>
          <a:p>
            <a:r>
              <a:rPr lang="en-US" dirty="0"/>
              <a:t>sends it to a handler </a:t>
            </a:r>
          </a:p>
          <a:p>
            <a:r>
              <a:rPr lang="en-US" dirty="0"/>
              <a:t>prints result</a:t>
            </a:r>
          </a:p>
          <a:p>
            <a:endParaRPr lang="en-IN" dirty="0"/>
          </a:p>
        </p:txBody>
      </p:sp>
    </p:spTree>
    <p:extLst>
      <p:ext uri="{BB962C8B-B14F-4D97-AF65-F5344CB8AC3E}">
        <p14:creationId xmlns:p14="http://schemas.microsoft.com/office/powerpoint/2010/main" val="1395525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686656-043D-44D9-92A6-4293BD8E3B41}"/>
              </a:ext>
            </a:extLst>
          </p:cNvPr>
          <p:cNvSpPr txBox="1"/>
          <p:nvPr/>
        </p:nvSpPr>
        <p:spPr>
          <a:xfrm>
            <a:off x="644589" y="197346"/>
            <a:ext cx="10902821" cy="6463308"/>
          </a:xfrm>
          <a:prstGeom prst="rect">
            <a:avLst/>
          </a:prstGeom>
          <a:noFill/>
        </p:spPr>
        <p:txBody>
          <a:bodyPr wrap="square">
            <a:spAutoFit/>
          </a:bodyPr>
          <a:lstStyle/>
          <a:p>
            <a:r>
              <a:rPr lang="en-IN" dirty="0"/>
              <a:t>@Configuration</a:t>
            </a:r>
            <a:br>
              <a:rPr lang="en-IN" dirty="0"/>
            </a:br>
            <a:r>
              <a:rPr lang="en-IN" dirty="0"/>
              <a:t>public class </a:t>
            </a:r>
            <a:r>
              <a:rPr lang="en-IN" dirty="0" err="1"/>
              <a:t>FileIntegrationConfig</a:t>
            </a:r>
            <a:r>
              <a:rPr lang="en-IN" dirty="0"/>
              <a:t> {</a:t>
            </a:r>
            <a:br>
              <a:rPr lang="en-IN" dirty="0"/>
            </a:br>
            <a:br>
              <a:rPr lang="en-IN" dirty="0"/>
            </a:br>
            <a:r>
              <a:rPr lang="en-IN" dirty="0"/>
              <a:t>@Bean</a:t>
            </a:r>
            <a:br>
              <a:rPr lang="en-IN" dirty="0"/>
            </a:br>
            <a:r>
              <a:rPr lang="en-IN" dirty="0"/>
              <a:t>public </a:t>
            </a:r>
            <a:r>
              <a:rPr lang="en-IN" dirty="0" err="1"/>
              <a:t>IntegrationFlow</a:t>
            </a:r>
            <a:r>
              <a:rPr lang="en-IN" dirty="0"/>
              <a:t> </a:t>
            </a:r>
            <a:r>
              <a:rPr lang="en-IN" dirty="0" err="1"/>
              <a:t>fileReadingFlow</a:t>
            </a:r>
            <a:r>
              <a:rPr lang="en-IN" dirty="0"/>
              <a:t>() {</a:t>
            </a:r>
            <a:br>
              <a:rPr lang="en-IN" dirty="0"/>
            </a:br>
            <a:r>
              <a:rPr lang="en-IN" dirty="0"/>
              <a:t>return </a:t>
            </a:r>
            <a:r>
              <a:rPr lang="en-IN" dirty="0" err="1"/>
              <a:t>IntegrationFlow</a:t>
            </a:r>
            <a:br>
              <a:rPr lang="en-IN" dirty="0"/>
            </a:br>
            <a:r>
              <a:rPr lang="en-IN" dirty="0"/>
              <a:t>	.from(</a:t>
            </a:r>
            <a:r>
              <a:rPr lang="en-IN" dirty="0" err="1"/>
              <a:t>Files.inboundAdapter</a:t>
            </a:r>
            <a:r>
              <a:rPr lang="en-IN" dirty="0"/>
              <a:t>(new File("input"))</a:t>
            </a:r>
            <a:br>
              <a:rPr lang="en-IN" dirty="0"/>
            </a:br>
            <a:r>
              <a:rPr lang="en-IN" dirty="0"/>
              <a:t>	.</a:t>
            </a:r>
            <a:r>
              <a:rPr lang="en-IN" dirty="0" err="1"/>
              <a:t>autoCreateDirectory</a:t>
            </a:r>
            <a:r>
              <a:rPr lang="en-IN" dirty="0"/>
              <a:t>(true),</a:t>
            </a:r>
            <a:br>
              <a:rPr lang="en-IN" dirty="0"/>
            </a:br>
            <a:r>
              <a:rPr lang="en-IN" dirty="0"/>
              <a:t>	</a:t>
            </a:r>
            <a:r>
              <a:rPr lang="en-IN" dirty="0" err="1"/>
              <a:t>poller</a:t>
            </a:r>
            <a:r>
              <a:rPr lang="en-IN" dirty="0"/>
              <a:t> -&gt; </a:t>
            </a:r>
            <a:r>
              <a:rPr lang="en-IN" dirty="0" err="1"/>
              <a:t>poller.fixedDelay</a:t>
            </a:r>
            <a:r>
              <a:rPr lang="en-IN" dirty="0"/>
              <a:t>(5000))</a:t>
            </a:r>
            <a:br>
              <a:rPr lang="en-IN" dirty="0"/>
            </a:br>
            <a:r>
              <a:rPr lang="en-IN" dirty="0"/>
              <a:t>	.transform(</a:t>
            </a:r>
            <a:r>
              <a:rPr lang="en-IN" dirty="0" err="1"/>
              <a:t>File.class</a:t>
            </a:r>
            <a:r>
              <a:rPr lang="en-IN" dirty="0"/>
              <a:t>, file -&gt; {</a:t>
            </a:r>
            <a:br>
              <a:rPr lang="en-IN" dirty="0"/>
            </a:br>
            <a:r>
              <a:rPr lang="en-IN" dirty="0"/>
              <a:t>		try {</a:t>
            </a:r>
            <a:br>
              <a:rPr lang="en-IN" dirty="0"/>
            </a:br>
            <a:r>
              <a:rPr lang="en-IN" dirty="0"/>
              <a:t>			return </a:t>
            </a:r>
            <a:r>
              <a:rPr lang="en-IN" dirty="0" err="1"/>
              <a:t>java.nio.file.Files.readString</a:t>
            </a:r>
            <a:r>
              <a:rPr lang="en-IN" dirty="0"/>
              <a:t>(</a:t>
            </a:r>
            <a:r>
              <a:rPr lang="en-IN" dirty="0" err="1"/>
              <a:t>file.toPath</a:t>
            </a:r>
            <a:r>
              <a:rPr lang="en-IN" dirty="0"/>
              <a:t>());</a:t>
            </a:r>
            <a:br>
              <a:rPr lang="en-IN" dirty="0"/>
            </a:br>
            <a:r>
              <a:rPr lang="en-IN" dirty="0"/>
              <a:t>			} catch (Exception e) {</a:t>
            </a:r>
            <a:br>
              <a:rPr lang="en-IN" dirty="0"/>
            </a:br>
            <a:r>
              <a:rPr lang="en-IN" dirty="0"/>
              <a:t>				throw new </a:t>
            </a:r>
            <a:r>
              <a:rPr lang="en-IN" dirty="0" err="1"/>
              <a:t>RuntimeException</a:t>
            </a:r>
            <a:r>
              <a:rPr lang="en-IN" dirty="0"/>
              <a:t>("Failed to read file", e);</a:t>
            </a:r>
            <a:br>
              <a:rPr lang="en-IN" dirty="0"/>
            </a:br>
            <a:r>
              <a:rPr lang="en-IN" dirty="0"/>
              <a:t>			}</a:t>
            </a:r>
            <a:br>
              <a:rPr lang="en-IN" dirty="0"/>
            </a:br>
            <a:r>
              <a:rPr lang="en-IN" dirty="0"/>
              <a:t>		})</a:t>
            </a:r>
            <a:br>
              <a:rPr lang="en-IN" dirty="0"/>
            </a:br>
            <a:r>
              <a:rPr lang="en-IN" dirty="0"/>
              <a:t>	.&lt;String, String&gt;transform(String::</a:t>
            </a:r>
            <a:r>
              <a:rPr lang="en-IN" dirty="0" err="1"/>
              <a:t>toUpperCase</a:t>
            </a:r>
            <a:r>
              <a:rPr lang="en-IN" dirty="0"/>
              <a:t>)</a:t>
            </a:r>
            <a:br>
              <a:rPr lang="en-IN" dirty="0"/>
            </a:br>
            <a:r>
              <a:rPr lang="en-IN" dirty="0"/>
              <a:t>	.handle(message -&gt; {</a:t>
            </a:r>
            <a:br>
              <a:rPr lang="en-IN" dirty="0"/>
            </a:br>
            <a:r>
              <a:rPr lang="en-IN" dirty="0"/>
              <a:t>		</a:t>
            </a:r>
            <a:r>
              <a:rPr lang="en-IN" dirty="0" err="1"/>
              <a:t>System.out.println</a:t>
            </a:r>
            <a:r>
              <a:rPr lang="en-IN" dirty="0"/>
              <a:t>("Processed File Content: " + </a:t>
            </a:r>
            <a:r>
              <a:rPr lang="en-IN" dirty="0" err="1"/>
              <a:t>message.getPayload</a:t>
            </a:r>
            <a:r>
              <a:rPr lang="en-IN" dirty="0"/>
              <a:t>());</a:t>
            </a:r>
            <a:br>
              <a:rPr lang="en-IN" dirty="0"/>
            </a:br>
            <a:r>
              <a:rPr lang="en-IN" dirty="0"/>
              <a:t>	})</a:t>
            </a:r>
            <a:br>
              <a:rPr lang="en-IN" dirty="0"/>
            </a:br>
            <a:r>
              <a:rPr lang="en-IN" dirty="0"/>
              <a:t>	.get();</a:t>
            </a:r>
            <a:br>
              <a:rPr lang="en-IN" dirty="0"/>
            </a:br>
            <a:r>
              <a:rPr lang="en-IN" dirty="0"/>
              <a:t>	}</a:t>
            </a:r>
            <a:br>
              <a:rPr lang="en-IN" dirty="0"/>
            </a:br>
            <a:r>
              <a:rPr lang="en-IN" dirty="0"/>
              <a:t>}</a:t>
            </a:r>
          </a:p>
        </p:txBody>
      </p:sp>
    </p:spTree>
    <p:extLst>
      <p:ext uri="{BB962C8B-B14F-4D97-AF65-F5344CB8AC3E}">
        <p14:creationId xmlns:p14="http://schemas.microsoft.com/office/powerpoint/2010/main" val="1155857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489D2-3A3D-238A-8D33-6261459D11EF}"/>
              </a:ext>
            </a:extLst>
          </p:cNvPr>
          <p:cNvSpPr>
            <a:spLocks noGrp="1"/>
          </p:cNvSpPr>
          <p:nvPr>
            <p:ph type="title"/>
          </p:nvPr>
        </p:nvSpPr>
        <p:spPr/>
        <p:txBody>
          <a:bodyPr/>
          <a:lstStyle/>
          <a:p>
            <a:r>
              <a:rPr lang="en-US" b="1" dirty="0"/>
              <a:t>How it works</a:t>
            </a:r>
            <a:endParaRPr lang="en-IN" dirty="0"/>
          </a:p>
        </p:txBody>
      </p:sp>
      <p:sp>
        <p:nvSpPr>
          <p:cNvPr id="3" name="Content Placeholder 2">
            <a:extLst>
              <a:ext uri="{FF2B5EF4-FFF2-40B4-BE49-F238E27FC236}">
                <a16:creationId xmlns:a16="http://schemas.microsoft.com/office/drawing/2014/main" id="{41DDF20C-9C0A-41E0-D7E4-089A6BCFBBC4}"/>
              </a:ext>
            </a:extLst>
          </p:cNvPr>
          <p:cNvSpPr>
            <a:spLocks noGrp="1"/>
          </p:cNvSpPr>
          <p:nvPr>
            <p:ph idx="1"/>
          </p:nvPr>
        </p:nvSpPr>
        <p:spPr/>
        <p:txBody>
          <a:bodyPr>
            <a:normAutofit fontScale="92500" lnSpcReduction="20000"/>
          </a:bodyPr>
          <a:lstStyle/>
          <a:p>
            <a:r>
              <a:rPr lang="en-US" b="1" dirty="0" err="1"/>
              <a:t>Files.inboundAdapter</a:t>
            </a:r>
            <a:r>
              <a:rPr lang="en-US" b="1" dirty="0"/>
              <a:t>(new File("input"))</a:t>
            </a:r>
          </a:p>
          <a:p>
            <a:r>
              <a:rPr lang="en-US" dirty="0"/>
              <a:t>This watches the input folder.</a:t>
            </a:r>
          </a:p>
          <a:p>
            <a:r>
              <a:rPr lang="en-US" b="1" dirty="0" err="1"/>
              <a:t>poller</a:t>
            </a:r>
            <a:r>
              <a:rPr lang="en-US" b="1" dirty="0"/>
              <a:t> -&gt; </a:t>
            </a:r>
            <a:r>
              <a:rPr lang="en-US" b="1" dirty="0" err="1"/>
              <a:t>poller.fixedDelay</a:t>
            </a:r>
            <a:r>
              <a:rPr lang="en-US" b="1" dirty="0"/>
              <a:t>(5000)</a:t>
            </a:r>
          </a:p>
          <a:p>
            <a:r>
              <a:rPr lang="en-US" dirty="0"/>
              <a:t>Checks the folder every 5 seconds.</a:t>
            </a:r>
          </a:p>
          <a:p>
            <a:r>
              <a:rPr lang="en-US" b="1" dirty="0"/>
              <a:t>First transform(...)</a:t>
            </a:r>
          </a:p>
          <a:p>
            <a:r>
              <a:rPr lang="en-US" dirty="0"/>
              <a:t>Reads the file content and converts File into String.</a:t>
            </a:r>
          </a:p>
          <a:p>
            <a:r>
              <a:rPr lang="en-US" b="1" dirty="0"/>
              <a:t>Second transform(String::</a:t>
            </a:r>
            <a:r>
              <a:rPr lang="en-US" b="1" dirty="0" err="1"/>
              <a:t>toUpperCase</a:t>
            </a:r>
            <a:r>
              <a:rPr lang="en-US" b="1" dirty="0"/>
              <a:t>)</a:t>
            </a:r>
          </a:p>
          <a:p>
            <a:r>
              <a:rPr lang="en-US" dirty="0"/>
              <a:t>Changes content to uppercase.</a:t>
            </a:r>
          </a:p>
          <a:p>
            <a:r>
              <a:rPr lang="en-US" b="1" dirty="0"/>
              <a:t>handle(...)</a:t>
            </a:r>
          </a:p>
          <a:p>
            <a:r>
              <a:rPr lang="en-US" dirty="0"/>
              <a:t>Consumes the final message and prints it.</a:t>
            </a:r>
          </a:p>
          <a:p>
            <a:endParaRPr lang="en-IN" dirty="0"/>
          </a:p>
        </p:txBody>
      </p:sp>
    </p:spTree>
    <p:extLst>
      <p:ext uri="{BB962C8B-B14F-4D97-AF65-F5344CB8AC3E}">
        <p14:creationId xmlns:p14="http://schemas.microsoft.com/office/powerpoint/2010/main" val="2525358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20440-364C-3C16-6DA2-CF629918C284}"/>
              </a:ext>
            </a:extLst>
          </p:cNvPr>
          <p:cNvSpPr>
            <a:spLocks noGrp="1"/>
          </p:cNvSpPr>
          <p:nvPr>
            <p:ph type="title"/>
          </p:nvPr>
        </p:nvSpPr>
        <p:spPr/>
        <p:txBody>
          <a:bodyPr/>
          <a:lstStyle/>
          <a:p>
            <a:r>
              <a:rPr lang="en-US" b="1" dirty="0"/>
              <a:t>How it works</a:t>
            </a:r>
            <a:endParaRPr lang="en-IN" dirty="0"/>
          </a:p>
        </p:txBody>
      </p:sp>
      <p:sp>
        <p:nvSpPr>
          <p:cNvPr id="5" name="TextBox 4">
            <a:extLst>
              <a:ext uri="{FF2B5EF4-FFF2-40B4-BE49-F238E27FC236}">
                <a16:creationId xmlns:a16="http://schemas.microsoft.com/office/drawing/2014/main" id="{03E5D80F-8B47-3575-E33E-C89282F85410}"/>
              </a:ext>
            </a:extLst>
          </p:cNvPr>
          <p:cNvSpPr txBox="1"/>
          <p:nvPr/>
        </p:nvSpPr>
        <p:spPr>
          <a:xfrm>
            <a:off x="2189194" y="2911367"/>
            <a:ext cx="6095222" cy="3139321"/>
          </a:xfrm>
          <a:prstGeom prst="rect">
            <a:avLst/>
          </a:prstGeom>
          <a:noFill/>
        </p:spPr>
        <p:txBody>
          <a:bodyPr wrap="square">
            <a:spAutoFit/>
          </a:bodyPr>
          <a:lstStyle/>
          <a:p>
            <a:r>
              <a:rPr lang="en-IN" dirty="0"/>
              <a:t>File arrives in folder</a:t>
            </a:r>
          </a:p>
          <a:p>
            <a:r>
              <a:rPr lang="en-IN" dirty="0"/>
              <a:t>   ↓</a:t>
            </a:r>
          </a:p>
          <a:p>
            <a:r>
              <a:rPr lang="en-IN" dirty="0"/>
              <a:t>Spring Integration picks it up</a:t>
            </a:r>
          </a:p>
          <a:p>
            <a:r>
              <a:rPr lang="en-IN" dirty="0"/>
              <a:t>   ↓</a:t>
            </a:r>
          </a:p>
          <a:p>
            <a:r>
              <a:rPr lang="en-IN" dirty="0"/>
              <a:t>Reads file content</a:t>
            </a:r>
          </a:p>
          <a:p>
            <a:r>
              <a:rPr lang="en-IN" dirty="0"/>
              <a:t>   ↓</a:t>
            </a:r>
          </a:p>
          <a:p>
            <a:r>
              <a:rPr lang="en-IN" dirty="0"/>
              <a:t>Transforms text to uppercase</a:t>
            </a:r>
          </a:p>
          <a:p>
            <a:r>
              <a:rPr lang="en-IN" dirty="0"/>
              <a:t>   ↓</a:t>
            </a:r>
          </a:p>
          <a:p>
            <a:r>
              <a:rPr lang="en-IN" dirty="0"/>
              <a:t>Handles the message</a:t>
            </a:r>
          </a:p>
          <a:p>
            <a:r>
              <a:rPr lang="en-IN" dirty="0"/>
              <a:t>   ↓</a:t>
            </a:r>
          </a:p>
          <a:p>
            <a:r>
              <a:rPr lang="en-IN" dirty="0"/>
              <a:t>Prints output</a:t>
            </a:r>
          </a:p>
        </p:txBody>
      </p:sp>
    </p:spTree>
    <p:extLst>
      <p:ext uri="{BB962C8B-B14F-4D97-AF65-F5344CB8AC3E}">
        <p14:creationId xmlns:p14="http://schemas.microsoft.com/office/powerpoint/2010/main" val="2772678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1794-36DF-744E-76C0-86ED2BDF446E}"/>
              </a:ext>
            </a:extLst>
          </p:cNvPr>
          <p:cNvSpPr>
            <a:spLocks noGrp="1"/>
          </p:cNvSpPr>
          <p:nvPr>
            <p:ph type="title"/>
          </p:nvPr>
        </p:nvSpPr>
        <p:spPr/>
        <p:txBody>
          <a:bodyPr/>
          <a:lstStyle/>
          <a:p>
            <a:r>
              <a:rPr lang="en-US" b="1" dirty="0"/>
              <a:t>Why this is a Spring Integration example</a:t>
            </a:r>
            <a:endParaRPr lang="en-IN" dirty="0"/>
          </a:p>
        </p:txBody>
      </p:sp>
      <p:sp>
        <p:nvSpPr>
          <p:cNvPr id="3" name="Content Placeholder 2">
            <a:extLst>
              <a:ext uri="{FF2B5EF4-FFF2-40B4-BE49-F238E27FC236}">
                <a16:creationId xmlns:a16="http://schemas.microsoft.com/office/drawing/2014/main" id="{41F66D15-FF85-E017-E3D6-B698BA24F8BF}"/>
              </a:ext>
            </a:extLst>
          </p:cNvPr>
          <p:cNvSpPr>
            <a:spLocks noGrp="1"/>
          </p:cNvSpPr>
          <p:nvPr>
            <p:ph idx="1"/>
          </p:nvPr>
        </p:nvSpPr>
        <p:spPr/>
        <p:txBody>
          <a:bodyPr/>
          <a:lstStyle/>
          <a:p>
            <a:r>
              <a:rPr lang="en-US" dirty="0"/>
              <a:t>Because it uses:</a:t>
            </a:r>
          </a:p>
          <a:p>
            <a:r>
              <a:rPr lang="en-US" b="1" dirty="0"/>
              <a:t>inbound adapter</a:t>
            </a:r>
            <a:r>
              <a:rPr lang="en-US" dirty="0"/>
              <a:t> → source of messages </a:t>
            </a:r>
          </a:p>
          <a:p>
            <a:r>
              <a:rPr lang="en-US" b="1" dirty="0"/>
              <a:t>message transformation</a:t>
            </a:r>
            <a:r>
              <a:rPr lang="en-US" dirty="0"/>
              <a:t> → converting payload </a:t>
            </a:r>
          </a:p>
          <a:p>
            <a:r>
              <a:rPr lang="en-US" b="1" dirty="0"/>
              <a:t>message handler</a:t>
            </a:r>
            <a:r>
              <a:rPr lang="en-US" dirty="0"/>
              <a:t> → consuming output </a:t>
            </a:r>
          </a:p>
          <a:p>
            <a:r>
              <a:rPr lang="en-US" b="1" dirty="0"/>
              <a:t>integration flow</a:t>
            </a:r>
            <a:r>
              <a:rPr lang="en-US" dirty="0"/>
              <a:t> → defines pipeline </a:t>
            </a:r>
          </a:p>
          <a:p>
            <a:r>
              <a:rPr lang="en-US" dirty="0"/>
              <a:t>That is the heart of Spring Integration.</a:t>
            </a:r>
          </a:p>
          <a:p>
            <a:endParaRPr lang="en-IN" dirty="0"/>
          </a:p>
        </p:txBody>
      </p:sp>
    </p:spTree>
    <p:extLst>
      <p:ext uri="{BB962C8B-B14F-4D97-AF65-F5344CB8AC3E}">
        <p14:creationId xmlns:p14="http://schemas.microsoft.com/office/powerpoint/2010/main" val="976260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9975-C7B4-0642-9CB3-98489898334D}"/>
              </a:ext>
            </a:extLst>
          </p:cNvPr>
          <p:cNvSpPr>
            <a:spLocks noGrp="1"/>
          </p:cNvSpPr>
          <p:nvPr>
            <p:ph type="title"/>
          </p:nvPr>
        </p:nvSpPr>
        <p:spPr/>
        <p:txBody>
          <a:bodyPr/>
          <a:lstStyle/>
          <a:p>
            <a:r>
              <a:rPr lang="en-US" b="1" dirty="0"/>
              <a:t>Real-world extension of this same example</a:t>
            </a:r>
            <a:endParaRPr lang="en-IN" dirty="0"/>
          </a:p>
        </p:txBody>
      </p:sp>
      <p:sp>
        <p:nvSpPr>
          <p:cNvPr id="3" name="Content Placeholder 2">
            <a:extLst>
              <a:ext uri="{FF2B5EF4-FFF2-40B4-BE49-F238E27FC236}">
                <a16:creationId xmlns:a16="http://schemas.microsoft.com/office/drawing/2014/main" id="{BE8057E2-91C7-A850-3A38-339F5D875EDC}"/>
              </a:ext>
            </a:extLst>
          </p:cNvPr>
          <p:cNvSpPr>
            <a:spLocks noGrp="1"/>
          </p:cNvSpPr>
          <p:nvPr>
            <p:ph idx="1"/>
          </p:nvPr>
        </p:nvSpPr>
        <p:spPr/>
        <p:txBody>
          <a:bodyPr/>
          <a:lstStyle/>
          <a:p>
            <a:r>
              <a:rPr lang="en-US" dirty="0"/>
              <a:t>Instead of printing to console, you could:</a:t>
            </a:r>
          </a:p>
          <a:p>
            <a:pPr lvl="1">
              <a:buFont typeface="Wingdings" panose="05000000000000000000" pitchFamily="2" charset="2"/>
              <a:buChar char="v"/>
            </a:pPr>
            <a:r>
              <a:rPr lang="en-US" dirty="0"/>
              <a:t>save content to database </a:t>
            </a:r>
          </a:p>
          <a:p>
            <a:pPr lvl="1">
              <a:buFont typeface="Wingdings" panose="05000000000000000000" pitchFamily="2" charset="2"/>
              <a:buChar char="v"/>
            </a:pPr>
            <a:r>
              <a:rPr lang="en-US" dirty="0"/>
              <a:t>send it to Kafka </a:t>
            </a:r>
          </a:p>
          <a:p>
            <a:pPr lvl="1">
              <a:buFont typeface="Wingdings" panose="05000000000000000000" pitchFamily="2" charset="2"/>
              <a:buChar char="v"/>
            </a:pPr>
            <a:r>
              <a:rPr lang="en-US" dirty="0"/>
              <a:t>call a REST API </a:t>
            </a:r>
          </a:p>
          <a:p>
            <a:pPr lvl="1">
              <a:buFont typeface="Wingdings" panose="05000000000000000000" pitchFamily="2" charset="2"/>
              <a:buChar char="v"/>
            </a:pPr>
            <a:r>
              <a:rPr lang="en-US" dirty="0"/>
              <a:t>route invalid files to error folder </a:t>
            </a:r>
          </a:p>
          <a:p>
            <a:pPr lvl="1">
              <a:buFont typeface="Wingdings" panose="05000000000000000000" pitchFamily="2" charset="2"/>
              <a:buChar char="v"/>
            </a:pPr>
            <a:r>
              <a:rPr lang="en-US" dirty="0"/>
              <a:t>archive processed files </a:t>
            </a:r>
          </a:p>
          <a:p>
            <a:r>
              <a:rPr lang="en-US" dirty="0"/>
              <a:t>So this tiny example is actually the base of many enterprise workflows.</a:t>
            </a:r>
          </a:p>
          <a:p>
            <a:endParaRPr lang="en-IN" dirty="0"/>
          </a:p>
        </p:txBody>
      </p:sp>
    </p:spTree>
    <p:extLst>
      <p:ext uri="{BB962C8B-B14F-4D97-AF65-F5344CB8AC3E}">
        <p14:creationId xmlns:p14="http://schemas.microsoft.com/office/powerpoint/2010/main" val="2801613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1BE0B-D53B-D58D-2F06-B6DF1E9F5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C0909-0C4C-55A4-E881-9CB6305A2A9F}"/>
              </a:ext>
            </a:extLst>
          </p:cNvPr>
          <p:cNvSpPr>
            <a:spLocks noGrp="1"/>
          </p:cNvSpPr>
          <p:nvPr>
            <p:ph type="title"/>
          </p:nvPr>
        </p:nvSpPr>
        <p:spPr/>
        <p:txBody>
          <a:bodyPr/>
          <a:lstStyle/>
          <a:p>
            <a:r>
              <a:rPr lang="en-US" dirty="0"/>
              <a:t>Core Concepts</a:t>
            </a:r>
            <a:endParaRPr lang="en-IN" dirty="0"/>
          </a:p>
        </p:txBody>
      </p:sp>
      <p:sp>
        <p:nvSpPr>
          <p:cNvPr id="3" name="Content Placeholder 2">
            <a:extLst>
              <a:ext uri="{FF2B5EF4-FFF2-40B4-BE49-F238E27FC236}">
                <a16:creationId xmlns:a16="http://schemas.microsoft.com/office/drawing/2014/main" id="{4918538B-A207-0C78-A0FA-0D4A8AC9AF50}"/>
              </a:ext>
            </a:extLst>
          </p:cNvPr>
          <p:cNvSpPr>
            <a:spLocks noGrp="1"/>
          </p:cNvSpPr>
          <p:nvPr>
            <p:ph idx="1"/>
          </p:nvPr>
        </p:nvSpPr>
        <p:spPr>
          <a:xfrm>
            <a:off x="1154954" y="2603500"/>
            <a:ext cx="10116126" cy="3787520"/>
          </a:xfrm>
        </p:spPr>
        <p:txBody>
          <a:bodyPr>
            <a:normAutofit fontScale="70000" lnSpcReduction="20000"/>
          </a:bodyPr>
          <a:lstStyle/>
          <a:p>
            <a:r>
              <a:rPr lang="en-US" b="1" dirty="0"/>
              <a:t>Messaging Pattern</a:t>
            </a:r>
            <a:r>
              <a:rPr lang="en-US" dirty="0"/>
              <a:t> -Foundational pattern in Spring Integration is Messaging. </a:t>
            </a:r>
          </a:p>
          <a:p>
            <a:pPr lvl="1"/>
            <a:r>
              <a:rPr lang="en-US" dirty="0"/>
              <a:t>Involves discrete payloads of data (messages) moving from an originating system to one or multiple systems via predefined channels.</a:t>
            </a:r>
          </a:p>
          <a:p>
            <a:pPr lvl="1"/>
            <a:r>
              <a:rPr lang="en-US" dirty="0"/>
              <a:t>Messaging pattern allows systems to be decoupled and agnostic of each other's protocols, formatting, or implementation details.</a:t>
            </a:r>
          </a:p>
          <a:p>
            <a:r>
              <a:rPr lang="en-US" b="1" dirty="0"/>
              <a:t>Message</a:t>
            </a:r>
            <a:r>
              <a:rPr lang="en-US" dirty="0"/>
              <a:t> -- Message in Spring Integration is a generic wrapper for any Java object combined with metadata used by the framework.</a:t>
            </a:r>
          </a:p>
          <a:p>
            <a:pPr lvl="1"/>
            <a:r>
              <a:rPr lang="en-US" dirty="0"/>
              <a:t>Consists of a payload and headers. </a:t>
            </a:r>
          </a:p>
          <a:p>
            <a:pPr lvl="1"/>
            <a:r>
              <a:rPr lang="en-US" dirty="0"/>
              <a:t>Payload can be of any type, and the headers hold commonly required information such as ID, timestamp, correlation ID, and return address.</a:t>
            </a:r>
          </a:p>
          <a:p>
            <a:r>
              <a:rPr lang="en-US" b="1" dirty="0"/>
              <a:t>Message Channel --  </a:t>
            </a:r>
            <a:r>
              <a:rPr lang="en-US" dirty="0"/>
              <a:t>Message Channel represents the "pipe" in a pipes-and-filters architecture. </a:t>
            </a:r>
          </a:p>
          <a:p>
            <a:pPr lvl="1"/>
            <a:r>
              <a:rPr lang="en-US" dirty="0"/>
              <a:t>Producers send messages to a channel, and consumers receive messages from a channel. </a:t>
            </a:r>
          </a:p>
          <a:p>
            <a:pPr lvl="1"/>
            <a:r>
              <a:rPr lang="en-US" dirty="0"/>
              <a:t>This decouples the messaging components and provides a convenient point for interception and monitoring of messages. </a:t>
            </a:r>
          </a:p>
          <a:p>
            <a:pPr lvl="1"/>
            <a:r>
              <a:rPr lang="en-US" dirty="0"/>
              <a:t>Channels can follow either point-to-point or publish-subscribe semantics.</a:t>
            </a:r>
          </a:p>
          <a:p>
            <a:r>
              <a:rPr lang="en-US" b="1" dirty="0"/>
              <a:t>Message Endpoint </a:t>
            </a:r>
            <a:r>
              <a:rPr lang="en-US" dirty="0"/>
              <a:t>--  Message Endpoint connects application code to the messaging framework in a non-invasive manner. </a:t>
            </a:r>
          </a:p>
          <a:p>
            <a:pPr lvl="1"/>
            <a:r>
              <a:rPr lang="en-US" dirty="0"/>
              <a:t>Handles messages and isolates application code from the infrastructure, similar to the role of a controller in the MVC paradigm.</a:t>
            </a:r>
            <a:endParaRPr lang="en-IN" dirty="0"/>
          </a:p>
          <a:p>
            <a:endParaRPr lang="en-IN" dirty="0"/>
          </a:p>
        </p:txBody>
      </p:sp>
    </p:spTree>
    <p:extLst>
      <p:ext uri="{BB962C8B-B14F-4D97-AF65-F5344CB8AC3E}">
        <p14:creationId xmlns:p14="http://schemas.microsoft.com/office/powerpoint/2010/main" val="935829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0E1AF-FAC4-23CE-A9E6-E8385BB44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E577C-F3FB-190A-CE2F-2015C633161D}"/>
              </a:ext>
            </a:extLst>
          </p:cNvPr>
          <p:cNvSpPr>
            <a:spLocks noGrp="1"/>
          </p:cNvSpPr>
          <p:nvPr>
            <p:ph type="title"/>
          </p:nvPr>
        </p:nvSpPr>
        <p:spPr/>
        <p:txBody>
          <a:bodyPr/>
          <a:lstStyle/>
          <a:p>
            <a:r>
              <a:rPr lang="en-US" b="1" dirty="0"/>
              <a:t>Components</a:t>
            </a:r>
            <a:endParaRPr lang="en-IN" dirty="0"/>
          </a:p>
        </p:txBody>
      </p:sp>
      <p:sp>
        <p:nvSpPr>
          <p:cNvPr id="3" name="Content Placeholder 2">
            <a:extLst>
              <a:ext uri="{FF2B5EF4-FFF2-40B4-BE49-F238E27FC236}">
                <a16:creationId xmlns:a16="http://schemas.microsoft.com/office/drawing/2014/main" id="{48C6505A-4AA5-67FA-5B61-6073513F08EE}"/>
              </a:ext>
            </a:extLst>
          </p:cNvPr>
          <p:cNvSpPr>
            <a:spLocks noGrp="1"/>
          </p:cNvSpPr>
          <p:nvPr>
            <p:ph idx="1"/>
          </p:nvPr>
        </p:nvSpPr>
        <p:spPr>
          <a:xfrm>
            <a:off x="1154953" y="2603500"/>
            <a:ext cx="10750907" cy="4091214"/>
          </a:xfrm>
        </p:spPr>
        <p:txBody>
          <a:bodyPr>
            <a:normAutofit fontScale="77500" lnSpcReduction="20000"/>
          </a:bodyPr>
          <a:lstStyle/>
          <a:p>
            <a:r>
              <a:rPr lang="en-US" b="1" dirty="0"/>
              <a:t>Service Activator --</a:t>
            </a:r>
            <a:r>
              <a:rPr lang="en-US" dirty="0"/>
              <a:t> Generic endpoint for connecting a service instance to the messaging system. </a:t>
            </a:r>
          </a:p>
          <a:p>
            <a:pPr lvl="1"/>
            <a:r>
              <a:rPr lang="en-US" dirty="0"/>
              <a:t>It invokes an operation on a service object to process the request message and can send a reply message to an output channel.</a:t>
            </a:r>
          </a:p>
          <a:p>
            <a:r>
              <a:rPr lang="en-US" b="1" dirty="0"/>
              <a:t>Channel Adapter --C</a:t>
            </a:r>
            <a:r>
              <a:rPr lang="en-US" dirty="0"/>
              <a:t>onnects a message channel to another system or transport. Channel adapters can be either inbound or outbound, and they map messages to objects or resources received from or sent to other systems.</a:t>
            </a:r>
          </a:p>
          <a:p>
            <a:r>
              <a:rPr lang="en-US" b="1" dirty="0"/>
              <a:t>Transformer --</a:t>
            </a:r>
            <a:r>
              <a:rPr lang="en-US" dirty="0"/>
              <a:t>A </a:t>
            </a:r>
            <a:r>
              <a:rPr lang="en-US" b="1" dirty="0"/>
              <a:t>Message Transformer</a:t>
            </a:r>
            <a:r>
              <a:rPr lang="en-US" dirty="0"/>
              <a:t> converts a message's content or structure and returns the modified message. </a:t>
            </a:r>
          </a:p>
          <a:p>
            <a:pPr lvl="1"/>
            <a:r>
              <a:rPr lang="en-US" dirty="0"/>
              <a:t>Can change the payload format or modify the message's header values.</a:t>
            </a:r>
          </a:p>
          <a:p>
            <a:r>
              <a:rPr lang="en-US" b="1" dirty="0"/>
              <a:t>Filter --</a:t>
            </a:r>
            <a:r>
              <a:rPr lang="en-US" dirty="0"/>
              <a:t>A </a:t>
            </a:r>
            <a:r>
              <a:rPr lang="en-US" b="1" dirty="0"/>
              <a:t>Message Filter</a:t>
            </a:r>
            <a:r>
              <a:rPr lang="en-US" dirty="0"/>
              <a:t> determines whether a message should be passed to an output channel based on a </a:t>
            </a:r>
            <a:r>
              <a:rPr lang="en-US" dirty="0" err="1"/>
              <a:t>boolean</a:t>
            </a:r>
            <a:r>
              <a:rPr lang="en-US" dirty="0"/>
              <a:t> test method. </a:t>
            </a:r>
          </a:p>
          <a:p>
            <a:pPr lvl="1"/>
            <a:r>
              <a:rPr lang="en-US" dirty="0"/>
              <a:t>Can check for specific payload content, property values, or header presence.</a:t>
            </a:r>
          </a:p>
          <a:p>
            <a:r>
              <a:rPr lang="en-US" b="1" dirty="0"/>
              <a:t>Router --</a:t>
            </a:r>
            <a:r>
              <a:rPr lang="en-US" dirty="0"/>
              <a:t>A </a:t>
            </a:r>
            <a:r>
              <a:rPr lang="en-US" b="1" dirty="0"/>
              <a:t>Message Router</a:t>
            </a:r>
            <a:r>
              <a:rPr lang="en-US" dirty="0"/>
              <a:t> decides which channel(s) should receive the message next, based on the message's content or metadata.</a:t>
            </a:r>
          </a:p>
          <a:p>
            <a:r>
              <a:rPr lang="en-US" b="1" dirty="0"/>
              <a:t>Splitter and Aggregator --</a:t>
            </a:r>
            <a:r>
              <a:rPr lang="en-US" dirty="0"/>
              <a:t>A </a:t>
            </a:r>
            <a:r>
              <a:rPr lang="en-US" b="1" dirty="0"/>
              <a:t>Splitter</a:t>
            </a:r>
            <a:r>
              <a:rPr lang="en-US" dirty="0"/>
              <a:t> divides a composite payload into multiple messages, while an </a:t>
            </a:r>
            <a:r>
              <a:rPr lang="en-US" b="1" dirty="0"/>
              <a:t>Aggregator</a:t>
            </a:r>
            <a:r>
              <a:rPr lang="en-US" dirty="0"/>
              <a:t> combines multiple messages into a single message. </a:t>
            </a:r>
          </a:p>
          <a:p>
            <a:r>
              <a:rPr lang="en-US" b="1" dirty="0"/>
              <a:t>These components are often used together in a pipeline.</a:t>
            </a:r>
          </a:p>
        </p:txBody>
      </p:sp>
    </p:spTree>
    <p:extLst>
      <p:ext uri="{BB962C8B-B14F-4D97-AF65-F5344CB8AC3E}">
        <p14:creationId xmlns:p14="http://schemas.microsoft.com/office/powerpoint/2010/main" val="2140958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93D79-EB7C-9B91-B700-4AF8F3364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44200-B9C0-2949-7055-B20D01D924DF}"/>
              </a:ext>
            </a:extLst>
          </p:cNvPr>
          <p:cNvSpPr>
            <a:spLocks noGrp="1"/>
          </p:cNvSpPr>
          <p:nvPr>
            <p:ph type="title"/>
          </p:nvPr>
        </p:nvSpPr>
        <p:spPr/>
        <p:txBody>
          <a:bodyPr/>
          <a:lstStyle/>
          <a:p>
            <a:r>
              <a:rPr lang="en-IN" dirty="0"/>
              <a:t>Spring Framework</a:t>
            </a:r>
          </a:p>
        </p:txBody>
      </p:sp>
      <p:sp>
        <p:nvSpPr>
          <p:cNvPr id="3" name="Content Placeholder 2">
            <a:extLst>
              <a:ext uri="{FF2B5EF4-FFF2-40B4-BE49-F238E27FC236}">
                <a16:creationId xmlns:a16="http://schemas.microsoft.com/office/drawing/2014/main" id="{348CA8A3-BCA5-9AC4-D978-709E1D199BCB}"/>
              </a:ext>
            </a:extLst>
          </p:cNvPr>
          <p:cNvSpPr>
            <a:spLocks noGrp="1"/>
          </p:cNvSpPr>
          <p:nvPr>
            <p:ph idx="1"/>
          </p:nvPr>
        </p:nvSpPr>
        <p:spPr>
          <a:xfrm>
            <a:off x="1154954" y="2603500"/>
            <a:ext cx="10116126" cy="3787520"/>
          </a:xfrm>
        </p:spPr>
        <p:txBody>
          <a:bodyPr/>
          <a:lstStyle/>
          <a:p>
            <a:r>
              <a:rPr lang="en-US" dirty="0"/>
              <a:t>key themes of the Spring Framework is </a:t>
            </a:r>
            <a:r>
              <a:rPr lang="en-US" b="1" dirty="0"/>
              <a:t>Inversion of Control (IoC).</a:t>
            </a:r>
          </a:p>
          <a:p>
            <a:pPr lvl="1"/>
            <a:r>
              <a:rPr lang="en-US" dirty="0"/>
              <a:t>Framework handles responsibilities on behalf of the components that are managed within its context.</a:t>
            </a:r>
          </a:p>
          <a:p>
            <a:pPr lvl="1"/>
            <a:r>
              <a:rPr lang="en-US" dirty="0"/>
              <a:t>Components themselves are simplified, because they are relieved of those responsibilities. </a:t>
            </a:r>
          </a:p>
          <a:p>
            <a:r>
              <a:rPr lang="en-US" b="1" dirty="0"/>
              <a:t>Dependency injection</a:t>
            </a:r>
            <a:r>
              <a:rPr lang="en-US" dirty="0"/>
              <a:t> relieves the components of the responsibility of locating or creating their dependencies.</a:t>
            </a:r>
          </a:p>
          <a:p>
            <a:r>
              <a:rPr lang="en-US" b="1" dirty="0"/>
              <a:t>Aspect-oriented programming</a:t>
            </a:r>
            <a:r>
              <a:rPr lang="en-US" dirty="0"/>
              <a:t> relieves business components of generic cross-cutting concerns by modularizing them into reusable aspects.</a:t>
            </a:r>
          </a:p>
          <a:p>
            <a:r>
              <a:rPr lang="en-US" b="1" dirty="0"/>
              <a:t>End result is a system that is easier to test, understand, maintain, and extend.</a:t>
            </a:r>
            <a:endParaRPr lang="en-IN" b="1" dirty="0"/>
          </a:p>
        </p:txBody>
      </p:sp>
    </p:spTree>
    <p:extLst>
      <p:ext uri="{BB962C8B-B14F-4D97-AF65-F5344CB8AC3E}">
        <p14:creationId xmlns:p14="http://schemas.microsoft.com/office/powerpoint/2010/main" val="3398392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BD991-A7EE-763A-BD65-A8F6A113FF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E80FB-DD75-B71C-058D-6FE8110962E1}"/>
              </a:ext>
            </a:extLst>
          </p:cNvPr>
          <p:cNvSpPr>
            <a:spLocks noGrp="1"/>
          </p:cNvSpPr>
          <p:nvPr>
            <p:ph type="title"/>
          </p:nvPr>
        </p:nvSpPr>
        <p:spPr>
          <a:xfrm>
            <a:off x="1154954" y="973668"/>
            <a:ext cx="10354356" cy="706964"/>
          </a:xfrm>
        </p:spPr>
        <p:txBody>
          <a:bodyPr/>
          <a:lstStyle/>
          <a:p>
            <a:r>
              <a:rPr lang="en-IN" dirty="0"/>
              <a:t>Spring Integration – An Extension of Spring</a:t>
            </a:r>
          </a:p>
        </p:txBody>
      </p:sp>
      <p:sp>
        <p:nvSpPr>
          <p:cNvPr id="3" name="Content Placeholder 2">
            <a:extLst>
              <a:ext uri="{FF2B5EF4-FFF2-40B4-BE49-F238E27FC236}">
                <a16:creationId xmlns:a16="http://schemas.microsoft.com/office/drawing/2014/main" id="{E5029EB2-1253-4B94-27FE-DFD9788A35DE}"/>
              </a:ext>
            </a:extLst>
          </p:cNvPr>
          <p:cNvSpPr>
            <a:spLocks noGrp="1"/>
          </p:cNvSpPr>
          <p:nvPr>
            <p:ph idx="1"/>
          </p:nvPr>
        </p:nvSpPr>
        <p:spPr>
          <a:xfrm>
            <a:off x="1154954" y="2603500"/>
            <a:ext cx="10116126" cy="3787520"/>
          </a:xfrm>
        </p:spPr>
        <p:txBody>
          <a:bodyPr>
            <a:normAutofit lnSpcReduction="10000"/>
          </a:bodyPr>
          <a:lstStyle/>
          <a:p>
            <a:r>
              <a:rPr lang="en-US" dirty="0"/>
              <a:t>Spring Integration is motivated by the same goals and principles Of Spring. </a:t>
            </a:r>
          </a:p>
          <a:p>
            <a:r>
              <a:rPr lang="en-US" dirty="0"/>
              <a:t>Extends the Spring programming model into the messaging domain and builds upon Spring’s existing enterprise integration support to provide an even </a:t>
            </a:r>
            <a:r>
              <a:rPr lang="en-US" b="1" dirty="0"/>
              <a:t>higher level of abstraction. </a:t>
            </a:r>
          </a:p>
          <a:p>
            <a:r>
              <a:rPr lang="en-US" dirty="0"/>
              <a:t>Supports message-driven architectures where inversion of control applies to runtime concerns, such as </a:t>
            </a:r>
            <a:r>
              <a:rPr lang="en-US" b="1" dirty="0"/>
              <a:t>when certain business logic should run and where the response should be sent. </a:t>
            </a:r>
          </a:p>
          <a:p>
            <a:r>
              <a:rPr lang="en-US" dirty="0"/>
              <a:t>Supports </a:t>
            </a:r>
            <a:r>
              <a:rPr lang="en-US" b="1" dirty="0"/>
              <a:t>routing and transformation</a:t>
            </a:r>
            <a:r>
              <a:rPr lang="en-US" dirty="0"/>
              <a:t> of messages so that different transports and different data formats can be integrated without impacting testability. </a:t>
            </a:r>
          </a:p>
          <a:p>
            <a:r>
              <a:rPr lang="en-US" dirty="0"/>
              <a:t>Messaging and integration concerns are handled by the framework.</a:t>
            </a:r>
          </a:p>
          <a:p>
            <a:r>
              <a:rPr lang="en-US" dirty="0"/>
              <a:t>Business components are further isolated from the infrastructure, and developers are </a:t>
            </a:r>
            <a:r>
              <a:rPr lang="en-US" b="1" dirty="0"/>
              <a:t>relieved of complex integration responsibilities.</a:t>
            </a:r>
          </a:p>
          <a:p>
            <a:endParaRPr lang="en-IN" dirty="0"/>
          </a:p>
        </p:txBody>
      </p:sp>
    </p:spTree>
    <p:extLst>
      <p:ext uri="{BB962C8B-B14F-4D97-AF65-F5344CB8AC3E}">
        <p14:creationId xmlns:p14="http://schemas.microsoft.com/office/powerpoint/2010/main" val="2895633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99C1-E330-EFBF-0D5D-2CE094D536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2CA2E-F6FE-26DB-36B7-8C5E81ADF400}"/>
              </a:ext>
            </a:extLst>
          </p:cNvPr>
          <p:cNvSpPr>
            <a:spLocks noGrp="1"/>
          </p:cNvSpPr>
          <p:nvPr>
            <p:ph type="title"/>
          </p:nvPr>
        </p:nvSpPr>
        <p:spPr/>
        <p:txBody>
          <a:bodyPr/>
          <a:lstStyle/>
          <a:p>
            <a:r>
              <a:rPr lang="en-IN" dirty="0"/>
              <a:t>Spring Integration – An Extension of Spring</a:t>
            </a:r>
          </a:p>
        </p:txBody>
      </p:sp>
      <p:sp>
        <p:nvSpPr>
          <p:cNvPr id="3" name="Content Placeholder 2">
            <a:extLst>
              <a:ext uri="{FF2B5EF4-FFF2-40B4-BE49-F238E27FC236}">
                <a16:creationId xmlns:a16="http://schemas.microsoft.com/office/drawing/2014/main" id="{882981E1-CE93-FF11-14B2-08ECFC8F3131}"/>
              </a:ext>
            </a:extLst>
          </p:cNvPr>
          <p:cNvSpPr>
            <a:spLocks noGrp="1"/>
          </p:cNvSpPr>
          <p:nvPr>
            <p:ph idx="1"/>
          </p:nvPr>
        </p:nvSpPr>
        <p:spPr>
          <a:xfrm>
            <a:off x="1154954" y="2603500"/>
            <a:ext cx="10116126" cy="3787520"/>
          </a:xfrm>
        </p:spPr>
        <p:txBody>
          <a:bodyPr/>
          <a:lstStyle/>
          <a:p>
            <a:r>
              <a:rPr lang="en-US" dirty="0"/>
              <a:t>Spring Integration provides a wide variety of configuration options, including annotations, XML with namespace support, XML with generic “bean” elements, and direct usage of the underlying API. </a:t>
            </a:r>
          </a:p>
          <a:p>
            <a:r>
              <a:rPr lang="en-US" dirty="0"/>
              <a:t>API is based upon well-defined strategy interfaces and non-invasive, delegating adapters. </a:t>
            </a:r>
          </a:p>
          <a:p>
            <a:endParaRPr lang="en-IN" dirty="0"/>
          </a:p>
        </p:txBody>
      </p:sp>
    </p:spTree>
    <p:extLst>
      <p:ext uri="{BB962C8B-B14F-4D97-AF65-F5344CB8AC3E}">
        <p14:creationId xmlns:p14="http://schemas.microsoft.com/office/powerpoint/2010/main" val="2338071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67073-1E2B-8958-ABC2-B8E19B8C8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F6112-57B4-1490-0F54-5D6D8E97046A}"/>
              </a:ext>
            </a:extLst>
          </p:cNvPr>
          <p:cNvSpPr>
            <a:spLocks noGrp="1"/>
          </p:cNvSpPr>
          <p:nvPr>
            <p:ph type="title"/>
          </p:nvPr>
        </p:nvSpPr>
        <p:spPr/>
        <p:txBody>
          <a:bodyPr/>
          <a:lstStyle/>
          <a:p>
            <a:r>
              <a:rPr lang="en-US" b="1" dirty="0"/>
              <a:t>Goals and Principles</a:t>
            </a:r>
            <a:endParaRPr lang="en-IN" dirty="0"/>
          </a:p>
        </p:txBody>
      </p:sp>
      <p:sp>
        <p:nvSpPr>
          <p:cNvPr id="3" name="Content Placeholder 2">
            <a:extLst>
              <a:ext uri="{FF2B5EF4-FFF2-40B4-BE49-F238E27FC236}">
                <a16:creationId xmlns:a16="http://schemas.microsoft.com/office/drawing/2014/main" id="{69C39C54-DFE4-2DF6-EEB4-E3929C19D647}"/>
              </a:ext>
            </a:extLst>
          </p:cNvPr>
          <p:cNvSpPr>
            <a:spLocks noGrp="1"/>
          </p:cNvSpPr>
          <p:nvPr>
            <p:ph idx="1"/>
          </p:nvPr>
        </p:nvSpPr>
        <p:spPr>
          <a:xfrm>
            <a:off x="1154954" y="2603500"/>
            <a:ext cx="10116126" cy="3787520"/>
          </a:xfrm>
        </p:spPr>
        <p:txBody>
          <a:bodyPr>
            <a:normAutofit/>
          </a:bodyPr>
          <a:lstStyle/>
          <a:p>
            <a:pPr marL="0" indent="0">
              <a:buNone/>
            </a:pPr>
            <a:r>
              <a:rPr lang="en-US" dirty="0"/>
              <a:t>Spring Integration is motivated by the following goals:</a:t>
            </a:r>
          </a:p>
          <a:p>
            <a:r>
              <a:rPr lang="en-US" dirty="0"/>
              <a:t>Provide a simple model for implementing </a:t>
            </a:r>
            <a:r>
              <a:rPr lang="en-US" b="1" dirty="0"/>
              <a:t>complex enterprise integration</a:t>
            </a:r>
            <a:r>
              <a:rPr lang="en-US" dirty="0"/>
              <a:t> solutions.</a:t>
            </a:r>
          </a:p>
          <a:p>
            <a:r>
              <a:rPr lang="en-US" dirty="0"/>
              <a:t>Facilitate </a:t>
            </a:r>
            <a:r>
              <a:rPr lang="en-US" b="1" dirty="0"/>
              <a:t>asynchronous, message-driven behavior</a:t>
            </a:r>
            <a:r>
              <a:rPr lang="en-US" dirty="0"/>
              <a:t> within a Spring-based application.</a:t>
            </a:r>
          </a:p>
          <a:p>
            <a:r>
              <a:rPr lang="en-US" dirty="0"/>
              <a:t>Promote intuitive, </a:t>
            </a:r>
            <a:r>
              <a:rPr lang="en-US" b="1" dirty="0"/>
              <a:t>incremental adoption</a:t>
            </a:r>
            <a:r>
              <a:rPr lang="en-US" dirty="0"/>
              <a:t> for existing Spring users.</a:t>
            </a:r>
          </a:p>
          <a:p>
            <a:pPr marL="0" indent="0">
              <a:buNone/>
            </a:pPr>
            <a:r>
              <a:rPr lang="en-US" dirty="0"/>
              <a:t>Spring Integration is guided by the following principles:</a:t>
            </a:r>
          </a:p>
          <a:p>
            <a:r>
              <a:rPr lang="en-US" dirty="0"/>
              <a:t>Components should be </a:t>
            </a:r>
            <a:r>
              <a:rPr lang="en-US" b="1" dirty="0"/>
              <a:t>loosely coupled </a:t>
            </a:r>
            <a:r>
              <a:rPr lang="en-US" dirty="0"/>
              <a:t>for modularity and testability.</a:t>
            </a:r>
          </a:p>
          <a:p>
            <a:r>
              <a:rPr lang="en-US" dirty="0"/>
              <a:t>The framework should enforce </a:t>
            </a:r>
            <a:r>
              <a:rPr lang="en-US" b="1" dirty="0"/>
              <a:t>separation of concerns</a:t>
            </a:r>
            <a:r>
              <a:rPr lang="en-US" dirty="0"/>
              <a:t> between business logic and integration logic.</a:t>
            </a:r>
          </a:p>
          <a:p>
            <a:r>
              <a:rPr lang="en-US" dirty="0"/>
              <a:t>Extension points should be </a:t>
            </a:r>
            <a:r>
              <a:rPr lang="en-US" b="1" dirty="0"/>
              <a:t>abstract</a:t>
            </a:r>
            <a:r>
              <a:rPr lang="en-US" dirty="0"/>
              <a:t> in nature (but within well-defined boundaries) to promote reuse and portability.</a:t>
            </a:r>
          </a:p>
          <a:p>
            <a:endParaRPr lang="en-IN" dirty="0"/>
          </a:p>
        </p:txBody>
      </p:sp>
    </p:spTree>
    <p:extLst>
      <p:ext uri="{BB962C8B-B14F-4D97-AF65-F5344CB8AC3E}">
        <p14:creationId xmlns:p14="http://schemas.microsoft.com/office/powerpoint/2010/main" val="3662257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4EFB6-5168-3CFA-2DFA-CEE73B5AE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AE7C6-1EC2-D88E-2828-4ABA4FAED561}"/>
              </a:ext>
            </a:extLst>
          </p:cNvPr>
          <p:cNvSpPr>
            <a:spLocks noGrp="1"/>
          </p:cNvSpPr>
          <p:nvPr>
            <p:ph type="title"/>
          </p:nvPr>
        </p:nvSpPr>
        <p:spPr/>
        <p:txBody>
          <a:bodyPr/>
          <a:lstStyle/>
          <a:p>
            <a:r>
              <a:rPr lang="en-US" b="1" dirty="0"/>
              <a:t>Main Components</a:t>
            </a:r>
            <a:endParaRPr lang="en-IN" dirty="0"/>
          </a:p>
        </p:txBody>
      </p:sp>
      <p:sp>
        <p:nvSpPr>
          <p:cNvPr id="3" name="Content Placeholder 2">
            <a:extLst>
              <a:ext uri="{FF2B5EF4-FFF2-40B4-BE49-F238E27FC236}">
                <a16:creationId xmlns:a16="http://schemas.microsoft.com/office/drawing/2014/main" id="{21AB97BE-7E71-AAED-F395-1573E126728F}"/>
              </a:ext>
            </a:extLst>
          </p:cNvPr>
          <p:cNvSpPr>
            <a:spLocks noGrp="1"/>
          </p:cNvSpPr>
          <p:nvPr>
            <p:ph idx="1"/>
          </p:nvPr>
        </p:nvSpPr>
        <p:spPr>
          <a:xfrm>
            <a:off x="1154954" y="2603500"/>
            <a:ext cx="10116126" cy="3787520"/>
          </a:xfrm>
        </p:spPr>
        <p:txBody>
          <a:bodyPr>
            <a:normAutofit fontScale="92500" lnSpcReduction="10000"/>
          </a:bodyPr>
          <a:lstStyle/>
          <a:p>
            <a:r>
              <a:rPr lang="en-US" b="1" dirty="0"/>
              <a:t>Layered architecture</a:t>
            </a:r>
            <a:r>
              <a:rPr lang="en-US" dirty="0"/>
              <a:t> facilitates separation of concerns, and interface-based contracts between layers promote loose coupling.</a:t>
            </a:r>
          </a:p>
          <a:p>
            <a:r>
              <a:rPr lang="en-US" dirty="0"/>
              <a:t>Message-driven architectures add a </a:t>
            </a:r>
            <a:r>
              <a:rPr lang="en-US" b="1" dirty="0"/>
              <a:t>horizontal</a:t>
            </a:r>
            <a:r>
              <a:rPr lang="en-US" dirty="0"/>
              <a:t> perspective, messaging systems typically follow the abstract “pipes-and-filters” model. </a:t>
            </a:r>
          </a:p>
          <a:p>
            <a:r>
              <a:rPr lang="en-US" dirty="0"/>
              <a:t>“filters” represent any components capable of producing or consuming messages, and the “pipes” transport the messages between filters so that the components themselves remain loosely-coupled.</a:t>
            </a:r>
          </a:p>
          <a:p>
            <a:r>
              <a:rPr lang="en-US" dirty="0"/>
              <a:t>The two high-level paradigms are not mutually exclusive. </a:t>
            </a:r>
          </a:p>
          <a:p>
            <a:r>
              <a:rPr lang="en-US" dirty="0"/>
              <a:t>The underlying messaging infrastructure that supports the </a:t>
            </a:r>
            <a:r>
              <a:rPr lang="en-US" b="1" dirty="0"/>
              <a:t>“pipes”</a:t>
            </a:r>
            <a:r>
              <a:rPr lang="en-US" dirty="0"/>
              <a:t> should still be encapsulated in a layer whose contracts are defined as interfaces. </a:t>
            </a:r>
          </a:p>
          <a:p>
            <a:r>
              <a:rPr lang="en-US" dirty="0"/>
              <a:t>Likewise, the </a:t>
            </a:r>
            <a:r>
              <a:rPr lang="en-US" b="1" dirty="0"/>
              <a:t>“filters” </a:t>
            </a:r>
            <a:r>
              <a:rPr lang="en-US" dirty="0"/>
              <a:t>themselves should be managed within a layer that is logically above the application’s service layer, interacting with those services through interfaces in much the same way that a web tier would.</a:t>
            </a:r>
          </a:p>
          <a:p>
            <a:endParaRPr lang="en-IN" dirty="0"/>
          </a:p>
        </p:txBody>
      </p:sp>
    </p:spTree>
    <p:extLst>
      <p:ext uri="{BB962C8B-B14F-4D97-AF65-F5344CB8AC3E}">
        <p14:creationId xmlns:p14="http://schemas.microsoft.com/office/powerpoint/2010/main" val="1695101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D140A-2489-1861-DE60-4F5F0DE22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9B407-1172-D512-4841-83706F4D6E3C}"/>
              </a:ext>
            </a:extLst>
          </p:cNvPr>
          <p:cNvSpPr>
            <a:spLocks noGrp="1"/>
          </p:cNvSpPr>
          <p:nvPr>
            <p:ph type="title"/>
          </p:nvPr>
        </p:nvSpPr>
        <p:spPr/>
        <p:txBody>
          <a:bodyPr/>
          <a:lstStyle/>
          <a:p>
            <a:r>
              <a:rPr lang="en-US" b="1" dirty="0"/>
              <a:t>Message</a:t>
            </a:r>
            <a:endParaRPr lang="en-IN" dirty="0"/>
          </a:p>
        </p:txBody>
      </p:sp>
      <p:sp>
        <p:nvSpPr>
          <p:cNvPr id="3" name="Content Placeholder 2">
            <a:extLst>
              <a:ext uri="{FF2B5EF4-FFF2-40B4-BE49-F238E27FC236}">
                <a16:creationId xmlns:a16="http://schemas.microsoft.com/office/drawing/2014/main" id="{21097D5B-8561-3E81-8B88-F769F62B23C1}"/>
              </a:ext>
            </a:extLst>
          </p:cNvPr>
          <p:cNvSpPr>
            <a:spLocks noGrp="1"/>
          </p:cNvSpPr>
          <p:nvPr>
            <p:ph idx="1"/>
          </p:nvPr>
        </p:nvSpPr>
        <p:spPr>
          <a:xfrm>
            <a:off x="1154954" y="2603500"/>
            <a:ext cx="10116126" cy="3787520"/>
          </a:xfrm>
        </p:spPr>
        <p:txBody>
          <a:bodyPr>
            <a:normAutofit fontScale="92500" lnSpcReduction="10000"/>
          </a:bodyPr>
          <a:lstStyle/>
          <a:p>
            <a:r>
              <a:rPr lang="en-US" dirty="0"/>
              <a:t>In Spring Integration, a message is a generic </a:t>
            </a:r>
            <a:r>
              <a:rPr lang="en-US" b="1" dirty="0"/>
              <a:t>wrapper</a:t>
            </a:r>
            <a:r>
              <a:rPr lang="en-US" dirty="0"/>
              <a:t> for any Java object combined with metadata used by the framework while handling that object. </a:t>
            </a:r>
          </a:p>
          <a:p>
            <a:r>
              <a:rPr lang="en-US" dirty="0"/>
              <a:t>Consists of a </a:t>
            </a:r>
            <a:r>
              <a:rPr lang="en-US" b="1" dirty="0"/>
              <a:t>payload and headers. </a:t>
            </a:r>
          </a:p>
          <a:p>
            <a:r>
              <a:rPr lang="en-US" dirty="0"/>
              <a:t>Payload can be of any type, and the headers hold commonly required information such as ID, timestamp, correlation ID, and return address. </a:t>
            </a:r>
          </a:p>
          <a:p>
            <a:r>
              <a:rPr lang="en-US" dirty="0"/>
              <a:t>Headers are also used for passing values to and from connected transports. </a:t>
            </a:r>
          </a:p>
          <a:p>
            <a:r>
              <a:rPr lang="en-US" dirty="0"/>
              <a:t>For example, when creating a message from a received file, the file name may be stored in a header to be accessed by downstream components. </a:t>
            </a:r>
          </a:p>
          <a:p>
            <a:r>
              <a:rPr lang="en-US" dirty="0"/>
              <a:t>Likewise, if a message’s content is ultimately going to be sent by an outbound mail adapter, the various properties (to, from, cc, subject, and others) may be configured as message header values by an upstream component. </a:t>
            </a:r>
          </a:p>
          <a:p>
            <a:r>
              <a:rPr lang="en-US" dirty="0"/>
              <a:t>Developers can also store any arbitrary key-value pairs in the headers.</a:t>
            </a:r>
          </a:p>
          <a:p>
            <a:endParaRPr lang="en-IN" dirty="0"/>
          </a:p>
        </p:txBody>
      </p:sp>
    </p:spTree>
    <p:extLst>
      <p:ext uri="{BB962C8B-B14F-4D97-AF65-F5344CB8AC3E}">
        <p14:creationId xmlns:p14="http://schemas.microsoft.com/office/powerpoint/2010/main" val="638598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7A25CF-7362-C6F5-7FA8-63ADC5C57A7D}"/>
              </a:ext>
            </a:extLst>
          </p:cNvPr>
          <p:cNvSpPr>
            <a:spLocks noGrp="1"/>
          </p:cNvSpPr>
          <p:nvPr>
            <p:ph type="title"/>
          </p:nvPr>
        </p:nvSpPr>
        <p:spPr/>
        <p:txBody>
          <a:bodyPr/>
          <a:lstStyle/>
          <a:p>
            <a:r>
              <a:rPr lang="en-IN" dirty="0"/>
              <a:t>Message</a:t>
            </a:r>
          </a:p>
        </p:txBody>
      </p:sp>
      <p:pic>
        <p:nvPicPr>
          <p:cNvPr id="1026" name="Picture 2" descr="Message">
            <a:extLst>
              <a:ext uri="{FF2B5EF4-FFF2-40B4-BE49-F238E27FC236}">
                <a16:creationId xmlns:a16="http://schemas.microsoft.com/office/drawing/2014/main" id="{D73D5854-068F-BA3A-349B-9AE4B8A78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8043" y="3643702"/>
            <a:ext cx="2266950" cy="1819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137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3233-4ABD-B5B1-372D-B2E9DA52E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2B744-5B9D-AB47-C4F8-97B93742381D}"/>
              </a:ext>
            </a:extLst>
          </p:cNvPr>
          <p:cNvSpPr>
            <a:spLocks noGrp="1"/>
          </p:cNvSpPr>
          <p:nvPr>
            <p:ph type="title"/>
          </p:nvPr>
        </p:nvSpPr>
        <p:spPr/>
        <p:txBody>
          <a:bodyPr/>
          <a:lstStyle/>
          <a:p>
            <a:r>
              <a:rPr lang="en-US" b="1" dirty="0"/>
              <a:t>Message Channel</a:t>
            </a:r>
            <a:endParaRPr lang="en-IN" dirty="0"/>
          </a:p>
        </p:txBody>
      </p:sp>
      <p:sp>
        <p:nvSpPr>
          <p:cNvPr id="3" name="Content Placeholder 2">
            <a:extLst>
              <a:ext uri="{FF2B5EF4-FFF2-40B4-BE49-F238E27FC236}">
                <a16:creationId xmlns:a16="http://schemas.microsoft.com/office/drawing/2014/main" id="{05986906-AA15-0C96-D891-4FBD3EA146DD}"/>
              </a:ext>
            </a:extLst>
          </p:cNvPr>
          <p:cNvSpPr>
            <a:spLocks noGrp="1"/>
          </p:cNvSpPr>
          <p:nvPr>
            <p:ph idx="1"/>
          </p:nvPr>
        </p:nvSpPr>
        <p:spPr>
          <a:xfrm>
            <a:off x="1154954" y="2603500"/>
            <a:ext cx="10116126" cy="3787520"/>
          </a:xfrm>
        </p:spPr>
        <p:txBody>
          <a:bodyPr/>
          <a:lstStyle/>
          <a:p>
            <a:r>
              <a:rPr lang="en-US" dirty="0"/>
              <a:t>Represents the “pipe” of a pipes-and-filters architecture.</a:t>
            </a:r>
          </a:p>
          <a:p>
            <a:r>
              <a:rPr lang="en-US" dirty="0"/>
              <a:t> Producers send messages to a channel, and consumers receive messages from a channel. </a:t>
            </a:r>
          </a:p>
          <a:p>
            <a:r>
              <a:rPr lang="en-US" dirty="0"/>
              <a:t>Decouples the messaging components and also provides a convenient point for interception and monitoring of messages.</a:t>
            </a:r>
          </a:p>
          <a:p>
            <a:endParaRPr lang="en-IN" dirty="0"/>
          </a:p>
        </p:txBody>
      </p:sp>
      <p:pic>
        <p:nvPicPr>
          <p:cNvPr id="2050" name="Picture 2" descr="Message Channel">
            <a:extLst>
              <a:ext uri="{FF2B5EF4-FFF2-40B4-BE49-F238E27FC236}">
                <a16:creationId xmlns:a16="http://schemas.microsoft.com/office/drawing/2014/main" id="{4D5FD608-7131-4473-00DE-BAE4FFF1AF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910" y="4857459"/>
            <a:ext cx="7083218" cy="1132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229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941C-F8A1-2CF4-B43C-F8CC88E7D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21D79-E1BF-307E-E54D-0448302E4A56}"/>
              </a:ext>
            </a:extLst>
          </p:cNvPr>
          <p:cNvSpPr>
            <a:spLocks noGrp="1"/>
          </p:cNvSpPr>
          <p:nvPr>
            <p:ph type="title"/>
          </p:nvPr>
        </p:nvSpPr>
        <p:spPr/>
        <p:txBody>
          <a:bodyPr/>
          <a:lstStyle/>
          <a:p>
            <a:r>
              <a:rPr lang="en-US" b="1" dirty="0"/>
              <a:t>Message Channel</a:t>
            </a:r>
            <a:endParaRPr lang="en-IN" dirty="0"/>
          </a:p>
        </p:txBody>
      </p:sp>
      <p:sp>
        <p:nvSpPr>
          <p:cNvPr id="3" name="Content Placeholder 2">
            <a:extLst>
              <a:ext uri="{FF2B5EF4-FFF2-40B4-BE49-F238E27FC236}">
                <a16:creationId xmlns:a16="http://schemas.microsoft.com/office/drawing/2014/main" id="{2D48F9BF-5EB9-40E2-8401-618E26B397D2}"/>
              </a:ext>
            </a:extLst>
          </p:cNvPr>
          <p:cNvSpPr>
            <a:spLocks noGrp="1"/>
          </p:cNvSpPr>
          <p:nvPr>
            <p:ph idx="1"/>
          </p:nvPr>
        </p:nvSpPr>
        <p:spPr>
          <a:xfrm>
            <a:off x="1154954" y="2603500"/>
            <a:ext cx="10116126" cy="3787520"/>
          </a:xfrm>
        </p:spPr>
        <p:txBody>
          <a:bodyPr>
            <a:normAutofit fontScale="92500" lnSpcReduction="10000"/>
          </a:bodyPr>
          <a:lstStyle/>
          <a:p>
            <a:r>
              <a:rPr lang="en-US" dirty="0"/>
              <a:t>May follow either </a:t>
            </a:r>
            <a:r>
              <a:rPr lang="en-US" b="1" dirty="0"/>
              <a:t>point-to-point or publish-subscribe semantics. </a:t>
            </a:r>
          </a:p>
          <a:p>
            <a:r>
              <a:rPr lang="en-US" dirty="0"/>
              <a:t>With a point-to-point channel, no more than one consumer can receive each message sent to the channel. </a:t>
            </a:r>
          </a:p>
          <a:p>
            <a:r>
              <a:rPr lang="en-US" dirty="0"/>
              <a:t>Publish-subscribe channels attempt to broadcast each message to all subscribers on the channel. </a:t>
            </a:r>
          </a:p>
          <a:p>
            <a:r>
              <a:rPr lang="en-US" dirty="0"/>
              <a:t>In Spring Integration, pollable channels are capable of buffering Messages within a queue. </a:t>
            </a:r>
          </a:p>
          <a:p>
            <a:pPr lvl="1"/>
            <a:r>
              <a:rPr lang="en-US" dirty="0"/>
              <a:t>Advantage of buffering --Allows for throttling the inbound messages and thereby prevents overloading a consumer. </a:t>
            </a:r>
          </a:p>
          <a:p>
            <a:pPr lvl="1"/>
            <a:r>
              <a:rPr lang="en-US" dirty="0"/>
              <a:t>Disadvantage -- Adds some complexity, since a consumer can only receive the messages from such a channel if a </a:t>
            </a:r>
            <a:r>
              <a:rPr lang="en-US" dirty="0" err="1"/>
              <a:t>poller</a:t>
            </a:r>
            <a:r>
              <a:rPr lang="en-US" dirty="0"/>
              <a:t> is configured. </a:t>
            </a:r>
          </a:p>
          <a:p>
            <a:r>
              <a:rPr lang="en-US" dirty="0"/>
              <a:t>On the other hand, a consumer connected to a </a:t>
            </a:r>
            <a:r>
              <a:rPr lang="en-US" dirty="0" err="1"/>
              <a:t>subscribable</a:t>
            </a:r>
            <a:r>
              <a:rPr lang="en-US" dirty="0"/>
              <a:t> channel is simply message-driven</a:t>
            </a:r>
          </a:p>
          <a:p>
            <a:endParaRPr lang="en-IN" dirty="0"/>
          </a:p>
        </p:txBody>
      </p:sp>
    </p:spTree>
    <p:extLst>
      <p:ext uri="{BB962C8B-B14F-4D97-AF65-F5344CB8AC3E}">
        <p14:creationId xmlns:p14="http://schemas.microsoft.com/office/powerpoint/2010/main" val="65036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EB493-D3DF-E637-56B5-35D024D44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8A27C-3C6B-E634-9422-6D3362CE3171}"/>
              </a:ext>
            </a:extLst>
          </p:cNvPr>
          <p:cNvSpPr>
            <a:spLocks noGrp="1"/>
          </p:cNvSpPr>
          <p:nvPr>
            <p:ph type="title"/>
          </p:nvPr>
        </p:nvSpPr>
        <p:spPr/>
        <p:txBody>
          <a:bodyPr/>
          <a:lstStyle/>
          <a:p>
            <a:r>
              <a:rPr lang="en-US" b="1" dirty="0"/>
              <a:t>Why Message Endpoint</a:t>
            </a:r>
            <a:endParaRPr lang="en-IN" dirty="0"/>
          </a:p>
        </p:txBody>
      </p:sp>
      <p:sp>
        <p:nvSpPr>
          <p:cNvPr id="3" name="Content Placeholder 2">
            <a:extLst>
              <a:ext uri="{FF2B5EF4-FFF2-40B4-BE49-F238E27FC236}">
                <a16:creationId xmlns:a16="http://schemas.microsoft.com/office/drawing/2014/main" id="{ABAEBB01-4651-CC45-C3ED-F1524F700271}"/>
              </a:ext>
            </a:extLst>
          </p:cNvPr>
          <p:cNvSpPr>
            <a:spLocks noGrp="1"/>
          </p:cNvSpPr>
          <p:nvPr>
            <p:ph idx="1"/>
          </p:nvPr>
        </p:nvSpPr>
        <p:spPr>
          <a:xfrm>
            <a:off x="1154954" y="2603500"/>
            <a:ext cx="10116126" cy="3787520"/>
          </a:xfrm>
        </p:spPr>
        <p:txBody>
          <a:bodyPr>
            <a:normAutofit fontScale="92500" lnSpcReduction="20000"/>
          </a:bodyPr>
          <a:lstStyle/>
          <a:p>
            <a:r>
              <a:rPr lang="en-US" dirty="0"/>
              <a:t>One of the primary goals of Spring Integration is to simplify the development of enterprise integration solutions through inversion of control.</a:t>
            </a:r>
          </a:p>
          <a:p>
            <a:r>
              <a:rPr lang="en-US" dirty="0"/>
              <a:t> This means that you should not have to implement consumers and producers directly, and you should not even have to build messages and invoke send or receive operations on a message channel.</a:t>
            </a:r>
          </a:p>
          <a:p>
            <a:r>
              <a:rPr lang="en-US" dirty="0"/>
              <a:t>Instead,  should be able to focus on your specific domain model with an implementation based on plain objects.</a:t>
            </a:r>
          </a:p>
          <a:p>
            <a:r>
              <a:rPr lang="en-US" dirty="0"/>
              <a:t> Then, by providing declarative configuration, can “connect” your domain-specific code to the messaging infrastructure provided by Spring Integration. </a:t>
            </a:r>
          </a:p>
          <a:p>
            <a:r>
              <a:rPr lang="en-US" dirty="0"/>
              <a:t>The components responsible for these connections are message endpoints. </a:t>
            </a:r>
          </a:p>
          <a:p>
            <a:r>
              <a:rPr lang="en-US" dirty="0"/>
              <a:t>Achieve </a:t>
            </a:r>
            <a:r>
              <a:rPr lang="en-US" b="1" dirty="0"/>
              <a:t>separation of concerns</a:t>
            </a:r>
            <a:r>
              <a:rPr lang="en-US" dirty="0"/>
              <a:t> between the integration logic and the business logic. </a:t>
            </a:r>
          </a:p>
          <a:p>
            <a:r>
              <a:rPr lang="en-US" dirty="0"/>
              <a:t>In Model-View-Controller (MVC) paradigm for web applications, the goal should be to provide a thin but dedicated layer that translates inbound requests into service layer invocations and then translates service layer return values into outbound replies. </a:t>
            </a:r>
          </a:p>
          <a:p>
            <a:endParaRPr lang="en-IN" dirty="0"/>
          </a:p>
        </p:txBody>
      </p:sp>
    </p:spTree>
    <p:extLst>
      <p:ext uri="{BB962C8B-B14F-4D97-AF65-F5344CB8AC3E}">
        <p14:creationId xmlns:p14="http://schemas.microsoft.com/office/powerpoint/2010/main" val="3604221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F89D-C1E3-EAB5-04E8-00A4602C1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80D8B-004A-C0D0-758E-47637468BA2D}"/>
              </a:ext>
            </a:extLst>
          </p:cNvPr>
          <p:cNvSpPr>
            <a:spLocks noGrp="1"/>
          </p:cNvSpPr>
          <p:nvPr>
            <p:ph type="title"/>
          </p:nvPr>
        </p:nvSpPr>
        <p:spPr/>
        <p:txBody>
          <a:bodyPr/>
          <a:lstStyle/>
          <a:p>
            <a:r>
              <a:rPr lang="en-US" b="1" dirty="0"/>
              <a:t>Message Endpoints</a:t>
            </a:r>
            <a:endParaRPr lang="en-IN" dirty="0"/>
          </a:p>
        </p:txBody>
      </p:sp>
      <p:sp>
        <p:nvSpPr>
          <p:cNvPr id="3" name="Content Placeholder 2">
            <a:extLst>
              <a:ext uri="{FF2B5EF4-FFF2-40B4-BE49-F238E27FC236}">
                <a16:creationId xmlns:a16="http://schemas.microsoft.com/office/drawing/2014/main" id="{BA500535-5A42-4489-2350-326E965AC3C2}"/>
              </a:ext>
            </a:extLst>
          </p:cNvPr>
          <p:cNvSpPr>
            <a:spLocks noGrp="1"/>
          </p:cNvSpPr>
          <p:nvPr>
            <p:ph idx="1"/>
          </p:nvPr>
        </p:nvSpPr>
        <p:spPr>
          <a:xfrm>
            <a:off x="1154954" y="2603500"/>
            <a:ext cx="10116126" cy="3787520"/>
          </a:xfrm>
        </p:spPr>
        <p:txBody>
          <a:bodyPr>
            <a:normAutofit/>
          </a:bodyPr>
          <a:lstStyle/>
          <a:p>
            <a:r>
              <a:rPr lang="en-US" dirty="0"/>
              <a:t>Represents the “filter” of a pipes-and-filters architecture. </a:t>
            </a:r>
          </a:p>
          <a:p>
            <a:r>
              <a:rPr lang="en-US" dirty="0"/>
              <a:t>Endpoint’s primary role is to connect application code to the messaging framework and to do so in a non-invasive manner.</a:t>
            </a:r>
          </a:p>
          <a:p>
            <a:r>
              <a:rPr lang="en-US" dirty="0"/>
              <a:t>Application code should ideally have no awareness of the message objects or the message channels. </a:t>
            </a:r>
          </a:p>
          <a:p>
            <a:r>
              <a:rPr lang="en-US" dirty="0"/>
              <a:t>Just as a controller in Model-View-Controller (MVC) paradigm for web applications in  handles HTTP requests, the message endpoint handles messages. </a:t>
            </a:r>
          </a:p>
          <a:p>
            <a:r>
              <a:rPr lang="en-US" dirty="0"/>
              <a:t>Just as controllers are mapped to URL patterns, message endpoints are mapped to message channels. </a:t>
            </a:r>
          </a:p>
          <a:p>
            <a:r>
              <a:rPr lang="en-US" dirty="0"/>
              <a:t>Goal is the same in both cases: isolate application code from the infrastructure.</a:t>
            </a:r>
          </a:p>
          <a:p>
            <a:endParaRPr lang="en-IN" dirty="0"/>
          </a:p>
        </p:txBody>
      </p:sp>
    </p:spTree>
    <p:extLst>
      <p:ext uri="{BB962C8B-B14F-4D97-AF65-F5344CB8AC3E}">
        <p14:creationId xmlns:p14="http://schemas.microsoft.com/office/powerpoint/2010/main" val="3530160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CB01-EFE1-A738-C2BD-A477F4B6D4B3}"/>
              </a:ext>
            </a:extLst>
          </p:cNvPr>
          <p:cNvSpPr>
            <a:spLocks noGrp="1"/>
          </p:cNvSpPr>
          <p:nvPr>
            <p:ph type="title"/>
          </p:nvPr>
        </p:nvSpPr>
        <p:spPr/>
        <p:txBody>
          <a:bodyPr/>
          <a:lstStyle/>
          <a:p>
            <a:r>
              <a:rPr lang="en-US" b="1" dirty="0"/>
              <a:t>Message Endpoints and Flows</a:t>
            </a:r>
            <a:endParaRPr lang="en-IN" b="1" dirty="0"/>
          </a:p>
        </p:txBody>
      </p:sp>
      <p:sp>
        <p:nvSpPr>
          <p:cNvPr id="3" name="Content Placeholder 2">
            <a:extLst>
              <a:ext uri="{FF2B5EF4-FFF2-40B4-BE49-F238E27FC236}">
                <a16:creationId xmlns:a16="http://schemas.microsoft.com/office/drawing/2014/main" id="{8073BF77-2AE1-70B4-FEA6-C6D373B54731}"/>
              </a:ext>
            </a:extLst>
          </p:cNvPr>
          <p:cNvSpPr>
            <a:spLocks noGrp="1"/>
          </p:cNvSpPr>
          <p:nvPr>
            <p:ph idx="1"/>
          </p:nvPr>
        </p:nvSpPr>
        <p:spPr>
          <a:xfrm>
            <a:off x="1154954" y="2603500"/>
            <a:ext cx="10186405" cy="3960586"/>
          </a:xfrm>
        </p:spPr>
        <p:txBody>
          <a:bodyPr/>
          <a:lstStyle/>
          <a:p>
            <a:r>
              <a:rPr lang="en-IN" b="1" dirty="0"/>
              <a:t>An </a:t>
            </a:r>
            <a:r>
              <a:rPr lang="en-IN" b="1" i="1" dirty="0"/>
              <a:t>endpoint</a:t>
            </a:r>
            <a:r>
              <a:rPr lang="en-IN" b="1" dirty="0"/>
              <a:t> is the atomic building block that connects channels to logic or external systems, while a </a:t>
            </a:r>
            <a:r>
              <a:rPr lang="en-IN" b="1" i="1" dirty="0"/>
              <a:t>flow</a:t>
            </a:r>
            <a:r>
              <a:rPr lang="en-IN" b="1" dirty="0"/>
              <a:t> is the orchestration of multiple endpoints and channels into a complete message-processing pipeline. </a:t>
            </a:r>
          </a:p>
          <a:p>
            <a:r>
              <a:rPr lang="en-IN" b="1" dirty="0"/>
              <a:t>Endpoints are the “what,” flows are the “how.”</a:t>
            </a:r>
          </a:p>
          <a:p>
            <a:r>
              <a:rPr lang="en-US" dirty="0"/>
              <a:t>Endpoints are the "entry and exit points" for messages in a Spring Integration application. </a:t>
            </a:r>
          </a:p>
          <a:p>
            <a:r>
              <a:rPr lang="en-US" dirty="0"/>
              <a:t>Connect channels to actual business logic or external systems.</a:t>
            </a:r>
            <a:endParaRPr lang="en-IN" dirty="0"/>
          </a:p>
          <a:p>
            <a:endParaRPr lang="en-IN" dirty="0"/>
          </a:p>
        </p:txBody>
      </p:sp>
    </p:spTree>
    <p:extLst>
      <p:ext uri="{BB962C8B-B14F-4D97-AF65-F5344CB8AC3E}">
        <p14:creationId xmlns:p14="http://schemas.microsoft.com/office/powerpoint/2010/main" val="881036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D7C2-7239-F2F3-8D81-173E98809172}"/>
              </a:ext>
            </a:extLst>
          </p:cNvPr>
          <p:cNvSpPr>
            <a:spLocks noGrp="1"/>
          </p:cNvSpPr>
          <p:nvPr>
            <p:ph type="title"/>
          </p:nvPr>
        </p:nvSpPr>
        <p:spPr/>
        <p:txBody>
          <a:bodyPr/>
          <a:lstStyle/>
          <a:p>
            <a:r>
              <a:rPr lang="en-IN" b="1" dirty="0"/>
              <a:t> Endpoints: The Building Blocks</a:t>
            </a:r>
            <a:endParaRPr lang="en-IN" dirty="0"/>
          </a:p>
        </p:txBody>
      </p:sp>
      <p:sp>
        <p:nvSpPr>
          <p:cNvPr id="3" name="Content Placeholder 2">
            <a:extLst>
              <a:ext uri="{FF2B5EF4-FFF2-40B4-BE49-F238E27FC236}">
                <a16:creationId xmlns:a16="http://schemas.microsoft.com/office/drawing/2014/main" id="{7A5942A2-769B-1E6D-39C6-8C126937ECC7}"/>
              </a:ext>
            </a:extLst>
          </p:cNvPr>
          <p:cNvSpPr>
            <a:spLocks noGrp="1"/>
          </p:cNvSpPr>
          <p:nvPr>
            <p:ph idx="1"/>
          </p:nvPr>
        </p:nvSpPr>
        <p:spPr>
          <a:xfrm>
            <a:off x="1154954" y="2603499"/>
            <a:ext cx="10065107" cy="3592027"/>
          </a:xfrm>
        </p:spPr>
        <p:txBody>
          <a:bodyPr>
            <a:normAutofit fontScale="92500"/>
          </a:bodyPr>
          <a:lstStyle/>
          <a:p>
            <a:r>
              <a:rPr lang="en-IN" dirty="0"/>
              <a:t>Endpoints are </a:t>
            </a:r>
            <a:r>
              <a:rPr lang="en-IN" b="1" dirty="0"/>
              <a:t>components that consume or produce messages via channels</a:t>
            </a:r>
            <a:r>
              <a:rPr lang="en-IN" dirty="0"/>
              <a:t>. They encapsulate specific responsibilities and can be inbound, outbound, or processing units.</a:t>
            </a:r>
          </a:p>
          <a:p>
            <a:pPr lvl="0"/>
            <a:r>
              <a:rPr lang="en-IN" b="1" dirty="0"/>
              <a:t>Inbound Endpoints</a:t>
            </a:r>
            <a:r>
              <a:rPr lang="en-IN" dirty="0"/>
              <a:t>: Bring data into the system (e.g., file adapters, JMS listeners).</a:t>
            </a:r>
          </a:p>
          <a:p>
            <a:pPr lvl="0"/>
            <a:r>
              <a:rPr lang="en-IN" b="1" dirty="0"/>
              <a:t>Outbound Endpoints</a:t>
            </a:r>
            <a:r>
              <a:rPr lang="en-IN" dirty="0"/>
              <a:t>: Push data out (e.g., HTTP outbound gateway, Kafka producer).</a:t>
            </a:r>
          </a:p>
          <a:p>
            <a:pPr lvl="0"/>
            <a:r>
              <a:rPr lang="en-IN" b="1" dirty="0"/>
              <a:t>Processing Endpoints</a:t>
            </a:r>
            <a:r>
              <a:rPr lang="en-IN" dirty="0"/>
              <a:t>: </a:t>
            </a:r>
          </a:p>
          <a:p>
            <a:pPr lvl="1"/>
            <a:r>
              <a:rPr lang="en-IN" b="1" dirty="0"/>
              <a:t>Transformers</a:t>
            </a:r>
            <a:r>
              <a:rPr lang="en-IN" dirty="0"/>
              <a:t> – change payloads or headers.</a:t>
            </a:r>
          </a:p>
          <a:p>
            <a:pPr lvl="1"/>
            <a:r>
              <a:rPr lang="en-IN" b="1" dirty="0"/>
              <a:t>Routers</a:t>
            </a:r>
            <a:r>
              <a:rPr lang="en-IN" dirty="0"/>
              <a:t> – decide which channel a message should go to.</a:t>
            </a:r>
          </a:p>
          <a:p>
            <a:pPr lvl="1"/>
            <a:r>
              <a:rPr lang="en-IN" b="1" dirty="0"/>
              <a:t>Filters</a:t>
            </a:r>
            <a:r>
              <a:rPr lang="en-IN" dirty="0"/>
              <a:t> – allow/block messages.</a:t>
            </a:r>
          </a:p>
          <a:p>
            <a:pPr lvl="1"/>
            <a:r>
              <a:rPr lang="en-IN" b="1" dirty="0"/>
              <a:t>Service Activators</a:t>
            </a:r>
            <a:r>
              <a:rPr lang="en-IN" dirty="0"/>
              <a:t> – invoke business logic methods.</a:t>
            </a:r>
          </a:p>
          <a:p>
            <a:pPr lvl="0"/>
            <a:r>
              <a:rPr lang="en-IN" b="1" dirty="0"/>
              <a:t>Gateways</a:t>
            </a:r>
            <a:r>
              <a:rPr lang="en-IN" dirty="0"/>
              <a:t>: Provide a method-call interface for messaging.</a:t>
            </a:r>
          </a:p>
          <a:p>
            <a:endParaRPr lang="en-IN" dirty="0"/>
          </a:p>
        </p:txBody>
      </p:sp>
    </p:spTree>
    <p:extLst>
      <p:ext uri="{BB962C8B-B14F-4D97-AF65-F5344CB8AC3E}">
        <p14:creationId xmlns:p14="http://schemas.microsoft.com/office/powerpoint/2010/main" val="4168847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1E462-426D-633B-622E-D16CDD86723C}"/>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55E278D2-DF87-13D9-6BCE-DB689F3372DA}"/>
              </a:ext>
            </a:extLst>
          </p:cNvPr>
          <p:cNvSpPr>
            <a:spLocks noGrp="1"/>
          </p:cNvSpPr>
          <p:nvPr>
            <p:ph idx="1"/>
          </p:nvPr>
        </p:nvSpPr>
        <p:spPr>
          <a:xfrm>
            <a:off x="1154954" y="2603500"/>
            <a:ext cx="10167744" cy="4025900"/>
          </a:xfrm>
        </p:spPr>
        <p:txBody>
          <a:bodyPr>
            <a:normAutofit fontScale="92500" lnSpcReduction="10000"/>
          </a:bodyPr>
          <a:lstStyle/>
          <a:p>
            <a:pPr marL="0" indent="0">
              <a:buNone/>
            </a:pPr>
            <a:r>
              <a:rPr lang="en-IN" dirty="0">
                <a:solidFill>
                  <a:srgbClr val="FF0000"/>
                </a:solidFill>
              </a:rPr>
              <a:t>@Bean</a:t>
            </a:r>
          </a:p>
          <a:p>
            <a:pPr marL="0" indent="0">
              <a:buNone/>
            </a:pPr>
            <a:r>
              <a:rPr lang="en-IN" dirty="0">
                <a:solidFill>
                  <a:srgbClr val="FF0000"/>
                </a:solidFill>
              </a:rPr>
              <a:t>public </a:t>
            </a:r>
            <a:r>
              <a:rPr lang="en-IN" dirty="0" err="1">
                <a:solidFill>
                  <a:srgbClr val="FF0000"/>
                </a:solidFill>
              </a:rPr>
              <a:t>IntegrationFlow</a:t>
            </a:r>
            <a:r>
              <a:rPr lang="en-IN" dirty="0">
                <a:solidFill>
                  <a:srgbClr val="FF0000"/>
                </a:solidFill>
              </a:rPr>
              <a:t> </a:t>
            </a:r>
            <a:r>
              <a:rPr lang="en-IN" dirty="0" err="1">
                <a:solidFill>
                  <a:srgbClr val="FF0000"/>
                </a:solidFill>
              </a:rPr>
              <a:t>fileReaderFlow</a:t>
            </a:r>
            <a:r>
              <a:rPr lang="en-IN" dirty="0">
                <a:solidFill>
                  <a:srgbClr val="FF0000"/>
                </a:solidFill>
              </a:rPr>
              <a:t>() {</a:t>
            </a:r>
          </a:p>
          <a:p>
            <a:pPr marL="0" indent="0">
              <a:buNone/>
            </a:pPr>
            <a:r>
              <a:rPr lang="en-IN" dirty="0">
                <a:solidFill>
                  <a:srgbClr val="FF0000"/>
                </a:solidFill>
              </a:rPr>
              <a:t>    return </a:t>
            </a:r>
            <a:r>
              <a:rPr lang="en-IN" dirty="0" err="1">
                <a:solidFill>
                  <a:srgbClr val="FF0000"/>
                </a:solidFill>
              </a:rPr>
              <a:t>IntegrationFlows.from</a:t>
            </a:r>
            <a:r>
              <a:rPr lang="en-IN" dirty="0">
                <a:solidFill>
                  <a:srgbClr val="FF0000"/>
                </a:solidFill>
              </a:rPr>
              <a:t>(</a:t>
            </a:r>
            <a:r>
              <a:rPr lang="en-IN" dirty="0" err="1">
                <a:solidFill>
                  <a:srgbClr val="FF0000"/>
                </a:solidFill>
              </a:rPr>
              <a:t>Files.inboundAdapter</a:t>
            </a:r>
            <a:r>
              <a:rPr lang="en-IN" dirty="0">
                <a:solidFill>
                  <a:srgbClr val="FF0000"/>
                </a:solidFill>
              </a:rPr>
              <a:t>(new File("input"))</a:t>
            </a:r>
          </a:p>
          <a:p>
            <a:pPr marL="0" indent="0">
              <a:buNone/>
            </a:pPr>
            <a:r>
              <a:rPr lang="en-IN" dirty="0">
                <a:solidFill>
                  <a:srgbClr val="FF0000"/>
                </a:solidFill>
              </a:rPr>
              <a:t>                    .</a:t>
            </a:r>
            <a:r>
              <a:rPr lang="en-IN" dirty="0" err="1">
                <a:solidFill>
                  <a:srgbClr val="FF0000"/>
                </a:solidFill>
              </a:rPr>
              <a:t>patternFilter</a:t>
            </a:r>
            <a:r>
              <a:rPr lang="en-IN" dirty="0">
                <a:solidFill>
                  <a:srgbClr val="FF0000"/>
                </a:solidFill>
              </a:rPr>
              <a:t>("*.txt"))</a:t>
            </a:r>
          </a:p>
          <a:p>
            <a:pPr marL="0" indent="0">
              <a:buNone/>
            </a:pPr>
            <a:r>
              <a:rPr lang="en-IN" dirty="0">
                <a:solidFill>
                  <a:srgbClr val="FF0000"/>
                </a:solidFill>
              </a:rPr>
              <a:t>            .transform(</a:t>
            </a:r>
            <a:r>
              <a:rPr lang="en-IN" dirty="0" err="1">
                <a:solidFill>
                  <a:srgbClr val="FF0000"/>
                </a:solidFill>
              </a:rPr>
              <a:t>Files.toStringTransformer</a:t>
            </a:r>
            <a:r>
              <a:rPr lang="en-IN" dirty="0">
                <a:solidFill>
                  <a:srgbClr val="FF0000"/>
                </a:solidFill>
              </a:rPr>
              <a:t>())</a:t>
            </a:r>
          </a:p>
          <a:p>
            <a:pPr marL="0" indent="0">
              <a:buNone/>
            </a:pPr>
            <a:r>
              <a:rPr lang="en-IN" dirty="0">
                <a:solidFill>
                  <a:srgbClr val="FF0000"/>
                </a:solidFill>
              </a:rPr>
              <a:t>            .handle(</a:t>
            </a:r>
            <a:r>
              <a:rPr lang="en-IN" dirty="0" err="1">
                <a:solidFill>
                  <a:srgbClr val="FF0000"/>
                </a:solidFill>
              </a:rPr>
              <a:t>System.out</a:t>
            </a:r>
            <a:r>
              <a:rPr lang="en-IN" dirty="0">
                <a:solidFill>
                  <a:srgbClr val="FF0000"/>
                </a:solidFill>
              </a:rPr>
              <a:t>::</a:t>
            </a:r>
            <a:r>
              <a:rPr lang="en-IN" dirty="0" err="1">
                <a:solidFill>
                  <a:srgbClr val="FF0000"/>
                </a:solidFill>
              </a:rPr>
              <a:t>println</a:t>
            </a:r>
            <a:r>
              <a:rPr lang="en-IN" dirty="0">
                <a:solidFill>
                  <a:srgbClr val="FF0000"/>
                </a:solidFill>
              </a:rPr>
              <a:t>)</a:t>
            </a:r>
          </a:p>
          <a:p>
            <a:pPr marL="0" indent="0">
              <a:buNone/>
            </a:pPr>
            <a:r>
              <a:rPr lang="en-IN" dirty="0">
                <a:solidFill>
                  <a:srgbClr val="FF0000"/>
                </a:solidFill>
              </a:rPr>
              <a:t>            .get();</a:t>
            </a:r>
          </a:p>
          <a:p>
            <a:pPr marL="0" indent="0">
              <a:buNone/>
            </a:pPr>
            <a:r>
              <a:rPr lang="en-IN" dirty="0">
                <a:solidFill>
                  <a:srgbClr val="FF0000"/>
                </a:solidFill>
              </a:rPr>
              <a:t>}</a:t>
            </a:r>
          </a:p>
          <a:p>
            <a:pPr marL="0" indent="0">
              <a:buNone/>
            </a:pPr>
            <a:r>
              <a:rPr lang="en-US" dirty="0"/>
              <a:t>- Inbound adapter reads files.</a:t>
            </a:r>
          </a:p>
          <a:p>
            <a:pPr marL="0" indent="0">
              <a:buNone/>
            </a:pPr>
            <a:r>
              <a:rPr lang="en-US" dirty="0"/>
              <a:t>- Transformer converts file content to string.</a:t>
            </a:r>
          </a:p>
          <a:p>
            <a:pPr marL="0" indent="0">
              <a:buNone/>
            </a:pPr>
            <a:r>
              <a:rPr lang="en-US" dirty="0"/>
              <a:t>- Service activator prints the message.</a:t>
            </a:r>
          </a:p>
          <a:p>
            <a:pPr marL="0" indent="0">
              <a:buNone/>
            </a:pPr>
            <a:endParaRPr lang="en-IN" dirty="0"/>
          </a:p>
        </p:txBody>
      </p:sp>
    </p:spTree>
    <p:extLst>
      <p:ext uri="{BB962C8B-B14F-4D97-AF65-F5344CB8AC3E}">
        <p14:creationId xmlns:p14="http://schemas.microsoft.com/office/powerpoint/2010/main" val="2273894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707AF-48D6-F45D-4DFC-B03F943706AF}"/>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14A8582-F183-88AE-1474-189BFD718581}"/>
              </a:ext>
            </a:extLst>
          </p:cNvPr>
          <p:cNvSpPr>
            <a:spLocks noGrp="1"/>
          </p:cNvSpPr>
          <p:nvPr>
            <p:ph idx="1"/>
          </p:nvPr>
        </p:nvSpPr>
        <p:spPr/>
        <p:txBody>
          <a:bodyPr>
            <a:normAutofit fontScale="92500" lnSpcReduction="10000"/>
          </a:bodyPr>
          <a:lstStyle/>
          <a:p>
            <a:pPr marL="0" indent="0">
              <a:buNone/>
            </a:pPr>
            <a:r>
              <a:rPr lang="en-IN" dirty="0"/>
              <a:t>@Bean</a:t>
            </a:r>
          </a:p>
          <a:p>
            <a:pPr marL="0" indent="0">
              <a:buNone/>
            </a:pPr>
            <a:r>
              <a:rPr lang="en-IN" dirty="0"/>
              <a:t>public </a:t>
            </a:r>
            <a:r>
              <a:rPr lang="en-IN" dirty="0" err="1"/>
              <a:t>IntegrationFlow</a:t>
            </a:r>
            <a:r>
              <a:rPr lang="en-IN" dirty="0"/>
              <a:t> </a:t>
            </a:r>
            <a:r>
              <a:rPr lang="en-IN" dirty="0" err="1"/>
              <a:t>fileFlow</a:t>
            </a:r>
            <a:r>
              <a:rPr lang="en-IN" dirty="0"/>
              <a:t>() {</a:t>
            </a:r>
          </a:p>
          <a:p>
            <a:pPr marL="0" indent="0">
              <a:buNone/>
            </a:pPr>
            <a:r>
              <a:rPr lang="en-IN" dirty="0"/>
              <a:t>    return </a:t>
            </a:r>
            <a:r>
              <a:rPr lang="en-IN" dirty="0" err="1"/>
              <a:t>IntegrationFlows.from</a:t>
            </a:r>
            <a:r>
              <a:rPr lang="en-IN" dirty="0"/>
              <a:t>(</a:t>
            </a:r>
            <a:r>
              <a:rPr lang="en-IN" dirty="0" err="1"/>
              <a:t>Files.inboundAdapter</a:t>
            </a:r>
            <a:r>
              <a:rPr lang="en-IN" dirty="0"/>
              <a:t>(new File("input"))</a:t>
            </a:r>
          </a:p>
          <a:p>
            <a:pPr marL="0" indent="0">
              <a:buNone/>
            </a:pPr>
            <a:r>
              <a:rPr lang="en-IN" dirty="0"/>
              <a:t>                    .</a:t>
            </a:r>
            <a:r>
              <a:rPr lang="en-IN" dirty="0" err="1"/>
              <a:t>patternFilter</a:t>
            </a:r>
            <a:r>
              <a:rPr lang="en-IN" dirty="0"/>
              <a:t>("*.csv"))</a:t>
            </a:r>
          </a:p>
          <a:p>
            <a:pPr marL="0" indent="0">
              <a:buNone/>
            </a:pPr>
            <a:r>
              <a:rPr lang="en-IN" dirty="0"/>
              <a:t>            .transform(</a:t>
            </a:r>
            <a:r>
              <a:rPr lang="en-IN" dirty="0" err="1"/>
              <a:t>Files.toStringTransformer</a:t>
            </a:r>
            <a:r>
              <a:rPr lang="en-IN" dirty="0"/>
              <a:t>())   // Transformer endpoint</a:t>
            </a:r>
          </a:p>
          <a:p>
            <a:pPr marL="0" indent="0">
              <a:buNone/>
            </a:pPr>
            <a:r>
              <a:rPr lang="en-IN" dirty="0"/>
              <a:t>            .handle("</a:t>
            </a:r>
            <a:r>
              <a:rPr lang="en-IN" dirty="0" err="1"/>
              <a:t>orderService</a:t>
            </a:r>
            <a:r>
              <a:rPr lang="en-IN" dirty="0"/>
              <a:t>", "</a:t>
            </a:r>
            <a:r>
              <a:rPr lang="en-IN" dirty="0" err="1"/>
              <a:t>processOrder</a:t>
            </a:r>
            <a:r>
              <a:rPr lang="en-IN" dirty="0"/>
              <a:t>")   // Service activator endpoint</a:t>
            </a:r>
          </a:p>
          <a:p>
            <a:pPr marL="0" indent="0">
              <a:buNone/>
            </a:pPr>
            <a:r>
              <a:rPr lang="en-IN" dirty="0"/>
              <a:t>            .get();</a:t>
            </a:r>
          </a:p>
          <a:p>
            <a:pPr marL="0" indent="0">
              <a:buNone/>
            </a:pPr>
            <a:r>
              <a:rPr lang="en-IN" dirty="0"/>
              <a:t>}</a:t>
            </a:r>
          </a:p>
          <a:p>
            <a:pPr marL="0" indent="0">
              <a:buNone/>
            </a:pPr>
            <a:r>
              <a:rPr lang="en-IN" b="1" dirty="0"/>
              <a:t>Here, each step (</a:t>
            </a:r>
            <a:r>
              <a:rPr lang="en-IN" b="1" dirty="0" err="1"/>
              <a:t>inboundAdapter</a:t>
            </a:r>
            <a:r>
              <a:rPr lang="en-IN" b="1" dirty="0"/>
              <a:t>, transform, handle) is an endpoint.</a:t>
            </a:r>
          </a:p>
          <a:p>
            <a:pPr marL="0" indent="0">
              <a:buNone/>
            </a:pPr>
            <a:endParaRPr lang="en-IN" b="1" dirty="0"/>
          </a:p>
        </p:txBody>
      </p:sp>
    </p:spTree>
    <p:extLst>
      <p:ext uri="{BB962C8B-B14F-4D97-AF65-F5344CB8AC3E}">
        <p14:creationId xmlns:p14="http://schemas.microsoft.com/office/powerpoint/2010/main" val="548534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73E27-BCBF-E2BE-C0A0-E67C5888492A}"/>
              </a:ext>
            </a:extLst>
          </p:cNvPr>
          <p:cNvSpPr>
            <a:spLocks noGrp="1"/>
          </p:cNvSpPr>
          <p:nvPr>
            <p:ph type="title"/>
          </p:nvPr>
        </p:nvSpPr>
        <p:spPr/>
        <p:txBody>
          <a:bodyPr/>
          <a:lstStyle/>
          <a:p>
            <a:r>
              <a:rPr lang="en-IN" b="1" dirty="0"/>
              <a:t>Flows: The Orchestration</a:t>
            </a:r>
            <a:endParaRPr lang="en-IN" dirty="0"/>
          </a:p>
        </p:txBody>
      </p:sp>
      <p:sp>
        <p:nvSpPr>
          <p:cNvPr id="3" name="Content Placeholder 2">
            <a:extLst>
              <a:ext uri="{FF2B5EF4-FFF2-40B4-BE49-F238E27FC236}">
                <a16:creationId xmlns:a16="http://schemas.microsoft.com/office/drawing/2014/main" id="{0A09D00C-2FDD-3EE1-058B-7C5FEBA2E16D}"/>
              </a:ext>
            </a:extLst>
          </p:cNvPr>
          <p:cNvSpPr>
            <a:spLocks noGrp="1"/>
          </p:cNvSpPr>
          <p:nvPr>
            <p:ph idx="1"/>
          </p:nvPr>
        </p:nvSpPr>
        <p:spPr>
          <a:xfrm>
            <a:off x="1154954" y="2603500"/>
            <a:ext cx="10708919" cy="3983912"/>
          </a:xfrm>
        </p:spPr>
        <p:txBody>
          <a:bodyPr/>
          <a:lstStyle/>
          <a:p>
            <a:r>
              <a:rPr lang="en-IN" dirty="0"/>
              <a:t>A </a:t>
            </a:r>
            <a:r>
              <a:rPr lang="en-IN" i="1" dirty="0"/>
              <a:t>flow</a:t>
            </a:r>
            <a:r>
              <a:rPr lang="en-IN" dirty="0"/>
              <a:t> is the </a:t>
            </a:r>
            <a:r>
              <a:rPr lang="en-IN" b="1" dirty="0"/>
              <a:t>sequence of endpoints connected by channels</a:t>
            </a:r>
            <a:r>
              <a:rPr lang="en-IN" dirty="0"/>
              <a:t>. </a:t>
            </a:r>
          </a:p>
          <a:p>
            <a:r>
              <a:rPr lang="en-IN" dirty="0"/>
              <a:t>Defines the </a:t>
            </a:r>
            <a:r>
              <a:rPr lang="en-IN" b="1" dirty="0"/>
              <a:t>path a message takes</a:t>
            </a:r>
            <a:r>
              <a:rPr lang="en-IN" dirty="0"/>
              <a:t> from entry to exit.</a:t>
            </a:r>
          </a:p>
          <a:p>
            <a:pPr lvl="0"/>
            <a:r>
              <a:rPr lang="en-IN" b="1" dirty="0"/>
              <a:t>Composition</a:t>
            </a:r>
            <a:r>
              <a:rPr lang="en-IN" dirty="0"/>
              <a:t>: Flows are built by chaining endpoints.</a:t>
            </a:r>
          </a:p>
          <a:p>
            <a:pPr lvl="0"/>
            <a:r>
              <a:rPr lang="en-IN" b="1" dirty="0"/>
              <a:t>Granularity</a:t>
            </a:r>
            <a:r>
              <a:rPr lang="en-IN" dirty="0"/>
              <a:t>: A flow can be short (adapter → handler) or complex (adapter → transformer → router → multiple handlers).</a:t>
            </a:r>
          </a:p>
          <a:p>
            <a:pPr lvl="0"/>
            <a:r>
              <a:rPr lang="en-IN" b="1" dirty="0"/>
              <a:t>Reusability</a:t>
            </a:r>
            <a:r>
              <a:rPr lang="en-IN" dirty="0"/>
              <a:t>: Flows can be modularized and composed into larger systems.</a:t>
            </a:r>
          </a:p>
          <a:p>
            <a:r>
              <a:rPr lang="en-US" b="1" dirty="0"/>
              <a:t>Declarative Style</a:t>
            </a:r>
            <a:r>
              <a:rPr lang="en-US" dirty="0"/>
              <a:t>: Can be defined in XML, annotations, or Java DSL.</a:t>
            </a:r>
          </a:p>
          <a:p>
            <a:r>
              <a:rPr lang="en-US" b="1" dirty="0"/>
              <a:t>Flexibility</a:t>
            </a:r>
            <a:r>
              <a:rPr lang="en-US" dirty="0"/>
              <a:t>: You can chain multiple steps (transform → route → handle).</a:t>
            </a:r>
          </a:p>
          <a:p>
            <a:pPr lvl="0"/>
            <a:endParaRPr lang="en-IN" dirty="0"/>
          </a:p>
          <a:p>
            <a:endParaRPr lang="en-IN" dirty="0"/>
          </a:p>
        </p:txBody>
      </p:sp>
    </p:spTree>
    <p:extLst>
      <p:ext uri="{BB962C8B-B14F-4D97-AF65-F5344CB8AC3E}">
        <p14:creationId xmlns:p14="http://schemas.microsoft.com/office/powerpoint/2010/main" val="1599885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2D52-6CF3-9BAA-BBA3-CA7785633B7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AABDE74-78E9-8BD5-D689-D4B3A7939B24}"/>
              </a:ext>
            </a:extLst>
          </p:cNvPr>
          <p:cNvSpPr>
            <a:spLocks noGrp="1"/>
          </p:cNvSpPr>
          <p:nvPr>
            <p:ph idx="1"/>
          </p:nvPr>
        </p:nvSpPr>
        <p:spPr>
          <a:xfrm>
            <a:off x="1154954" y="2603499"/>
            <a:ext cx="10508311" cy="4035231"/>
          </a:xfrm>
        </p:spPr>
        <p:txBody>
          <a:bodyPr>
            <a:normAutofit fontScale="92500" lnSpcReduction="10000"/>
          </a:bodyPr>
          <a:lstStyle/>
          <a:p>
            <a:pPr marL="0" indent="0">
              <a:buNone/>
            </a:pPr>
            <a:r>
              <a:rPr lang="en-IN" b="1" dirty="0">
                <a:solidFill>
                  <a:srgbClr val="FF0000"/>
                </a:solidFill>
              </a:rPr>
              <a:t>@Bean</a:t>
            </a:r>
          </a:p>
          <a:p>
            <a:pPr marL="0" indent="0">
              <a:buNone/>
            </a:pPr>
            <a:r>
              <a:rPr lang="en-IN" b="1" dirty="0">
                <a:solidFill>
                  <a:srgbClr val="FF0000"/>
                </a:solidFill>
              </a:rPr>
              <a:t>public </a:t>
            </a:r>
            <a:r>
              <a:rPr lang="en-IN" b="1" dirty="0" err="1">
                <a:solidFill>
                  <a:srgbClr val="FF0000"/>
                </a:solidFill>
              </a:rPr>
              <a:t>IntegrationFlow</a:t>
            </a:r>
            <a:r>
              <a:rPr lang="en-IN" b="1" dirty="0">
                <a:solidFill>
                  <a:srgbClr val="FF0000"/>
                </a:solidFill>
              </a:rPr>
              <a:t> </a:t>
            </a:r>
            <a:r>
              <a:rPr lang="en-IN" b="1" dirty="0" err="1">
                <a:solidFill>
                  <a:srgbClr val="FF0000"/>
                </a:solidFill>
              </a:rPr>
              <a:t>orderFlow</a:t>
            </a:r>
            <a:r>
              <a:rPr lang="en-IN" b="1" dirty="0">
                <a:solidFill>
                  <a:srgbClr val="FF0000"/>
                </a:solidFill>
              </a:rPr>
              <a:t>() {</a:t>
            </a:r>
          </a:p>
          <a:p>
            <a:pPr marL="0" indent="0">
              <a:buNone/>
            </a:pPr>
            <a:r>
              <a:rPr lang="en-IN" b="1" dirty="0">
                <a:solidFill>
                  <a:srgbClr val="FF0000"/>
                </a:solidFill>
              </a:rPr>
              <a:t>    return f -&gt; f</a:t>
            </a:r>
          </a:p>
          <a:p>
            <a:pPr marL="0" indent="0">
              <a:buNone/>
            </a:pPr>
            <a:r>
              <a:rPr lang="en-IN" b="1" dirty="0">
                <a:solidFill>
                  <a:srgbClr val="FF0000"/>
                </a:solidFill>
              </a:rPr>
              <a:t>        .transform(Order::</a:t>
            </a:r>
            <a:r>
              <a:rPr lang="en-IN" b="1" dirty="0" err="1">
                <a:solidFill>
                  <a:srgbClr val="FF0000"/>
                </a:solidFill>
              </a:rPr>
              <a:t>toJson</a:t>
            </a:r>
            <a:r>
              <a:rPr lang="en-IN" b="1" dirty="0">
                <a:solidFill>
                  <a:srgbClr val="FF0000"/>
                </a:solidFill>
              </a:rPr>
              <a:t>)</a:t>
            </a:r>
          </a:p>
          <a:p>
            <a:pPr marL="0" indent="0">
              <a:buNone/>
            </a:pPr>
            <a:r>
              <a:rPr lang="en-IN" b="1" dirty="0">
                <a:solidFill>
                  <a:srgbClr val="FF0000"/>
                </a:solidFill>
              </a:rPr>
              <a:t>        .route(Order::</a:t>
            </a:r>
            <a:r>
              <a:rPr lang="en-IN" b="1" dirty="0" err="1">
                <a:solidFill>
                  <a:srgbClr val="FF0000"/>
                </a:solidFill>
              </a:rPr>
              <a:t>getType</a:t>
            </a:r>
            <a:r>
              <a:rPr lang="en-IN" b="1" dirty="0">
                <a:solidFill>
                  <a:srgbClr val="FF0000"/>
                </a:solidFill>
              </a:rPr>
              <a:t>, mapping -&gt; mapping</a:t>
            </a:r>
          </a:p>
          <a:p>
            <a:pPr marL="0" indent="0">
              <a:buNone/>
            </a:pPr>
            <a:r>
              <a:rPr lang="en-IN" b="1" dirty="0">
                <a:solidFill>
                  <a:srgbClr val="FF0000"/>
                </a:solidFill>
              </a:rPr>
              <a:t>            .</a:t>
            </a:r>
            <a:r>
              <a:rPr lang="en-IN" b="1" dirty="0" err="1">
                <a:solidFill>
                  <a:srgbClr val="FF0000"/>
                </a:solidFill>
              </a:rPr>
              <a:t>channelMapping</a:t>
            </a:r>
            <a:r>
              <a:rPr lang="en-IN" b="1" dirty="0">
                <a:solidFill>
                  <a:srgbClr val="FF0000"/>
                </a:solidFill>
              </a:rPr>
              <a:t>("ONLINE", "</a:t>
            </a:r>
            <a:r>
              <a:rPr lang="en-IN" b="1" dirty="0" err="1">
                <a:solidFill>
                  <a:srgbClr val="FF0000"/>
                </a:solidFill>
              </a:rPr>
              <a:t>onlineChannel</a:t>
            </a:r>
            <a:r>
              <a:rPr lang="en-IN" b="1" dirty="0">
                <a:solidFill>
                  <a:srgbClr val="FF0000"/>
                </a:solidFill>
              </a:rPr>
              <a:t>")</a:t>
            </a:r>
          </a:p>
          <a:p>
            <a:pPr marL="0" indent="0">
              <a:buNone/>
            </a:pPr>
            <a:r>
              <a:rPr lang="en-IN" b="1" dirty="0">
                <a:solidFill>
                  <a:srgbClr val="FF0000"/>
                </a:solidFill>
              </a:rPr>
              <a:t>            .</a:t>
            </a:r>
            <a:r>
              <a:rPr lang="en-IN" b="1" dirty="0" err="1">
                <a:solidFill>
                  <a:srgbClr val="FF0000"/>
                </a:solidFill>
              </a:rPr>
              <a:t>channelMapping</a:t>
            </a:r>
            <a:r>
              <a:rPr lang="en-IN" b="1" dirty="0">
                <a:solidFill>
                  <a:srgbClr val="FF0000"/>
                </a:solidFill>
              </a:rPr>
              <a:t>("STORE", "</a:t>
            </a:r>
            <a:r>
              <a:rPr lang="en-IN" b="1" dirty="0" err="1">
                <a:solidFill>
                  <a:srgbClr val="FF0000"/>
                </a:solidFill>
              </a:rPr>
              <a:t>storeChannel</a:t>
            </a:r>
            <a:r>
              <a:rPr lang="en-IN" b="1" dirty="0">
                <a:solidFill>
                  <a:srgbClr val="FF0000"/>
                </a:solidFill>
              </a:rPr>
              <a:t>"))</a:t>
            </a:r>
          </a:p>
          <a:p>
            <a:pPr marL="0" indent="0">
              <a:buNone/>
            </a:pPr>
            <a:r>
              <a:rPr lang="en-IN" b="1" dirty="0">
                <a:solidFill>
                  <a:srgbClr val="FF0000"/>
                </a:solidFill>
              </a:rPr>
              <a:t>        .handle("</a:t>
            </a:r>
            <a:r>
              <a:rPr lang="en-IN" b="1" dirty="0" err="1">
                <a:solidFill>
                  <a:srgbClr val="FF0000"/>
                </a:solidFill>
              </a:rPr>
              <a:t>orderService</a:t>
            </a:r>
            <a:r>
              <a:rPr lang="en-IN" b="1" dirty="0">
                <a:solidFill>
                  <a:srgbClr val="FF0000"/>
                </a:solidFill>
              </a:rPr>
              <a:t>", "</a:t>
            </a:r>
            <a:r>
              <a:rPr lang="en-IN" b="1" dirty="0" err="1">
                <a:solidFill>
                  <a:srgbClr val="FF0000"/>
                </a:solidFill>
              </a:rPr>
              <a:t>processOrder</a:t>
            </a:r>
            <a:r>
              <a:rPr lang="en-IN" b="1" dirty="0">
                <a:solidFill>
                  <a:srgbClr val="FF0000"/>
                </a:solidFill>
              </a:rPr>
              <a:t>");</a:t>
            </a:r>
          </a:p>
          <a:p>
            <a:pPr marL="0" indent="0">
              <a:buNone/>
            </a:pPr>
            <a:r>
              <a:rPr lang="en-IN" b="1" dirty="0">
                <a:solidFill>
                  <a:srgbClr val="FF0000"/>
                </a:solidFill>
              </a:rPr>
              <a:t>}</a:t>
            </a:r>
          </a:p>
          <a:p>
            <a:r>
              <a:rPr lang="en-IN" dirty="0"/>
              <a:t>This </a:t>
            </a:r>
            <a:r>
              <a:rPr lang="en-IN" b="1" dirty="0"/>
              <a:t>flow</a:t>
            </a:r>
            <a:r>
              <a:rPr lang="en-IN" dirty="0"/>
              <a:t> orchestrates multiple endpoints:</a:t>
            </a:r>
          </a:p>
          <a:p>
            <a:pPr lvl="0"/>
            <a:r>
              <a:rPr lang="en-IN" dirty="0"/>
              <a:t>Transformer → Router → Service Activator.</a:t>
            </a:r>
          </a:p>
          <a:p>
            <a:endParaRPr lang="en-IN" dirty="0"/>
          </a:p>
        </p:txBody>
      </p:sp>
    </p:spTree>
    <p:extLst>
      <p:ext uri="{BB962C8B-B14F-4D97-AF65-F5344CB8AC3E}">
        <p14:creationId xmlns:p14="http://schemas.microsoft.com/office/powerpoint/2010/main" val="3523890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EC87-BE1C-4190-04F4-1F76D01E6A66}"/>
              </a:ext>
            </a:extLst>
          </p:cNvPr>
          <p:cNvSpPr>
            <a:spLocks noGrp="1"/>
          </p:cNvSpPr>
          <p:nvPr>
            <p:ph type="title"/>
          </p:nvPr>
        </p:nvSpPr>
        <p:spPr/>
        <p:txBody>
          <a:bodyPr/>
          <a:lstStyle/>
          <a:p>
            <a:r>
              <a:rPr lang="en-IN" b="1" dirty="0"/>
              <a:t>Endpoint vs Flow: Deep Comparison</a:t>
            </a:r>
            <a:endParaRPr lang="en-IN" dirty="0"/>
          </a:p>
        </p:txBody>
      </p:sp>
      <p:graphicFrame>
        <p:nvGraphicFramePr>
          <p:cNvPr id="4" name="Content Placeholder 3">
            <a:extLst>
              <a:ext uri="{FF2B5EF4-FFF2-40B4-BE49-F238E27FC236}">
                <a16:creationId xmlns:a16="http://schemas.microsoft.com/office/drawing/2014/main" id="{64D8714E-ADE7-995C-38B6-68B9B84950AE}"/>
              </a:ext>
            </a:extLst>
          </p:cNvPr>
          <p:cNvGraphicFramePr>
            <a:graphicFrameLocks noGrp="1"/>
          </p:cNvGraphicFramePr>
          <p:nvPr>
            <p:ph idx="1"/>
            <p:extLst>
              <p:ext uri="{D42A27DB-BD31-4B8C-83A1-F6EECF244321}">
                <p14:modId xmlns:p14="http://schemas.microsoft.com/office/powerpoint/2010/main" val="2139241074"/>
              </p:ext>
            </p:extLst>
          </p:nvPr>
        </p:nvGraphicFramePr>
        <p:xfrm>
          <a:off x="1155700" y="2603499"/>
          <a:ext cx="10157667" cy="4172668"/>
        </p:xfrm>
        <a:graphic>
          <a:graphicData uri="http://schemas.openxmlformats.org/drawingml/2006/table">
            <a:tbl>
              <a:tblPr firstRow="1" bandRow="1">
                <a:tableStyleId>{5C22544A-7EE6-4342-B048-85BDC9FD1C3A}</a:tableStyleId>
              </a:tblPr>
              <a:tblGrid>
                <a:gridCol w="2987092">
                  <a:extLst>
                    <a:ext uri="{9D8B030D-6E8A-4147-A177-3AD203B41FA5}">
                      <a16:colId xmlns:a16="http://schemas.microsoft.com/office/drawing/2014/main" val="1823993394"/>
                    </a:ext>
                  </a:extLst>
                </a:gridCol>
                <a:gridCol w="3784686">
                  <a:extLst>
                    <a:ext uri="{9D8B030D-6E8A-4147-A177-3AD203B41FA5}">
                      <a16:colId xmlns:a16="http://schemas.microsoft.com/office/drawing/2014/main" val="136733670"/>
                    </a:ext>
                  </a:extLst>
                </a:gridCol>
                <a:gridCol w="3385889">
                  <a:extLst>
                    <a:ext uri="{9D8B030D-6E8A-4147-A177-3AD203B41FA5}">
                      <a16:colId xmlns:a16="http://schemas.microsoft.com/office/drawing/2014/main" val="3547047598"/>
                    </a:ext>
                  </a:extLst>
                </a:gridCol>
              </a:tblGrid>
              <a:tr h="571796">
                <a:tc>
                  <a:txBody>
                    <a:bodyPr/>
                    <a:lstStyle/>
                    <a:p>
                      <a:pPr>
                        <a:lnSpc>
                          <a:spcPct val="107000"/>
                        </a:lnSpc>
                        <a:spcAft>
                          <a:spcPts val="800"/>
                        </a:spcAft>
                        <a:buNone/>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Aspect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Endpoint</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Flow</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33507623"/>
                  </a:ext>
                </a:extLst>
              </a:tr>
              <a:tr h="571796">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Definition</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Single integration component</a:t>
                      </a: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Sequence of endpoints + channels</a:t>
                      </a:r>
                    </a:p>
                  </a:txBody>
                  <a:tcPr marL="9525" marR="9525" marT="9525" marB="9525" anchor="ctr"/>
                </a:tc>
                <a:extLst>
                  <a:ext uri="{0D108BD9-81ED-4DB2-BD59-A6C34878D82A}">
                    <a16:rowId xmlns:a16="http://schemas.microsoft.com/office/drawing/2014/main" val="1485594376"/>
                  </a:ext>
                </a:extLst>
              </a:tr>
              <a:tr h="571796">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Role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Entry/exit point or processor</a:t>
                      </a: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Defines overall message journey</a:t>
                      </a:r>
                    </a:p>
                  </a:txBody>
                  <a:tcPr marL="9525" marR="9525" marT="9525" marB="9525" anchor="ctr"/>
                </a:tc>
                <a:extLst>
                  <a:ext uri="{0D108BD9-81ED-4DB2-BD59-A6C34878D82A}">
                    <a16:rowId xmlns:a16="http://schemas.microsoft.com/office/drawing/2014/main" val="2726208690"/>
                  </a:ext>
                </a:extLst>
              </a:tr>
              <a:tr h="571796">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Granularity</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Fine-grained</a:t>
                      </a: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High-level orchestration</a:t>
                      </a:r>
                    </a:p>
                  </a:txBody>
                  <a:tcPr marL="9525" marR="9525" marT="9525" marB="9525" anchor="ctr"/>
                </a:tc>
                <a:extLst>
                  <a:ext uri="{0D108BD9-81ED-4DB2-BD59-A6C34878D82A}">
                    <a16:rowId xmlns:a16="http://schemas.microsoft.com/office/drawing/2014/main" val="2739746841"/>
                  </a:ext>
                </a:extLst>
              </a:tr>
              <a:tr h="571796">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Examples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File adapter, transformer, router</a:t>
                      </a: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File → transform → route → handle</a:t>
                      </a:r>
                    </a:p>
                  </a:txBody>
                  <a:tcPr marL="9525" marR="9525" marT="9525" marB="9525" anchor="ctr"/>
                </a:tc>
                <a:extLst>
                  <a:ext uri="{0D108BD9-81ED-4DB2-BD59-A6C34878D82A}">
                    <a16:rowId xmlns:a16="http://schemas.microsoft.com/office/drawing/2014/main" val="3111846386"/>
                  </a:ext>
                </a:extLst>
              </a:tr>
              <a:tr h="571796">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Reusability</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Reusable unit</a:t>
                      </a: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Reusable orchestration</a:t>
                      </a:r>
                    </a:p>
                  </a:txBody>
                  <a:tcPr marL="9525" marR="9525" marT="9525" marB="9525" anchor="ctr"/>
                </a:tc>
                <a:extLst>
                  <a:ext uri="{0D108BD9-81ED-4DB2-BD59-A6C34878D82A}">
                    <a16:rowId xmlns:a16="http://schemas.microsoft.com/office/drawing/2014/main" val="1901355455"/>
                  </a:ext>
                </a:extLst>
              </a:tr>
              <a:tr h="571796">
                <a:tc>
                  <a:txBody>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Configuration</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a:effectLst/>
                          <a:latin typeface="Calibri" panose="020F0502020204030204" pitchFamily="34" charset="0"/>
                          <a:ea typeface="Calibri" panose="020F0502020204030204" pitchFamily="34" charset="0"/>
                          <a:cs typeface="Times New Roman" panose="02020603050405020304" pitchFamily="18" charset="0"/>
                        </a:rPr>
                        <a:t>XML, annotations, Java DSL</a:t>
                      </a:r>
                    </a:p>
                  </a:txBody>
                  <a:tcPr marL="9525" marR="9525" marT="9525" marB="9525" anchor="ctr"/>
                </a:tc>
                <a:tc>
                  <a:txBody>
                    <a:bodyPr/>
                    <a:lstStyle/>
                    <a:p>
                      <a:pPr>
                        <a:lnSpc>
                          <a:spcPct val="107000"/>
                        </a:lnSpc>
                        <a:spcAft>
                          <a:spcPts val="800"/>
                        </a:spcAft>
                        <a:buNone/>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Primarily Java DSL or XML chains</a:t>
                      </a:r>
                    </a:p>
                  </a:txBody>
                  <a:tcPr marL="9525" marR="9525" marT="9525" marB="9525" anchor="ctr"/>
                </a:tc>
                <a:extLst>
                  <a:ext uri="{0D108BD9-81ED-4DB2-BD59-A6C34878D82A}">
                    <a16:rowId xmlns:a16="http://schemas.microsoft.com/office/drawing/2014/main" val="851928606"/>
                  </a:ext>
                </a:extLst>
              </a:tr>
            </a:tbl>
          </a:graphicData>
        </a:graphic>
      </p:graphicFrame>
    </p:spTree>
    <p:extLst>
      <p:ext uri="{BB962C8B-B14F-4D97-AF65-F5344CB8AC3E}">
        <p14:creationId xmlns:p14="http://schemas.microsoft.com/office/powerpoint/2010/main" val="8106753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62CD2-810D-F8F9-3C79-0A77EFF024FA}"/>
              </a:ext>
            </a:extLst>
          </p:cNvPr>
          <p:cNvSpPr>
            <a:spLocks noGrp="1"/>
          </p:cNvSpPr>
          <p:nvPr>
            <p:ph type="title"/>
          </p:nvPr>
        </p:nvSpPr>
        <p:spPr/>
        <p:txBody>
          <a:bodyPr/>
          <a:lstStyle/>
          <a:p>
            <a:r>
              <a:rPr lang="en-IN" b="1" dirty="0"/>
              <a:t>Endpoint vs Flow</a:t>
            </a:r>
            <a:endParaRPr lang="en-IN" dirty="0"/>
          </a:p>
        </p:txBody>
      </p:sp>
      <p:sp>
        <p:nvSpPr>
          <p:cNvPr id="3" name="Content Placeholder 2">
            <a:extLst>
              <a:ext uri="{FF2B5EF4-FFF2-40B4-BE49-F238E27FC236}">
                <a16:creationId xmlns:a16="http://schemas.microsoft.com/office/drawing/2014/main" id="{64994B65-111D-75A2-6769-EEDC5653735D}"/>
              </a:ext>
            </a:extLst>
          </p:cNvPr>
          <p:cNvSpPr>
            <a:spLocks noGrp="1"/>
          </p:cNvSpPr>
          <p:nvPr>
            <p:ph idx="1"/>
          </p:nvPr>
        </p:nvSpPr>
        <p:spPr>
          <a:xfrm>
            <a:off x="1154954" y="2603499"/>
            <a:ext cx="10270381" cy="3885941"/>
          </a:xfrm>
        </p:spPr>
        <p:txBody>
          <a:bodyPr>
            <a:normAutofit/>
          </a:bodyPr>
          <a:lstStyle/>
          <a:p>
            <a:pPr lvl="0"/>
            <a:r>
              <a:rPr lang="en-IN" b="1" dirty="0"/>
              <a:t>Endpoints are atomic units of work.</a:t>
            </a:r>
            <a:r>
              <a:rPr lang="en-IN" dirty="0"/>
              <a:t> They do one thing: read, transform, route, or handle.</a:t>
            </a:r>
          </a:p>
          <a:p>
            <a:pPr lvl="0"/>
            <a:r>
              <a:rPr lang="en-IN" b="1" dirty="0"/>
              <a:t>Flows are the choreography.</a:t>
            </a:r>
            <a:r>
              <a:rPr lang="en-IN" dirty="0"/>
              <a:t> They define how endpoints connect and how messages travel.</a:t>
            </a:r>
          </a:p>
          <a:p>
            <a:pPr lvl="0"/>
            <a:r>
              <a:rPr lang="en-IN" b="1" dirty="0"/>
              <a:t>Channels are the glue.</a:t>
            </a:r>
            <a:r>
              <a:rPr lang="en-IN" dirty="0"/>
              <a:t> Endpoints don’t talk directly; they exchange messages via channels.</a:t>
            </a:r>
          </a:p>
          <a:p>
            <a:pPr lvl="0"/>
            <a:r>
              <a:rPr lang="en-IN" b="1" dirty="0"/>
              <a:t>Design Tip</a:t>
            </a:r>
            <a:r>
              <a:rPr lang="en-IN" dirty="0"/>
              <a:t>: Think of endpoints as </a:t>
            </a:r>
            <a:r>
              <a:rPr lang="en-IN" i="1" dirty="0"/>
              <a:t>actors</a:t>
            </a:r>
            <a:r>
              <a:rPr lang="en-IN" dirty="0"/>
              <a:t> and flows as the </a:t>
            </a:r>
            <a:r>
              <a:rPr lang="en-IN" i="1" dirty="0"/>
              <a:t>script</a:t>
            </a:r>
            <a:r>
              <a:rPr lang="en-IN" dirty="0"/>
              <a:t> that directs them.</a:t>
            </a:r>
          </a:p>
          <a:p>
            <a:pPr lvl="0"/>
            <a:r>
              <a:rPr lang="en-IN" i="1" dirty="0"/>
              <a:t>Endpoints are the bricks, flows are the walls.</a:t>
            </a:r>
            <a:r>
              <a:rPr lang="en-IN" dirty="0"/>
              <a:t> You design endpoints for specific tasks, then compose them into flows that represent your business processes.</a:t>
            </a:r>
          </a:p>
          <a:p>
            <a:endParaRPr lang="en-IN" dirty="0"/>
          </a:p>
        </p:txBody>
      </p:sp>
    </p:spTree>
    <p:extLst>
      <p:ext uri="{BB962C8B-B14F-4D97-AF65-F5344CB8AC3E}">
        <p14:creationId xmlns:p14="http://schemas.microsoft.com/office/powerpoint/2010/main" val="19191905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AAAD-809F-3424-968C-F56EF148C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719DE-DB43-F88E-2EDF-FDA5F760B4AC}"/>
              </a:ext>
            </a:extLst>
          </p:cNvPr>
          <p:cNvSpPr>
            <a:spLocks noGrp="1"/>
          </p:cNvSpPr>
          <p:nvPr>
            <p:ph type="title"/>
          </p:nvPr>
        </p:nvSpPr>
        <p:spPr/>
        <p:txBody>
          <a:bodyPr/>
          <a:lstStyle/>
          <a:p>
            <a:r>
              <a:rPr lang="en-US" b="1" dirty="0"/>
              <a:t>Message Transformer</a:t>
            </a:r>
            <a:endParaRPr lang="en-IN" dirty="0"/>
          </a:p>
        </p:txBody>
      </p:sp>
      <p:sp>
        <p:nvSpPr>
          <p:cNvPr id="3" name="Content Placeholder 2">
            <a:extLst>
              <a:ext uri="{FF2B5EF4-FFF2-40B4-BE49-F238E27FC236}">
                <a16:creationId xmlns:a16="http://schemas.microsoft.com/office/drawing/2014/main" id="{1CD05CB2-F886-4947-920D-0D4426781BE6}"/>
              </a:ext>
            </a:extLst>
          </p:cNvPr>
          <p:cNvSpPr>
            <a:spLocks noGrp="1"/>
          </p:cNvSpPr>
          <p:nvPr>
            <p:ph idx="1"/>
          </p:nvPr>
        </p:nvSpPr>
        <p:spPr>
          <a:xfrm>
            <a:off x="1154954" y="2603500"/>
            <a:ext cx="10116126" cy="3787520"/>
          </a:xfrm>
        </p:spPr>
        <p:txBody>
          <a:bodyPr/>
          <a:lstStyle/>
          <a:p>
            <a:r>
              <a:rPr lang="en-US" dirty="0"/>
              <a:t>A message transformer is responsible for converting a message’s content or structure and returning the modified message. </a:t>
            </a:r>
          </a:p>
          <a:p>
            <a:r>
              <a:rPr lang="en-US" dirty="0"/>
              <a:t>Probably the most common type of transformer is one that converts the payload of the message from one format to another (such as from XML to </a:t>
            </a:r>
            <a:r>
              <a:rPr lang="en-US" dirty="0" err="1"/>
              <a:t>java.lang.String</a:t>
            </a:r>
            <a:r>
              <a:rPr lang="en-US" dirty="0"/>
              <a:t>).</a:t>
            </a:r>
          </a:p>
          <a:p>
            <a:r>
              <a:rPr lang="en-US" dirty="0"/>
              <a:t>Transformer can add, remove, or modify the message’s header values.</a:t>
            </a:r>
          </a:p>
          <a:p>
            <a:endParaRPr lang="en-IN" dirty="0"/>
          </a:p>
        </p:txBody>
      </p:sp>
    </p:spTree>
    <p:extLst>
      <p:ext uri="{BB962C8B-B14F-4D97-AF65-F5344CB8AC3E}">
        <p14:creationId xmlns:p14="http://schemas.microsoft.com/office/powerpoint/2010/main" val="76120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6D74D-DE87-D51D-45EE-4F88220AE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A17F6-0F5D-F9C5-7567-07C34D6B03CE}"/>
              </a:ext>
            </a:extLst>
          </p:cNvPr>
          <p:cNvSpPr>
            <a:spLocks noGrp="1"/>
          </p:cNvSpPr>
          <p:nvPr>
            <p:ph type="title"/>
          </p:nvPr>
        </p:nvSpPr>
        <p:spPr/>
        <p:txBody>
          <a:bodyPr/>
          <a:lstStyle/>
          <a:p>
            <a:r>
              <a:rPr lang="en-US" b="1" dirty="0"/>
              <a:t>Message Filter</a:t>
            </a:r>
            <a:endParaRPr lang="en-IN" dirty="0"/>
          </a:p>
        </p:txBody>
      </p:sp>
      <p:sp>
        <p:nvSpPr>
          <p:cNvPr id="3" name="Content Placeholder 2">
            <a:extLst>
              <a:ext uri="{FF2B5EF4-FFF2-40B4-BE49-F238E27FC236}">
                <a16:creationId xmlns:a16="http://schemas.microsoft.com/office/drawing/2014/main" id="{71FF1D57-B1C6-44C7-4461-C1E4E681F14D}"/>
              </a:ext>
            </a:extLst>
          </p:cNvPr>
          <p:cNvSpPr>
            <a:spLocks noGrp="1"/>
          </p:cNvSpPr>
          <p:nvPr>
            <p:ph idx="1"/>
          </p:nvPr>
        </p:nvSpPr>
        <p:spPr>
          <a:xfrm>
            <a:off x="1154954" y="2603500"/>
            <a:ext cx="10116126" cy="3787520"/>
          </a:xfrm>
        </p:spPr>
        <p:txBody>
          <a:bodyPr>
            <a:normAutofit/>
          </a:bodyPr>
          <a:lstStyle/>
          <a:p>
            <a:r>
              <a:rPr lang="en-US" dirty="0"/>
              <a:t>A message filter determines whether a message should be passed to an output channel at all. </a:t>
            </a:r>
          </a:p>
          <a:p>
            <a:r>
              <a:rPr lang="en-US" dirty="0"/>
              <a:t>Simply requires a </a:t>
            </a:r>
            <a:r>
              <a:rPr lang="en-US" dirty="0" err="1"/>
              <a:t>boolean</a:t>
            </a:r>
            <a:r>
              <a:rPr lang="en-US" dirty="0"/>
              <a:t> test method that may check for a particular payload content type, a property value, the presence of a header, or other conditions. </a:t>
            </a:r>
          </a:p>
          <a:p>
            <a:r>
              <a:rPr lang="en-US" dirty="0"/>
              <a:t>If the message is accepted, it is sent to the output channel. </a:t>
            </a:r>
          </a:p>
          <a:p>
            <a:r>
              <a:rPr lang="en-US" dirty="0"/>
              <a:t>If not, it is dropped (or, for a more severe implementation, an Exception could be thrown). </a:t>
            </a:r>
          </a:p>
          <a:p>
            <a:r>
              <a:rPr lang="en-US" dirty="0"/>
              <a:t>Message filters are often used in conjunction with a publish-subscribe channel, where multiple consumers may receive the same message and use the criteria of the filter to narrow down the set of messages to be processed.</a:t>
            </a:r>
          </a:p>
          <a:p>
            <a:endParaRPr lang="en-IN" dirty="0"/>
          </a:p>
        </p:txBody>
      </p:sp>
    </p:spTree>
    <p:extLst>
      <p:ext uri="{BB962C8B-B14F-4D97-AF65-F5344CB8AC3E}">
        <p14:creationId xmlns:p14="http://schemas.microsoft.com/office/powerpoint/2010/main" val="15734244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556E4-F147-480C-9D1B-30BAA5412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A3402-37A2-C972-37EE-88EF6F3B872F}"/>
              </a:ext>
            </a:extLst>
          </p:cNvPr>
          <p:cNvSpPr>
            <a:spLocks noGrp="1"/>
          </p:cNvSpPr>
          <p:nvPr>
            <p:ph type="title"/>
          </p:nvPr>
        </p:nvSpPr>
        <p:spPr/>
        <p:txBody>
          <a:bodyPr/>
          <a:lstStyle/>
          <a:p>
            <a:r>
              <a:rPr lang="en-US" b="1" dirty="0"/>
              <a:t>Message Router</a:t>
            </a:r>
            <a:endParaRPr lang="en-IN" dirty="0"/>
          </a:p>
        </p:txBody>
      </p:sp>
      <p:sp>
        <p:nvSpPr>
          <p:cNvPr id="3" name="Content Placeholder 2">
            <a:extLst>
              <a:ext uri="{FF2B5EF4-FFF2-40B4-BE49-F238E27FC236}">
                <a16:creationId xmlns:a16="http://schemas.microsoft.com/office/drawing/2014/main" id="{E51A5007-7433-D872-32B5-04C532CDBCDD}"/>
              </a:ext>
            </a:extLst>
          </p:cNvPr>
          <p:cNvSpPr>
            <a:spLocks noGrp="1"/>
          </p:cNvSpPr>
          <p:nvPr>
            <p:ph idx="1"/>
          </p:nvPr>
        </p:nvSpPr>
        <p:spPr>
          <a:xfrm>
            <a:off x="1154954" y="2603500"/>
            <a:ext cx="10116126" cy="3787520"/>
          </a:xfrm>
        </p:spPr>
        <p:txBody>
          <a:bodyPr/>
          <a:lstStyle/>
          <a:p>
            <a:r>
              <a:rPr lang="en-US" dirty="0"/>
              <a:t>A message router is responsible for deciding what channel or channels (if any) should receive the message next. </a:t>
            </a:r>
          </a:p>
          <a:p>
            <a:r>
              <a:rPr lang="en-US" dirty="0"/>
              <a:t>Typically, the decision is based upon the message’s content or the metadata available in the message headers. </a:t>
            </a:r>
          </a:p>
          <a:p>
            <a:r>
              <a:rPr lang="en-US" dirty="0"/>
              <a:t>A message router is often used as a dynamic alternative to a statically configured output channel on a service activator or other endpoint capable of sending reply messages. </a:t>
            </a:r>
          </a:p>
          <a:p>
            <a:r>
              <a:rPr lang="en-US" dirty="0"/>
              <a:t>Likewise, a message router provides a proactive alternative to the reactive message filters used by multiple subscribers</a:t>
            </a:r>
          </a:p>
          <a:p>
            <a:endParaRPr lang="en-IN" dirty="0"/>
          </a:p>
        </p:txBody>
      </p:sp>
      <p:pic>
        <p:nvPicPr>
          <p:cNvPr id="3074" name="Picture 2" descr="Router">
            <a:extLst>
              <a:ext uri="{FF2B5EF4-FFF2-40B4-BE49-F238E27FC236}">
                <a16:creationId xmlns:a16="http://schemas.microsoft.com/office/drawing/2014/main" id="{CBBB9CAD-A8DC-7D9E-3736-CE8CC375F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314" y="5486400"/>
            <a:ext cx="4162425"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2704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D69E-88ED-81FD-B0A0-A8981EDEC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417FC-04D4-2642-7337-1C9BC2D4A4FB}"/>
              </a:ext>
            </a:extLst>
          </p:cNvPr>
          <p:cNvSpPr>
            <a:spLocks noGrp="1"/>
          </p:cNvSpPr>
          <p:nvPr>
            <p:ph type="title"/>
          </p:nvPr>
        </p:nvSpPr>
        <p:spPr/>
        <p:txBody>
          <a:bodyPr/>
          <a:lstStyle/>
          <a:p>
            <a:r>
              <a:rPr lang="en-US" b="1" dirty="0"/>
              <a:t>Splitter</a:t>
            </a:r>
            <a:endParaRPr lang="en-IN" dirty="0"/>
          </a:p>
        </p:txBody>
      </p:sp>
      <p:sp>
        <p:nvSpPr>
          <p:cNvPr id="3" name="Content Placeholder 2">
            <a:extLst>
              <a:ext uri="{FF2B5EF4-FFF2-40B4-BE49-F238E27FC236}">
                <a16:creationId xmlns:a16="http://schemas.microsoft.com/office/drawing/2014/main" id="{423C23A5-BE26-B0FE-483F-DF68EFFA9A86}"/>
              </a:ext>
            </a:extLst>
          </p:cNvPr>
          <p:cNvSpPr>
            <a:spLocks noGrp="1"/>
          </p:cNvSpPr>
          <p:nvPr>
            <p:ph idx="1"/>
          </p:nvPr>
        </p:nvSpPr>
        <p:spPr>
          <a:xfrm>
            <a:off x="1154954" y="2603500"/>
            <a:ext cx="10116126" cy="3787520"/>
          </a:xfrm>
        </p:spPr>
        <p:txBody>
          <a:bodyPr>
            <a:normAutofit/>
          </a:bodyPr>
          <a:lstStyle/>
          <a:p>
            <a:r>
              <a:rPr lang="en-US" dirty="0"/>
              <a:t>A splitter is another type of message endpoint whose responsibility is to accept a message from its input channel, split that message into multiple messages, and send each of those to its output channel.</a:t>
            </a:r>
          </a:p>
          <a:p>
            <a:r>
              <a:rPr lang="en-US" dirty="0"/>
              <a:t>Typically used for dividing a “composite” payload object into a group of messages containing the subdivided payloads.</a:t>
            </a:r>
          </a:p>
          <a:p>
            <a:endParaRPr lang="en-IN" dirty="0"/>
          </a:p>
        </p:txBody>
      </p:sp>
    </p:spTree>
    <p:extLst>
      <p:ext uri="{BB962C8B-B14F-4D97-AF65-F5344CB8AC3E}">
        <p14:creationId xmlns:p14="http://schemas.microsoft.com/office/powerpoint/2010/main" val="3823190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4670A-0E3C-C338-BED6-F15DE4FB4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B3287-6068-B1C9-9770-256BF6F54F72}"/>
              </a:ext>
            </a:extLst>
          </p:cNvPr>
          <p:cNvSpPr>
            <a:spLocks noGrp="1"/>
          </p:cNvSpPr>
          <p:nvPr>
            <p:ph type="title"/>
          </p:nvPr>
        </p:nvSpPr>
        <p:spPr/>
        <p:txBody>
          <a:bodyPr/>
          <a:lstStyle/>
          <a:p>
            <a:r>
              <a:rPr lang="en-US" b="1" dirty="0"/>
              <a:t>Aggregator</a:t>
            </a:r>
            <a:endParaRPr lang="en-IN" dirty="0"/>
          </a:p>
        </p:txBody>
      </p:sp>
      <p:sp>
        <p:nvSpPr>
          <p:cNvPr id="3" name="Content Placeholder 2">
            <a:extLst>
              <a:ext uri="{FF2B5EF4-FFF2-40B4-BE49-F238E27FC236}">
                <a16:creationId xmlns:a16="http://schemas.microsoft.com/office/drawing/2014/main" id="{12E6D894-F63A-CC8F-C44E-F111B5495213}"/>
              </a:ext>
            </a:extLst>
          </p:cNvPr>
          <p:cNvSpPr>
            <a:spLocks noGrp="1"/>
          </p:cNvSpPr>
          <p:nvPr>
            <p:ph idx="1"/>
          </p:nvPr>
        </p:nvSpPr>
        <p:spPr>
          <a:xfrm>
            <a:off x="1154954" y="2603500"/>
            <a:ext cx="10116126" cy="3787520"/>
          </a:xfrm>
        </p:spPr>
        <p:txBody>
          <a:bodyPr/>
          <a:lstStyle/>
          <a:p>
            <a:r>
              <a:rPr lang="en-US" dirty="0"/>
              <a:t>Basically a mirror-image of the splitter, the aggregator is a type of message endpoint that receives multiple messages and combines them into a single message. </a:t>
            </a:r>
          </a:p>
          <a:p>
            <a:r>
              <a:rPr lang="en-US" dirty="0"/>
              <a:t>Aggregators are often downstream consumers in a pipeline that includes a splitter.</a:t>
            </a:r>
          </a:p>
          <a:p>
            <a:r>
              <a:rPr lang="en-US" dirty="0"/>
              <a:t>Aggregator is more complex than a splitter, because it is required to maintain state (the messages to be aggregated), to decide when the complete group of messages is available, and to timeout if necessary.</a:t>
            </a:r>
          </a:p>
          <a:p>
            <a:r>
              <a:rPr lang="en-US" dirty="0"/>
              <a:t>In case of a timeout, the aggregator needs to know whether to send the partial results, discard them, or send them to a separate channel. </a:t>
            </a:r>
          </a:p>
          <a:p>
            <a:r>
              <a:rPr lang="en-US" dirty="0"/>
              <a:t>Spring Integration provides a </a:t>
            </a:r>
            <a:r>
              <a:rPr lang="en-US" dirty="0" err="1"/>
              <a:t>CorrelationStrategy</a:t>
            </a:r>
            <a:r>
              <a:rPr lang="en-US" dirty="0"/>
              <a:t>, a </a:t>
            </a:r>
            <a:r>
              <a:rPr lang="en-US" dirty="0" err="1"/>
              <a:t>ReleaseStrategy</a:t>
            </a:r>
            <a:r>
              <a:rPr lang="en-US" dirty="0"/>
              <a:t>, and configurable settings for timeout, whether to send partial results upon timeout, and a discard channel.</a:t>
            </a:r>
          </a:p>
          <a:p>
            <a:endParaRPr lang="en-IN" dirty="0"/>
          </a:p>
        </p:txBody>
      </p:sp>
    </p:spTree>
    <p:extLst>
      <p:ext uri="{BB962C8B-B14F-4D97-AF65-F5344CB8AC3E}">
        <p14:creationId xmlns:p14="http://schemas.microsoft.com/office/powerpoint/2010/main" val="36681362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B7E6E-78E5-5822-82AF-74106601A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DF5D8-92AD-1B5D-9EE3-6BBFE5C38EC3}"/>
              </a:ext>
            </a:extLst>
          </p:cNvPr>
          <p:cNvSpPr>
            <a:spLocks noGrp="1"/>
          </p:cNvSpPr>
          <p:nvPr>
            <p:ph type="title"/>
          </p:nvPr>
        </p:nvSpPr>
        <p:spPr/>
        <p:txBody>
          <a:bodyPr/>
          <a:lstStyle/>
          <a:p>
            <a:r>
              <a:rPr lang="en-US" b="1" dirty="0"/>
              <a:t>Service Activator</a:t>
            </a:r>
            <a:endParaRPr lang="en-IN" dirty="0"/>
          </a:p>
        </p:txBody>
      </p:sp>
      <p:sp>
        <p:nvSpPr>
          <p:cNvPr id="3" name="Content Placeholder 2">
            <a:extLst>
              <a:ext uri="{FF2B5EF4-FFF2-40B4-BE49-F238E27FC236}">
                <a16:creationId xmlns:a16="http://schemas.microsoft.com/office/drawing/2014/main" id="{82BE846B-2B0B-6E0B-BC06-7228A859ABFA}"/>
              </a:ext>
            </a:extLst>
          </p:cNvPr>
          <p:cNvSpPr>
            <a:spLocks noGrp="1"/>
          </p:cNvSpPr>
          <p:nvPr>
            <p:ph idx="1"/>
          </p:nvPr>
        </p:nvSpPr>
        <p:spPr>
          <a:xfrm>
            <a:off x="1154954" y="2603500"/>
            <a:ext cx="10116126" cy="3787520"/>
          </a:xfrm>
        </p:spPr>
        <p:txBody>
          <a:bodyPr/>
          <a:lstStyle/>
          <a:p>
            <a:r>
              <a:rPr lang="en-US" dirty="0"/>
              <a:t>A Service Activator is a generic endpoint for</a:t>
            </a:r>
            <a:r>
              <a:rPr lang="en-US" b="1" dirty="0"/>
              <a:t> connecting a service instance to the messaging system. </a:t>
            </a:r>
          </a:p>
          <a:p>
            <a:r>
              <a:rPr lang="en-US" dirty="0"/>
              <a:t>The input message channel must be configured, and, if the service method to be invoked is capable of returning a value, an output message Channel may also be provided.</a:t>
            </a:r>
          </a:p>
          <a:p>
            <a:r>
              <a:rPr lang="en-US" dirty="0"/>
              <a:t>The output channel is optional, since each message may also provide its own 'Return Address' header. This same rule applies for all consumer endpoints.</a:t>
            </a:r>
          </a:p>
          <a:p>
            <a:endParaRPr lang="en-IN" dirty="0"/>
          </a:p>
        </p:txBody>
      </p:sp>
    </p:spTree>
    <p:extLst>
      <p:ext uri="{BB962C8B-B14F-4D97-AF65-F5344CB8AC3E}">
        <p14:creationId xmlns:p14="http://schemas.microsoft.com/office/powerpoint/2010/main" val="5491581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74F78-4587-AFCB-358D-F5517A11CB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C31D3-AB8B-28AB-3338-82A0D35D0C05}"/>
              </a:ext>
            </a:extLst>
          </p:cNvPr>
          <p:cNvSpPr>
            <a:spLocks noGrp="1"/>
          </p:cNvSpPr>
          <p:nvPr>
            <p:ph idx="4294967295"/>
          </p:nvPr>
        </p:nvSpPr>
        <p:spPr>
          <a:xfrm>
            <a:off x="1152719" y="2603500"/>
            <a:ext cx="10115550" cy="3787775"/>
          </a:xfrm>
        </p:spPr>
        <p:txBody>
          <a:bodyPr>
            <a:normAutofit fontScale="92500" lnSpcReduction="10000"/>
          </a:bodyPr>
          <a:lstStyle/>
          <a:p>
            <a:r>
              <a:rPr lang="en-US" dirty="0"/>
              <a:t>Service activator invokes an operation on some service object to process the request message, extracting the request message’s payload and converting (if the method does not expect a message-typed parameter). </a:t>
            </a:r>
          </a:p>
          <a:p>
            <a:r>
              <a:rPr lang="en-US" dirty="0"/>
              <a:t>Whenever the service object’s method returns a value, that return value is likewise converted to a reply message if necessary (if it is not already a message type). </a:t>
            </a:r>
          </a:p>
          <a:p>
            <a:r>
              <a:rPr lang="en-US" dirty="0"/>
              <a:t>That reply message is sent to the output channel. If no output channel has been configured, the reply is sent to the channel specified in the message’s “return address”, if available.</a:t>
            </a:r>
          </a:p>
          <a:p>
            <a:r>
              <a:rPr lang="en-US" dirty="0"/>
              <a:t>A request-reply service activator endpoint connects a target object’s method to input and output Message Channels.</a:t>
            </a:r>
          </a:p>
          <a:p>
            <a:r>
              <a:rPr lang="en-US" i="1" dirty="0"/>
              <a:t>In Message Channel, channels can be pollable or </a:t>
            </a:r>
            <a:r>
              <a:rPr lang="en-US" i="1" dirty="0" err="1"/>
              <a:t>subscribable</a:t>
            </a:r>
            <a:r>
              <a:rPr lang="en-US" i="1" dirty="0"/>
              <a:t>. In the preceding diagram, this is depicted by the “clock” symbol and </a:t>
            </a:r>
            <a:r>
              <a:rPr lang="en-US" b="1" i="1" dirty="0"/>
              <a:t>the solid arrow (poll) and the dotted arrow (subscribe).</a:t>
            </a:r>
          </a:p>
          <a:p>
            <a:endParaRPr lang="en-IN" dirty="0"/>
          </a:p>
        </p:txBody>
      </p:sp>
      <p:pic>
        <p:nvPicPr>
          <p:cNvPr id="5122" name="Picture 2" descr="handler endpoint">
            <a:extLst>
              <a:ext uri="{FF2B5EF4-FFF2-40B4-BE49-F238E27FC236}">
                <a16:creationId xmlns:a16="http://schemas.microsoft.com/office/drawing/2014/main" id="{519BA789-05A4-1557-8314-053C5EF744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8788" y="466725"/>
            <a:ext cx="8253121" cy="183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977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D19D7-B3A6-43A1-B7F2-C137C49B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33F72-A876-079F-568F-D48D2DA5BF2B}"/>
              </a:ext>
            </a:extLst>
          </p:cNvPr>
          <p:cNvSpPr>
            <a:spLocks noGrp="1"/>
          </p:cNvSpPr>
          <p:nvPr>
            <p:ph type="title"/>
          </p:nvPr>
        </p:nvSpPr>
        <p:spPr/>
        <p:txBody>
          <a:bodyPr/>
          <a:lstStyle/>
          <a:p>
            <a:r>
              <a:rPr lang="en-US" b="1" dirty="0"/>
              <a:t>Channel Adapter</a:t>
            </a:r>
            <a:endParaRPr lang="en-IN" dirty="0"/>
          </a:p>
        </p:txBody>
      </p:sp>
      <p:sp>
        <p:nvSpPr>
          <p:cNvPr id="3" name="Content Placeholder 2">
            <a:extLst>
              <a:ext uri="{FF2B5EF4-FFF2-40B4-BE49-F238E27FC236}">
                <a16:creationId xmlns:a16="http://schemas.microsoft.com/office/drawing/2014/main" id="{A0C8EC23-468E-413B-6BF6-AB35F4D29DBE}"/>
              </a:ext>
            </a:extLst>
          </p:cNvPr>
          <p:cNvSpPr>
            <a:spLocks noGrp="1"/>
          </p:cNvSpPr>
          <p:nvPr>
            <p:ph idx="1"/>
          </p:nvPr>
        </p:nvSpPr>
        <p:spPr>
          <a:xfrm>
            <a:off x="1154954" y="2603500"/>
            <a:ext cx="10116126" cy="3787520"/>
          </a:xfrm>
        </p:spPr>
        <p:txBody>
          <a:bodyPr/>
          <a:lstStyle/>
          <a:p>
            <a:r>
              <a:rPr lang="en-US" dirty="0"/>
              <a:t>A channel adapter is an endpoint that connects a message channel to some other system or transport. </a:t>
            </a:r>
          </a:p>
          <a:p>
            <a:r>
              <a:rPr lang="en-US" dirty="0"/>
              <a:t>Channel adapters may be either inbound or outbound. </a:t>
            </a:r>
          </a:p>
          <a:p>
            <a:r>
              <a:rPr lang="en-US" dirty="0" err="1"/>
              <a:t>Cchannel</a:t>
            </a:r>
            <a:r>
              <a:rPr lang="en-US" dirty="0"/>
              <a:t> adapter does some mapping between the message and whatever object or resource is received from or sent to the other system (file, HTTP Request, JMS message, and others). </a:t>
            </a:r>
          </a:p>
          <a:p>
            <a:r>
              <a:rPr lang="en-US" dirty="0"/>
              <a:t>Depending on the transport, the channel adapter may also populate or extract message header values. </a:t>
            </a:r>
          </a:p>
          <a:p>
            <a:r>
              <a:rPr lang="en-US" dirty="0"/>
              <a:t>Spring Integration provides a number of channel adapters</a:t>
            </a:r>
          </a:p>
          <a:p>
            <a:endParaRPr lang="en-IN" dirty="0"/>
          </a:p>
        </p:txBody>
      </p:sp>
    </p:spTree>
    <p:extLst>
      <p:ext uri="{BB962C8B-B14F-4D97-AF65-F5344CB8AC3E}">
        <p14:creationId xmlns:p14="http://schemas.microsoft.com/office/powerpoint/2010/main" val="3209657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BA811E-6F8B-9016-7D9E-1F37498998B0}"/>
              </a:ext>
            </a:extLst>
          </p:cNvPr>
          <p:cNvPicPr>
            <a:picLocks noChangeAspect="1"/>
          </p:cNvPicPr>
          <p:nvPr/>
        </p:nvPicPr>
        <p:blipFill>
          <a:blip r:embed="rId2"/>
          <a:stretch>
            <a:fillRect/>
          </a:stretch>
        </p:blipFill>
        <p:spPr>
          <a:xfrm>
            <a:off x="1925118" y="939664"/>
            <a:ext cx="8088275" cy="1397654"/>
          </a:xfrm>
          <a:prstGeom prst="rect">
            <a:avLst/>
          </a:prstGeom>
        </p:spPr>
      </p:pic>
      <p:sp>
        <p:nvSpPr>
          <p:cNvPr id="6" name="TextBox 5">
            <a:extLst>
              <a:ext uri="{FF2B5EF4-FFF2-40B4-BE49-F238E27FC236}">
                <a16:creationId xmlns:a16="http://schemas.microsoft.com/office/drawing/2014/main" id="{FC4B18E5-BE41-AD50-15B4-345A22D221FA}"/>
              </a:ext>
            </a:extLst>
          </p:cNvPr>
          <p:cNvSpPr txBox="1"/>
          <p:nvPr/>
        </p:nvSpPr>
        <p:spPr>
          <a:xfrm>
            <a:off x="1293455" y="425617"/>
            <a:ext cx="8666973" cy="369332"/>
          </a:xfrm>
          <a:prstGeom prst="rect">
            <a:avLst/>
          </a:prstGeom>
          <a:noFill/>
        </p:spPr>
        <p:txBody>
          <a:bodyPr wrap="square">
            <a:spAutoFit/>
          </a:bodyPr>
          <a:lstStyle/>
          <a:p>
            <a:r>
              <a:rPr lang="en-US" b="0" i="1" dirty="0">
                <a:solidFill>
                  <a:srgbClr val="FF0000"/>
                </a:solidFill>
                <a:effectLst/>
                <a:latin typeface="-apple-system"/>
              </a:rPr>
              <a:t> An inbound channel adapter endpoint connects a source system to a </a:t>
            </a:r>
            <a:r>
              <a:rPr lang="en-US" b="0" i="1" dirty="0" err="1">
                <a:solidFill>
                  <a:srgbClr val="FF0000"/>
                </a:solidFill>
                <a:effectLst/>
                <a:latin typeface="SFMono-Regular"/>
              </a:rPr>
              <a:t>MessageChannel</a:t>
            </a:r>
            <a:r>
              <a:rPr lang="en-US" b="0" i="1" dirty="0">
                <a:solidFill>
                  <a:srgbClr val="FF0000"/>
                </a:solidFill>
                <a:effectLst/>
                <a:latin typeface="-apple-system"/>
              </a:rPr>
              <a:t>.</a:t>
            </a:r>
            <a:endParaRPr lang="en-IN" dirty="0">
              <a:solidFill>
                <a:srgbClr val="FF0000"/>
              </a:solidFill>
            </a:endParaRPr>
          </a:p>
        </p:txBody>
      </p:sp>
      <p:pic>
        <p:nvPicPr>
          <p:cNvPr id="6146" name="Picture 2" descr="target endpoint">
            <a:extLst>
              <a:ext uri="{FF2B5EF4-FFF2-40B4-BE49-F238E27FC236}">
                <a16:creationId xmlns:a16="http://schemas.microsoft.com/office/drawing/2014/main" id="{0917437B-4ECB-E8A5-FBD5-8BFC97DC2C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413" y="4856980"/>
            <a:ext cx="8201256" cy="146451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F6519AC-537C-2992-85C7-8C103B7F9ED0}"/>
              </a:ext>
            </a:extLst>
          </p:cNvPr>
          <p:cNvSpPr txBox="1"/>
          <p:nvPr/>
        </p:nvSpPr>
        <p:spPr>
          <a:xfrm>
            <a:off x="1582705" y="4345943"/>
            <a:ext cx="8666972" cy="369332"/>
          </a:xfrm>
          <a:prstGeom prst="rect">
            <a:avLst/>
          </a:prstGeom>
          <a:noFill/>
        </p:spPr>
        <p:txBody>
          <a:bodyPr wrap="square">
            <a:spAutoFit/>
          </a:bodyPr>
          <a:lstStyle/>
          <a:p>
            <a:r>
              <a:rPr lang="en-US" b="0" i="1" dirty="0">
                <a:solidFill>
                  <a:srgbClr val="FF0000"/>
                </a:solidFill>
                <a:effectLst/>
                <a:latin typeface="-apple-system"/>
              </a:rPr>
              <a:t>An outbound channel adapter endpoint connects a </a:t>
            </a:r>
            <a:r>
              <a:rPr lang="en-US" b="0" i="1" dirty="0" err="1">
                <a:solidFill>
                  <a:srgbClr val="FF0000"/>
                </a:solidFill>
                <a:effectLst/>
                <a:latin typeface="SFMono-Regular"/>
              </a:rPr>
              <a:t>MessageChannel</a:t>
            </a:r>
            <a:r>
              <a:rPr lang="en-US" b="0" i="1" dirty="0">
                <a:solidFill>
                  <a:srgbClr val="FF0000"/>
                </a:solidFill>
                <a:effectLst/>
                <a:latin typeface="-apple-system"/>
              </a:rPr>
              <a:t> to a target system.</a:t>
            </a:r>
            <a:endParaRPr lang="en-IN" dirty="0">
              <a:solidFill>
                <a:srgbClr val="FF0000"/>
              </a:solidFill>
            </a:endParaRPr>
          </a:p>
        </p:txBody>
      </p:sp>
    </p:spTree>
    <p:extLst>
      <p:ext uri="{BB962C8B-B14F-4D97-AF65-F5344CB8AC3E}">
        <p14:creationId xmlns:p14="http://schemas.microsoft.com/office/powerpoint/2010/main" val="18411166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1E90-6580-ED40-35F1-267FAE9ED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1060C-1B23-641A-B767-BD0A9372528B}"/>
              </a:ext>
            </a:extLst>
          </p:cNvPr>
          <p:cNvSpPr>
            <a:spLocks noGrp="1"/>
          </p:cNvSpPr>
          <p:nvPr>
            <p:ph type="title"/>
          </p:nvPr>
        </p:nvSpPr>
        <p:spPr/>
        <p:txBody>
          <a:bodyPr/>
          <a:lstStyle/>
          <a:p>
            <a:r>
              <a:rPr lang="en-US" b="1" dirty="0"/>
              <a:t>Endpoint Bean Names</a:t>
            </a:r>
            <a:endParaRPr lang="en-IN" dirty="0"/>
          </a:p>
        </p:txBody>
      </p:sp>
      <p:sp>
        <p:nvSpPr>
          <p:cNvPr id="3" name="Content Placeholder 2">
            <a:extLst>
              <a:ext uri="{FF2B5EF4-FFF2-40B4-BE49-F238E27FC236}">
                <a16:creationId xmlns:a16="http://schemas.microsoft.com/office/drawing/2014/main" id="{5630835F-D570-3CEC-C806-431CB5A70740}"/>
              </a:ext>
            </a:extLst>
          </p:cNvPr>
          <p:cNvSpPr>
            <a:spLocks noGrp="1"/>
          </p:cNvSpPr>
          <p:nvPr>
            <p:ph idx="1"/>
          </p:nvPr>
        </p:nvSpPr>
        <p:spPr>
          <a:xfrm>
            <a:off x="1154954" y="2603500"/>
            <a:ext cx="10116126" cy="3787520"/>
          </a:xfrm>
        </p:spPr>
        <p:txBody>
          <a:bodyPr/>
          <a:lstStyle/>
          <a:p>
            <a:r>
              <a:rPr lang="en-US" dirty="0"/>
              <a:t>Consuming endpoints (anything with an </a:t>
            </a:r>
            <a:r>
              <a:rPr lang="en-US" dirty="0" err="1"/>
              <a:t>inputChannel</a:t>
            </a:r>
            <a:r>
              <a:rPr lang="en-US" dirty="0"/>
              <a:t>) consist of two beans, the consumer and the message handler. </a:t>
            </a:r>
          </a:p>
          <a:p>
            <a:r>
              <a:rPr lang="en-US" dirty="0"/>
              <a:t>The consumer has a reference to the message handler and invokes it as messages arrive.</a:t>
            </a:r>
          </a:p>
          <a:p>
            <a:pPr marL="0" indent="0">
              <a:buNone/>
            </a:pPr>
            <a:r>
              <a:rPr lang="en-US" dirty="0"/>
              <a:t>Consider the following XML example:</a:t>
            </a:r>
          </a:p>
          <a:p>
            <a:pPr marL="0" indent="0">
              <a:buNone/>
            </a:pPr>
            <a:r>
              <a:rPr lang="en-US" dirty="0">
                <a:solidFill>
                  <a:srgbClr val="FF0000"/>
                </a:solidFill>
              </a:rPr>
              <a:t>&lt;</a:t>
            </a:r>
            <a:r>
              <a:rPr lang="en-US" dirty="0" err="1">
                <a:solidFill>
                  <a:srgbClr val="FF0000"/>
                </a:solidFill>
              </a:rPr>
              <a:t>int:service-activator</a:t>
            </a:r>
            <a:r>
              <a:rPr lang="en-US" dirty="0">
                <a:solidFill>
                  <a:srgbClr val="FF0000"/>
                </a:solidFill>
              </a:rPr>
              <a:t> id = "</a:t>
            </a:r>
            <a:r>
              <a:rPr lang="en-US" dirty="0" err="1">
                <a:solidFill>
                  <a:srgbClr val="FF0000"/>
                </a:solidFill>
              </a:rPr>
              <a:t>someService</a:t>
            </a:r>
            <a:r>
              <a:rPr lang="en-US" dirty="0">
                <a:solidFill>
                  <a:srgbClr val="FF0000"/>
                </a:solidFill>
              </a:rPr>
              <a:t>" ... /&gt;</a:t>
            </a:r>
          </a:p>
          <a:p>
            <a:r>
              <a:rPr lang="en-US" dirty="0"/>
              <a:t>Bean names are as follows:</a:t>
            </a:r>
          </a:p>
          <a:p>
            <a:pPr marL="0" indent="0">
              <a:buNone/>
            </a:pPr>
            <a:r>
              <a:rPr lang="en-US" dirty="0"/>
              <a:t>Consumer: </a:t>
            </a:r>
            <a:r>
              <a:rPr lang="en-US" dirty="0" err="1"/>
              <a:t>someService</a:t>
            </a:r>
            <a:r>
              <a:rPr lang="en-US" dirty="0"/>
              <a:t> (the id)</a:t>
            </a:r>
          </a:p>
          <a:p>
            <a:pPr marL="0" indent="0">
              <a:buNone/>
            </a:pPr>
            <a:r>
              <a:rPr lang="en-US" dirty="0"/>
              <a:t>Handler: </a:t>
            </a:r>
            <a:r>
              <a:rPr lang="en-US" dirty="0" err="1"/>
              <a:t>someService.handler</a:t>
            </a:r>
            <a:endParaRPr lang="en-US" dirty="0"/>
          </a:p>
          <a:p>
            <a:endParaRPr lang="en-IN" dirty="0"/>
          </a:p>
        </p:txBody>
      </p:sp>
    </p:spTree>
    <p:extLst>
      <p:ext uri="{BB962C8B-B14F-4D97-AF65-F5344CB8AC3E}">
        <p14:creationId xmlns:p14="http://schemas.microsoft.com/office/powerpoint/2010/main" val="2621306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CFA1F-D352-5A03-29E6-5002A4D0C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FEED8-DAE9-922A-15BB-D2391884542C}"/>
              </a:ext>
            </a:extLst>
          </p:cNvPr>
          <p:cNvSpPr>
            <a:spLocks noGrp="1"/>
          </p:cNvSpPr>
          <p:nvPr>
            <p:ph type="title" idx="4294967295"/>
          </p:nvPr>
        </p:nvSpPr>
        <p:spPr>
          <a:xfrm>
            <a:off x="125963" y="49408"/>
            <a:ext cx="8761413" cy="708025"/>
          </a:xfrm>
        </p:spPr>
        <p:txBody>
          <a:bodyPr/>
          <a:lstStyle/>
          <a:p>
            <a:r>
              <a:rPr lang="en-US" b="1" dirty="0">
                <a:solidFill>
                  <a:schemeClr val="tx1"/>
                </a:solidFill>
              </a:rPr>
              <a:t>Endpoint Bean Names</a:t>
            </a:r>
            <a:endParaRPr lang="en-IN" dirty="0">
              <a:solidFill>
                <a:schemeClr val="tx1"/>
              </a:solidFill>
            </a:endParaRPr>
          </a:p>
        </p:txBody>
      </p:sp>
      <p:sp>
        <p:nvSpPr>
          <p:cNvPr id="3" name="Content Placeholder 2">
            <a:extLst>
              <a:ext uri="{FF2B5EF4-FFF2-40B4-BE49-F238E27FC236}">
                <a16:creationId xmlns:a16="http://schemas.microsoft.com/office/drawing/2014/main" id="{E66CD61B-1B55-75D1-8E42-C67AE3B0FCED}"/>
              </a:ext>
            </a:extLst>
          </p:cNvPr>
          <p:cNvSpPr>
            <a:spLocks noGrp="1"/>
          </p:cNvSpPr>
          <p:nvPr>
            <p:ph idx="4294967295"/>
          </p:nvPr>
        </p:nvSpPr>
        <p:spPr>
          <a:xfrm>
            <a:off x="228989" y="669100"/>
            <a:ext cx="10115550" cy="3787775"/>
          </a:xfrm>
        </p:spPr>
        <p:txBody>
          <a:bodyPr/>
          <a:lstStyle/>
          <a:p>
            <a:r>
              <a:rPr lang="en-US" dirty="0"/>
              <a:t>When using Enterprise Integration Pattern (EIP) annotations, the names depend on several factors.</a:t>
            </a:r>
          </a:p>
          <a:p>
            <a:r>
              <a:rPr lang="en-US" dirty="0"/>
              <a:t>Example of an annotated POJO:</a:t>
            </a:r>
            <a:endParaRPr lang="en-IN" dirty="0"/>
          </a:p>
        </p:txBody>
      </p:sp>
      <p:sp>
        <p:nvSpPr>
          <p:cNvPr id="5" name="TextBox 4">
            <a:extLst>
              <a:ext uri="{FF2B5EF4-FFF2-40B4-BE49-F238E27FC236}">
                <a16:creationId xmlns:a16="http://schemas.microsoft.com/office/drawing/2014/main" id="{601513ED-D95E-F9F3-9323-179CC446F8D3}"/>
              </a:ext>
            </a:extLst>
          </p:cNvPr>
          <p:cNvSpPr txBox="1"/>
          <p:nvPr/>
        </p:nvSpPr>
        <p:spPr>
          <a:xfrm>
            <a:off x="551672" y="1742120"/>
            <a:ext cx="6095222" cy="2585323"/>
          </a:xfrm>
          <a:prstGeom prst="rect">
            <a:avLst/>
          </a:prstGeom>
          <a:noFill/>
          <a:ln>
            <a:solidFill>
              <a:schemeClr val="accent1"/>
            </a:solidFill>
          </a:ln>
        </p:spPr>
        <p:txBody>
          <a:bodyPr wrap="square">
            <a:spAutoFit/>
          </a:bodyPr>
          <a:lstStyle/>
          <a:p>
            <a:r>
              <a:rPr lang="en-IN" dirty="0"/>
              <a:t>@Component</a:t>
            </a:r>
          </a:p>
          <a:p>
            <a:r>
              <a:rPr lang="en-IN" dirty="0"/>
              <a:t>public class </a:t>
            </a:r>
            <a:r>
              <a:rPr lang="en-IN" dirty="0" err="1"/>
              <a:t>SomeComponent</a:t>
            </a:r>
            <a:r>
              <a:rPr lang="en-IN" dirty="0"/>
              <a:t> {</a:t>
            </a:r>
          </a:p>
          <a:p>
            <a:endParaRPr lang="en-IN" dirty="0"/>
          </a:p>
          <a:p>
            <a:r>
              <a:rPr lang="en-IN" dirty="0"/>
              <a:t>    @ServiceActivator(inputChannel = ...)</a:t>
            </a:r>
          </a:p>
          <a:p>
            <a:r>
              <a:rPr lang="en-IN" dirty="0"/>
              <a:t>    public String </a:t>
            </a:r>
            <a:r>
              <a:rPr lang="en-IN" dirty="0" err="1"/>
              <a:t>someMethod</a:t>
            </a:r>
            <a:r>
              <a:rPr lang="en-IN" dirty="0"/>
              <a:t>(...) {</a:t>
            </a:r>
          </a:p>
          <a:p>
            <a:r>
              <a:rPr lang="en-IN" dirty="0"/>
              <a:t>        ...</a:t>
            </a:r>
          </a:p>
          <a:p>
            <a:r>
              <a:rPr lang="en-IN" dirty="0"/>
              <a:t>    }</a:t>
            </a:r>
          </a:p>
          <a:p>
            <a:endParaRPr lang="en-IN" dirty="0"/>
          </a:p>
          <a:p>
            <a:r>
              <a:rPr lang="en-IN" dirty="0"/>
              <a:t>}</a:t>
            </a:r>
          </a:p>
        </p:txBody>
      </p:sp>
      <p:sp>
        <p:nvSpPr>
          <p:cNvPr id="9" name="TextBox 8">
            <a:extLst>
              <a:ext uri="{FF2B5EF4-FFF2-40B4-BE49-F238E27FC236}">
                <a16:creationId xmlns:a16="http://schemas.microsoft.com/office/drawing/2014/main" id="{D2113AF6-7341-948E-EFC3-9A64770B0D84}"/>
              </a:ext>
            </a:extLst>
          </p:cNvPr>
          <p:cNvSpPr txBox="1"/>
          <p:nvPr/>
        </p:nvSpPr>
        <p:spPr>
          <a:xfrm>
            <a:off x="996042" y="4785932"/>
            <a:ext cx="7326863" cy="923330"/>
          </a:xfrm>
          <a:prstGeom prst="rect">
            <a:avLst/>
          </a:prstGeom>
          <a:noFill/>
          <a:ln>
            <a:solidFill>
              <a:schemeClr val="accent1"/>
            </a:solidFill>
          </a:ln>
        </p:spPr>
        <p:txBody>
          <a:bodyPr wrap="square">
            <a:spAutoFit/>
          </a:bodyPr>
          <a:lstStyle/>
          <a:p>
            <a:pPr algn="l">
              <a:buNone/>
            </a:pPr>
            <a:r>
              <a:rPr lang="en-IN" b="0" i="0" dirty="0">
                <a:solidFill>
                  <a:srgbClr val="FF0000"/>
                </a:solidFill>
                <a:effectLst/>
                <a:latin typeface="-apple-system"/>
              </a:rPr>
              <a:t>bean names are as follows:</a:t>
            </a:r>
          </a:p>
          <a:p>
            <a:pPr algn="l">
              <a:buFont typeface="Arial" panose="020B0604020202020204" pitchFamily="34" charset="0"/>
              <a:buChar char="•"/>
            </a:pPr>
            <a:r>
              <a:rPr lang="en-IN" b="0" i="0" dirty="0">
                <a:solidFill>
                  <a:srgbClr val="FF0000"/>
                </a:solidFill>
                <a:effectLst/>
                <a:latin typeface="-apple-system"/>
              </a:rPr>
              <a:t>Consumer: </a:t>
            </a:r>
            <a:r>
              <a:rPr lang="en-IN" b="0" i="0" dirty="0" err="1">
                <a:solidFill>
                  <a:srgbClr val="FF0000"/>
                </a:solidFill>
                <a:effectLst/>
                <a:latin typeface="SFMono-Regular"/>
              </a:rPr>
              <a:t>someComponent.someMethod.serviceActivator</a:t>
            </a:r>
            <a:endParaRPr lang="en-IN" b="0" i="0" dirty="0">
              <a:solidFill>
                <a:srgbClr val="FF0000"/>
              </a:solidFill>
              <a:effectLst/>
              <a:latin typeface="-apple-system"/>
            </a:endParaRPr>
          </a:p>
          <a:p>
            <a:pPr algn="l">
              <a:buFont typeface="Arial" panose="020B0604020202020204" pitchFamily="34" charset="0"/>
              <a:buChar char="•"/>
            </a:pPr>
            <a:r>
              <a:rPr lang="en-IN" b="0" i="0" dirty="0">
                <a:solidFill>
                  <a:srgbClr val="FF0000"/>
                </a:solidFill>
                <a:effectLst/>
                <a:latin typeface="-apple-system"/>
              </a:rPr>
              <a:t>Handler: </a:t>
            </a:r>
            <a:r>
              <a:rPr lang="en-IN" b="0" i="0" dirty="0" err="1">
                <a:solidFill>
                  <a:srgbClr val="FF0000"/>
                </a:solidFill>
                <a:effectLst/>
                <a:latin typeface="SFMono-Regular"/>
              </a:rPr>
              <a:t>someComponent.someMethod.serviceActivator.handler</a:t>
            </a:r>
            <a:endParaRPr lang="en-IN" b="0" i="0" dirty="0">
              <a:solidFill>
                <a:srgbClr val="FF0000"/>
              </a:solidFill>
              <a:effectLst/>
              <a:latin typeface="-apple-system"/>
            </a:endParaRPr>
          </a:p>
        </p:txBody>
      </p:sp>
    </p:spTree>
    <p:extLst>
      <p:ext uri="{BB962C8B-B14F-4D97-AF65-F5344CB8AC3E}">
        <p14:creationId xmlns:p14="http://schemas.microsoft.com/office/powerpoint/2010/main" val="33187950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33346B-DB40-E07A-02F6-0F492AD1B22F}"/>
              </a:ext>
            </a:extLst>
          </p:cNvPr>
          <p:cNvSpPr txBox="1"/>
          <p:nvPr/>
        </p:nvSpPr>
        <p:spPr>
          <a:xfrm>
            <a:off x="379055" y="1246711"/>
            <a:ext cx="10318491" cy="369332"/>
          </a:xfrm>
          <a:prstGeom prst="rect">
            <a:avLst/>
          </a:prstGeom>
          <a:noFill/>
        </p:spPr>
        <p:txBody>
          <a:bodyPr wrap="square">
            <a:spAutoFit/>
          </a:bodyPr>
          <a:lstStyle/>
          <a:p>
            <a:r>
              <a:rPr lang="en-US" b="0" i="0" dirty="0">
                <a:effectLst/>
                <a:latin typeface="-apple-system"/>
              </a:rPr>
              <a:t> can modify these names by using the </a:t>
            </a:r>
            <a:r>
              <a:rPr lang="en-US" b="0" i="0" dirty="0">
                <a:effectLst/>
                <a:latin typeface="SFMono-Regular"/>
              </a:rPr>
              <a:t>@EndpointId</a:t>
            </a:r>
            <a:r>
              <a:rPr lang="en-US" b="0" i="0" dirty="0">
                <a:effectLst/>
                <a:latin typeface="-apple-system"/>
              </a:rPr>
              <a:t> annotation, as the following example shows:</a:t>
            </a:r>
            <a:endParaRPr lang="en-IN" dirty="0"/>
          </a:p>
        </p:txBody>
      </p:sp>
      <p:sp>
        <p:nvSpPr>
          <p:cNvPr id="7" name="TextBox 6">
            <a:extLst>
              <a:ext uri="{FF2B5EF4-FFF2-40B4-BE49-F238E27FC236}">
                <a16:creationId xmlns:a16="http://schemas.microsoft.com/office/drawing/2014/main" id="{7A7BB870-7832-13C2-04FC-277D3796C4AE}"/>
              </a:ext>
            </a:extLst>
          </p:cNvPr>
          <p:cNvSpPr txBox="1"/>
          <p:nvPr/>
        </p:nvSpPr>
        <p:spPr>
          <a:xfrm>
            <a:off x="201774" y="57057"/>
            <a:ext cx="6095222" cy="646331"/>
          </a:xfrm>
          <a:prstGeom prst="rect">
            <a:avLst/>
          </a:prstGeom>
          <a:noFill/>
        </p:spPr>
        <p:txBody>
          <a:bodyPr wrap="square">
            <a:spAutoFit/>
          </a:bodyPr>
          <a:lstStyle/>
          <a:p>
            <a:r>
              <a:rPr kumimoji="0" lang="en-US" sz="3600" b="1" i="0" u="none" strike="noStrike" kern="1200" cap="none" spc="0" normalizeH="0" baseline="0" noProof="0" dirty="0">
                <a:ln>
                  <a:noFill/>
                </a:ln>
                <a:solidFill>
                  <a:prstClr val="black"/>
                </a:solidFill>
                <a:effectLst/>
                <a:uLnTx/>
                <a:uFillTx/>
                <a:latin typeface="Century Gothic" panose="020B0502020202020204"/>
                <a:ea typeface="+mj-ea"/>
                <a:cs typeface="+mj-cs"/>
              </a:rPr>
              <a:t>Endpoint Bean Names</a:t>
            </a:r>
            <a:endParaRPr lang="en-IN" dirty="0"/>
          </a:p>
        </p:txBody>
      </p:sp>
      <p:sp>
        <p:nvSpPr>
          <p:cNvPr id="9" name="TextBox 8">
            <a:extLst>
              <a:ext uri="{FF2B5EF4-FFF2-40B4-BE49-F238E27FC236}">
                <a16:creationId xmlns:a16="http://schemas.microsoft.com/office/drawing/2014/main" id="{ACD0E92A-24D6-8D01-7178-7C96A68C152F}"/>
              </a:ext>
            </a:extLst>
          </p:cNvPr>
          <p:cNvSpPr txBox="1"/>
          <p:nvPr/>
        </p:nvSpPr>
        <p:spPr>
          <a:xfrm>
            <a:off x="514350" y="1685264"/>
            <a:ext cx="6095222" cy="2862322"/>
          </a:xfrm>
          <a:prstGeom prst="rect">
            <a:avLst/>
          </a:prstGeom>
          <a:noFill/>
        </p:spPr>
        <p:txBody>
          <a:bodyPr wrap="square">
            <a:spAutoFit/>
          </a:bodyPr>
          <a:lstStyle/>
          <a:p>
            <a:r>
              <a:rPr lang="en-IN" dirty="0"/>
              <a:t>@Component</a:t>
            </a:r>
          </a:p>
          <a:p>
            <a:r>
              <a:rPr lang="en-IN" dirty="0"/>
              <a:t>public class </a:t>
            </a:r>
            <a:r>
              <a:rPr lang="en-IN" dirty="0" err="1"/>
              <a:t>SomeComponent</a:t>
            </a:r>
            <a:r>
              <a:rPr lang="en-IN" dirty="0"/>
              <a:t> {</a:t>
            </a:r>
          </a:p>
          <a:p>
            <a:endParaRPr lang="en-IN" dirty="0"/>
          </a:p>
          <a:p>
            <a:r>
              <a:rPr lang="en-IN" dirty="0"/>
              <a:t>    @EndpointId("someService")</a:t>
            </a:r>
          </a:p>
          <a:p>
            <a:r>
              <a:rPr lang="en-IN" dirty="0"/>
              <a:t>    @ServiceActivator(inputChannel = ...)</a:t>
            </a:r>
          </a:p>
          <a:p>
            <a:r>
              <a:rPr lang="en-IN" dirty="0"/>
              <a:t>    public String </a:t>
            </a:r>
            <a:r>
              <a:rPr lang="en-IN" dirty="0" err="1"/>
              <a:t>someMethod</a:t>
            </a:r>
            <a:r>
              <a:rPr lang="en-IN" dirty="0"/>
              <a:t>(...) {</a:t>
            </a:r>
          </a:p>
          <a:p>
            <a:r>
              <a:rPr lang="en-IN" dirty="0"/>
              <a:t>        ...</a:t>
            </a:r>
          </a:p>
          <a:p>
            <a:r>
              <a:rPr lang="en-IN" dirty="0"/>
              <a:t>    }</a:t>
            </a:r>
          </a:p>
          <a:p>
            <a:endParaRPr lang="en-IN" dirty="0"/>
          </a:p>
          <a:p>
            <a:r>
              <a:rPr lang="en-IN" dirty="0"/>
              <a:t>}</a:t>
            </a:r>
          </a:p>
        </p:txBody>
      </p:sp>
      <p:sp>
        <p:nvSpPr>
          <p:cNvPr id="11" name="TextBox 10">
            <a:extLst>
              <a:ext uri="{FF2B5EF4-FFF2-40B4-BE49-F238E27FC236}">
                <a16:creationId xmlns:a16="http://schemas.microsoft.com/office/drawing/2014/main" id="{87FDE578-8869-DD83-5EED-9ABC8B30AFB4}"/>
              </a:ext>
            </a:extLst>
          </p:cNvPr>
          <p:cNvSpPr txBox="1"/>
          <p:nvPr/>
        </p:nvSpPr>
        <p:spPr>
          <a:xfrm>
            <a:off x="705627" y="4738405"/>
            <a:ext cx="9912610" cy="1200329"/>
          </a:xfrm>
          <a:prstGeom prst="rect">
            <a:avLst/>
          </a:prstGeom>
          <a:noFill/>
        </p:spPr>
        <p:txBody>
          <a:bodyPr wrap="square">
            <a:spAutoFit/>
          </a:bodyPr>
          <a:lstStyle/>
          <a:p>
            <a:pPr algn="l">
              <a:buNone/>
            </a:pPr>
            <a:r>
              <a:rPr lang="en-US" b="0" i="0" dirty="0">
                <a:solidFill>
                  <a:srgbClr val="C00000"/>
                </a:solidFill>
                <a:effectLst/>
                <a:latin typeface="-apple-system"/>
              </a:rPr>
              <a:t>bean names are as follows:</a:t>
            </a:r>
          </a:p>
          <a:p>
            <a:pPr algn="l">
              <a:buFont typeface="Arial" panose="020B0604020202020204" pitchFamily="34" charset="0"/>
              <a:buChar char="•"/>
            </a:pPr>
            <a:r>
              <a:rPr lang="en-US" b="0" i="0" dirty="0">
                <a:solidFill>
                  <a:srgbClr val="C00000"/>
                </a:solidFill>
                <a:effectLst/>
                <a:latin typeface="-apple-system"/>
              </a:rPr>
              <a:t>Consumer: </a:t>
            </a:r>
            <a:r>
              <a:rPr lang="en-US" b="0" i="0" dirty="0" err="1">
                <a:solidFill>
                  <a:srgbClr val="C00000"/>
                </a:solidFill>
                <a:effectLst/>
                <a:latin typeface="SFMono-Regular"/>
              </a:rPr>
              <a:t>someService</a:t>
            </a:r>
            <a:endParaRPr lang="en-US" b="0" i="0" dirty="0">
              <a:solidFill>
                <a:srgbClr val="C00000"/>
              </a:solidFill>
              <a:effectLst/>
              <a:latin typeface="-apple-system"/>
            </a:endParaRPr>
          </a:p>
          <a:p>
            <a:pPr algn="l">
              <a:buFont typeface="Arial" panose="020B0604020202020204" pitchFamily="34" charset="0"/>
              <a:buChar char="•"/>
            </a:pPr>
            <a:r>
              <a:rPr lang="en-US" b="0" i="0" dirty="0">
                <a:solidFill>
                  <a:srgbClr val="C00000"/>
                </a:solidFill>
                <a:effectLst/>
                <a:latin typeface="-apple-system"/>
              </a:rPr>
              <a:t>Handler: </a:t>
            </a:r>
            <a:r>
              <a:rPr lang="en-US" b="0" i="0" dirty="0" err="1">
                <a:solidFill>
                  <a:srgbClr val="C00000"/>
                </a:solidFill>
                <a:effectLst/>
                <a:latin typeface="SFMono-Regular"/>
              </a:rPr>
              <a:t>someService.handler</a:t>
            </a:r>
            <a:endParaRPr lang="en-US" b="0" i="0" dirty="0">
              <a:solidFill>
                <a:srgbClr val="C00000"/>
              </a:solidFill>
              <a:effectLst/>
              <a:latin typeface="-apple-system"/>
            </a:endParaRPr>
          </a:p>
          <a:p>
            <a:pPr algn="l">
              <a:buNone/>
            </a:pPr>
            <a:r>
              <a:rPr lang="en-US" b="0" i="0" dirty="0">
                <a:solidFill>
                  <a:srgbClr val="C00000"/>
                </a:solidFill>
                <a:effectLst/>
                <a:latin typeface="-apple-system"/>
              </a:rPr>
              <a:t>The </a:t>
            </a:r>
            <a:r>
              <a:rPr lang="en-US" b="0" i="0" dirty="0">
                <a:solidFill>
                  <a:srgbClr val="C00000"/>
                </a:solidFill>
                <a:effectLst/>
                <a:latin typeface="SFMono-Regular"/>
              </a:rPr>
              <a:t>@EndpointId</a:t>
            </a:r>
            <a:r>
              <a:rPr lang="en-US" b="0" i="0" dirty="0">
                <a:solidFill>
                  <a:srgbClr val="C00000"/>
                </a:solidFill>
                <a:effectLst/>
                <a:latin typeface="-apple-system"/>
              </a:rPr>
              <a:t> creates names as created by the </a:t>
            </a:r>
            <a:r>
              <a:rPr lang="en-US" b="0" i="0" dirty="0">
                <a:solidFill>
                  <a:srgbClr val="C00000"/>
                </a:solidFill>
                <a:effectLst/>
                <a:latin typeface="SFMono-Regular"/>
              </a:rPr>
              <a:t>id</a:t>
            </a:r>
            <a:r>
              <a:rPr lang="en-US" b="0" i="0" dirty="0">
                <a:solidFill>
                  <a:srgbClr val="C00000"/>
                </a:solidFill>
                <a:effectLst/>
                <a:latin typeface="-apple-system"/>
              </a:rPr>
              <a:t> attribute with XML configuration</a:t>
            </a:r>
          </a:p>
        </p:txBody>
      </p:sp>
    </p:spTree>
    <p:extLst>
      <p:ext uri="{BB962C8B-B14F-4D97-AF65-F5344CB8AC3E}">
        <p14:creationId xmlns:p14="http://schemas.microsoft.com/office/powerpoint/2010/main" val="34832701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2519-70DA-8945-68AD-5535729A91B2}"/>
              </a:ext>
            </a:extLst>
          </p:cNvPr>
          <p:cNvSpPr>
            <a:spLocks noGrp="1"/>
          </p:cNvSpPr>
          <p:nvPr>
            <p:ph type="title"/>
          </p:nvPr>
        </p:nvSpPr>
        <p:spPr/>
        <p:txBody>
          <a:bodyPr/>
          <a:lstStyle/>
          <a:p>
            <a:r>
              <a:rPr lang="en-IN" b="1" dirty="0"/>
              <a:t>Enterprise Integration Patterns (EIP) </a:t>
            </a:r>
            <a:endParaRPr lang="en-IN" dirty="0"/>
          </a:p>
        </p:txBody>
      </p:sp>
      <p:sp>
        <p:nvSpPr>
          <p:cNvPr id="3" name="Content Placeholder 2">
            <a:extLst>
              <a:ext uri="{FF2B5EF4-FFF2-40B4-BE49-F238E27FC236}">
                <a16:creationId xmlns:a16="http://schemas.microsoft.com/office/drawing/2014/main" id="{388B92D6-3A7C-45B6-3BA0-ACBCD583531A}"/>
              </a:ext>
            </a:extLst>
          </p:cNvPr>
          <p:cNvSpPr>
            <a:spLocks noGrp="1"/>
          </p:cNvSpPr>
          <p:nvPr>
            <p:ph idx="1"/>
          </p:nvPr>
        </p:nvSpPr>
        <p:spPr>
          <a:xfrm>
            <a:off x="1154954" y="2603499"/>
            <a:ext cx="10466324" cy="3857949"/>
          </a:xfrm>
        </p:spPr>
        <p:txBody>
          <a:bodyPr>
            <a:normAutofit fontScale="85000" lnSpcReduction="20000"/>
          </a:bodyPr>
          <a:lstStyle/>
          <a:p>
            <a:r>
              <a:rPr lang="en-IN" dirty="0"/>
              <a:t>Enterprise Integration Patterns (EIP) in Spring Integration provide a proven, standardized way to </a:t>
            </a:r>
            <a:r>
              <a:rPr lang="en-IN" b="1" dirty="0"/>
              <a:t>design message-driven systems. </a:t>
            </a:r>
          </a:p>
          <a:p>
            <a:r>
              <a:rPr lang="en-IN" dirty="0"/>
              <a:t>Spring Integration implements most of the core EIPs—like </a:t>
            </a:r>
            <a:r>
              <a:rPr lang="en-IN" b="1" dirty="0"/>
              <a:t>channels, transformers, routers, filters, and aggregators</a:t>
            </a:r>
            <a:r>
              <a:rPr lang="en-IN" dirty="0"/>
              <a:t>—so you can build complex flows by composing simple, reusable building blocks.</a:t>
            </a:r>
          </a:p>
          <a:p>
            <a:pPr lvl="0"/>
            <a:r>
              <a:rPr lang="en-IN" dirty="0"/>
              <a:t>They describe common solutions for </a:t>
            </a:r>
            <a:r>
              <a:rPr lang="en-IN" b="1" dirty="0"/>
              <a:t>integrating distributed systems using messaging.</a:t>
            </a:r>
          </a:p>
          <a:p>
            <a:pPr lvl="0"/>
            <a:r>
              <a:rPr lang="en-IN" dirty="0"/>
              <a:t>Spring Integration is essentially a framework that brings these EIPs into the Spring ecosystem, making them easy to configure with XML, annotations, or Java DSL</a:t>
            </a:r>
          </a:p>
          <a:p>
            <a:br>
              <a:rPr lang="en-US" dirty="0"/>
            </a:br>
            <a:r>
              <a:rPr lang="en-US" dirty="0"/>
              <a:t>Enterprise Integration Patterns (EIP) are a set of 65 design patterns for solving common problems in messaging systems. </a:t>
            </a:r>
          </a:p>
          <a:p>
            <a:r>
              <a:rPr lang="en-US" dirty="0"/>
              <a:t>Popularized by the book </a:t>
            </a:r>
            <a:r>
              <a:rPr lang="en-US" i="1" dirty="0"/>
              <a:t>Enterprise Integration Patterns</a:t>
            </a:r>
            <a:r>
              <a:rPr lang="en-US" dirty="0"/>
              <a:t> by Gregor </a:t>
            </a:r>
            <a:r>
              <a:rPr lang="en-US" dirty="0" err="1"/>
              <a:t>Hohpe</a:t>
            </a:r>
            <a:r>
              <a:rPr lang="en-US" dirty="0"/>
              <a:t> and Bobby Woolf.</a:t>
            </a:r>
          </a:p>
          <a:p>
            <a:r>
              <a:rPr lang="en-US" b="1" dirty="0"/>
              <a:t>Spring Integration</a:t>
            </a:r>
            <a:r>
              <a:rPr lang="en-US" dirty="0"/>
              <a:t> is a direct implementation of these patterns.</a:t>
            </a:r>
          </a:p>
          <a:p>
            <a:r>
              <a:rPr lang="en-US" dirty="0"/>
              <a:t> Instead of reinventing the wheel, Spring Integration provides pre-built beans and DSL methods that map 1-to-1 with these patterns.</a:t>
            </a:r>
          </a:p>
          <a:p>
            <a:pPr marL="0" indent="0">
              <a:buNone/>
            </a:pPr>
            <a:endParaRPr lang="en-IN" dirty="0"/>
          </a:p>
        </p:txBody>
      </p:sp>
    </p:spTree>
    <p:extLst>
      <p:ext uri="{BB962C8B-B14F-4D97-AF65-F5344CB8AC3E}">
        <p14:creationId xmlns:p14="http://schemas.microsoft.com/office/powerpoint/2010/main" val="4395927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F7B1-D3F6-B584-C052-721D498721F2}"/>
              </a:ext>
            </a:extLst>
          </p:cNvPr>
          <p:cNvSpPr>
            <a:spLocks noGrp="1"/>
          </p:cNvSpPr>
          <p:nvPr>
            <p:ph type="title"/>
          </p:nvPr>
        </p:nvSpPr>
        <p:spPr/>
        <p:txBody>
          <a:bodyPr/>
          <a:lstStyle/>
          <a:p>
            <a:r>
              <a:rPr lang="en-IN" b="1" dirty="0"/>
              <a:t>Core EIPs in Spring Integration</a:t>
            </a:r>
            <a:endParaRPr lang="en-IN" dirty="0"/>
          </a:p>
        </p:txBody>
      </p:sp>
      <p:sp>
        <p:nvSpPr>
          <p:cNvPr id="3" name="Content Placeholder 2">
            <a:extLst>
              <a:ext uri="{FF2B5EF4-FFF2-40B4-BE49-F238E27FC236}">
                <a16:creationId xmlns:a16="http://schemas.microsoft.com/office/drawing/2014/main" id="{FE5A85A2-AD6C-0A05-C42A-67343096639E}"/>
              </a:ext>
            </a:extLst>
          </p:cNvPr>
          <p:cNvSpPr>
            <a:spLocks noGrp="1"/>
          </p:cNvSpPr>
          <p:nvPr>
            <p:ph idx="1"/>
          </p:nvPr>
        </p:nvSpPr>
        <p:spPr>
          <a:xfrm>
            <a:off x="1154954" y="2603500"/>
            <a:ext cx="10289042" cy="3988578"/>
          </a:xfrm>
        </p:spPr>
        <p:txBody>
          <a:bodyPr>
            <a:normAutofit fontScale="92500" lnSpcReduction="20000"/>
          </a:bodyPr>
          <a:lstStyle/>
          <a:p>
            <a:pPr marL="0" indent="0">
              <a:buNone/>
            </a:pPr>
            <a:r>
              <a:rPr lang="en-IN" b="1" dirty="0"/>
              <a:t>1. Message Channel</a:t>
            </a:r>
            <a:endParaRPr lang="en-IN" dirty="0"/>
          </a:p>
          <a:p>
            <a:pPr lvl="0"/>
            <a:r>
              <a:rPr lang="en-IN" dirty="0"/>
              <a:t>Definition: A conduit for messages to travel between endpoints.</a:t>
            </a:r>
          </a:p>
          <a:p>
            <a:pPr lvl="0"/>
            <a:r>
              <a:rPr lang="en-IN" dirty="0"/>
              <a:t>Spring Implementation: </a:t>
            </a:r>
            <a:r>
              <a:rPr lang="en-IN" dirty="0" err="1"/>
              <a:t>DirectChannel</a:t>
            </a:r>
            <a:r>
              <a:rPr lang="en-IN" dirty="0"/>
              <a:t>, </a:t>
            </a:r>
            <a:r>
              <a:rPr lang="en-IN" dirty="0" err="1"/>
              <a:t>QueueChannel</a:t>
            </a:r>
            <a:r>
              <a:rPr lang="en-IN" dirty="0"/>
              <a:t>, </a:t>
            </a:r>
            <a:r>
              <a:rPr lang="en-IN" dirty="0" err="1"/>
              <a:t>PublishSubscribeChannel</a:t>
            </a:r>
            <a:r>
              <a:rPr lang="en-IN" dirty="0"/>
              <a:t>.</a:t>
            </a:r>
          </a:p>
          <a:p>
            <a:pPr lvl="0"/>
            <a:r>
              <a:rPr lang="en-IN" dirty="0"/>
              <a:t>Usage: Decouples producers and consumers.</a:t>
            </a:r>
          </a:p>
          <a:p>
            <a:pPr marL="0" indent="0">
              <a:buNone/>
            </a:pPr>
            <a:r>
              <a:rPr lang="en-IN" b="1" dirty="0"/>
              <a:t>2. Message Endpoint</a:t>
            </a:r>
            <a:endParaRPr lang="en-IN" dirty="0"/>
          </a:p>
          <a:p>
            <a:pPr lvl="0"/>
            <a:r>
              <a:rPr lang="en-IN" dirty="0"/>
              <a:t>Definition: A component that interacts with a channel to process messages.</a:t>
            </a:r>
          </a:p>
          <a:p>
            <a:pPr lvl="0"/>
            <a:r>
              <a:rPr lang="en-IN" dirty="0"/>
              <a:t>Spring Implementation: Service Activators, Gateways, Adapters.</a:t>
            </a:r>
          </a:p>
          <a:p>
            <a:pPr lvl="0"/>
            <a:r>
              <a:rPr lang="en-IN" dirty="0"/>
              <a:t>Usage: Encapsulates business logic or external system interaction.</a:t>
            </a:r>
          </a:p>
          <a:p>
            <a:pPr marL="0" indent="0">
              <a:buNone/>
            </a:pPr>
            <a:r>
              <a:rPr lang="en-IN" b="1" dirty="0"/>
              <a:t>3. Message Transformer</a:t>
            </a:r>
            <a:endParaRPr lang="en-IN" dirty="0"/>
          </a:p>
          <a:p>
            <a:pPr lvl="0"/>
            <a:r>
              <a:rPr lang="en-IN" dirty="0"/>
              <a:t>Definition: Converts message payloads into another format.</a:t>
            </a:r>
          </a:p>
          <a:p>
            <a:pPr lvl="0"/>
            <a:r>
              <a:rPr lang="en-IN" dirty="0"/>
              <a:t>Spring Implementation: transform() in Java DSL, @Transformer annotation.</a:t>
            </a:r>
          </a:p>
          <a:p>
            <a:pPr lvl="0"/>
            <a:r>
              <a:rPr lang="en-IN" dirty="0"/>
              <a:t>Usage: e.g., XML → JSON, CSV → Object.</a:t>
            </a:r>
          </a:p>
          <a:p>
            <a:endParaRPr lang="en-IN" dirty="0"/>
          </a:p>
        </p:txBody>
      </p:sp>
    </p:spTree>
    <p:extLst>
      <p:ext uri="{BB962C8B-B14F-4D97-AF65-F5344CB8AC3E}">
        <p14:creationId xmlns:p14="http://schemas.microsoft.com/office/powerpoint/2010/main" val="32577118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C55CB-CBEC-7382-C70F-7071ED0BC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1661A-9C79-C308-8753-8209E9880C2D}"/>
              </a:ext>
            </a:extLst>
          </p:cNvPr>
          <p:cNvSpPr>
            <a:spLocks noGrp="1"/>
          </p:cNvSpPr>
          <p:nvPr>
            <p:ph type="title"/>
          </p:nvPr>
        </p:nvSpPr>
        <p:spPr/>
        <p:txBody>
          <a:bodyPr/>
          <a:lstStyle/>
          <a:p>
            <a:r>
              <a:rPr lang="en-IN" b="1" dirty="0"/>
              <a:t>Core EIPs in Spring Integration</a:t>
            </a:r>
            <a:endParaRPr lang="en-IN" dirty="0"/>
          </a:p>
        </p:txBody>
      </p:sp>
      <p:sp>
        <p:nvSpPr>
          <p:cNvPr id="3" name="Content Placeholder 2">
            <a:extLst>
              <a:ext uri="{FF2B5EF4-FFF2-40B4-BE49-F238E27FC236}">
                <a16:creationId xmlns:a16="http://schemas.microsoft.com/office/drawing/2014/main" id="{FD394CEE-C2C1-DAC8-C59E-A95CA3050F9E}"/>
              </a:ext>
            </a:extLst>
          </p:cNvPr>
          <p:cNvSpPr>
            <a:spLocks noGrp="1"/>
          </p:cNvSpPr>
          <p:nvPr>
            <p:ph idx="1"/>
          </p:nvPr>
        </p:nvSpPr>
        <p:spPr>
          <a:xfrm>
            <a:off x="1154954" y="2603500"/>
            <a:ext cx="10289042" cy="3988578"/>
          </a:xfrm>
        </p:spPr>
        <p:txBody>
          <a:bodyPr/>
          <a:lstStyle/>
          <a:p>
            <a:pPr marL="0" indent="0">
              <a:buNone/>
            </a:pPr>
            <a:r>
              <a:rPr lang="en-IN" b="1" dirty="0"/>
              <a:t>4. Message Filter</a:t>
            </a:r>
            <a:endParaRPr lang="en-IN" dirty="0"/>
          </a:p>
          <a:p>
            <a:pPr lvl="0"/>
            <a:r>
              <a:rPr lang="en-IN" dirty="0"/>
              <a:t>Definition: Decides whether a message should continue or be discarded.</a:t>
            </a:r>
          </a:p>
          <a:p>
            <a:pPr lvl="0"/>
            <a:r>
              <a:rPr lang="en-IN" dirty="0"/>
              <a:t>Spring Implementation: filter() in DSL, @Filter.</a:t>
            </a:r>
          </a:p>
          <a:p>
            <a:pPr lvl="0"/>
            <a:r>
              <a:rPr lang="en-IN" dirty="0"/>
              <a:t>Usage: e.g., drop invalid orders.</a:t>
            </a:r>
          </a:p>
          <a:p>
            <a:pPr marL="0" indent="0">
              <a:buNone/>
            </a:pPr>
            <a:r>
              <a:rPr lang="en-IN" b="1" dirty="0"/>
              <a:t>5. Message Router</a:t>
            </a:r>
            <a:endParaRPr lang="en-IN" dirty="0"/>
          </a:p>
          <a:p>
            <a:pPr lvl="0"/>
            <a:r>
              <a:rPr lang="en-IN" dirty="0"/>
              <a:t>Definition: Routes messages to different channels based on conditions.</a:t>
            </a:r>
          </a:p>
          <a:p>
            <a:pPr lvl="0"/>
            <a:r>
              <a:rPr lang="en-IN" dirty="0"/>
              <a:t>Spring Implementation: route() in DSL, @Router.</a:t>
            </a:r>
          </a:p>
          <a:p>
            <a:pPr lvl="0"/>
            <a:r>
              <a:rPr lang="en-IN" dirty="0"/>
              <a:t>Usage: e.g., route orders by type (ONLINE vs STORE).</a:t>
            </a:r>
          </a:p>
          <a:p>
            <a:endParaRPr lang="en-IN" dirty="0"/>
          </a:p>
        </p:txBody>
      </p:sp>
    </p:spTree>
    <p:extLst>
      <p:ext uri="{BB962C8B-B14F-4D97-AF65-F5344CB8AC3E}">
        <p14:creationId xmlns:p14="http://schemas.microsoft.com/office/powerpoint/2010/main" val="40842312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CC1F7-DEC8-058D-0147-7FE67FB37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F54FA-3787-90C9-72F3-0298836BF73D}"/>
              </a:ext>
            </a:extLst>
          </p:cNvPr>
          <p:cNvSpPr>
            <a:spLocks noGrp="1"/>
          </p:cNvSpPr>
          <p:nvPr>
            <p:ph type="title"/>
          </p:nvPr>
        </p:nvSpPr>
        <p:spPr/>
        <p:txBody>
          <a:bodyPr/>
          <a:lstStyle/>
          <a:p>
            <a:r>
              <a:rPr lang="en-IN" b="1" dirty="0"/>
              <a:t>Core EIPs in Spring Integration</a:t>
            </a:r>
            <a:endParaRPr lang="en-IN" dirty="0"/>
          </a:p>
        </p:txBody>
      </p:sp>
      <p:sp>
        <p:nvSpPr>
          <p:cNvPr id="3" name="Content Placeholder 2">
            <a:extLst>
              <a:ext uri="{FF2B5EF4-FFF2-40B4-BE49-F238E27FC236}">
                <a16:creationId xmlns:a16="http://schemas.microsoft.com/office/drawing/2014/main" id="{FBDBFDB0-293B-1BF5-4A95-F6B66F2F1818}"/>
              </a:ext>
            </a:extLst>
          </p:cNvPr>
          <p:cNvSpPr>
            <a:spLocks noGrp="1"/>
          </p:cNvSpPr>
          <p:nvPr>
            <p:ph idx="1"/>
          </p:nvPr>
        </p:nvSpPr>
        <p:spPr>
          <a:xfrm>
            <a:off x="1154954" y="2603500"/>
            <a:ext cx="10289042" cy="3988578"/>
          </a:xfrm>
        </p:spPr>
        <p:txBody>
          <a:bodyPr/>
          <a:lstStyle/>
          <a:p>
            <a:pPr marL="0" indent="0">
              <a:buNone/>
            </a:pPr>
            <a:r>
              <a:rPr lang="en-IN" b="1" dirty="0"/>
              <a:t>6. Message Aggregator</a:t>
            </a:r>
            <a:endParaRPr lang="en-IN" dirty="0"/>
          </a:p>
          <a:p>
            <a:pPr lvl="0"/>
            <a:r>
              <a:rPr lang="en-IN" dirty="0"/>
              <a:t>Definition: Combines multiple related messages into one.</a:t>
            </a:r>
          </a:p>
          <a:p>
            <a:pPr lvl="0"/>
            <a:r>
              <a:rPr lang="en-IN" dirty="0"/>
              <a:t>Spring Implementation: aggregator().</a:t>
            </a:r>
          </a:p>
          <a:p>
            <a:pPr lvl="0"/>
            <a:r>
              <a:rPr lang="en-IN" dirty="0"/>
              <a:t>Usage: e.g., combine partial shipments into a single order.</a:t>
            </a:r>
          </a:p>
          <a:p>
            <a:pPr marL="0" indent="0">
              <a:buNone/>
            </a:pPr>
            <a:r>
              <a:rPr lang="en-IN" b="1" dirty="0"/>
              <a:t>7. Splitter</a:t>
            </a:r>
            <a:endParaRPr lang="en-IN" dirty="0"/>
          </a:p>
          <a:p>
            <a:pPr lvl="0"/>
            <a:r>
              <a:rPr lang="en-IN" dirty="0"/>
              <a:t>Definition: Splits a composite message into multiple parts.</a:t>
            </a:r>
          </a:p>
          <a:p>
            <a:pPr lvl="0"/>
            <a:r>
              <a:rPr lang="en-IN" dirty="0"/>
              <a:t>Spring Implementation: split().</a:t>
            </a:r>
          </a:p>
          <a:p>
            <a:pPr lvl="0"/>
            <a:r>
              <a:rPr lang="en-IN" dirty="0"/>
              <a:t>Usage: e.g., split a batch of orders into individual ones.</a:t>
            </a:r>
          </a:p>
          <a:p>
            <a:endParaRPr lang="en-IN" dirty="0"/>
          </a:p>
        </p:txBody>
      </p:sp>
    </p:spTree>
    <p:extLst>
      <p:ext uri="{BB962C8B-B14F-4D97-AF65-F5344CB8AC3E}">
        <p14:creationId xmlns:p14="http://schemas.microsoft.com/office/powerpoint/2010/main" val="9274504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255C2-90D2-7606-4B91-6DACB96DE389}"/>
              </a:ext>
            </a:extLst>
          </p:cNvPr>
          <p:cNvSpPr>
            <a:spLocks noGrp="1"/>
          </p:cNvSpPr>
          <p:nvPr>
            <p:ph type="title"/>
          </p:nvPr>
        </p:nvSpPr>
        <p:spPr/>
        <p:txBody>
          <a:bodyPr/>
          <a:lstStyle/>
          <a:p>
            <a:r>
              <a:rPr lang="en-US" b="1" dirty="0"/>
              <a:t>Routing Patterns (Traffic Control)</a:t>
            </a:r>
            <a:br>
              <a:rPr lang="en-US" b="1" dirty="0"/>
            </a:br>
            <a:endParaRPr lang="en-IN" dirty="0"/>
          </a:p>
        </p:txBody>
      </p:sp>
      <p:sp>
        <p:nvSpPr>
          <p:cNvPr id="3" name="Content Placeholder 2">
            <a:extLst>
              <a:ext uri="{FF2B5EF4-FFF2-40B4-BE49-F238E27FC236}">
                <a16:creationId xmlns:a16="http://schemas.microsoft.com/office/drawing/2014/main" id="{9497F5A2-3024-962C-40E3-0039C6DC9F04}"/>
              </a:ext>
            </a:extLst>
          </p:cNvPr>
          <p:cNvSpPr>
            <a:spLocks noGrp="1"/>
          </p:cNvSpPr>
          <p:nvPr>
            <p:ph idx="1"/>
          </p:nvPr>
        </p:nvSpPr>
        <p:spPr>
          <a:xfrm>
            <a:off x="1154954" y="2603499"/>
            <a:ext cx="10494315" cy="4007239"/>
          </a:xfrm>
        </p:spPr>
        <p:txBody>
          <a:bodyPr>
            <a:normAutofit fontScale="77500" lnSpcReduction="20000"/>
          </a:bodyPr>
          <a:lstStyle/>
          <a:p>
            <a:r>
              <a:rPr lang="en-US" dirty="0"/>
              <a:t>These patterns decide </a:t>
            </a:r>
            <a:r>
              <a:rPr lang="en-US" b="1" dirty="0"/>
              <a:t>where</a:t>
            </a:r>
            <a:r>
              <a:rPr lang="en-US" dirty="0"/>
              <a:t> a message should go.</a:t>
            </a:r>
          </a:p>
          <a:p>
            <a:pPr marL="0" indent="0">
              <a:buNone/>
            </a:pPr>
            <a:r>
              <a:rPr lang="en-US" b="1" dirty="0"/>
              <a:t>A. Content-Based Router</a:t>
            </a:r>
          </a:p>
          <a:p>
            <a:r>
              <a:rPr lang="en-US" dirty="0"/>
              <a:t>Decides the destination channel based on the data inside the message.</a:t>
            </a:r>
          </a:p>
          <a:p>
            <a:r>
              <a:rPr lang="en-US" b="1" dirty="0"/>
              <a:t>Example:</a:t>
            </a:r>
            <a:r>
              <a:rPr lang="en-US" dirty="0"/>
              <a:t> If </a:t>
            </a:r>
            <a:r>
              <a:rPr lang="en-US" dirty="0" err="1"/>
              <a:t>order.total</a:t>
            </a:r>
            <a:r>
              <a:rPr lang="en-US" dirty="0"/>
              <a:t> &gt; 1000, send to </a:t>
            </a:r>
            <a:r>
              <a:rPr lang="en-US" dirty="0" err="1"/>
              <a:t>priorityChannel</a:t>
            </a:r>
            <a:r>
              <a:rPr lang="en-US" dirty="0"/>
              <a:t>, otherwise send to </a:t>
            </a:r>
            <a:r>
              <a:rPr lang="en-US" dirty="0" err="1"/>
              <a:t>standardChannel</a:t>
            </a:r>
            <a:r>
              <a:rPr lang="en-US" dirty="0"/>
              <a:t>.</a:t>
            </a:r>
          </a:p>
          <a:p>
            <a:r>
              <a:rPr lang="en-US" b="1" dirty="0"/>
              <a:t>DSL:</a:t>
            </a:r>
            <a:r>
              <a:rPr lang="en-US" dirty="0"/>
              <a:t> .route(</a:t>
            </a:r>
            <a:r>
              <a:rPr lang="en-US" dirty="0" err="1"/>
              <a:t>Order.class</a:t>
            </a:r>
            <a:r>
              <a:rPr lang="en-US" dirty="0"/>
              <a:t>, o -&gt; </a:t>
            </a:r>
            <a:r>
              <a:rPr lang="en-US" dirty="0" err="1"/>
              <a:t>o.getTotal</a:t>
            </a:r>
            <a:r>
              <a:rPr lang="en-US" dirty="0"/>
              <a:t>() &gt; 1000 ? "priority" : "standard")</a:t>
            </a:r>
          </a:p>
          <a:p>
            <a:pPr marL="0" indent="0">
              <a:buNone/>
            </a:pPr>
            <a:r>
              <a:rPr lang="en-US" b="1" dirty="0"/>
              <a:t>B. Message Filter</a:t>
            </a:r>
          </a:p>
          <a:p>
            <a:r>
              <a:rPr lang="en-US" dirty="0"/>
              <a:t>Decides if a message should be dropped or allowed to pass.</a:t>
            </a:r>
          </a:p>
          <a:p>
            <a:r>
              <a:rPr lang="en-US" b="1" dirty="0"/>
              <a:t>Example:</a:t>
            </a:r>
            <a:r>
              <a:rPr lang="en-US" dirty="0"/>
              <a:t> Only process orders from the "USA".</a:t>
            </a:r>
          </a:p>
          <a:p>
            <a:r>
              <a:rPr lang="en-US" b="1" dirty="0"/>
              <a:t>DSL:</a:t>
            </a:r>
            <a:r>
              <a:rPr lang="en-US" dirty="0"/>
              <a:t> .filter(</a:t>
            </a:r>
            <a:r>
              <a:rPr lang="en-US" dirty="0" err="1"/>
              <a:t>Order.class</a:t>
            </a:r>
            <a:r>
              <a:rPr lang="en-US" dirty="0"/>
              <a:t>, o -&gt; "</a:t>
            </a:r>
            <a:r>
              <a:rPr lang="en-US" dirty="0" err="1"/>
              <a:t>USA".equals</a:t>
            </a:r>
            <a:r>
              <a:rPr lang="en-US" dirty="0"/>
              <a:t>(</a:t>
            </a:r>
            <a:r>
              <a:rPr lang="en-US" dirty="0" err="1"/>
              <a:t>o.getCountry</a:t>
            </a:r>
            <a:r>
              <a:rPr lang="en-US" dirty="0"/>
              <a:t>()))</a:t>
            </a:r>
          </a:p>
          <a:p>
            <a:pPr marL="0" indent="0">
              <a:buNone/>
            </a:pPr>
            <a:r>
              <a:rPr lang="en-US" b="1" dirty="0"/>
              <a:t>C. Splitter &amp; Aggregator (Advanced)</a:t>
            </a:r>
          </a:p>
          <a:p>
            <a:r>
              <a:rPr lang="en-US" b="1" dirty="0"/>
              <a:t>Splitter:</a:t>
            </a:r>
            <a:r>
              <a:rPr lang="en-US" dirty="0"/>
              <a:t> Breaks one large message into small pieces (e.g., an Order into individual </a:t>
            </a:r>
            <a:r>
              <a:rPr lang="en-US" dirty="0" err="1"/>
              <a:t>LineItems</a:t>
            </a:r>
            <a:r>
              <a:rPr lang="en-US" dirty="0"/>
              <a:t>).</a:t>
            </a:r>
          </a:p>
          <a:p>
            <a:r>
              <a:rPr lang="en-US" b="1" dirty="0"/>
              <a:t>Aggregator:</a:t>
            </a:r>
            <a:r>
              <a:rPr lang="en-US" dirty="0"/>
              <a:t> The opposite. It collects small pieces and combines them back into one message once all parts arrive.</a:t>
            </a:r>
          </a:p>
          <a:p>
            <a:r>
              <a:rPr lang="en-IN" b="1" dirty="0"/>
              <a:t>DSL:</a:t>
            </a:r>
            <a:r>
              <a:rPr lang="en-IN" dirty="0"/>
              <a:t> .split().aggregate()</a:t>
            </a:r>
          </a:p>
          <a:p>
            <a:endParaRPr lang="en-US" dirty="0"/>
          </a:p>
          <a:p>
            <a:endParaRPr lang="en-IN" dirty="0"/>
          </a:p>
        </p:txBody>
      </p:sp>
    </p:spTree>
    <p:extLst>
      <p:ext uri="{BB962C8B-B14F-4D97-AF65-F5344CB8AC3E}">
        <p14:creationId xmlns:p14="http://schemas.microsoft.com/office/powerpoint/2010/main" val="28481063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896E6-7EBD-0B73-17CE-E6CA7087C5A1}"/>
              </a:ext>
            </a:extLst>
          </p:cNvPr>
          <p:cNvSpPr>
            <a:spLocks noGrp="1"/>
          </p:cNvSpPr>
          <p:nvPr>
            <p:ph type="title"/>
          </p:nvPr>
        </p:nvSpPr>
        <p:spPr/>
        <p:txBody>
          <a:bodyPr/>
          <a:lstStyle/>
          <a:p>
            <a:r>
              <a:rPr lang="en-US" b="1" dirty="0"/>
              <a:t>Transformation Patterns (Data Translation)</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B084FC6-7BEA-B7B3-4E42-8138F8D3175C}"/>
                  </a:ext>
                </a:extLst>
              </p:cNvPr>
              <p:cNvSpPr>
                <a:spLocks noGrp="1"/>
              </p:cNvSpPr>
              <p:nvPr>
                <p:ph idx="1"/>
              </p:nvPr>
            </p:nvSpPr>
            <p:spPr>
              <a:xfrm>
                <a:off x="1154954" y="2603500"/>
                <a:ext cx="10690258" cy="4203182"/>
              </a:xfrm>
            </p:spPr>
            <p:txBody>
              <a:bodyPr>
                <a:normAutofit fontScale="92500" lnSpcReduction="20000"/>
              </a:bodyPr>
              <a:lstStyle/>
              <a:p>
                <a:r>
                  <a:rPr lang="en-US" dirty="0"/>
                  <a:t>These patterns decide </a:t>
                </a:r>
                <a:r>
                  <a:rPr lang="en-US" b="1" dirty="0"/>
                  <a:t>how</a:t>
                </a:r>
                <a:r>
                  <a:rPr lang="en-US" dirty="0"/>
                  <a:t> the data should look.</a:t>
                </a:r>
              </a:p>
              <a:p>
                <a:pPr marL="0" indent="0">
                  <a:buNone/>
                </a:pPr>
                <a:r>
                  <a:rPr lang="en-US" b="1" dirty="0"/>
                  <a:t>A. Transformer</a:t>
                </a:r>
              </a:p>
              <a:p>
                <a:r>
                  <a:rPr lang="en-US" dirty="0"/>
                  <a:t>Converts the format of the payload.</a:t>
                </a:r>
              </a:p>
              <a:p>
                <a:r>
                  <a:rPr lang="en-US" b="1" dirty="0"/>
                  <a:t>Example:</a:t>
                </a:r>
                <a:r>
                  <a:rPr lang="en-US" dirty="0"/>
                  <a:t> JSON </a:t>
                </a:r>
                <a14:m>
                  <m:oMath xmlns:m="http://schemas.openxmlformats.org/officeDocument/2006/math">
                    <m:r>
                      <a:rPr lang="en-US"/>
                      <m:t>→</m:t>
                    </m:r>
                  </m:oMath>
                </a14:m>
                <a:r>
                  <a:rPr lang="en-US" dirty="0"/>
                  <a:t> XML or String</a:t>
                </a:r>
                <a14:m>
                  <m:oMath xmlns:m="http://schemas.openxmlformats.org/officeDocument/2006/math">
                    <m:r>
                      <a:rPr lang="en-US"/>
                      <m:t>→</m:t>
                    </m:r>
                  </m:oMath>
                </a14:m>
                <a:r>
                  <a:rPr lang="en-US" dirty="0"/>
                  <a:t> POJO.</a:t>
                </a:r>
              </a:p>
              <a:p>
                <a:r>
                  <a:rPr lang="en-US" b="1" dirty="0"/>
                  <a:t>DSL:</a:t>
                </a:r>
                <a:r>
                  <a:rPr lang="en-US" dirty="0"/>
                  <a:t> .transform(</a:t>
                </a:r>
                <a:r>
                  <a:rPr lang="en-US" dirty="0" err="1"/>
                  <a:t>Transformers.toJson</a:t>
                </a:r>
                <a:r>
                  <a:rPr lang="en-US" dirty="0"/>
                  <a:t>())</a:t>
                </a:r>
              </a:p>
              <a:p>
                <a:pPr marL="0" indent="0">
                  <a:buNone/>
                </a:pPr>
                <a:r>
                  <a:rPr lang="en-US" b="1" dirty="0"/>
                  <a:t>B. Content Enricher</a:t>
                </a:r>
              </a:p>
              <a:p>
                <a:r>
                  <a:rPr lang="en-US" dirty="0"/>
                  <a:t>Adds missing information to a message by looking it up in an external system.</a:t>
                </a:r>
              </a:p>
              <a:p>
                <a:r>
                  <a:rPr lang="en-US" b="1" dirty="0"/>
                  <a:t>Example:</a:t>
                </a:r>
                <a:r>
                  <a:rPr lang="en-US" dirty="0"/>
                  <a:t> You have a </a:t>
                </a:r>
                <a:r>
                  <a:rPr lang="en-US" dirty="0" err="1"/>
                  <a:t>customerId</a:t>
                </a:r>
                <a:r>
                  <a:rPr lang="en-US" dirty="0"/>
                  <a:t>, you look up the </a:t>
                </a:r>
                <a:r>
                  <a:rPr lang="en-US" dirty="0" err="1"/>
                  <a:t>customerAddress</a:t>
                </a:r>
                <a:r>
                  <a:rPr lang="en-US" dirty="0"/>
                  <a:t> from a DB and add it.</a:t>
                </a:r>
              </a:p>
              <a:p>
                <a:r>
                  <a:rPr lang="en-US" b="1" dirty="0"/>
                  <a:t>DSL:</a:t>
                </a:r>
                <a:r>
                  <a:rPr lang="en-US" dirty="0"/>
                  <a:t> .enrich(e -&gt; </a:t>
                </a:r>
                <a:r>
                  <a:rPr lang="en-US" dirty="0" err="1"/>
                  <a:t>e.requestChannel</a:t>
                </a:r>
                <a:r>
                  <a:rPr lang="en-US" dirty="0"/>
                  <a:t>("</a:t>
                </a:r>
                <a:r>
                  <a:rPr lang="en-US" dirty="0" err="1"/>
                  <a:t>dbLookup</a:t>
                </a:r>
                <a:r>
                  <a:rPr lang="en-US" dirty="0"/>
                  <a:t>").</a:t>
                </a:r>
                <a:r>
                  <a:rPr lang="en-US" dirty="0" err="1"/>
                  <a:t>propertyExpression</a:t>
                </a:r>
                <a:r>
                  <a:rPr lang="en-US" dirty="0"/>
                  <a:t>("address", "payload"))</a:t>
                </a:r>
              </a:p>
              <a:p>
                <a:pPr marL="0" indent="0">
                  <a:buNone/>
                </a:pPr>
                <a:r>
                  <a:rPr lang="en-US" b="1" dirty="0"/>
                  <a:t>C. Claim Check</a:t>
                </a:r>
              </a:p>
              <a:p>
                <a:r>
                  <a:rPr lang="en-US" dirty="0"/>
                  <a:t>To avoid moving large files (e.g., a 100MB PDF) through every channel, you store the file in a database and only pass the "ID" (the claim check) through the flow. You "Check Out" the actual file only when needed.</a:t>
                </a:r>
              </a:p>
              <a:p>
                <a:endParaRPr lang="en-IN" dirty="0"/>
              </a:p>
            </p:txBody>
          </p:sp>
        </mc:Choice>
        <mc:Fallback>
          <p:sp>
            <p:nvSpPr>
              <p:cNvPr id="3" name="Content Placeholder 2">
                <a:extLst>
                  <a:ext uri="{FF2B5EF4-FFF2-40B4-BE49-F238E27FC236}">
                    <a16:creationId xmlns:a16="http://schemas.microsoft.com/office/drawing/2014/main" id="{EB084FC6-7BEA-B7B3-4E42-8138F8D3175C}"/>
                  </a:ext>
                </a:extLst>
              </p:cNvPr>
              <p:cNvSpPr>
                <a:spLocks noGrp="1" noRot="1" noChangeAspect="1" noMove="1" noResize="1" noEditPoints="1" noAdjustHandles="1" noChangeArrowheads="1" noChangeShapeType="1" noTextEdit="1"/>
              </p:cNvSpPr>
              <p:nvPr>
                <p:ph idx="1"/>
              </p:nvPr>
            </p:nvSpPr>
            <p:spPr>
              <a:xfrm>
                <a:off x="1154954" y="2603500"/>
                <a:ext cx="10690258" cy="4203182"/>
              </a:xfrm>
              <a:blipFill>
                <a:blip r:embed="rId2"/>
                <a:stretch>
                  <a:fillRect l="-342" t="-1594"/>
                </a:stretch>
              </a:blipFill>
            </p:spPr>
            <p:txBody>
              <a:bodyPr/>
              <a:lstStyle/>
              <a:p>
                <a:r>
                  <a:rPr lang="en-IN">
                    <a:noFill/>
                  </a:rPr>
                  <a:t> </a:t>
                </a:r>
              </a:p>
            </p:txBody>
          </p:sp>
        </mc:Fallback>
      </mc:AlternateContent>
    </p:spTree>
    <p:extLst>
      <p:ext uri="{BB962C8B-B14F-4D97-AF65-F5344CB8AC3E}">
        <p14:creationId xmlns:p14="http://schemas.microsoft.com/office/powerpoint/2010/main" val="30024906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5CE3-2E41-FBF2-998F-976CBB3FC510}"/>
              </a:ext>
            </a:extLst>
          </p:cNvPr>
          <p:cNvSpPr>
            <a:spLocks noGrp="1"/>
          </p:cNvSpPr>
          <p:nvPr>
            <p:ph type="title"/>
          </p:nvPr>
        </p:nvSpPr>
        <p:spPr/>
        <p:txBody>
          <a:bodyPr/>
          <a:lstStyle/>
          <a:p>
            <a:r>
              <a:rPr lang="en-IN" b="1" dirty="0"/>
              <a:t>Core EIPs in Spring Integration</a:t>
            </a:r>
            <a:endParaRPr lang="en-IN" dirty="0"/>
          </a:p>
        </p:txBody>
      </p:sp>
      <p:sp>
        <p:nvSpPr>
          <p:cNvPr id="3" name="Content Placeholder 2">
            <a:extLst>
              <a:ext uri="{FF2B5EF4-FFF2-40B4-BE49-F238E27FC236}">
                <a16:creationId xmlns:a16="http://schemas.microsoft.com/office/drawing/2014/main" id="{FE597E09-9B84-1AB8-6117-6D2FB8FC6A48}"/>
              </a:ext>
            </a:extLst>
          </p:cNvPr>
          <p:cNvSpPr>
            <a:spLocks noGrp="1"/>
          </p:cNvSpPr>
          <p:nvPr>
            <p:ph idx="1"/>
          </p:nvPr>
        </p:nvSpPr>
        <p:spPr/>
        <p:txBody>
          <a:bodyPr>
            <a:normAutofit lnSpcReduction="10000"/>
          </a:bodyPr>
          <a:lstStyle/>
          <a:p>
            <a:r>
              <a:rPr lang="en-US" b="1" dirty="0"/>
              <a:t>System Management Patterns (Monitoring)</a:t>
            </a:r>
          </a:p>
          <a:p>
            <a:r>
              <a:rPr lang="en-US" dirty="0"/>
              <a:t>These patterns help you manage the health of your integration.</a:t>
            </a:r>
          </a:p>
          <a:p>
            <a:pPr marL="0" indent="0">
              <a:buNone/>
            </a:pPr>
            <a:r>
              <a:rPr lang="en-US" b="1" dirty="0"/>
              <a:t>A. Wiretap</a:t>
            </a:r>
          </a:p>
          <a:p>
            <a:r>
              <a:rPr lang="en-US" dirty="0"/>
              <a:t>A "T-junction" in your pipe. It sends a copy of the message to a separate channel (usually for logging or auditing) without affecting the main flow.</a:t>
            </a:r>
          </a:p>
          <a:p>
            <a:r>
              <a:rPr lang="en-US" b="1" dirty="0"/>
              <a:t>DSL:</a:t>
            </a:r>
            <a:r>
              <a:rPr lang="en-US" dirty="0"/>
              <a:t> .</a:t>
            </a:r>
            <a:r>
              <a:rPr lang="en-US" dirty="0" err="1"/>
              <a:t>wireTap</a:t>
            </a:r>
            <a:r>
              <a:rPr lang="en-US" dirty="0"/>
              <a:t>("</a:t>
            </a:r>
            <a:r>
              <a:rPr lang="en-US" dirty="0" err="1"/>
              <a:t>loggingChannel</a:t>
            </a:r>
            <a:r>
              <a:rPr lang="en-US" dirty="0"/>
              <a:t>")</a:t>
            </a:r>
          </a:p>
          <a:p>
            <a:pPr marL="0" indent="0">
              <a:buNone/>
            </a:pPr>
            <a:r>
              <a:rPr lang="en-US" b="1" dirty="0"/>
              <a:t>B. Control Bus</a:t>
            </a:r>
          </a:p>
          <a:p>
            <a:r>
              <a:rPr lang="en-US" dirty="0"/>
              <a:t>A special channel used to send "management" messages to the system. You can send a message to the Control Bus to "Stop" or "Start" a specific adapter while the rest of the app is running.</a:t>
            </a:r>
          </a:p>
          <a:p>
            <a:endParaRPr lang="en-IN" dirty="0"/>
          </a:p>
        </p:txBody>
      </p:sp>
    </p:spTree>
    <p:extLst>
      <p:ext uri="{BB962C8B-B14F-4D97-AF65-F5344CB8AC3E}">
        <p14:creationId xmlns:p14="http://schemas.microsoft.com/office/powerpoint/2010/main" val="1587270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59D2B-D706-31A4-D5A9-8D67B3F06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4AA24-0216-3274-F049-EFF9A1AE5F22}"/>
              </a:ext>
            </a:extLst>
          </p:cNvPr>
          <p:cNvSpPr>
            <a:spLocks noGrp="1"/>
          </p:cNvSpPr>
          <p:nvPr>
            <p:ph type="title"/>
          </p:nvPr>
        </p:nvSpPr>
        <p:spPr/>
        <p:txBody>
          <a:bodyPr/>
          <a:lstStyle/>
          <a:p>
            <a:r>
              <a:rPr lang="en-IN" b="1" dirty="0"/>
              <a:t>Example Flow Using EIPs</a:t>
            </a:r>
            <a:endParaRPr lang="en-IN" dirty="0"/>
          </a:p>
        </p:txBody>
      </p:sp>
      <p:sp>
        <p:nvSpPr>
          <p:cNvPr id="3" name="Content Placeholder 2">
            <a:extLst>
              <a:ext uri="{FF2B5EF4-FFF2-40B4-BE49-F238E27FC236}">
                <a16:creationId xmlns:a16="http://schemas.microsoft.com/office/drawing/2014/main" id="{59A20545-5522-58AE-9597-C516EADCB7CD}"/>
              </a:ext>
            </a:extLst>
          </p:cNvPr>
          <p:cNvSpPr>
            <a:spLocks noGrp="1"/>
          </p:cNvSpPr>
          <p:nvPr>
            <p:ph idx="1"/>
          </p:nvPr>
        </p:nvSpPr>
        <p:spPr>
          <a:xfrm>
            <a:off x="1154954" y="2603500"/>
            <a:ext cx="10289042" cy="3988578"/>
          </a:xfrm>
        </p:spPr>
        <p:txBody>
          <a:bodyPr>
            <a:normAutofit fontScale="77500" lnSpcReduction="20000"/>
          </a:bodyPr>
          <a:lstStyle/>
          <a:p>
            <a:pPr marL="0" indent="0">
              <a:buNone/>
            </a:pPr>
            <a:r>
              <a:rPr lang="en-IN" b="1" dirty="0">
                <a:solidFill>
                  <a:srgbClr val="FF0000"/>
                </a:solidFill>
              </a:rPr>
              <a:t>@Bean</a:t>
            </a:r>
            <a:endParaRPr lang="en-IN" dirty="0">
              <a:solidFill>
                <a:srgbClr val="FF0000"/>
              </a:solidFill>
            </a:endParaRPr>
          </a:p>
          <a:p>
            <a:pPr marL="0" indent="0">
              <a:buNone/>
            </a:pPr>
            <a:r>
              <a:rPr lang="en-IN" b="1" dirty="0">
                <a:solidFill>
                  <a:srgbClr val="FF0000"/>
                </a:solidFill>
              </a:rPr>
              <a:t>public </a:t>
            </a:r>
            <a:r>
              <a:rPr lang="en-IN" b="1" dirty="0" err="1">
                <a:solidFill>
                  <a:srgbClr val="FF0000"/>
                </a:solidFill>
              </a:rPr>
              <a:t>IntegrationFlow</a:t>
            </a:r>
            <a:r>
              <a:rPr lang="en-IN" b="1" dirty="0">
                <a:solidFill>
                  <a:srgbClr val="FF0000"/>
                </a:solidFill>
              </a:rPr>
              <a:t> </a:t>
            </a:r>
            <a:r>
              <a:rPr lang="en-IN" b="1" dirty="0" err="1">
                <a:solidFill>
                  <a:srgbClr val="FF0000"/>
                </a:solidFill>
              </a:rPr>
              <a:t>orderFlow</a:t>
            </a:r>
            <a:r>
              <a:rPr lang="en-IN" b="1" dirty="0">
                <a:solidFill>
                  <a:srgbClr val="FF0000"/>
                </a:solidFill>
              </a:rPr>
              <a:t>() {</a:t>
            </a:r>
            <a:endParaRPr lang="en-IN" dirty="0">
              <a:solidFill>
                <a:srgbClr val="FF0000"/>
              </a:solidFill>
            </a:endParaRPr>
          </a:p>
          <a:p>
            <a:pPr marL="0" indent="0">
              <a:buNone/>
            </a:pPr>
            <a:r>
              <a:rPr lang="en-IN" b="1" dirty="0">
                <a:solidFill>
                  <a:srgbClr val="FF0000"/>
                </a:solidFill>
              </a:rPr>
              <a:t>    return f -&gt; f</a:t>
            </a:r>
            <a:endParaRPr lang="en-IN" dirty="0">
              <a:solidFill>
                <a:srgbClr val="FF0000"/>
              </a:solidFill>
            </a:endParaRPr>
          </a:p>
          <a:p>
            <a:pPr marL="0" indent="0">
              <a:buNone/>
            </a:pPr>
            <a:r>
              <a:rPr lang="en-IN" b="1" dirty="0">
                <a:solidFill>
                  <a:srgbClr val="FF0000"/>
                </a:solidFill>
              </a:rPr>
              <a:t>        .split(</a:t>
            </a:r>
            <a:r>
              <a:rPr lang="en-IN" b="1" dirty="0" err="1">
                <a:solidFill>
                  <a:srgbClr val="FF0000"/>
                </a:solidFill>
              </a:rPr>
              <a:t>OrderBatch</a:t>
            </a:r>
            <a:r>
              <a:rPr lang="en-IN" b="1" dirty="0">
                <a:solidFill>
                  <a:srgbClr val="FF0000"/>
                </a:solidFill>
              </a:rPr>
              <a:t>::</a:t>
            </a:r>
            <a:r>
              <a:rPr lang="en-IN" b="1" dirty="0" err="1">
                <a:solidFill>
                  <a:srgbClr val="FF0000"/>
                </a:solidFill>
              </a:rPr>
              <a:t>getOrders</a:t>
            </a:r>
            <a:r>
              <a:rPr lang="en-IN" b="1" dirty="0">
                <a:solidFill>
                  <a:srgbClr val="FF0000"/>
                </a:solidFill>
              </a:rPr>
              <a:t>)              // Splitter</a:t>
            </a:r>
            <a:endParaRPr lang="en-IN" dirty="0">
              <a:solidFill>
                <a:srgbClr val="FF0000"/>
              </a:solidFill>
            </a:endParaRPr>
          </a:p>
          <a:p>
            <a:pPr marL="0" indent="0">
              <a:buNone/>
            </a:pPr>
            <a:r>
              <a:rPr lang="en-IN" b="1" dirty="0">
                <a:solidFill>
                  <a:srgbClr val="FF0000"/>
                </a:solidFill>
              </a:rPr>
              <a:t>        .filter(Order::</a:t>
            </a:r>
            <a:r>
              <a:rPr lang="en-IN" b="1" dirty="0" err="1">
                <a:solidFill>
                  <a:srgbClr val="FF0000"/>
                </a:solidFill>
              </a:rPr>
              <a:t>isValid</a:t>
            </a:r>
            <a:r>
              <a:rPr lang="en-IN" b="1" dirty="0">
                <a:solidFill>
                  <a:srgbClr val="FF0000"/>
                </a:solidFill>
              </a:rPr>
              <a:t>)                    // Filter</a:t>
            </a:r>
            <a:endParaRPr lang="en-IN" dirty="0">
              <a:solidFill>
                <a:srgbClr val="FF0000"/>
              </a:solidFill>
            </a:endParaRPr>
          </a:p>
          <a:p>
            <a:pPr marL="0" indent="0">
              <a:buNone/>
            </a:pPr>
            <a:r>
              <a:rPr lang="en-IN" b="1" dirty="0">
                <a:solidFill>
                  <a:srgbClr val="FF0000"/>
                </a:solidFill>
              </a:rPr>
              <a:t>        .transform(Order::</a:t>
            </a:r>
            <a:r>
              <a:rPr lang="en-IN" b="1" dirty="0" err="1">
                <a:solidFill>
                  <a:srgbClr val="FF0000"/>
                </a:solidFill>
              </a:rPr>
              <a:t>toJson</a:t>
            </a:r>
            <a:r>
              <a:rPr lang="en-IN" b="1" dirty="0">
                <a:solidFill>
                  <a:srgbClr val="FF0000"/>
                </a:solidFill>
              </a:rPr>
              <a:t>)                  // Transformer</a:t>
            </a:r>
            <a:endParaRPr lang="en-IN" dirty="0">
              <a:solidFill>
                <a:srgbClr val="FF0000"/>
              </a:solidFill>
            </a:endParaRPr>
          </a:p>
          <a:p>
            <a:pPr marL="0" indent="0">
              <a:buNone/>
            </a:pPr>
            <a:r>
              <a:rPr lang="en-IN" b="1" dirty="0">
                <a:solidFill>
                  <a:srgbClr val="FF0000"/>
                </a:solidFill>
              </a:rPr>
              <a:t>        .route(Order::</a:t>
            </a:r>
            <a:r>
              <a:rPr lang="en-IN" b="1" dirty="0" err="1">
                <a:solidFill>
                  <a:srgbClr val="FF0000"/>
                </a:solidFill>
              </a:rPr>
              <a:t>getType</a:t>
            </a:r>
            <a:r>
              <a:rPr lang="en-IN" b="1" dirty="0">
                <a:solidFill>
                  <a:srgbClr val="FF0000"/>
                </a:solidFill>
              </a:rPr>
              <a:t>, mapping -&gt; mapping  // Router</a:t>
            </a:r>
            <a:endParaRPr lang="en-IN" dirty="0">
              <a:solidFill>
                <a:srgbClr val="FF0000"/>
              </a:solidFill>
            </a:endParaRPr>
          </a:p>
          <a:p>
            <a:pPr marL="0" indent="0">
              <a:buNone/>
            </a:pPr>
            <a:r>
              <a:rPr lang="en-IN" b="1" dirty="0">
                <a:solidFill>
                  <a:srgbClr val="FF0000"/>
                </a:solidFill>
              </a:rPr>
              <a:t>            .</a:t>
            </a:r>
            <a:r>
              <a:rPr lang="en-IN" b="1" dirty="0" err="1">
                <a:solidFill>
                  <a:srgbClr val="FF0000"/>
                </a:solidFill>
              </a:rPr>
              <a:t>channelMapping</a:t>
            </a:r>
            <a:r>
              <a:rPr lang="en-IN" b="1" dirty="0">
                <a:solidFill>
                  <a:srgbClr val="FF0000"/>
                </a:solidFill>
              </a:rPr>
              <a:t>("ONLINE", "</a:t>
            </a:r>
            <a:r>
              <a:rPr lang="en-IN" b="1" dirty="0" err="1">
                <a:solidFill>
                  <a:srgbClr val="FF0000"/>
                </a:solidFill>
              </a:rPr>
              <a:t>onlineChannel</a:t>
            </a:r>
            <a:r>
              <a:rPr lang="en-IN" b="1" dirty="0">
                <a:solidFill>
                  <a:srgbClr val="FF0000"/>
                </a:solidFill>
              </a:rPr>
              <a:t>")</a:t>
            </a:r>
            <a:endParaRPr lang="en-IN" dirty="0">
              <a:solidFill>
                <a:srgbClr val="FF0000"/>
              </a:solidFill>
            </a:endParaRPr>
          </a:p>
          <a:p>
            <a:pPr marL="0" indent="0">
              <a:buNone/>
            </a:pPr>
            <a:r>
              <a:rPr lang="en-IN" b="1" dirty="0">
                <a:solidFill>
                  <a:srgbClr val="FF0000"/>
                </a:solidFill>
              </a:rPr>
              <a:t>            .</a:t>
            </a:r>
            <a:r>
              <a:rPr lang="en-IN" b="1" dirty="0" err="1">
                <a:solidFill>
                  <a:srgbClr val="FF0000"/>
                </a:solidFill>
              </a:rPr>
              <a:t>channelMapping</a:t>
            </a:r>
            <a:r>
              <a:rPr lang="en-IN" b="1" dirty="0">
                <a:solidFill>
                  <a:srgbClr val="FF0000"/>
                </a:solidFill>
              </a:rPr>
              <a:t>("STORE", "</a:t>
            </a:r>
            <a:r>
              <a:rPr lang="en-IN" b="1" dirty="0" err="1">
                <a:solidFill>
                  <a:srgbClr val="FF0000"/>
                </a:solidFill>
              </a:rPr>
              <a:t>storeChannel</a:t>
            </a:r>
            <a:r>
              <a:rPr lang="en-IN" b="1" dirty="0">
                <a:solidFill>
                  <a:srgbClr val="FF0000"/>
                </a:solidFill>
              </a:rPr>
              <a:t>"))</a:t>
            </a:r>
            <a:endParaRPr lang="en-IN" dirty="0">
              <a:solidFill>
                <a:srgbClr val="FF0000"/>
              </a:solidFill>
            </a:endParaRPr>
          </a:p>
          <a:p>
            <a:pPr marL="0" indent="0">
              <a:buNone/>
            </a:pPr>
            <a:r>
              <a:rPr lang="en-IN" b="1" dirty="0">
                <a:solidFill>
                  <a:srgbClr val="FF0000"/>
                </a:solidFill>
              </a:rPr>
              <a:t>        .aggregate()                               // Aggregator</a:t>
            </a:r>
            <a:endParaRPr lang="en-IN" dirty="0">
              <a:solidFill>
                <a:srgbClr val="FF0000"/>
              </a:solidFill>
            </a:endParaRPr>
          </a:p>
          <a:p>
            <a:pPr marL="0" indent="0">
              <a:buNone/>
            </a:pPr>
            <a:r>
              <a:rPr lang="en-IN" b="1" dirty="0">
                <a:solidFill>
                  <a:srgbClr val="FF0000"/>
                </a:solidFill>
              </a:rPr>
              <a:t>        .handle("</a:t>
            </a:r>
            <a:r>
              <a:rPr lang="en-IN" b="1" dirty="0" err="1">
                <a:solidFill>
                  <a:srgbClr val="FF0000"/>
                </a:solidFill>
              </a:rPr>
              <a:t>orderService</a:t>
            </a:r>
            <a:r>
              <a:rPr lang="en-IN" b="1" dirty="0">
                <a:solidFill>
                  <a:srgbClr val="FF0000"/>
                </a:solidFill>
              </a:rPr>
              <a:t>", "</a:t>
            </a:r>
            <a:r>
              <a:rPr lang="en-IN" b="1" dirty="0" err="1">
                <a:solidFill>
                  <a:srgbClr val="FF0000"/>
                </a:solidFill>
              </a:rPr>
              <a:t>processOrder</a:t>
            </a:r>
            <a:r>
              <a:rPr lang="en-IN" b="1" dirty="0">
                <a:solidFill>
                  <a:srgbClr val="FF0000"/>
                </a:solidFill>
              </a:rPr>
              <a:t>");   // Service Activator</a:t>
            </a:r>
            <a:endParaRPr lang="en-IN" dirty="0">
              <a:solidFill>
                <a:srgbClr val="FF0000"/>
              </a:solidFill>
            </a:endParaRPr>
          </a:p>
          <a:p>
            <a:pPr marL="0" indent="0">
              <a:buNone/>
            </a:pPr>
            <a:r>
              <a:rPr lang="en-IN" b="1" dirty="0">
                <a:solidFill>
                  <a:srgbClr val="FF0000"/>
                </a:solidFill>
              </a:rPr>
              <a:t>}</a:t>
            </a:r>
            <a:endParaRPr lang="en-IN" dirty="0">
              <a:solidFill>
                <a:srgbClr val="FF0000"/>
              </a:solidFill>
            </a:endParaRPr>
          </a:p>
          <a:p>
            <a:r>
              <a:rPr lang="en-IN" b="1" dirty="0"/>
              <a:t>This flow demonstrates split → filter → transform → route → aggregate → handle, chaining multiple EIPs.</a:t>
            </a:r>
            <a:endParaRPr lang="en-IN" dirty="0"/>
          </a:p>
          <a:p>
            <a:pPr marL="0" indent="0">
              <a:buNone/>
            </a:pPr>
            <a:endParaRPr lang="en-IN" dirty="0"/>
          </a:p>
        </p:txBody>
      </p:sp>
    </p:spTree>
    <p:extLst>
      <p:ext uri="{BB962C8B-B14F-4D97-AF65-F5344CB8AC3E}">
        <p14:creationId xmlns:p14="http://schemas.microsoft.com/office/powerpoint/2010/main" val="138452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1FFDA-36F5-4070-3198-8785F0AFC188}"/>
              </a:ext>
            </a:extLst>
          </p:cNvPr>
          <p:cNvSpPr>
            <a:spLocks noGrp="1"/>
          </p:cNvSpPr>
          <p:nvPr>
            <p:ph type="title"/>
          </p:nvPr>
        </p:nvSpPr>
        <p:spPr/>
        <p:txBody>
          <a:bodyPr/>
          <a:lstStyle/>
          <a:p>
            <a:r>
              <a:rPr lang="en-US" b="1" dirty="0"/>
              <a:t>Combining Patterns</a:t>
            </a:r>
            <a:endParaRPr lang="en-IN" dirty="0"/>
          </a:p>
        </p:txBody>
      </p:sp>
      <p:sp>
        <p:nvSpPr>
          <p:cNvPr id="3" name="Content Placeholder 2">
            <a:extLst>
              <a:ext uri="{FF2B5EF4-FFF2-40B4-BE49-F238E27FC236}">
                <a16:creationId xmlns:a16="http://schemas.microsoft.com/office/drawing/2014/main" id="{2CAB2C04-0145-6709-0EC2-9E3CBA420C6B}"/>
              </a:ext>
            </a:extLst>
          </p:cNvPr>
          <p:cNvSpPr>
            <a:spLocks noGrp="1"/>
          </p:cNvSpPr>
          <p:nvPr>
            <p:ph idx="1"/>
          </p:nvPr>
        </p:nvSpPr>
        <p:spPr>
          <a:xfrm>
            <a:off x="1154954" y="2603499"/>
            <a:ext cx="9995128" cy="3806631"/>
          </a:xfrm>
        </p:spPr>
        <p:txBody>
          <a:bodyPr/>
          <a:lstStyle/>
          <a:p>
            <a:r>
              <a:rPr lang="en-US" dirty="0"/>
              <a:t>Let's build a flow that uses </a:t>
            </a:r>
            <a:r>
              <a:rPr lang="en-US" b="1" dirty="0"/>
              <a:t>Filter</a:t>
            </a:r>
            <a:r>
              <a:rPr lang="en-US" dirty="0"/>
              <a:t>, </a:t>
            </a:r>
            <a:r>
              <a:rPr lang="en-US" b="1" dirty="0"/>
              <a:t>Transformer</a:t>
            </a:r>
            <a:r>
              <a:rPr lang="en-US" dirty="0"/>
              <a:t>, </a:t>
            </a:r>
            <a:r>
              <a:rPr lang="en-US" b="1" dirty="0"/>
              <a:t>Wiretap</a:t>
            </a:r>
            <a:r>
              <a:rPr lang="en-US" dirty="0"/>
              <a:t>, and </a:t>
            </a:r>
            <a:r>
              <a:rPr lang="en-US" b="1" dirty="0"/>
              <a:t>Service Activator</a:t>
            </a:r>
            <a:r>
              <a:rPr lang="en-US" dirty="0"/>
              <a:t> together.</a:t>
            </a:r>
          </a:p>
          <a:p>
            <a:r>
              <a:rPr lang="en-US" b="1" dirty="0"/>
              <a:t>Scenario:</a:t>
            </a:r>
            <a:r>
              <a:rPr lang="en-US" dirty="0"/>
              <a:t> Process high-value orders only, log them for audit, and save to DB.</a:t>
            </a:r>
          </a:p>
          <a:p>
            <a:pPr marL="0" indent="0">
              <a:buNone/>
            </a:pPr>
            <a:endParaRPr lang="en-IN" dirty="0"/>
          </a:p>
        </p:txBody>
      </p:sp>
    </p:spTree>
    <p:extLst>
      <p:ext uri="{BB962C8B-B14F-4D97-AF65-F5344CB8AC3E}">
        <p14:creationId xmlns:p14="http://schemas.microsoft.com/office/powerpoint/2010/main" val="26182971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B7317B-7C1B-0F39-E982-92159909F75C}"/>
              </a:ext>
            </a:extLst>
          </p:cNvPr>
          <p:cNvSpPr txBox="1"/>
          <p:nvPr/>
        </p:nvSpPr>
        <p:spPr>
          <a:xfrm>
            <a:off x="863081" y="224180"/>
            <a:ext cx="10772192" cy="5632311"/>
          </a:xfrm>
          <a:prstGeom prst="rect">
            <a:avLst/>
          </a:prstGeom>
          <a:noFill/>
        </p:spPr>
        <p:txBody>
          <a:bodyPr wrap="square">
            <a:spAutoFit/>
          </a:bodyPr>
          <a:lstStyle/>
          <a:p>
            <a:r>
              <a:rPr lang="en-IN" dirty="0"/>
              <a:t>@Bean</a:t>
            </a:r>
          </a:p>
          <a:p>
            <a:r>
              <a:rPr lang="en-IN" dirty="0"/>
              <a:t>public </a:t>
            </a:r>
            <a:r>
              <a:rPr lang="en-IN" dirty="0" err="1"/>
              <a:t>IntegrationFlow</a:t>
            </a:r>
            <a:r>
              <a:rPr lang="en-IN" dirty="0"/>
              <a:t> </a:t>
            </a:r>
            <a:r>
              <a:rPr lang="en-IN" dirty="0" err="1"/>
              <a:t>eipFlow</a:t>
            </a:r>
            <a:r>
              <a:rPr lang="en-IN" dirty="0"/>
              <a:t>() {</a:t>
            </a:r>
          </a:p>
          <a:p>
            <a:r>
              <a:rPr lang="en-IN" dirty="0"/>
              <a:t>    return </a:t>
            </a:r>
            <a:r>
              <a:rPr lang="en-IN" dirty="0" err="1"/>
              <a:t>IntegrationFlow.from</a:t>
            </a:r>
            <a:r>
              <a:rPr lang="en-IN" dirty="0"/>
              <a:t>("</a:t>
            </a:r>
            <a:r>
              <a:rPr lang="en-IN" dirty="0" err="1"/>
              <a:t>ordersChannel</a:t>
            </a:r>
            <a:r>
              <a:rPr lang="en-IN" dirty="0"/>
              <a:t>")</a:t>
            </a:r>
          </a:p>
          <a:p>
            <a:r>
              <a:rPr lang="en-IN" dirty="0"/>
              <a:t>            // 1. Message Filter (Pattern: Message Filter)</a:t>
            </a:r>
          </a:p>
          <a:p>
            <a:r>
              <a:rPr lang="en-IN" dirty="0"/>
              <a:t>            .filter(</a:t>
            </a:r>
            <a:r>
              <a:rPr lang="en-IN" dirty="0" err="1"/>
              <a:t>Order.class</a:t>
            </a:r>
            <a:r>
              <a:rPr lang="en-IN" dirty="0"/>
              <a:t>, o -&gt; </a:t>
            </a:r>
            <a:r>
              <a:rPr lang="en-IN" dirty="0" err="1"/>
              <a:t>o.getAmount</a:t>
            </a:r>
            <a:r>
              <a:rPr lang="en-IN" dirty="0"/>
              <a:t>() &gt; 100)</a:t>
            </a:r>
          </a:p>
          <a:p>
            <a:r>
              <a:rPr lang="en-IN" dirty="0"/>
              <a:t>            </a:t>
            </a:r>
          </a:p>
          <a:p>
            <a:r>
              <a:rPr lang="en-IN" dirty="0"/>
              <a:t>            // 2. Wiretap (Pattern: Wiretap - log every high-value order)</a:t>
            </a:r>
          </a:p>
          <a:p>
            <a:r>
              <a:rPr lang="en-IN" dirty="0"/>
              <a:t>            .</a:t>
            </a:r>
            <a:r>
              <a:rPr lang="en-IN" dirty="0" err="1"/>
              <a:t>wireTap</a:t>
            </a:r>
            <a:r>
              <a:rPr lang="en-IN" dirty="0"/>
              <a:t>(f -&gt; </a:t>
            </a:r>
            <a:r>
              <a:rPr lang="en-IN" dirty="0" err="1"/>
              <a:t>f.handle</a:t>
            </a:r>
            <a:r>
              <a:rPr lang="en-IN" dirty="0"/>
              <a:t>(m -&gt; </a:t>
            </a:r>
            <a:r>
              <a:rPr lang="en-IN" dirty="0" err="1"/>
              <a:t>System.out.println</a:t>
            </a:r>
            <a:r>
              <a:rPr lang="en-IN" dirty="0"/>
              <a:t>("Auditing: " + </a:t>
            </a:r>
            <a:r>
              <a:rPr lang="en-IN" dirty="0" err="1"/>
              <a:t>m.getPayload</a:t>
            </a:r>
            <a:r>
              <a:rPr lang="en-IN" dirty="0"/>
              <a:t>())))</a:t>
            </a:r>
          </a:p>
          <a:p>
            <a:r>
              <a:rPr lang="en-IN" dirty="0"/>
              <a:t>            </a:t>
            </a:r>
          </a:p>
          <a:p>
            <a:r>
              <a:rPr lang="en-IN" dirty="0"/>
              <a:t>            // 3. Content Enricher (Pattern: Content Enricher)</a:t>
            </a:r>
          </a:p>
          <a:p>
            <a:r>
              <a:rPr lang="en-IN" dirty="0"/>
              <a:t>            .enrich(e -&gt; </a:t>
            </a:r>
            <a:r>
              <a:rPr lang="en-IN" dirty="0" err="1"/>
              <a:t>e.requestChannel</a:t>
            </a:r>
            <a:r>
              <a:rPr lang="en-IN" dirty="0"/>
              <a:t>("</a:t>
            </a:r>
            <a:r>
              <a:rPr lang="en-IN" dirty="0" err="1"/>
              <a:t>customerServiceChannel</a:t>
            </a:r>
            <a:r>
              <a:rPr lang="en-IN" dirty="0"/>
              <a:t>")</a:t>
            </a:r>
          </a:p>
          <a:p>
            <a:r>
              <a:rPr lang="en-IN" dirty="0"/>
              <a:t>                         .</a:t>
            </a:r>
            <a:r>
              <a:rPr lang="en-IN" dirty="0" err="1"/>
              <a:t>propertyExpression</a:t>
            </a:r>
            <a:r>
              <a:rPr lang="en-IN" dirty="0"/>
              <a:t>("</a:t>
            </a:r>
            <a:r>
              <a:rPr lang="en-IN" dirty="0" err="1"/>
              <a:t>customerEmail</a:t>
            </a:r>
            <a:r>
              <a:rPr lang="en-IN" dirty="0"/>
              <a:t>", "</a:t>
            </a:r>
            <a:r>
              <a:rPr lang="en-IN" dirty="0" err="1"/>
              <a:t>payload.email</a:t>
            </a:r>
            <a:r>
              <a:rPr lang="en-IN" dirty="0"/>
              <a:t>"))</a:t>
            </a:r>
          </a:p>
          <a:p>
            <a:r>
              <a:rPr lang="en-IN" dirty="0"/>
              <a:t>            </a:t>
            </a:r>
          </a:p>
          <a:p>
            <a:r>
              <a:rPr lang="en-IN" dirty="0"/>
              <a:t>            // 4. Transformer (Pattern: Transformer - convert to JSON for DB)</a:t>
            </a:r>
          </a:p>
          <a:p>
            <a:r>
              <a:rPr lang="en-IN" dirty="0"/>
              <a:t>            .transform(</a:t>
            </a:r>
            <a:r>
              <a:rPr lang="en-IN" dirty="0" err="1"/>
              <a:t>Transformers.toJson</a:t>
            </a:r>
            <a:r>
              <a:rPr lang="en-IN" dirty="0"/>
              <a:t>())</a:t>
            </a:r>
          </a:p>
          <a:p>
            <a:r>
              <a:rPr lang="en-IN" dirty="0"/>
              <a:t>            </a:t>
            </a:r>
          </a:p>
          <a:p>
            <a:r>
              <a:rPr lang="en-IN" dirty="0"/>
              <a:t>            // 5. Service Activator (Pattern: Service Activator)</a:t>
            </a:r>
          </a:p>
          <a:p>
            <a:r>
              <a:rPr lang="en-IN" dirty="0"/>
              <a:t>            .handle("</a:t>
            </a:r>
            <a:r>
              <a:rPr lang="en-IN" dirty="0" err="1"/>
              <a:t>orderRepository</a:t>
            </a:r>
            <a:r>
              <a:rPr lang="en-IN" dirty="0"/>
              <a:t>", "save")</a:t>
            </a:r>
          </a:p>
          <a:p>
            <a:r>
              <a:rPr lang="en-IN" dirty="0"/>
              <a:t>            .get();</a:t>
            </a:r>
          </a:p>
          <a:p>
            <a:r>
              <a:rPr lang="en-IN" dirty="0"/>
              <a:t>}</a:t>
            </a:r>
          </a:p>
        </p:txBody>
      </p:sp>
    </p:spTree>
    <p:extLst>
      <p:ext uri="{BB962C8B-B14F-4D97-AF65-F5344CB8AC3E}">
        <p14:creationId xmlns:p14="http://schemas.microsoft.com/office/powerpoint/2010/main" val="4214779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CA162-62FF-656E-2338-D891E0537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1E4EB-6409-5672-A4B4-01E90AAA707D}"/>
              </a:ext>
            </a:extLst>
          </p:cNvPr>
          <p:cNvSpPr>
            <a:spLocks noGrp="1"/>
          </p:cNvSpPr>
          <p:nvPr>
            <p:ph type="title"/>
          </p:nvPr>
        </p:nvSpPr>
        <p:spPr/>
        <p:txBody>
          <a:bodyPr/>
          <a:lstStyle/>
          <a:p>
            <a:r>
              <a:rPr lang="en-IN" b="1" dirty="0"/>
              <a:t>Why EIPs Matter</a:t>
            </a:r>
            <a:endParaRPr lang="en-IN" dirty="0"/>
          </a:p>
        </p:txBody>
      </p:sp>
      <p:sp>
        <p:nvSpPr>
          <p:cNvPr id="3" name="Content Placeholder 2">
            <a:extLst>
              <a:ext uri="{FF2B5EF4-FFF2-40B4-BE49-F238E27FC236}">
                <a16:creationId xmlns:a16="http://schemas.microsoft.com/office/drawing/2014/main" id="{BC60CDA6-D9A7-181C-3888-281D7D46440C}"/>
              </a:ext>
            </a:extLst>
          </p:cNvPr>
          <p:cNvSpPr>
            <a:spLocks noGrp="1"/>
          </p:cNvSpPr>
          <p:nvPr>
            <p:ph idx="1"/>
          </p:nvPr>
        </p:nvSpPr>
        <p:spPr>
          <a:xfrm>
            <a:off x="1154954" y="2603500"/>
            <a:ext cx="10289042" cy="3988578"/>
          </a:xfrm>
        </p:spPr>
        <p:txBody>
          <a:bodyPr/>
          <a:lstStyle/>
          <a:p>
            <a:pPr lvl="0"/>
            <a:r>
              <a:rPr lang="en-IN" b="1" dirty="0"/>
              <a:t>Consistency: Standardized vocabulary for integration problems.</a:t>
            </a:r>
            <a:endParaRPr lang="en-IN" dirty="0"/>
          </a:p>
          <a:p>
            <a:pPr lvl="0"/>
            <a:r>
              <a:rPr lang="en-IN" b="1" dirty="0"/>
              <a:t>Reusability: Each pattern is modular and composable.</a:t>
            </a:r>
            <a:endParaRPr lang="en-IN" dirty="0"/>
          </a:p>
          <a:p>
            <a:pPr lvl="0"/>
            <a:r>
              <a:rPr lang="en-IN" b="1" dirty="0"/>
              <a:t>Maintainability: Clear separation of concerns.</a:t>
            </a:r>
          </a:p>
          <a:p>
            <a:pPr lvl="1"/>
            <a:r>
              <a:rPr lang="en-US" dirty="0"/>
              <a:t>Instead of a 500-line "If-Else" block, you have a clear, visual flow of components</a:t>
            </a:r>
            <a:endParaRPr lang="en-IN" dirty="0"/>
          </a:p>
          <a:p>
            <a:r>
              <a:rPr lang="en-IN" b="1" dirty="0"/>
              <a:t>Flexibility: Easy to swap endpoints or channels without breaking the flow.</a:t>
            </a:r>
          </a:p>
          <a:p>
            <a:r>
              <a:rPr lang="en-IN" b="1" dirty="0"/>
              <a:t>Resiliency: </a:t>
            </a:r>
            <a:r>
              <a:rPr lang="en-US" dirty="0"/>
              <a:t>Patterns like </a:t>
            </a:r>
            <a:r>
              <a:rPr lang="en-US" b="1" dirty="0"/>
              <a:t>Dead Letter Channel</a:t>
            </a:r>
            <a:r>
              <a:rPr lang="en-US" dirty="0"/>
              <a:t> (part of error handling) ensure that if a message fails, it isn't lost.</a:t>
            </a:r>
          </a:p>
          <a:p>
            <a:r>
              <a:rPr lang="en-US" b="1" dirty="0"/>
              <a:t>Standard Language:</a:t>
            </a:r>
            <a:r>
              <a:rPr lang="en-US" dirty="0"/>
              <a:t>	If you say "We need an Aggregator here," every integration developer knows exactly what you mean.</a:t>
            </a:r>
          </a:p>
          <a:p>
            <a:r>
              <a:rPr lang="en-US" b="1" dirty="0"/>
              <a:t>Decoupling:</a:t>
            </a:r>
            <a:r>
              <a:rPr lang="en-US" dirty="0"/>
              <a:t>	The patterns ensure that the "Producer" of data and the "Consumer" never need to know about each other.</a:t>
            </a:r>
          </a:p>
          <a:p>
            <a:endParaRPr lang="en-IN" dirty="0"/>
          </a:p>
        </p:txBody>
      </p:sp>
    </p:spTree>
    <p:extLst>
      <p:ext uri="{BB962C8B-B14F-4D97-AF65-F5344CB8AC3E}">
        <p14:creationId xmlns:p14="http://schemas.microsoft.com/office/powerpoint/2010/main" val="35235536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886FF-598E-ED04-C485-31EF30E3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38CA1-6457-3EEF-DA4C-3F8227DD0977}"/>
              </a:ext>
            </a:extLst>
          </p:cNvPr>
          <p:cNvSpPr>
            <a:spLocks noGrp="1"/>
          </p:cNvSpPr>
          <p:nvPr>
            <p:ph type="title"/>
          </p:nvPr>
        </p:nvSpPr>
        <p:spPr/>
        <p:txBody>
          <a:bodyPr/>
          <a:lstStyle/>
          <a:p>
            <a:r>
              <a:rPr lang="en-IN" b="1" dirty="0"/>
              <a:t>Key Takeaways</a:t>
            </a:r>
            <a:endParaRPr lang="en-IN" dirty="0"/>
          </a:p>
        </p:txBody>
      </p:sp>
      <p:sp>
        <p:nvSpPr>
          <p:cNvPr id="3" name="Content Placeholder 2">
            <a:extLst>
              <a:ext uri="{FF2B5EF4-FFF2-40B4-BE49-F238E27FC236}">
                <a16:creationId xmlns:a16="http://schemas.microsoft.com/office/drawing/2014/main" id="{1A3A35DE-FAD7-FAC5-7941-DC7CC9578120}"/>
              </a:ext>
            </a:extLst>
          </p:cNvPr>
          <p:cNvSpPr>
            <a:spLocks noGrp="1"/>
          </p:cNvSpPr>
          <p:nvPr>
            <p:ph idx="1"/>
          </p:nvPr>
        </p:nvSpPr>
        <p:spPr>
          <a:xfrm>
            <a:off x="1154954" y="2603500"/>
            <a:ext cx="10289042" cy="3988578"/>
          </a:xfrm>
        </p:spPr>
        <p:txBody>
          <a:bodyPr/>
          <a:lstStyle/>
          <a:p>
            <a:pPr lvl="0"/>
            <a:r>
              <a:rPr lang="en-IN" b="1" dirty="0"/>
              <a:t>Spring Integration = EIPs in action.</a:t>
            </a:r>
            <a:endParaRPr lang="en-IN" dirty="0"/>
          </a:p>
          <a:p>
            <a:pPr lvl="0"/>
            <a:r>
              <a:rPr lang="en-IN" b="1" dirty="0"/>
              <a:t>Endpoints implement EIPs, while flows orchestrate them.</a:t>
            </a:r>
            <a:endParaRPr lang="en-IN" dirty="0"/>
          </a:p>
          <a:p>
            <a:pPr lvl="0"/>
            <a:r>
              <a:rPr lang="en-IN" b="1" dirty="0"/>
              <a:t>Use Java DSL for modern, readable configuration.</a:t>
            </a:r>
            <a:endParaRPr lang="en-IN" dirty="0"/>
          </a:p>
          <a:p>
            <a:pPr lvl="0"/>
            <a:r>
              <a:rPr lang="en-IN" b="1" dirty="0"/>
              <a:t>Think of EIPs as design primitives—like LEGO blocks—that you assemble into flows.</a:t>
            </a:r>
            <a:endParaRPr lang="en-IN" dirty="0"/>
          </a:p>
          <a:p>
            <a:endParaRPr lang="en-IN" dirty="0"/>
          </a:p>
        </p:txBody>
      </p:sp>
    </p:spTree>
    <p:extLst>
      <p:ext uri="{BB962C8B-B14F-4D97-AF65-F5344CB8AC3E}">
        <p14:creationId xmlns:p14="http://schemas.microsoft.com/office/powerpoint/2010/main" val="33839971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3A560-ECD1-70F6-FD14-A0CE8955D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8D417-40A0-25B5-DF92-3A011257A87F}"/>
              </a:ext>
            </a:extLst>
          </p:cNvPr>
          <p:cNvSpPr>
            <a:spLocks noGrp="1"/>
          </p:cNvSpPr>
          <p:nvPr>
            <p:ph type="title"/>
          </p:nvPr>
        </p:nvSpPr>
        <p:spPr/>
        <p:txBody>
          <a:bodyPr/>
          <a:lstStyle/>
          <a:p>
            <a:r>
              <a:rPr lang="en-US" b="1" dirty="0"/>
              <a:t>Summary</a:t>
            </a:r>
            <a:endParaRPr lang="en-IN" dirty="0"/>
          </a:p>
        </p:txBody>
      </p:sp>
      <p:sp>
        <p:nvSpPr>
          <p:cNvPr id="3" name="Content Placeholder 2">
            <a:extLst>
              <a:ext uri="{FF2B5EF4-FFF2-40B4-BE49-F238E27FC236}">
                <a16:creationId xmlns:a16="http://schemas.microsoft.com/office/drawing/2014/main" id="{BB3FC1A4-9184-7CAF-5A77-0CAA6CA175C7}"/>
              </a:ext>
            </a:extLst>
          </p:cNvPr>
          <p:cNvSpPr>
            <a:spLocks noGrp="1"/>
          </p:cNvSpPr>
          <p:nvPr>
            <p:ph idx="1"/>
          </p:nvPr>
        </p:nvSpPr>
        <p:spPr>
          <a:xfrm>
            <a:off x="1154954" y="2603500"/>
            <a:ext cx="10289042" cy="3988578"/>
          </a:xfrm>
        </p:spPr>
        <p:txBody>
          <a:bodyPr/>
          <a:lstStyle/>
          <a:p>
            <a:r>
              <a:rPr lang="en-US" dirty="0"/>
              <a:t>Spring Integration is essentially an </a:t>
            </a:r>
            <a:r>
              <a:rPr lang="en-US" b="1" dirty="0"/>
              <a:t>EIP Toolbox</a:t>
            </a:r>
            <a:r>
              <a:rPr lang="en-US" dirty="0"/>
              <a:t>. Instead of writing complex logic to split, route, or transform data, you use these established patterns to build a robust, scalable messaging architecture.</a:t>
            </a:r>
          </a:p>
          <a:p>
            <a:r>
              <a:rPr lang="en-US" b="1" dirty="0"/>
              <a:t>Key takeaway:</a:t>
            </a:r>
            <a:endParaRPr lang="en-US" dirty="0"/>
          </a:p>
          <a:p>
            <a:r>
              <a:rPr lang="en-US" b="1" dirty="0"/>
              <a:t>Channels</a:t>
            </a:r>
            <a:r>
              <a:rPr lang="en-US" dirty="0"/>
              <a:t> are the Pipes.</a:t>
            </a:r>
          </a:p>
          <a:p>
            <a:r>
              <a:rPr lang="en-US" b="1" dirty="0"/>
              <a:t>Adapters</a:t>
            </a:r>
            <a:r>
              <a:rPr lang="en-US" dirty="0"/>
              <a:t> are the Faucets (connecting to external systems).</a:t>
            </a:r>
          </a:p>
          <a:p>
            <a:r>
              <a:rPr lang="en-US" b="1" dirty="0"/>
              <a:t>EIP Components</a:t>
            </a:r>
            <a:r>
              <a:rPr lang="en-US" dirty="0"/>
              <a:t> (Routers, Filters, Transformers) are the Valves and Filters inside the plumbing.</a:t>
            </a:r>
          </a:p>
          <a:p>
            <a:endParaRPr lang="en-IN" dirty="0"/>
          </a:p>
        </p:txBody>
      </p:sp>
    </p:spTree>
    <p:extLst>
      <p:ext uri="{BB962C8B-B14F-4D97-AF65-F5344CB8AC3E}">
        <p14:creationId xmlns:p14="http://schemas.microsoft.com/office/powerpoint/2010/main" val="12705987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{13D5B1DF-9CDE-4E6B-B628-F19977F2C20E}TF229edf6a-8a49-49ee-a0a6-5037052947485fb3ca0c-bc27bf41d645</Template>
  <TotalTime>234</TotalTime>
  <Words>6129</Words>
  <Application>Microsoft Office PowerPoint</Application>
  <PresentationFormat>Widescreen</PresentationFormat>
  <Paragraphs>611</Paragraphs>
  <Slides>73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73</vt:i4>
      </vt:variant>
    </vt:vector>
  </HeadingPairs>
  <TitlesOfParts>
    <vt:vector size="81" baseType="lpstr">
      <vt:lpstr>-apple-system</vt:lpstr>
      <vt:lpstr>Arial</vt:lpstr>
      <vt:lpstr>Calibri</vt:lpstr>
      <vt:lpstr>Century Gothic</vt:lpstr>
      <vt:lpstr>SFMono-Regular</vt:lpstr>
      <vt:lpstr>Wingdings</vt:lpstr>
      <vt:lpstr>Wingdings 3</vt:lpstr>
      <vt:lpstr>Ion Boardroom</vt:lpstr>
      <vt:lpstr>Spring Integration</vt:lpstr>
      <vt:lpstr>Spring Integration</vt:lpstr>
      <vt:lpstr>Spring Integration</vt:lpstr>
      <vt:lpstr>Spring Integration</vt:lpstr>
      <vt:lpstr>Why is it required?</vt:lpstr>
      <vt:lpstr>Why is it required?</vt:lpstr>
      <vt:lpstr>Features of Spring Integration</vt:lpstr>
      <vt:lpstr>Features of Spring Integration</vt:lpstr>
      <vt:lpstr>Core idea: Message-based architecture</vt:lpstr>
      <vt:lpstr>Common building blocks:</vt:lpstr>
      <vt:lpstr>Real-world examples</vt:lpstr>
      <vt:lpstr>Real-world examples</vt:lpstr>
      <vt:lpstr>Real-world examples</vt:lpstr>
      <vt:lpstr>Real-world examples</vt:lpstr>
      <vt:lpstr>Real-world examples</vt:lpstr>
      <vt:lpstr>Real-world examples</vt:lpstr>
      <vt:lpstr>When should you use Spring Integration?</vt:lpstr>
      <vt:lpstr>When should you use Spring Integration?</vt:lpstr>
      <vt:lpstr>When it may be overkill</vt:lpstr>
      <vt:lpstr>Small conceptual example</vt:lpstr>
      <vt:lpstr>Difference from Spring Batch</vt:lpstr>
      <vt:lpstr>Example</vt:lpstr>
      <vt:lpstr>PowerPoint Presentation</vt:lpstr>
      <vt:lpstr>How it works</vt:lpstr>
      <vt:lpstr>How it works</vt:lpstr>
      <vt:lpstr>Why this is a Spring Integration example</vt:lpstr>
      <vt:lpstr>Real-world extension of this same example</vt:lpstr>
      <vt:lpstr>Core Concepts</vt:lpstr>
      <vt:lpstr>Components</vt:lpstr>
      <vt:lpstr>Spring Framework</vt:lpstr>
      <vt:lpstr>Spring Integration – An Extension of Spring</vt:lpstr>
      <vt:lpstr>Spring Integration – An Extension of Spring</vt:lpstr>
      <vt:lpstr>Goals and Principles</vt:lpstr>
      <vt:lpstr>Main Components</vt:lpstr>
      <vt:lpstr>Message</vt:lpstr>
      <vt:lpstr>Message</vt:lpstr>
      <vt:lpstr>Message Channel</vt:lpstr>
      <vt:lpstr>Message Channel</vt:lpstr>
      <vt:lpstr>Why Message Endpoint</vt:lpstr>
      <vt:lpstr>Message Endpoints</vt:lpstr>
      <vt:lpstr>Message Endpoints and Flows</vt:lpstr>
      <vt:lpstr> Endpoints: The Building Blocks</vt:lpstr>
      <vt:lpstr>Example:</vt:lpstr>
      <vt:lpstr>Example:</vt:lpstr>
      <vt:lpstr>Flows: The Orchestration</vt:lpstr>
      <vt:lpstr>Example:</vt:lpstr>
      <vt:lpstr>Endpoint vs Flow: Deep Comparison</vt:lpstr>
      <vt:lpstr>Endpoint vs Flow</vt:lpstr>
      <vt:lpstr>Message Transformer</vt:lpstr>
      <vt:lpstr>Message Filter</vt:lpstr>
      <vt:lpstr>Message Router</vt:lpstr>
      <vt:lpstr>Splitter</vt:lpstr>
      <vt:lpstr>Aggregator</vt:lpstr>
      <vt:lpstr>Service Activator</vt:lpstr>
      <vt:lpstr>PowerPoint Presentation</vt:lpstr>
      <vt:lpstr>Channel Adapter</vt:lpstr>
      <vt:lpstr>PowerPoint Presentation</vt:lpstr>
      <vt:lpstr>Endpoint Bean Names</vt:lpstr>
      <vt:lpstr>Endpoint Bean Names</vt:lpstr>
      <vt:lpstr>PowerPoint Presentation</vt:lpstr>
      <vt:lpstr>Enterprise Integration Patterns (EIP) </vt:lpstr>
      <vt:lpstr>Core EIPs in Spring Integration</vt:lpstr>
      <vt:lpstr>Core EIPs in Spring Integration</vt:lpstr>
      <vt:lpstr>Core EIPs in Spring Integration</vt:lpstr>
      <vt:lpstr>Routing Patterns (Traffic Control) </vt:lpstr>
      <vt:lpstr>Transformation Patterns (Data Translation)</vt:lpstr>
      <vt:lpstr>Core EIPs in Spring Integration</vt:lpstr>
      <vt:lpstr>Example Flow Using EIPs</vt:lpstr>
      <vt:lpstr>Combining Patterns</vt:lpstr>
      <vt:lpstr>PowerPoint Presentation</vt:lpstr>
      <vt:lpstr>Why EIPs Matter</vt:lpstr>
      <vt:lpstr>Key Takeaways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anju munoth</dc:creator>
  <cp:lastModifiedBy>anju munoth</cp:lastModifiedBy>
  <cp:revision>82</cp:revision>
  <dcterms:created xsi:type="dcterms:W3CDTF">2026-03-20T01:41:12Z</dcterms:created>
  <dcterms:modified xsi:type="dcterms:W3CDTF">2026-03-23T06:09:41Z</dcterms:modified>
</cp:coreProperties>
</file>